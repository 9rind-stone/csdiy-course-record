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7"/>
  </p:notesMasterIdLst>
  <p:handoutMasterIdLst>
    <p:handoutMasterId r:id="rId88"/>
  </p:handoutMasterIdLst>
  <p:sldIdLst>
    <p:sldId id="373" r:id="rId2"/>
    <p:sldId id="464" r:id="rId3"/>
    <p:sldId id="401" r:id="rId4"/>
    <p:sldId id="500" r:id="rId5"/>
    <p:sldId id="501" r:id="rId6"/>
    <p:sldId id="502" r:id="rId7"/>
    <p:sldId id="504" r:id="rId8"/>
    <p:sldId id="505" r:id="rId9"/>
    <p:sldId id="506" r:id="rId10"/>
    <p:sldId id="507" r:id="rId11"/>
    <p:sldId id="465" r:id="rId12"/>
    <p:sldId id="467" r:id="rId13"/>
    <p:sldId id="468" r:id="rId14"/>
    <p:sldId id="404" r:id="rId15"/>
    <p:sldId id="469" r:id="rId16"/>
    <p:sldId id="405" r:id="rId17"/>
    <p:sldId id="406" r:id="rId18"/>
    <p:sldId id="418" r:id="rId19"/>
    <p:sldId id="419" r:id="rId20"/>
    <p:sldId id="420" r:id="rId21"/>
    <p:sldId id="421" r:id="rId22"/>
    <p:sldId id="422" r:id="rId23"/>
    <p:sldId id="489" r:id="rId24"/>
    <p:sldId id="488" r:id="rId25"/>
    <p:sldId id="490" r:id="rId26"/>
    <p:sldId id="491" r:id="rId27"/>
    <p:sldId id="414" r:id="rId28"/>
    <p:sldId id="426" r:id="rId29"/>
    <p:sldId id="427" r:id="rId30"/>
    <p:sldId id="428" r:id="rId31"/>
    <p:sldId id="429" r:id="rId32"/>
    <p:sldId id="430" r:id="rId33"/>
    <p:sldId id="432" r:id="rId34"/>
    <p:sldId id="431" r:id="rId35"/>
    <p:sldId id="433" r:id="rId36"/>
    <p:sldId id="435" r:id="rId37"/>
    <p:sldId id="436" r:id="rId38"/>
    <p:sldId id="434" r:id="rId39"/>
    <p:sldId id="438" r:id="rId40"/>
    <p:sldId id="437" r:id="rId41"/>
    <p:sldId id="439" r:id="rId42"/>
    <p:sldId id="440" r:id="rId43"/>
    <p:sldId id="492" r:id="rId44"/>
    <p:sldId id="443" r:id="rId45"/>
    <p:sldId id="444" r:id="rId46"/>
    <p:sldId id="470" r:id="rId47"/>
    <p:sldId id="471" r:id="rId48"/>
    <p:sldId id="472" r:id="rId49"/>
    <p:sldId id="494" r:id="rId50"/>
    <p:sldId id="447" r:id="rId51"/>
    <p:sldId id="452" r:id="rId52"/>
    <p:sldId id="448" r:id="rId53"/>
    <p:sldId id="449" r:id="rId54"/>
    <p:sldId id="495" r:id="rId55"/>
    <p:sldId id="496" r:id="rId56"/>
    <p:sldId id="450" r:id="rId57"/>
    <p:sldId id="499" r:id="rId58"/>
    <p:sldId id="508" r:id="rId59"/>
    <p:sldId id="497" r:id="rId60"/>
    <p:sldId id="498" r:id="rId61"/>
    <p:sldId id="519" r:id="rId62"/>
    <p:sldId id="476" r:id="rId63"/>
    <p:sldId id="513" r:id="rId64"/>
    <p:sldId id="514" r:id="rId65"/>
    <p:sldId id="515" r:id="rId66"/>
    <p:sldId id="512" r:id="rId67"/>
    <p:sldId id="516" r:id="rId68"/>
    <p:sldId id="478" r:id="rId69"/>
    <p:sldId id="479" r:id="rId70"/>
    <p:sldId id="481" r:id="rId71"/>
    <p:sldId id="482" r:id="rId72"/>
    <p:sldId id="483" r:id="rId73"/>
    <p:sldId id="453" r:id="rId74"/>
    <p:sldId id="454" r:id="rId75"/>
    <p:sldId id="456" r:id="rId76"/>
    <p:sldId id="457" r:id="rId77"/>
    <p:sldId id="458" r:id="rId78"/>
    <p:sldId id="460" r:id="rId79"/>
    <p:sldId id="484" r:id="rId80"/>
    <p:sldId id="462" r:id="rId81"/>
    <p:sldId id="485" r:id="rId82"/>
    <p:sldId id="486" r:id="rId83"/>
    <p:sldId id="520" r:id="rId84"/>
    <p:sldId id="461" r:id="rId85"/>
    <p:sldId id="463" r:id="rId86"/>
  </p:sldIdLst>
  <p:sldSz cx="12192000" cy="6858000"/>
  <p:notesSz cx="6858000" cy="9144000"/>
  <p:defaultTextStyle>
    <a:defPPr>
      <a:defRPr lang="en-US"/>
    </a:defPPr>
    <a:lvl1pPr marL="0" algn="l" defTabSz="914232" rtl="0" eaLnBrk="1" latinLnBrk="0" hangingPunct="1">
      <a:defRPr sz="1800" kern="1200">
        <a:solidFill>
          <a:schemeClr val="tx1"/>
        </a:solidFill>
        <a:latin typeface="+mn-lt"/>
        <a:ea typeface="+mn-ea"/>
        <a:cs typeface="+mn-cs"/>
      </a:defRPr>
    </a:lvl1pPr>
    <a:lvl2pPr marL="457115" algn="l" defTabSz="914232" rtl="0" eaLnBrk="1" latinLnBrk="0" hangingPunct="1">
      <a:defRPr sz="1800" kern="1200">
        <a:solidFill>
          <a:schemeClr val="tx1"/>
        </a:solidFill>
        <a:latin typeface="+mn-lt"/>
        <a:ea typeface="+mn-ea"/>
        <a:cs typeface="+mn-cs"/>
      </a:defRPr>
    </a:lvl2pPr>
    <a:lvl3pPr marL="914232" algn="l" defTabSz="914232" rtl="0" eaLnBrk="1" latinLnBrk="0" hangingPunct="1">
      <a:defRPr sz="1800" kern="1200">
        <a:solidFill>
          <a:schemeClr val="tx1"/>
        </a:solidFill>
        <a:latin typeface="+mn-lt"/>
        <a:ea typeface="+mn-ea"/>
        <a:cs typeface="+mn-cs"/>
      </a:defRPr>
    </a:lvl3pPr>
    <a:lvl4pPr marL="1371348" algn="l" defTabSz="914232" rtl="0" eaLnBrk="1" latinLnBrk="0" hangingPunct="1">
      <a:defRPr sz="1800" kern="1200">
        <a:solidFill>
          <a:schemeClr val="tx1"/>
        </a:solidFill>
        <a:latin typeface="+mn-lt"/>
        <a:ea typeface="+mn-ea"/>
        <a:cs typeface="+mn-cs"/>
      </a:defRPr>
    </a:lvl4pPr>
    <a:lvl5pPr marL="1828463" algn="l" defTabSz="914232" rtl="0" eaLnBrk="1" latinLnBrk="0" hangingPunct="1">
      <a:defRPr sz="1800" kern="1200">
        <a:solidFill>
          <a:schemeClr val="tx1"/>
        </a:solidFill>
        <a:latin typeface="+mn-lt"/>
        <a:ea typeface="+mn-ea"/>
        <a:cs typeface="+mn-cs"/>
      </a:defRPr>
    </a:lvl5pPr>
    <a:lvl6pPr marL="2285579" algn="l" defTabSz="914232" rtl="0" eaLnBrk="1" latinLnBrk="0" hangingPunct="1">
      <a:defRPr sz="1800" kern="1200">
        <a:solidFill>
          <a:schemeClr val="tx1"/>
        </a:solidFill>
        <a:latin typeface="+mn-lt"/>
        <a:ea typeface="+mn-ea"/>
        <a:cs typeface="+mn-cs"/>
      </a:defRPr>
    </a:lvl6pPr>
    <a:lvl7pPr marL="2742694" algn="l" defTabSz="914232" rtl="0" eaLnBrk="1" latinLnBrk="0" hangingPunct="1">
      <a:defRPr sz="1800" kern="1200">
        <a:solidFill>
          <a:schemeClr val="tx1"/>
        </a:solidFill>
        <a:latin typeface="+mn-lt"/>
        <a:ea typeface="+mn-ea"/>
        <a:cs typeface="+mn-cs"/>
      </a:defRPr>
    </a:lvl7pPr>
    <a:lvl8pPr marL="3199811" algn="l" defTabSz="914232" rtl="0" eaLnBrk="1" latinLnBrk="0" hangingPunct="1">
      <a:defRPr sz="1800" kern="1200">
        <a:solidFill>
          <a:schemeClr val="tx1"/>
        </a:solidFill>
        <a:latin typeface="+mn-lt"/>
        <a:ea typeface="+mn-ea"/>
        <a:cs typeface="+mn-cs"/>
      </a:defRPr>
    </a:lvl8pPr>
    <a:lvl9pPr marL="3656926" algn="l" defTabSz="91423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A7D8A95-32CD-A442-A133-994EA6CCFAF8}">
          <p14:sldIdLst>
            <p14:sldId id="373"/>
            <p14:sldId id="464"/>
            <p14:sldId id="401"/>
            <p14:sldId id="500"/>
            <p14:sldId id="501"/>
            <p14:sldId id="502"/>
            <p14:sldId id="504"/>
            <p14:sldId id="505"/>
            <p14:sldId id="506"/>
            <p14:sldId id="507"/>
            <p14:sldId id="465"/>
            <p14:sldId id="467"/>
            <p14:sldId id="468"/>
            <p14:sldId id="404"/>
            <p14:sldId id="469"/>
            <p14:sldId id="405"/>
            <p14:sldId id="406"/>
            <p14:sldId id="418"/>
            <p14:sldId id="419"/>
            <p14:sldId id="420"/>
            <p14:sldId id="421"/>
            <p14:sldId id="422"/>
            <p14:sldId id="489"/>
            <p14:sldId id="488"/>
            <p14:sldId id="490"/>
            <p14:sldId id="491"/>
            <p14:sldId id="414"/>
            <p14:sldId id="426"/>
            <p14:sldId id="427"/>
            <p14:sldId id="428"/>
            <p14:sldId id="429"/>
            <p14:sldId id="430"/>
            <p14:sldId id="432"/>
            <p14:sldId id="431"/>
            <p14:sldId id="433"/>
            <p14:sldId id="435"/>
            <p14:sldId id="436"/>
            <p14:sldId id="434"/>
            <p14:sldId id="438"/>
            <p14:sldId id="437"/>
            <p14:sldId id="439"/>
            <p14:sldId id="440"/>
            <p14:sldId id="492"/>
            <p14:sldId id="443"/>
            <p14:sldId id="444"/>
            <p14:sldId id="470"/>
            <p14:sldId id="471"/>
            <p14:sldId id="472"/>
            <p14:sldId id="494"/>
            <p14:sldId id="447"/>
            <p14:sldId id="452"/>
            <p14:sldId id="448"/>
            <p14:sldId id="449"/>
            <p14:sldId id="495"/>
            <p14:sldId id="496"/>
            <p14:sldId id="450"/>
            <p14:sldId id="499"/>
            <p14:sldId id="508"/>
            <p14:sldId id="497"/>
            <p14:sldId id="498"/>
            <p14:sldId id="519"/>
            <p14:sldId id="476"/>
            <p14:sldId id="513"/>
            <p14:sldId id="514"/>
            <p14:sldId id="515"/>
            <p14:sldId id="512"/>
            <p14:sldId id="516"/>
            <p14:sldId id="478"/>
            <p14:sldId id="479"/>
            <p14:sldId id="481"/>
            <p14:sldId id="482"/>
            <p14:sldId id="483"/>
            <p14:sldId id="453"/>
            <p14:sldId id="454"/>
            <p14:sldId id="456"/>
            <p14:sldId id="457"/>
            <p14:sldId id="458"/>
            <p14:sldId id="460"/>
            <p14:sldId id="484"/>
            <p14:sldId id="462"/>
            <p14:sldId id="485"/>
            <p14:sldId id="486"/>
            <p14:sldId id="520"/>
            <p14:sldId id="461"/>
            <p14:sldId id="463"/>
          </p14:sldIdLst>
        </p14:section>
        <p14:section name="E[" id="{D5E92838-4B32-1743-B4FC-D677339A293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B0A4"/>
    <a:srgbClr val="FDCDE4"/>
    <a:srgbClr val="56F8F4"/>
    <a:srgbClr val="CEFDFC"/>
    <a:srgbClr val="F963AA"/>
    <a:srgbClr val="09D1CC"/>
    <a:srgbClr val="F73792"/>
    <a:srgbClr val="C7D050"/>
    <a:srgbClr val="0B5394"/>
    <a:srgbClr val="0026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1A9B77-0275-3F45-B0A8-053DF628777A}" v="298" dt="2025-11-23T16:39:10.7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handoutMaster" Target="handoutMasters/handout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 Hug" userId="e2159f7335c131c2" providerId="LiveId" clId="{0EDB6E27-9086-5277-AB10-A63F9A905C93}"/>
    <pc:docChg chg="undo custSel addSld delSld modSld sldOrd modSection">
      <pc:chgData name="Josh Hug" userId="e2159f7335c131c2" providerId="LiveId" clId="{0EDB6E27-9086-5277-AB10-A63F9A905C93}" dt="2025-11-23T16:39:10.783" v="6639" actId="20577"/>
      <pc:docMkLst>
        <pc:docMk/>
      </pc:docMkLst>
      <pc:sldChg chg="modSp mod">
        <pc:chgData name="Josh Hug" userId="e2159f7335c131c2" providerId="LiveId" clId="{0EDB6E27-9086-5277-AB10-A63F9A905C93}" dt="2025-11-18T23:39:48.233" v="6217" actId="14100"/>
        <pc:sldMkLst>
          <pc:docMk/>
          <pc:sldMk cId="470386908" sldId="373"/>
        </pc:sldMkLst>
        <pc:spChg chg="mod">
          <ac:chgData name="Josh Hug" userId="e2159f7335c131c2" providerId="LiveId" clId="{0EDB6E27-9086-5277-AB10-A63F9A905C93}" dt="2025-11-18T23:39:48.233" v="6217" actId="14100"/>
          <ac:spMkLst>
            <pc:docMk/>
            <pc:sldMk cId="470386908" sldId="373"/>
            <ac:spMk id="2" creationId="{1F95BFF6-48F2-8AE0-AE2E-84CF9B249E70}"/>
          </ac:spMkLst>
        </pc:spChg>
      </pc:sldChg>
      <pc:sldChg chg="modSp mod modAnim">
        <pc:chgData name="Josh Hug" userId="e2159f7335c131c2" providerId="LiveId" clId="{0EDB6E27-9086-5277-AB10-A63F9A905C93}" dt="2025-11-18T20:22:06.162" v="295"/>
        <pc:sldMkLst>
          <pc:docMk/>
          <pc:sldMk cId="912600464" sldId="447"/>
        </pc:sldMkLst>
        <pc:spChg chg="mod">
          <ac:chgData name="Josh Hug" userId="e2159f7335c131c2" providerId="LiveId" clId="{0EDB6E27-9086-5277-AB10-A63F9A905C93}" dt="2025-11-18T20:19:54.148" v="284" actId="20577"/>
          <ac:spMkLst>
            <pc:docMk/>
            <pc:sldMk cId="912600464" sldId="447"/>
            <ac:spMk id="3" creationId="{58476D12-F11D-C007-6F6B-DCE280B63F9D}"/>
          </ac:spMkLst>
        </pc:spChg>
        <pc:graphicFrameChg chg="mod">
          <ac:chgData name="Josh Hug" userId="e2159f7335c131c2" providerId="LiveId" clId="{0EDB6E27-9086-5277-AB10-A63F9A905C93}" dt="2025-11-18T20:21:58.693" v="292"/>
          <ac:graphicFrameMkLst>
            <pc:docMk/>
            <pc:sldMk cId="912600464" sldId="447"/>
            <ac:graphicFrameMk id="4" creationId="{3DD4BC2D-DC18-47C6-F92F-FCEDF0C2F23F}"/>
          </ac:graphicFrameMkLst>
        </pc:graphicFrameChg>
      </pc:sldChg>
      <pc:sldChg chg="modSp mod">
        <pc:chgData name="Josh Hug" userId="e2159f7335c131c2" providerId="LiveId" clId="{0EDB6E27-9086-5277-AB10-A63F9A905C93}" dt="2025-11-18T20:32:48.293" v="756" actId="207"/>
        <pc:sldMkLst>
          <pc:docMk/>
          <pc:sldMk cId="3690925633" sldId="449"/>
        </pc:sldMkLst>
        <pc:spChg chg="mod">
          <ac:chgData name="Josh Hug" userId="e2159f7335c131c2" providerId="LiveId" clId="{0EDB6E27-9086-5277-AB10-A63F9A905C93}" dt="2025-11-18T20:32:48.293" v="756" actId="207"/>
          <ac:spMkLst>
            <pc:docMk/>
            <pc:sldMk cId="3690925633" sldId="449"/>
            <ac:spMk id="3" creationId="{954A01FE-02AF-9C13-D37E-86A7528C0CB9}"/>
          </ac:spMkLst>
        </pc:spChg>
        <pc:spChg chg="mod">
          <ac:chgData name="Josh Hug" userId="e2159f7335c131c2" providerId="LiveId" clId="{0EDB6E27-9086-5277-AB10-A63F9A905C93}" dt="2025-11-18T20:26:37.421" v="300" actId="20577"/>
          <ac:spMkLst>
            <pc:docMk/>
            <pc:sldMk cId="3690925633" sldId="449"/>
            <ac:spMk id="6" creationId="{13E27735-099A-5F46-85B5-0F2E6735F36A}"/>
          </ac:spMkLst>
        </pc:spChg>
        <pc:spChg chg="mod">
          <ac:chgData name="Josh Hug" userId="e2159f7335c131c2" providerId="LiveId" clId="{0EDB6E27-9086-5277-AB10-A63F9A905C93}" dt="2025-11-18T20:26:48.533" v="310" actId="20577"/>
          <ac:spMkLst>
            <pc:docMk/>
            <pc:sldMk cId="3690925633" sldId="449"/>
            <ac:spMk id="9" creationId="{D7B64587-1421-80EC-651C-D859315A84FF}"/>
          </ac:spMkLst>
        </pc:spChg>
        <pc:spChg chg="mod">
          <ac:chgData name="Josh Hug" userId="e2159f7335c131c2" providerId="LiveId" clId="{0EDB6E27-9086-5277-AB10-A63F9A905C93}" dt="2025-11-18T20:27:32.690" v="359" actId="1037"/>
          <ac:spMkLst>
            <pc:docMk/>
            <pc:sldMk cId="3690925633" sldId="449"/>
            <ac:spMk id="16" creationId="{E778695E-634E-54B1-C536-A065F2599226}"/>
          </ac:spMkLst>
        </pc:spChg>
      </pc:sldChg>
      <pc:sldChg chg="addSp modSp mod modAnim">
        <pc:chgData name="Josh Hug" userId="e2159f7335c131c2" providerId="LiveId" clId="{0EDB6E27-9086-5277-AB10-A63F9A905C93}" dt="2025-11-18T20:33:35.247" v="767"/>
        <pc:sldMkLst>
          <pc:docMk/>
          <pc:sldMk cId="88655827" sldId="450"/>
        </pc:sldMkLst>
        <pc:spChg chg="mod">
          <ac:chgData name="Josh Hug" userId="e2159f7335c131c2" providerId="LiveId" clId="{0EDB6E27-9086-5277-AB10-A63F9A905C93}" dt="2025-11-18T20:33:05.581" v="760" actId="20577"/>
          <ac:spMkLst>
            <pc:docMk/>
            <pc:sldMk cId="88655827" sldId="450"/>
            <ac:spMk id="3" creationId="{B11BE9C7-C4CA-91AA-B270-C6506FADAF28}"/>
          </ac:spMkLst>
        </pc:spChg>
        <pc:spChg chg="mod">
          <ac:chgData name="Josh Hug" userId="e2159f7335c131c2" providerId="LiveId" clId="{0EDB6E27-9086-5277-AB10-A63F9A905C93}" dt="2025-11-18T20:32:11.901" v="691" actId="1038"/>
          <ac:spMkLst>
            <pc:docMk/>
            <pc:sldMk cId="88655827" sldId="450"/>
            <ac:spMk id="4" creationId="{23F99FF5-CFD3-9EDD-3ABE-A0B15FBFC69B}"/>
          </ac:spMkLst>
        </pc:spChg>
        <pc:spChg chg="add mod">
          <ac:chgData name="Josh Hug" userId="e2159f7335c131c2" providerId="LiveId" clId="{0EDB6E27-9086-5277-AB10-A63F9A905C93}" dt="2025-11-18T20:30:57.115" v="587" actId="14100"/>
          <ac:spMkLst>
            <pc:docMk/>
            <pc:sldMk cId="88655827" sldId="450"/>
            <ac:spMk id="5" creationId="{71658B9E-3A2F-E8CD-528A-C56254A17754}"/>
          </ac:spMkLst>
        </pc:spChg>
        <pc:spChg chg="mod">
          <ac:chgData name="Josh Hug" userId="e2159f7335c131c2" providerId="LiveId" clId="{0EDB6E27-9086-5277-AB10-A63F9A905C93}" dt="2025-11-18T20:27:19.300" v="343" actId="20577"/>
          <ac:spMkLst>
            <pc:docMk/>
            <pc:sldMk cId="88655827" sldId="450"/>
            <ac:spMk id="6" creationId="{BFD5CF6F-0EDC-2A08-704A-6FD83E0CDB4D}"/>
          </ac:spMkLst>
        </pc:spChg>
        <pc:spChg chg="add mod">
          <ac:chgData name="Josh Hug" userId="e2159f7335c131c2" providerId="LiveId" clId="{0EDB6E27-9086-5277-AB10-A63F9A905C93}" dt="2025-11-18T20:33:15.107" v="766" actId="207"/>
          <ac:spMkLst>
            <pc:docMk/>
            <pc:sldMk cId="88655827" sldId="450"/>
            <ac:spMk id="9" creationId="{121C9E61-8E8D-73EA-BAEC-CAF96D9FAD76}"/>
          </ac:spMkLst>
        </pc:spChg>
        <pc:spChg chg="mod">
          <ac:chgData name="Josh Hug" userId="e2159f7335c131c2" providerId="LiveId" clId="{0EDB6E27-9086-5277-AB10-A63F9A905C93}" dt="2025-11-18T20:27:00.626" v="322" actId="20577"/>
          <ac:spMkLst>
            <pc:docMk/>
            <pc:sldMk cId="88655827" sldId="450"/>
            <ac:spMk id="11" creationId="{DABC5EE2-7880-0346-5806-4C8CB7D2001B}"/>
          </ac:spMkLst>
        </pc:spChg>
        <pc:spChg chg="mod">
          <ac:chgData name="Josh Hug" userId="e2159f7335c131c2" providerId="LiveId" clId="{0EDB6E27-9086-5277-AB10-A63F9A905C93}" dt="2025-11-18T20:32:28.029" v="748" actId="14100"/>
          <ac:spMkLst>
            <pc:docMk/>
            <pc:sldMk cId="88655827" sldId="450"/>
            <ac:spMk id="12" creationId="{6AA5911D-441A-08E7-2E18-9F4BAB53848E}"/>
          </ac:spMkLst>
        </pc:spChg>
        <pc:spChg chg="mod">
          <ac:chgData name="Josh Hug" userId="e2159f7335c131c2" providerId="LiveId" clId="{0EDB6E27-9086-5277-AB10-A63F9A905C93}" dt="2025-11-18T20:32:07.521" v="663" actId="1038"/>
          <ac:spMkLst>
            <pc:docMk/>
            <pc:sldMk cId="88655827" sldId="450"/>
            <ac:spMk id="14" creationId="{B712FD7F-7545-023D-93F2-59D324906420}"/>
          </ac:spMkLst>
        </pc:spChg>
      </pc:sldChg>
      <pc:sldChg chg="modSp mod">
        <pc:chgData name="Josh Hug" userId="e2159f7335c131c2" providerId="LiveId" clId="{0EDB6E27-9086-5277-AB10-A63F9A905C93}" dt="2025-11-18T20:35:19.212" v="895" actId="20577"/>
        <pc:sldMkLst>
          <pc:docMk/>
          <pc:sldMk cId="1773705830" sldId="452"/>
        </pc:sldMkLst>
        <pc:spChg chg="mod">
          <ac:chgData name="Josh Hug" userId="e2159f7335c131c2" providerId="LiveId" clId="{0EDB6E27-9086-5277-AB10-A63F9A905C93}" dt="2025-11-18T20:35:19.212" v="895" actId="20577"/>
          <ac:spMkLst>
            <pc:docMk/>
            <pc:sldMk cId="1773705830" sldId="452"/>
            <ac:spMk id="2" creationId="{AB62A3F1-358E-1B6E-6E1D-302E0F4AFD9C}"/>
          </ac:spMkLst>
        </pc:spChg>
      </pc:sldChg>
      <pc:sldChg chg="modSp">
        <pc:chgData name="Josh Hug" userId="e2159f7335c131c2" providerId="LiveId" clId="{0EDB6E27-9086-5277-AB10-A63F9A905C93}" dt="2025-11-18T22:25:45.188" v="6103" actId="20577"/>
        <pc:sldMkLst>
          <pc:docMk/>
          <pc:sldMk cId="3734060580" sldId="454"/>
        </pc:sldMkLst>
        <pc:spChg chg="mod">
          <ac:chgData name="Josh Hug" userId="e2159f7335c131c2" providerId="LiveId" clId="{0EDB6E27-9086-5277-AB10-A63F9A905C93}" dt="2025-11-18T22:25:45.188" v="6103" actId="20577"/>
          <ac:spMkLst>
            <pc:docMk/>
            <pc:sldMk cId="3734060580" sldId="454"/>
            <ac:spMk id="3" creationId="{43485C55-2E85-3E01-37EE-B71C0952A433}"/>
          </ac:spMkLst>
        </pc:spChg>
      </pc:sldChg>
      <pc:sldChg chg="modSp">
        <pc:chgData name="Josh Hug" userId="e2159f7335c131c2" providerId="LiveId" clId="{0EDB6E27-9086-5277-AB10-A63F9A905C93}" dt="2025-11-18T22:26:50.978" v="6112" actId="20577"/>
        <pc:sldMkLst>
          <pc:docMk/>
          <pc:sldMk cId="2198795921" sldId="456"/>
        </pc:sldMkLst>
        <pc:spChg chg="mod">
          <ac:chgData name="Josh Hug" userId="e2159f7335c131c2" providerId="LiveId" clId="{0EDB6E27-9086-5277-AB10-A63F9A905C93}" dt="2025-11-18T22:26:50.978" v="6112" actId="20577"/>
          <ac:spMkLst>
            <pc:docMk/>
            <pc:sldMk cId="2198795921" sldId="456"/>
            <ac:spMk id="3" creationId="{8D2A1AAA-B9FF-8128-477E-427052B91D80}"/>
          </ac:spMkLst>
        </pc:spChg>
      </pc:sldChg>
      <pc:sldChg chg="modSp">
        <pc:chgData name="Josh Hug" userId="e2159f7335c131c2" providerId="LiveId" clId="{0EDB6E27-9086-5277-AB10-A63F9A905C93}" dt="2025-11-18T22:26:56.751" v="6113"/>
        <pc:sldMkLst>
          <pc:docMk/>
          <pc:sldMk cId="2384751621" sldId="457"/>
        </pc:sldMkLst>
        <pc:spChg chg="mod">
          <ac:chgData name="Josh Hug" userId="e2159f7335c131c2" providerId="LiveId" clId="{0EDB6E27-9086-5277-AB10-A63F9A905C93}" dt="2025-11-18T22:26:56.751" v="6113"/>
          <ac:spMkLst>
            <pc:docMk/>
            <pc:sldMk cId="2384751621" sldId="457"/>
            <ac:spMk id="3" creationId="{8471F055-31FB-215E-811C-7C269DEAA09B}"/>
          </ac:spMkLst>
        </pc:spChg>
      </pc:sldChg>
      <pc:sldChg chg="modSp">
        <pc:chgData name="Josh Hug" userId="e2159f7335c131c2" providerId="LiveId" clId="{0EDB6E27-9086-5277-AB10-A63F9A905C93}" dt="2025-11-18T22:27:05.320" v="6114"/>
        <pc:sldMkLst>
          <pc:docMk/>
          <pc:sldMk cId="841684390" sldId="458"/>
        </pc:sldMkLst>
        <pc:spChg chg="mod">
          <ac:chgData name="Josh Hug" userId="e2159f7335c131c2" providerId="LiveId" clId="{0EDB6E27-9086-5277-AB10-A63F9A905C93}" dt="2025-11-18T22:27:05.320" v="6114"/>
          <ac:spMkLst>
            <pc:docMk/>
            <pc:sldMk cId="841684390" sldId="458"/>
            <ac:spMk id="3" creationId="{F298D259-37BA-9FBE-C86E-560A85FD46BF}"/>
          </ac:spMkLst>
        </pc:spChg>
      </pc:sldChg>
      <pc:sldChg chg="mod modShow">
        <pc:chgData name="Josh Hug" userId="e2159f7335c131c2" providerId="LiveId" clId="{0EDB6E27-9086-5277-AB10-A63F9A905C93}" dt="2025-11-23T16:38:31.581" v="6344" actId="729"/>
        <pc:sldMkLst>
          <pc:docMk/>
          <pc:sldMk cId="3267471156" sldId="461"/>
        </pc:sldMkLst>
      </pc:sldChg>
      <pc:sldChg chg="modSp mod modAnim modShow">
        <pc:chgData name="Josh Hug" userId="e2159f7335c131c2" providerId="LiveId" clId="{0EDB6E27-9086-5277-AB10-A63F9A905C93}" dt="2025-11-18T21:36:03.292" v="3963" actId="729"/>
        <pc:sldMkLst>
          <pc:docMk/>
          <pc:sldMk cId="1565115708" sldId="465"/>
        </pc:sldMkLst>
        <pc:spChg chg="mod">
          <ac:chgData name="Josh Hug" userId="e2159f7335c131c2" providerId="LiveId" clId="{0EDB6E27-9086-5277-AB10-A63F9A905C93}" dt="2025-11-18T21:29:20.166" v="3075" actId="20577"/>
          <ac:spMkLst>
            <pc:docMk/>
            <pc:sldMk cId="1565115708" sldId="465"/>
            <ac:spMk id="3" creationId="{540A4479-693B-E10E-E1AA-83F0CCA3DFCA}"/>
          </ac:spMkLst>
        </pc:spChg>
      </pc:sldChg>
      <pc:sldChg chg="modSp">
        <pc:chgData name="Josh Hug" userId="e2159f7335c131c2" providerId="LiveId" clId="{0EDB6E27-9086-5277-AB10-A63F9A905C93}" dt="2025-11-18T21:25:00.634" v="3040" actId="20577"/>
        <pc:sldMkLst>
          <pc:docMk/>
          <pc:sldMk cId="3107922890" sldId="468"/>
        </pc:sldMkLst>
        <pc:spChg chg="mod">
          <ac:chgData name="Josh Hug" userId="e2159f7335c131c2" providerId="LiveId" clId="{0EDB6E27-9086-5277-AB10-A63F9A905C93}" dt="2025-11-18T21:25:00.634" v="3040" actId="20577"/>
          <ac:spMkLst>
            <pc:docMk/>
            <pc:sldMk cId="3107922890" sldId="468"/>
            <ac:spMk id="3" creationId="{70349924-3EC9-16FF-55A3-02CF20F018EC}"/>
          </ac:spMkLst>
        </pc:spChg>
      </pc:sldChg>
      <pc:sldChg chg="modSp modAnim">
        <pc:chgData name="Josh Hug" userId="e2159f7335c131c2" providerId="LiveId" clId="{0EDB6E27-9086-5277-AB10-A63F9A905C93}" dt="2025-11-18T20:11:46.669" v="34"/>
        <pc:sldMkLst>
          <pc:docMk/>
          <pc:sldMk cId="2651447624" sldId="470"/>
        </pc:sldMkLst>
        <pc:spChg chg="mod">
          <ac:chgData name="Josh Hug" userId="e2159f7335c131c2" providerId="LiveId" clId="{0EDB6E27-9086-5277-AB10-A63F9A905C93}" dt="2025-11-18T20:08:35.369" v="23" actId="20577"/>
          <ac:spMkLst>
            <pc:docMk/>
            <pc:sldMk cId="2651447624" sldId="470"/>
            <ac:spMk id="3" creationId="{57D26F84-A14F-BB5E-CF63-7DE9DFD385B5}"/>
          </ac:spMkLst>
        </pc:spChg>
      </pc:sldChg>
      <pc:sldChg chg="modSp">
        <pc:chgData name="Josh Hug" userId="e2159f7335c131c2" providerId="LiveId" clId="{0EDB6E27-9086-5277-AB10-A63F9A905C93}" dt="2025-11-18T20:13:57.018" v="37" actId="20577"/>
        <pc:sldMkLst>
          <pc:docMk/>
          <pc:sldMk cId="3137614361" sldId="471"/>
        </pc:sldMkLst>
        <pc:spChg chg="mod">
          <ac:chgData name="Josh Hug" userId="e2159f7335c131c2" providerId="LiveId" clId="{0EDB6E27-9086-5277-AB10-A63F9A905C93}" dt="2025-11-18T20:13:57.018" v="37" actId="20577"/>
          <ac:spMkLst>
            <pc:docMk/>
            <pc:sldMk cId="3137614361" sldId="471"/>
            <ac:spMk id="3" creationId="{5A7C97E3-215E-DA01-D37B-973372FD6151}"/>
          </ac:spMkLst>
        </pc:spChg>
      </pc:sldChg>
      <pc:sldChg chg="modSp">
        <pc:chgData name="Josh Hug" userId="e2159f7335c131c2" providerId="LiveId" clId="{0EDB6E27-9086-5277-AB10-A63F9A905C93}" dt="2025-11-18T20:14:07.225" v="42" actId="20577"/>
        <pc:sldMkLst>
          <pc:docMk/>
          <pc:sldMk cId="2802958280" sldId="472"/>
        </pc:sldMkLst>
        <pc:spChg chg="mod">
          <ac:chgData name="Josh Hug" userId="e2159f7335c131c2" providerId="LiveId" clId="{0EDB6E27-9086-5277-AB10-A63F9A905C93}" dt="2025-11-18T20:14:07.225" v="42" actId="20577"/>
          <ac:spMkLst>
            <pc:docMk/>
            <pc:sldMk cId="2802958280" sldId="472"/>
            <ac:spMk id="3" creationId="{1E2D0716-D372-AF31-0845-1F1167761A7B}"/>
          </ac:spMkLst>
        </pc:spChg>
      </pc:sldChg>
      <pc:sldChg chg="delSp modSp mod delAnim modAnim">
        <pc:chgData name="Josh Hug" userId="e2159f7335c131c2" providerId="LiveId" clId="{0EDB6E27-9086-5277-AB10-A63F9A905C93}" dt="2025-11-18T21:48:00.312" v="5124"/>
        <pc:sldMkLst>
          <pc:docMk/>
          <pc:sldMk cId="653250684" sldId="476"/>
        </pc:sldMkLst>
        <pc:spChg chg="mod">
          <ac:chgData name="Josh Hug" userId="e2159f7335c131c2" providerId="LiveId" clId="{0EDB6E27-9086-5277-AB10-A63F9A905C93}" dt="2025-11-18T21:46:04.695" v="4855" actId="20577"/>
          <ac:spMkLst>
            <pc:docMk/>
            <pc:sldMk cId="653250684" sldId="476"/>
            <ac:spMk id="3" creationId="{5C9778DD-3E49-67C8-E0E9-25ED3547726E}"/>
          </ac:spMkLst>
        </pc:spChg>
      </pc:sldChg>
      <pc:sldChg chg="modSp mod modShow">
        <pc:chgData name="Josh Hug" userId="e2159f7335c131c2" providerId="LiveId" clId="{0EDB6E27-9086-5277-AB10-A63F9A905C93}" dt="2025-11-18T23:37:37.557" v="6216" actId="1076"/>
        <pc:sldMkLst>
          <pc:docMk/>
          <pc:sldMk cId="3330959589" sldId="478"/>
        </pc:sldMkLst>
        <pc:spChg chg="mod">
          <ac:chgData name="Josh Hug" userId="e2159f7335c131c2" providerId="LiveId" clId="{0EDB6E27-9086-5277-AB10-A63F9A905C93}" dt="2025-11-18T23:37:32.380" v="6215" actId="20577"/>
          <ac:spMkLst>
            <pc:docMk/>
            <pc:sldMk cId="3330959589" sldId="478"/>
            <ac:spMk id="3" creationId="{765F8C76-67A8-A353-A8CC-ED31ACB8D9EE}"/>
          </ac:spMkLst>
        </pc:spChg>
        <pc:spChg chg="mod">
          <ac:chgData name="Josh Hug" userId="e2159f7335c131c2" providerId="LiveId" clId="{0EDB6E27-9086-5277-AB10-A63F9A905C93}" dt="2025-11-18T23:37:37.557" v="6216" actId="1076"/>
          <ac:spMkLst>
            <pc:docMk/>
            <pc:sldMk cId="3330959589" sldId="478"/>
            <ac:spMk id="5" creationId="{B7785072-0273-50E4-FA9F-241D44256DC9}"/>
          </ac:spMkLst>
        </pc:spChg>
        <pc:spChg chg="mod">
          <ac:chgData name="Josh Hug" userId="e2159f7335c131c2" providerId="LiveId" clId="{0EDB6E27-9086-5277-AB10-A63F9A905C93}" dt="2025-11-18T23:37:30.132" v="6213" actId="1076"/>
          <ac:spMkLst>
            <pc:docMk/>
            <pc:sldMk cId="3330959589" sldId="478"/>
            <ac:spMk id="11" creationId="{CA134726-9AE4-E4C8-05B9-A2C929D7E52A}"/>
          </ac:spMkLst>
        </pc:spChg>
      </pc:sldChg>
      <pc:sldChg chg="modSp mod">
        <pc:chgData name="Josh Hug" userId="e2159f7335c131c2" providerId="LiveId" clId="{0EDB6E27-9086-5277-AB10-A63F9A905C93}" dt="2025-11-18T23:37:23.148" v="6211" actId="1038"/>
        <pc:sldMkLst>
          <pc:docMk/>
          <pc:sldMk cId="1359057044" sldId="479"/>
        </pc:sldMkLst>
        <pc:spChg chg="mod">
          <ac:chgData name="Josh Hug" userId="e2159f7335c131c2" providerId="LiveId" clId="{0EDB6E27-9086-5277-AB10-A63F9A905C93}" dt="2025-11-18T23:37:23.148" v="6211" actId="1038"/>
          <ac:spMkLst>
            <pc:docMk/>
            <pc:sldMk cId="1359057044" sldId="479"/>
            <ac:spMk id="6" creationId="{988CF8C6-90A9-7AD4-7E32-E40689ECDE1A}"/>
          </ac:spMkLst>
        </pc:spChg>
        <pc:spChg chg="mod">
          <ac:chgData name="Josh Hug" userId="e2159f7335c131c2" providerId="LiveId" clId="{0EDB6E27-9086-5277-AB10-A63F9A905C93}" dt="2025-11-18T23:37:17.708" v="6190" actId="1036"/>
          <ac:spMkLst>
            <pc:docMk/>
            <pc:sldMk cId="1359057044" sldId="479"/>
            <ac:spMk id="11" creationId="{A565BF7C-EF5C-77D1-B04E-FD9C0B613993}"/>
          </ac:spMkLst>
        </pc:spChg>
      </pc:sldChg>
      <pc:sldChg chg="modSp mod">
        <pc:chgData name="Josh Hug" userId="e2159f7335c131c2" providerId="LiveId" clId="{0EDB6E27-9086-5277-AB10-A63F9A905C93}" dt="2025-11-18T23:37:06.326" v="6167" actId="1036"/>
        <pc:sldMkLst>
          <pc:docMk/>
          <pc:sldMk cId="602060006" sldId="481"/>
        </pc:sldMkLst>
        <pc:spChg chg="mod">
          <ac:chgData name="Josh Hug" userId="e2159f7335c131c2" providerId="LiveId" clId="{0EDB6E27-9086-5277-AB10-A63F9A905C93}" dt="2025-11-18T23:37:03.828" v="6156" actId="1038"/>
          <ac:spMkLst>
            <pc:docMk/>
            <pc:sldMk cId="602060006" sldId="481"/>
            <ac:spMk id="5" creationId="{D84D1A18-8AC6-85FD-6433-E5E3BFF84C7C}"/>
          </ac:spMkLst>
        </pc:spChg>
        <pc:spChg chg="mod">
          <ac:chgData name="Josh Hug" userId="e2159f7335c131c2" providerId="LiveId" clId="{0EDB6E27-9086-5277-AB10-A63F9A905C93}" dt="2025-11-18T23:37:06.326" v="6167" actId="1036"/>
          <ac:spMkLst>
            <pc:docMk/>
            <pc:sldMk cId="602060006" sldId="481"/>
            <ac:spMk id="11" creationId="{C38258A6-E5A7-14F7-3018-AB6E13632CD5}"/>
          </ac:spMkLst>
        </pc:spChg>
      </pc:sldChg>
      <pc:sldChg chg="modSp mod">
        <pc:chgData name="Josh Hug" userId="e2159f7335c131c2" providerId="LiveId" clId="{0EDB6E27-9086-5277-AB10-A63F9A905C93}" dt="2025-11-18T23:37:10.956" v="6180" actId="1036"/>
        <pc:sldMkLst>
          <pc:docMk/>
          <pc:sldMk cId="2849909724" sldId="482"/>
        </pc:sldMkLst>
        <pc:spChg chg="mod">
          <ac:chgData name="Josh Hug" userId="e2159f7335c131c2" providerId="LiveId" clId="{0EDB6E27-9086-5277-AB10-A63F9A905C93}" dt="2025-11-18T23:36:51.265" v="6116" actId="14100"/>
          <ac:spMkLst>
            <pc:docMk/>
            <pc:sldMk cId="2849909724" sldId="482"/>
            <ac:spMk id="3" creationId="{B42FE734-EE05-E5ED-99A2-6953C014556B}"/>
          </ac:spMkLst>
        </pc:spChg>
        <pc:spChg chg="mod">
          <ac:chgData name="Josh Hug" userId="e2159f7335c131c2" providerId="LiveId" clId="{0EDB6E27-9086-5277-AB10-A63F9A905C93}" dt="2025-11-18T23:36:55.835" v="6137" actId="1038"/>
          <ac:spMkLst>
            <pc:docMk/>
            <pc:sldMk cId="2849909724" sldId="482"/>
            <ac:spMk id="7" creationId="{A853FB84-24A6-AAF4-A419-7A4D2122E8E6}"/>
          </ac:spMkLst>
        </pc:spChg>
        <pc:spChg chg="mod">
          <ac:chgData name="Josh Hug" userId="e2159f7335c131c2" providerId="LiveId" clId="{0EDB6E27-9086-5277-AB10-A63F9A905C93}" dt="2025-11-18T23:37:10.956" v="6180" actId="1036"/>
          <ac:spMkLst>
            <pc:docMk/>
            <pc:sldMk cId="2849909724" sldId="482"/>
            <ac:spMk id="8" creationId="{6EF89225-FBD4-1375-5403-F429B3CC1E37}"/>
          </ac:spMkLst>
        </pc:spChg>
        <pc:spChg chg="mod">
          <ac:chgData name="Josh Hug" userId="e2159f7335c131c2" providerId="LiveId" clId="{0EDB6E27-9086-5277-AB10-A63F9A905C93}" dt="2025-11-18T23:37:10.956" v="6180" actId="1036"/>
          <ac:spMkLst>
            <pc:docMk/>
            <pc:sldMk cId="2849909724" sldId="482"/>
            <ac:spMk id="11" creationId="{4EE0EA23-8E61-4403-5D6A-689ECB273347}"/>
          </ac:spMkLst>
        </pc:spChg>
      </pc:sldChg>
      <pc:sldChg chg="modSp mod">
        <pc:chgData name="Josh Hug" userId="e2159f7335c131c2" providerId="LiveId" clId="{0EDB6E27-9086-5277-AB10-A63F9A905C93}" dt="2025-11-18T22:12:47.552" v="6097" actId="1076"/>
        <pc:sldMkLst>
          <pc:docMk/>
          <pc:sldMk cId="540390193" sldId="483"/>
        </pc:sldMkLst>
        <pc:spChg chg="mod">
          <ac:chgData name="Josh Hug" userId="e2159f7335c131c2" providerId="LiveId" clId="{0EDB6E27-9086-5277-AB10-A63F9A905C93}" dt="2025-11-18T22:12:42.645" v="6095" actId="20577"/>
          <ac:spMkLst>
            <pc:docMk/>
            <pc:sldMk cId="540390193" sldId="483"/>
            <ac:spMk id="3" creationId="{F0AC771F-6AE4-C82F-A1D5-DB1D77972517}"/>
          </ac:spMkLst>
        </pc:spChg>
        <pc:spChg chg="mod">
          <ac:chgData name="Josh Hug" userId="e2159f7335c131c2" providerId="LiveId" clId="{0EDB6E27-9086-5277-AB10-A63F9A905C93}" dt="2025-11-18T22:12:47.552" v="6097" actId="1076"/>
          <ac:spMkLst>
            <pc:docMk/>
            <pc:sldMk cId="540390193" sldId="483"/>
            <ac:spMk id="7" creationId="{7D3E7754-7C4E-8425-4D9C-ECC67AE33C41}"/>
          </ac:spMkLst>
        </pc:spChg>
      </pc:sldChg>
      <pc:sldChg chg="addSp delSp modSp mod modAnim">
        <pc:chgData name="Josh Hug" userId="e2159f7335c131c2" providerId="LiveId" clId="{0EDB6E27-9086-5277-AB10-A63F9A905C93}" dt="2025-11-23T16:38:01.917" v="6342" actId="478"/>
        <pc:sldMkLst>
          <pc:docMk/>
          <pc:sldMk cId="3377528364" sldId="486"/>
        </pc:sldMkLst>
        <pc:spChg chg="mod">
          <ac:chgData name="Josh Hug" userId="e2159f7335c131c2" providerId="LiveId" clId="{0EDB6E27-9086-5277-AB10-A63F9A905C93}" dt="2025-11-19T01:27:30.834" v="6226" actId="20577"/>
          <ac:spMkLst>
            <pc:docMk/>
            <pc:sldMk cId="3377528364" sldId="486"/>
            <ac:spMk id="3" creationId="{6C921360-A11A-5BE6-346F-014ACEBD76B2}"/>
          </ac:spMkLst>
        </pc:spChg>
        <pc:spChg chg="add del mod">
          <ac:chgData name="Josh Hug" userId="e2159f7335c131c2" providerId="LiveId" clId="{0EDB6E27-9086-5277-AB10-A63F9A905C93}" dt="2025-11-23T16:38:01.917" v="6342" actId="478"/>
          <ac:spMkLst>
            <pc:docMk/>
            <pc:sldMk cId="3377528364" sldId="486"/>
            <ac:spMk id="4" creationId="{2E6C23F1-434B-CDA0-0150-59AB869DC57B}"/>
          </ac:spMkLst>
        </pc:spChg>
      </pc:sldChg>
      <pc:sldChg chg="modSp mod modAnim">
        <pc:chgData name="Josh Hug" userId="e2159f7335c131c2" providerId="LiveId" clId="{0EDB6E27-9086-5277-AB10-A63F9A905C93}" dt="2025-11-18T20:20:49.808" v="291" actId="120"/>
        <pc:sldMkLst>
          <pc:docMk/>
          <pc:sldMk cId="154460752" sldId="494"/>
        </pc:sldMkLst>
        <pc:spChg chg="mod">
          <ac:chgData name="Josh Hug" userId="e2159f7335c131c2" providerId="LiveId" clId="{0EDB6E27-9086-5277-AB10-A63F9A905C93}" dt="2025-11-18T20:18:25.396" v="139" actId="5793"/>
          <ac:spMkLst>
            <pc:docMk/>
            <pc:sldMk cId="154460752" sldId="494"/>
            <ac:spMk id="3" creationId="{55DBD0D3-50A3-40DA-75E9-0F3F6745EC08}"/>
          </ac:spMkLst>
        </pc:spChg>
        <pc:graphicFrameChg chg="mod modGraphic">
          <ac:chgData name="Josh Hug" userId="e2159f7335c131c2" providerId="LiveId" clId="{0EDB6E27-9086-5277-AB10-A63F9A905C93}" dt="2025-11-18T20:20:49.808" v="291" actId="120"/>
          <ac:graphicFrameMkLst>
            <pc:docMk/>
            <pc:sldMk cId="154460752" sldId="494"/>
            <ac:graphicFrameMk id="5" creationId="{7527751D-8026-B210-8F6C-DB5DE9A42FC4}"/>
          </ac:graphicFrameMkLst>
        </pc:graphicFrameChg>
      </pc:sldChg>
      <pc:sldChg chg="addSp delSp modSp add mod delAnim modAnim">
        <pc:chgData name="Josh Hug" userId="e2159f7335c131c2" providerId="LiveId" clId="{0EDB6E27-9086-5277-AB10-A63F9A905C93}" dt="2025-11-18T20:32:56.584" v="757"/>
        <pc:sldMkLst>
          <pc:docMk/>
          <pc:sldMk cId="318021502" sldId="495"/>
        </pc:sldMkLst>
        <pc:spChg chg="mod">
          <ac:chgData name="Josh Hug" userId="e2159f7335c131c2" providerId="LiveId" clId="{0EDB6E27-9086-5277-AB10-A63F9A905C93}" dt="2025-11-18T20:32:56.584" v="757"/>
          <ac:spMkLst>
            <pc:docMk/>
            <pc:sldMk cId="318021502" sldId="495"/>
            <ac:spMk id="3" creationId="{DA1527D1-F205-215A-1BE2-CFA4815C2068}"/>
          </ac:spMkLst>
        </pc:spChg>
        <pc:spChg chg="add mod">
          <ac:chgData name="Josh Hug" userId="e2159f7335c131c2" providerId="LiveId" clId="{0EDB6E27-9086-5277-AB10-A63F9A905C93}" dt="2025-11-18T20:28:42.082" v="465" actId="20577"/>
          <ac:spMkLst>
            <pc:docMk/>
            <pc:sldMk cId="318021502" sldId="495"/>
            <ac:spMk id="4" creationId="{B7F72C1F-8BBC-BC89-B6D9-35A745A593AF}"/>
          </ac:spMkLst>
        </pc:spChg>
        <pc:spChg chg="mod">
          <ac:chgData name="Josh Hug" userId="e2159f7335c131c2" providerId="LiveId" clId="{0EDB6E27-9086-5277-AB10-A63F9A905C93}" dt="2025-11-18T20:27:48.928" v="369" actId="20577"/>
          <ac:spMkLst>
            <pc:docMk/>
            <pc:sldMk cId="318021502" sldId="495"/>
            <ac:spMk id="5" creationId="{EE411502-FAF5-7FF9-B3A5-161A05A236FB}"/>
          </ac:spMkLst>
        </pc:spChg>
      </pc:sldChg>
      <pc:sldChg chg="modSp add mod">
        <pc:chgData name="Josh Hug" userId="e2159f7335c131c2" providerId="LiveId" clId="{0EDB6E27-9086-5277-AB10-A63F9A905C93}" dt="2025-11-18T20:33:01.788" v="758"/>
        <pc:sldMkLst>
          <pc:docMk/>
          <pc:sldMk cId="35170351" sldId="496"/>
        </pc:sldMkLst>
        <pc:spChg chg="mod">
          <ac:chgData name="Josh Hug" userId="e2159f7335c131c2" providerId="LiveId" clId="{0EDB6E27-9086-5277-AB10-A63F9A905C93}" dt="2025-11-18T20:33:01.788" v="758"/>
          <ac:spMkLst>
            <pc:docMk/>
            <pc:sldMk cId="35170351" sldId="496"/>
            <ac:spMk id="3" creationId="{176B7194-3479-7BE1-05EA-47637EE32733}"/>
          </ac:spMkLst>
        </pc:spChg>
        <pc:spChg chg="mod">
          <ac:chgData name="Josh Hug" userId="e2159f7335c131c2" providerId="LiveId" clId="{0EDB6E27-9086-5277-AB10-A63F9A905C93}" dt="2025-11-18T20:29:35.665" v="499" actId="20577"/>
          <ac:spMkLst>
            <pc:docMk/>
            <pc:sldMk cId="35170351" sldId="496"/>
            <ac:spMk id="4" creationId="{01A69F0C-5646-A5E1-2B17-F812A6730F37}"/>
          </ac:spMkLst>
        </pc:spChg>
      </pc:sldChg>
      <pc:sldChg chg="addSp delSp modSp add mod">
        <pc:chgData name="Josh Hug" userId="e2159f7335c131c2" providerId="LiveId" clId="{0EDB6E27-9086-5277-AB10-A63F9A905C93}" dt="2025-11-18T21:40:07.043" v="4201" actId="22"/>
        <pc:sldMkLst>
          <pc:docMk/>
          <pc:sldMk cId="2974542994" sldId="497"/>
        </pc:sldMkLst>
        <pc:spChg chg="mod">
          <ac:chgData name="Josh Hug" userId="e2159f7335c131c2" providerId="LiveId" clId="{0EDB6E27-9086-5277-AB10-A63F9A905C93}" dt="2025-11-18T20:35:34.701" v="953" actId="20577"/>
          <ac:spMkLst>
            <pc:docMk/>
            <pc:sldMk cId="2974542994" sldId="497"/>
            <ac:spMk id="2" creationId="{C5F97819-E39D-11D7-CE5E-F43AB74F90A2}"/>
          </ac:spMkLst>
        </pc:spChg>
      </pc:sldChg>
      <pc:sldChg chg="delSp modSp add mod delAnim modAnim modShow">
        <pc:chgData name="Josh Hug" userId="e2159f7335c131c2" providerId="LiveId" clId="{0EDB6E27-9086-5277-AB10-A63F9A905C93}" dt="2025-11-18T21:57:14.063" v="5660" actId="729"/>
        <pc:sldMkLst>
          <pc:docMk/>
          <pc:sldMk cId="217353307" sldId="498"/>
        </pc:sldMkLst>
        <pc:spChg chg="mod">
          <ac:chgData name="Josh Hug" userId="e2159f7335c131c2" providerId="LiveId" clId="{0EDB6E27-9086-5277-AB10-A63F9A905C93}" dt="2025-11-18T21:42:15.310" v="4433" actId="20577"/>
          <ac:spMkLst>
            <pc:docMk/>
            <pc:sldMk cId="217353307" sldId="498"/>
            <ac:spMk id="3" creationId="{820B77AE-2A30-BED3-744A-5F7B533012F0}"/>
          </ac:spMkLst>
        </pc:spChg>
      </pc:sldChg>
      <pc:sldChg chg="addSp delSp modSp add mod ord modAnim">
        <pc:chgData name="Josh Hug" userId="e2159f7335c131c2" providerId="LiveId" clId="{0EDB6E27-9086-5277-AB10-A63F9A905C93}" dt="2025-11-18T21:42:58.919" v="4500"/>
        <pc:sldMkLst>
          <pc:docMk/>
          <pc:sldMk cId="174602268" sldId="499"/>
        </pc:sldMkLst>
        <pc:spChg chg="mod">
          <ac:chgData name="Josh Hug" userId="e2159f7335c131c2" providerId="LiveId" clId="{0EDB6E27-9086-5277-AB10-A63F9A905C93}" dt="2025-11-18T20:42:08.399" v="1191" actId="20577"/>
          <ac:spMkLst>
            <pc:docMk/>
            <pc:sldMk cId="174602268" sldId="499"/>
            <ac:spMk id="2" creationId="{55DA7340-32BB-956B-9C3E-3339F9AF1425}"/>
          </ac:spMkLst>
        </pc:spChg>
        <pc:spChg chg="mod">
          <ac:chgData name="Josh Hug" userId="e2159f7335c131c2" providerId="LiveId" clId="{0EDB6E27-9086-5277-AB10-A63F9A905C93}" dt="2025-11-18T21:42:55.187" v="4498"/>
          <ac:spMkLst>
            <pc:docMk/>
            <pc:sldMk cId="174602268" sldId="499"/>
            <ac:spMk id="3" creationId="{D82A2F46-18BD-4E2F-F1F8-0AADEFA41773}"/>
          </ac:spMkLst>
        </pc:spChg>
        <pc:spChg chg="add mod">
          <ac:chgData name="Josh Hug" userId="e2159f7335c131c2" providerId="LiveId" clId="{0EDB6E27-9086-5277-AB10-A63F9A905C93}" dt="2025-11-18T20:45:22.753" v="1678"/>
          <ac:spMkLst>
            <pc:docMk/>
            <pc:sldMk cId="174602268" sldId="499"/>
            <ac:spMk id="4" creationId="{2DF59ABD-A7A4-2395-9CB2-024AEE05E059}"/>
          </ac:spMkLst>
        </pc:spChg>
      </pc:sldChg>
      <pc:sldChg chg="modSp new mod setBg">
        <pc:chgData name="Josh Hug" userId="e2159f7335c131c2" providerId="LiveId" clId="{0EDB6E27-9086-5277-AB10-A63F9A905C93}" dt="2025-11-18T21:23:22.513" v="2973" actId="20577"/>
        <pc:sldMkLst>
          <pc:docMk/>
          <pc:sldMk cId="4233818126" sldId="500"/>
        </pc:sldMkLst>
        <pc:spChg chg="mod">
          <ac:chgData name="Josh Hug" userId="e2159f7335c131c2" providerId="LiveId" clId="{0EDB6E27-9086-5277-AB10-A63F9A905C93}" dt="2025-11-18T20:48:45.446" v="1754" actId="20577"/>
          <ac:spMkLst>
            <pc:docMk/>
            <pc:sldMk cId="4233818126" sldId="500"/>
            <ac:spMk id="2" creationId="{4FEFFDAD-DD2A-01B0-A223-43A8D3BB65AA}"/>
          </ac:spMkLst>
        </pc:spChg>
        <pc:spChg chg="mod">
          <ac:chgData name="Josh Hug" userId="e2159f7335c131c2" providerId="LiveId" clId="{0EDB6E27-9086-5277-AB10-A63F9A905C93}" dt="2025-11-18T21:23:22.513" v="2973" actId="20577"/>
          <ac:spMkLst>
            <pc:docMk/>
            <pc:sldMk cId="4233818126" sldId="500"/>
            <ac:spMk id="3" creationId="{FBD82F3B-9341-CCE6-4BB9-989FBA4B2C2E}"/>
          </ac:spMkLst>
        </pc:spChg>
      </pc:sldChg>
      <pc:sldChg chg="modSp add mod setBg">
        <pc:chgData name="Josh Hug" userId="e2159f7335c131c2" providerId="LiveId" clId="{0EDB6E27-9086-5277-AB10-A63F9A905C93}" dt="2025-11-18T21:23:31.903" v="2997" actId="20577"/>
        <pc:sldMkLst>
          <pc:docMk/>
          <pc:sldMk cId="1529887285" sldId="501"/>
        </pc:sldMkLst>
        <pc:spChg chg="mod">
          <ac:chgData name="Josh Hug" userId="e2159f7335c131c2" providerId="LiveId" clId="{0EDB6E27-9086-5277-AB10-A63F9A905C93}" dt="2025-11-18T21:23:31.903" v="2997" actId="20577"/>
          <ac:spMkLst>
            <pc:docMk/>
            <pc:sldMk cId="1529887285" sldId="501"/>
            <ac:spMk id="3" creationId="{C99D3B4D-F341-2FAD-02D9-FEBF1DFAC957}"/>
          </ac:spMkLst>
        </pc:spChg>
      </pc:sldChg>
      <pc:sldChg chg="modSp add mod">
        <pc:chgData name="Josh Hug" userId="e2159f7335c131c2" providerId="LiveId" clId="{0EDB6E27-9086-5277-AB10-A63F9A905C93}" dt="2025-11-18T21:27:55.116" v="3053" actId="20577"/>
        <pc:sldMkLst>
          <pc:docMk/>
          <pc:sldMk cId="1749126398" sldId="502"/>
        </pc:sldMkLst>
        <pc:spChg chg="mod">
          <ac:chgData name="Josh Hug" userId="e2159f7335c131c2" providerId="LiveId" clId="{0EDB6E27-9086-5277-AB10-A63F9A905C93}" dt="2025-11-18T21:27:55.116" v="3053" actId="20577"/>
          <ac:spMkLst>
            <pc:docMk/>
            <pc:sldMk cId="1749126398" sldId="502"/>
            <ac:spMk id="3" creationId="{00047D57-6256-BDFB-23A5-F093C0DC9687}"/>
          </ac:spMkLst>
        </pc:spChg>
      </pc:sldChg>
      <pc:sldChg chg="modSp add mod">
        <pc:chgData name="Josh Hug" userId="e2159f7335c131c2" providerId="LiveId" clId="{0EDB6E27-9086-5277-AB10-A63F9A905C93}" dt="2025-11-18T21:28:03.953" v="3063" actId="20577"/>
        <pc:sldMkLst>
          <pc:docMk/>
          <pc:sldMk cId="569832914" sldId="504"/>
        </pc:sldMkLst>
        <pc:spChg chg="mod">
          <ac:chgData name="Josh Hug" userId="e2159f7335c131c2" providerId="LiveId" clId="{0EDB6E27-9086-5277-AB10-A63F9A905C93}" dt="2025-11-18T21:28:03.953" v="3063" actId="20577"/>
          <ac:spMkLst>
            <pc:docMk/>
            <pc:sldMk cId="569832914" sldId="504"/>
            <ac:spMk id="3" creationId="{16E1FC44-8D7E-CAAD-A63F-7F21BEE2866A}"/>
          </ac:spMkLst>
        </pc:spChg>
      </pc:sldChg>
      <pc:sldChg chg="modSp add mod">
        <pc:chgData name="Josh Hug" userId="e2159f7335c131c2" providerId="LiveId" clId="{0EDB6E27-9086-5277-AB10-A63F9A905C93}" dt="2025-11-18T21:35:52.707" v="3961" actId="20577"/>
        <pc:sldMkLst>
          <pc:docMk/>
          <pc:sldMk cId="3055775732" sldId="505"/>
        </pc:sldMkLst>
        <pc:spChg chg="mod">
          <ac:chgData name="Josh Hug" userId="e2159f7335c131c2" providerId="LiveId" clId="{0EDB6E27-9086-5277-AB10-A63F9A905C93}" dt="2025-11-18T21:30:07.749" v="3117" actId="20577"/>
          <ac:spMkLst>
            <pc:docMk/>
            <pc:sldMk cId="3055775732" sldId="505"/>
            <ac:spMk id="2" creationId="{156BBE2D-BC89-84DD-70CA-270B6D7D55E1}"/>
          </ac:spMkLst>
        </pc:spChg>
        <pc:spChg chg="mod">
          <ac:chgData name="Josh Hug" userId="e2159f7335c131c2" providerId="LiveId" clId="{0EDB6E27-9086-5277-AB10-A63F9A905C93}" dt="2025-11-18T21:35:52.707" v="3961" actId="20577"/>
          <ac:spMkLst>
            <pc:docMk/>
            <pc:sldMk cId="3055775732" sldId="505"/>
            <ac:spMk id="3" creationId="{4C822C0B-690F-CFDF-78C7-519455DA6B41}"/>
          </ac:spMkLst>
        </pc:spChg>
      </pc:sldChg>
      <pc:sldChg chg="modSp add mod">
        <pc:chgData name="Josh Hug" userId="e2159f7335c131c2" providerId="LiveId" clId="{0EDB6E27-9086-5277-AB10-A63F9A905C93}" dt="2025-11-18T21:38:05.451" v="4126" actId="20577"/>
        <pc:sldMkLst>
          <pc:docMk/>
          <pc:sldMk cId="501672347" sldId="506"/>
        </pc:sldMkLst>
        <pc:spChg chg="mod">
          <ac:chgData name="Josh Hug" userId="e2159f7335c131c2" providerId="LiveId" clId="{0EDB6E27-9086-5277-AB10-A63F9A905C93}" dt="2025-11-18T21:38:05.451" v="4126" actId="20577"/>
          <ac:spMkLst>
            <pc:docMk/>
            <pc:sldMk cId="501672347" sldId="506"/>
            <ac:spMk id="3" creationId="{5433E8A9-53CB-48EE-D975-2EDF67A5BC48}"/>
          </ac:spMkLst>
        </pc:spChg>
      </pc:sldChg>
      <pc:sldChg chg="modSp add mod">
        <pc:chgData name="Josh Hug" userId="e2159f7335c131c2" providerId="LiveId" clId="{0EDB6E27-9086-5277-AB10-A63F9A905C93}" dt="2025-11-18T21:38:22.632" v="4149" actId="20577"/>
        <pc:sldMkLst>
          <pc:docMk/>
          <pc:sldMk cId="4126176985" sldId="507"/>
        </pc:sldMkLst>
        <pc:spChg chg="mod">
          <ac:chgData name="Josh Hug" userId="e2159f7335c131c2" providerId="LiveId" clId="{0EDB6E27-9086-5277-AB10-A63F9A905C93}" dt="2025-11-18T21:37:34.453" v="4021" actId="20577"/>
          <ac:spMkLst>
            <pc:docMk/>
            <pc:sldMk cId="4126176985" sldId="507"/>
            <ac:spMk id="2" creationId="{10AB8811-F239-DB8A-3E81-EE274DBD4277}"/>
          </ac:spMkLst>
        </pc:spChg>
        <pc:spChg chg="mod">
          <ac:chgData name="Josh Hug" userId="e2159f7335c131c2" providerId="LiveId" clId="{0EDB6E27-9086-5277-AB10-A63F9A905C93}" dt="2025-11-18T21:38:22.632" v="4149" actId="20577"/>
          <ac:spMkLst>
            <pc:docMk/>
            <pc:sldMk cId="4126176985" sldId="507"/>
            <ac:spMk id="3" creationId="{747A8EC3-FE0C-A43E-1AE4-A12DB538DF3B}"/>
          </ac:spMkLst>
        </pc:spChg>
      </pc:sldChg>
      <pc:sldChg chg="modSp add ord">
        <pc:chgData name="Josh Hug" userId="e2159f7335c131c2" providerId="LiveId" clId="{0EDB6E27-9086-5277-AB10-A63F9A905C93}" dt="2025-11-18T21:42:59.101" v="4501" actId="20578"/>
        <pc:sldMkLst>
          <pc:docMk/>
          <pc:sldMk cId="3388428270" sldId="508"/>
        </pc:sldMkLst>
        <pc:spChg chg="mod">
          <ac:chgData name="Josh Hug" userId="e2159f7335c131c2" providerId="LiveId" clId="{0EDB6E27-9086-5277-AB10-A63F9A905C93}" dt="2025-11-18T21:42:38.452" v="4484" actId="20577"/>
          <ac:spMkLst>
            <pc:docMk/>
            <pc:sldMk cId="3388428270" sldId="508"/>
            <ac:spMk id="3" creationId="{10CD4179-494B-647E-293B-6F13E9344AD8}"/>
          </ac:spMkLst>
        </pc:spChg>
      </pc:sldChg>
      <pc:sldChg chg="modSp add mod">
        <pc:chgData name="Josh Hug" userId="e2159f7335c131c2" providerId="LiveId" clId="{0EDB6E27-9086-5277-AB10-A63F9A905C93}" dt="2025-11-19T00:42:52.243" v="6220" actId="207"/>
        <pc:sldMkLst>
          <pc:docMk/>
          <pc:sldMk cId="3481920047" sldId="512"/>
        </pc:sldMkLst>
        <pc:spChg chg="mod">
          <ac:chgData name="Josh Hug" userId="e2159f7335c131c2" providerId="LiveId" clId="{0EDB6E27-9086-5277-AB10-A63F9A905C93}" dt="2025-11-19T00:42:52.243" v="6220" actId="207"/>
          <ac:spMkLst>
            <pc:docMk/>
            <pc:sldMk cId="3481920047" sldId="512"/>
            <ac:spMk id="3" creationId="{2D4D7443-E079-C264-6C3E-521FE62C02D8}"/>
          </ac:spMkLst>
        </pc:spChg>
      </pc:sldChg>
      <pc:sldChg chg="modSp add mod ord">
        <pc:chgData name="Josh Hug" userId="e2159f7335c131c2" providerId="LiveId" clId="{0EDB6E27-9086-5277-AB10-A63F9A905C93}" dt="2025-11-18T21:57:27.808" v="5666" actId="20577"/>
        <pc:sldMkLst>
          <pc:docMk/>
          <pc:sldMk cId="463608492" sldId="513"/>
        </pc:sldMkLst>
        <pc:spChg chg="mod">
          <ac:chgData name="Josh Hug" userId="e2159f7335c131c2" providerId="LiveId" clId="{0EDB6E27-9086-5277-AB10-A63F9A905C93}" dt="2025-11-18T21:57:27.808" v="5666" actId="20577"/>
          <ac:spMkLst>
            <pc:docMk/>
            <pc:sldMk cId="463608492" sldId="513"/>
            <ac:spMk id="3" creationId="{E893471B-0713-0A7A-7BD6-197C1DA95621}"/>
          </ac:spMkLst>
        </pc:spChg>
      </pc:sldChg>
      <pc:sldChg chg="modSp add modAnim">
        <pc:chgData name="Josh Hug" userId="e2159f7335c131c2" providerId="LiveId" clId="{0EDB6E27-9086-5277-AB10-A63F9A905C93}" dt="2025-11-18T21:58:07.757" v="5672" actId="20577"/>
        <pc:sldMkLst>
          <pc:docMk/>
          <pc:sldMk cId="2669673423" sldId="514"/>
        </pc:sldMkLst>
        <pc:spChg chg="mod">
          <ac:chgData name="Josh Hug" userId="e2159f7335c131c2" providerId="LiveId" clId="{0EDB6E27-9086-5277-AB10-A63F9A905C93}" dt="2025-11-18T21:58:07.757" v="5672" actId="20577"/>
          <ac:spMkLst>
            <pc:docMk/>
            <pc:sldMk cId="2669673423" sldId="514"/>
            <ac:spMk id="3" creationId="{FD647FE6-F5F7-B597-C08B-9D0AB0DFD9AB}"/>
          </ac:spMkLst>
        </pc:spChg>
      </pc:sldChg>
      <pc:sldChg chg="modSp add modAnim">
        <pc:chgData name="Josh Hug" userId="e2159f7335c131c2" providerId="LiveId" clId="{0EDB6E27-9086-5277-AB10-A63F9A905C93}" dt="2025-11-18T21:59:19.789" v="5705" actId="20577"/>
        <pc:sldMkLst>
          <pc:docMk/>
          <pc:sldMk cId="115916481" sldId="515"/>
        </pc:sldMkLst>
        <pc:spChg chg="mod">
          <ac:chgData name="Josh Hug" userId="e2159f7335c131c2" providerId="LiveId" clId="{0EDB6E27-9086-5277-AB10-A63F9A905C93}" dt="2025-11-18T21:59:19.789" v="5705" actId="20577"/>
          <ac:spMkLst>
            <pc:docMk/>
            <pc:sldMk cId="115916481" sldId="515"/>
            <ac:spMk id="3" creationId="{446329B4-42CD-8C48-D393-D34F7E5EC03F}"/>
          </ac:spMkLst>
        </pc:spChg>
      </pc:sldChg>
      <pc:sldChg chg="modSp add mod modShow">
        <pc:chgData name="Josh Hug" userId="e2159f7335c131c2" providerId="LiveId" clId="{0EDB6E27-9086-5277-AB10-A63F9A905C93}" dt="2025-11-18T22:04:45.370" v="6044" actId="729"/>
        <pc:sldMkLst>
          <pc:docMk/>
          <pc:sldMk cId="143343384" sldId="516"/>
        </pc:sldMkLst>
        <pc:spChg chg="mod">
          <ac:chgData name="Josh Hug" userId="e2159f7335c131c2" providerId="LiveId" clId="{0EDB6E27-9086-5277-AB10-A63F9A905C93}" dt="2025-11-18T22:03:53.644" v="6043" actId="20577"/>
          <ac:spMkLst>
            <pc:docMk/>
            <pc:sldMk cId="143343384" sldId="516"/>
            <ac:spMk id="3" creationId="{B36CA7F1-2A28-C9B8-AADB-B86B0252E0D5}"/>
          </ac:spMkLst>
        </pc:spChg>
      </pc:sldChg>
      <pc:sldChg chg="modSp new mod ord modShow">
        <pc:chgData name="Josh Hug" userId="e2159f7335c131c2" providerId="LiveId" clId="{0EDB6E27-9086-5277-AB10-A63F9A905C93}" dt="2025-11-23T16:39:10.783" v="6639" actId="20577"/>
        <pc:sldMkLst>
          <pc:docMk/>
          <pc:sldMk cId="3550586585" sldId="520"/>
        </pc:sldMkLst>
        <pc:spChg chg="mod">
          <ac:chgData name="Josh Hug" userId="e2159f7335c131c2" providerId="LiveId" clId="{0EDB6E27-9086-5277-AB10-A63F9A905C93}" dt="2025-11-23T16:39:10.783" v="6639" actId="20577"/>
          <ac:spMkLst>
            <pc:docMk/>
            <pc:sldMk cId="3550586585" sldId="520"/>
            <ac:spMk id="3" creationId="{84F4537C-9D83-C1FA-88E5-2BF95ADF67B6}"/>
          </ac:spMkLst>
        </pc:spChg>
      </pc:sldChg>
    </pc:docChg>
  </pc:docChgLst>
  <pc:docChgLst>
    <pc:chgData name="Josh Hug" userId="e2159f7335c131c2" providerId="LiveId" clId="{138F76F6-BDFE-43E7-A070-24B46DF0227F}"/>
    <pc:docChg chg="undo custSel addSld delSld modSld sldOrd modSection">
      <pc:chgData name="Josh Hug" userId="e2159f7335c131c2" providerId="LiveId" clId="{138F76F6-BDFE-43E7-A070-24B46DF0227F}" dt="2025-11-18T23:20:51.475" v="4327"/>
      <pc:docMkLst>
        <pc:docMk/>
      </pc:docMkLst>
      <pc:sldChg chg="modSp mod">
        <pc:chgData name="Josh Hug" userId="e2159f7335c131c2" providerId="LiveId" clId="{138F76F6-BDFE-43E7-A070-24B46DF0227F}" dt="2025-11-18T23:10:31.509" v="4304" actId="20577"/>
        <pc:sldMkLst>
          <pc:docMk/>
          <pc:sldMk cId="470386908" sldId="373"/>
        </pc:sldMkLst>
        <pc:spChg chg="mod">
          <ac:chgData name="Josh Hug" userId="e2159f7335c131c2" providerId="LiveId" clId="{138F76F6-BDFE-43E7-A070-24B46DF0227F}" dt="2025-11-18T18:45:19.097" v="0"/>
          <ac:spMkLst>
            <pc:docMk/>
            <pc:sldMk cId="470386908" sldId="373"/>
            <ac:spMk id="3" creationId="{F199E03F-D903-16C4-D04E-0278962CC1C0}"/>
          </ac:spMkLst>
        </pc:spChg>
        <pc:spChg chg="mod">
          <ac:chgData name="Josh Hug" userId="e2159f7335c131c2" providerId="LiveId" clId="{138F76F6-BDFE-43E7-A070-24B46DF0227F}" dt="2025-11-18T23:10:31.509" v="4304" actId="20577"/>
          <ac:spMkLst>
            <pc:docMk/>
            <pc:sldMk cId="470386908" sldId="373"/>
            <ac:spMk id="4" creationId="{0C28E600-D600-CEB3-69AF-7F3CC1A483F5}"/>
          </ac:spMkLst>
        </pc:spChg>
      </pc:sldChg>
      <pc:sldChg chg="modSp mod">
        <pc:chgData name="Josh Hug" userId="e2159f7335c131c2" providerId="LiveId" clId="{138F76F6-BDFE-43E7-A070-24B46DF0227F}" dt="2025-11-18T23:10:26.520" v="4301" actId="20577"/>
        <pc:sldMkLst>
          <pc:docMk/>
          <pc:sldMk cId="4038006825" sldId="406"/>
        </pc:sldMkLst>
        <pc:spChg chg="mod">
          <ac:chgData name="Josh Hug" userId="e2159f7335c131c2" providerId="LiveId" clId="{138F76F6-BDFE-43E7-A070-24B46DF0227F}" dt="2025-11-18T18:45:19.097" v="0"/>
          <ac:spMkLst>
            <pc:docMk/>
            <pc:sldMk cId="4038006825" sldId="406"/>
            <ac:spMk id="3" creationId="{CCE1057D-8896-BCCE-98E0-E0B273B8FA74}"/>
          </ac:spMkLst>
        </pc:spChg>
        <pc:spChg chg="mod">
          <ac:chgData name="Josh Hug" userId="e2159f7335c131c2" providerId="LiveId" clId="{138F76F6-BDFE-43E7-A070-24B46DF0227F}" dt="2025-11-18T23:10:26.520" v="4301" actId="20577"/>
          <ac:spMkLst>
            <pc:docMk/>
            <pc:sldMk cId="4038006825" sldId="406"/>
            <ac:spMk id="4" creationId="{32EDB285-4351-6924-6270-F79A7DD0ABC8}"/>
          </ac:spMkLst>
        </pc:spChg>
      </pc:sldChg>
      <pc:sldChg chg="del">
        <pc:chgData name="Josh Hug" userId="e2159f7335c131c2" providerId="LiveId" clId="{138F76F6-BDFE-43E7-A070-24B46DF0227F}" dt="2025-11-18T18:55:29.247" v="748" actId="47"/>
        <pc:sldMkLst>
          <pc:docMk/>
          <pc:sldMk cId="3209307291" sldId="407"/>
        </pc:sldMkLst>
      </pc:sldChg>
      <pc:sldChg chg="modSp mod">
        <pc:chgData name="Josh Hug" userId="e2159f7335c131c2" providerId="LiveId" clId="{138F76F6-BDFE-43E7-A070-24B46DF0227F}" dt="2025-11-18T18:56:17.938" v="908" actId="20577"/>
        <pc:sldMkLst>
          <pc:docMk/>
          <pc:sldMk cId="3727773104" sldId="414"/>
        </pc:sldMkLst>
        <pc:spChg chg="mod">
          <ac:chgData name="Josh Hug" userId="e2159f7335c131c2" providerId="LiveId" clId="{138F76F6-BDFE-43E7-A070-24B46DF0227F}" dt="2025-11-18T18:56:17.938" v="908" actId="20577"/>
          <ac:spMkLst>
            <pc:docMk/>
            <pc:sldMk cId="3727773104" sldId="414"/>
            <ac:spMk id="3" creationId="{3D133624-5E12-5423-B2A4-F22CC7C7B8F4}"/>
          </ac:spMkLst>
        </pc:spChg>
      </pc:sldChg>
      <pc:sldChg chg="del">
        <pc:chgData name="Josh Hug" userId="e2159f7335c131c2" providerId="LiveId" clId="{138F76F6-BDFE-43E7-A070-24B46DF0227F}" dt="2025-11-18T18:55:26.427" v="746" actId="47"/>
        <pc:sldMkLst>
          <pc:docMk/>
          <pc:sldMk cId="4064149559" sldId="415"/>
        </pc:sldMkLst>
      </pc:sldChg>
      <pc:sldChg chg="addSp delSp modSp mod setBg">
        <pc:chgData name="Josh Hug" userId="e2159f7335c131c2" providerId="LiveId" clId="{138F76F6-BDFE-43E7-A070-24B46DF0227F}" dt="2025-11-18T23:17:24.890" v="4318" actId="1076"/>
        <pc:sldMkLst>
          <pc:docMk/>
          <pc:sldMk cId="130991047" sldId="420"/>
        </pc:sldMkLst>
        <pc:picChg chg="del">
          <ac:chgData name="Josh Hug" userId="e2159f7335c131c2" providerId="LiveId" clId="{138F76F6-BDFE-43E7-A070-24B46DF0227F}" dt="2025-11-18T23:17:23.074" v="4317" actId="478"/>
          <ac:picMkLst>
            <pc:docMk/>
            <pc:sldMk cId="130991047" sldId="420"/>
            <ac:picMk id="5" creationId="{68225A40-1995-3DDE-3CB3-75EB12B5B752}"/>
          </ac:picMkLst>
        </pc:picChg>
        <pc:picChg chg="add mod">
          <ac:chgData name="Josh Hug" userId="e2159f7335c131c2" providerId="LiveId" clId="{138F76F6-BDFE-43E7-A070-24B46DF0227F}" dt="2025-11-18T23:17:24.890" v="4318" actId="1076"/>
          <ac:picMkLst>
            <pc:docMk/>
            <pc:sldMk cId="130991047" sldId="420"/>
            <ac:picMk id="2050" creationId="{38924BD6-95D0-8EA9-ADF0-CB9CF9807879}"/>
          </ac:picMkLst>
        </pc:picChg>
      </pc:sldChg>
      <pc:sldChg chg="modSp">
        <pc:chgData name="Josh Hug" userId="e2159f7335c131c2" providerId="LiveId" clId="{138F76F6-BDFE-43E7-A070-24B46DF0227F}" dt="2025-11-18T22:46:02.610" v="3707" actId="20577"/>
        <pc:sldMkLst>
          <pc:docMk/>
          <pc:sldMk cId="3867517183" sldId="421"/>
        </pc:sldMkLst>
        <pc:spChg chg="mod">
          <ac:chgData name="Josh Hug" userId="e2159f7335c131c2" providerId="LiveId" clId="{138F76F6-BDFE-43E7-A070-24B46DF0227F}" dt="2025-11-18T22:46:02.610" v="3707" actId="20577"/>
          <ac:spMkLst>
            <pc:docMk/>
            <pc:sldMk cId="3867517183" sldId="421"/>
            <ac:spMk id="3" creationId="{5BE7042D-0584-1643-735F-48926F5064D3}"/>
          </ac:spMkLst>
        </pc:spChg>
      </pc:sldChg>
      <pc:sldChg chg="setBg">
        <pc:chgData name="Josh Hug" userId="e2159f7335c131c2" providerId="LiveId" clId="{138F76F6-BDFE-43E7-A070-24B46DF0227F}" dt="2025-11-18T18:46:32.216" v="36"/>
        <pc:sldMkLst>
          <pc:docMk/>
          <pc:sldMk cId="467015841" sldId="422"/>
        </pc:sldMkLst>
      </pc:sldChg>
      <pc:sldChg chg="del">
        <pc:chgData name="Josh Hug" userId="e2159f7335c131c2" providerId="LiveId" clId="{138F76F6-BDFE-43E7-A070-24B46DF0227F}" dt="2025-11-18T18:55:28.260" v="747" actId="47"/>
        <pc:sldMkLst>
          <pc:docMk/>
          <pc:sldMk cId="3817224184" sldId="424"/>
        </pc:sldMkLst>
      </pc:sldChg>
      <pc:sldChg chg="modSp setBg">
        <pc:chgData name="Josh Hug" userId="e2159f7335c131c2" providerId="LiveId" clId="{138F76F6-BDFE-43E7-A070-24B46DF0227F}" dt="2025-11-18T23:20:32.819" v="4322"/>
        <pc:sldMkLst>
          <pc:docMk/>
          <pc:sldMk cId="3871957027" sldId="426"/>
        </pc:sldMkLst>
        <pc:spChg chg="mod">
          <ac:chgData name="Josh Hug" userId="e2159f7335c131c2" providerId="LiveId" clId="{138F76F6-BDFE-43E7-A070-24B46DF0227F}" dt="2025-11-18T18:56:47.083" v="909" actId="114"/>
          <ac:spMkLst>
            <pc:docMk/>
            <pc:sldMk cId="3871957027" sldId="426"/>
            <ac:spMk id="3" creationId="{AFC277B2-058C-E260-D5C1-6C7A7E44FDFC}"/>
          </ac:spMkLst>
        </pc:spChg>
      </pc:sldChg>
      <pc:sldChg chg="modAnim">
        <pc:chgData name="Josh Hug" userId="e2159f7335c131c2" providerId="LiveId" clId="{138F76F6-BDFE-43E7-A070-24B46DF0227F}" dt="2025-11-18T22:49:23.948" v="3708"/>
        <pc:sldMkLst>
          <pc:docMk/>
          <pc:sldMk cId="3180618046" sldId="427"/>
        </pc:sldMkLst>
      </pc:sldChg>
      <pc:sldChg chg="modSp setBg">
        <pc:chgData name="Josh Hug" userId="e2159f7335c131c2" providerId="LiveId" clId="{138F76F6-BDFE-43E7-A070-24B46DF0227F}" dt="2025-11-18T23:20:37.043" v="4323"/>
        <pc:sldMkLst>
          <pc:docMk/>
          <pc:sldMk cId="1814439503" sldId="428"/>
        </pc:sldMkLst>
        <pc:spChg chg="mod">
          <ac:chgData name="Josh Hug" userId="e2159f7335c131c2" providerId="LiveId" clId="{138F76F6-BDFE-43E7-A070-24B46DF0227F}" dt="2025-11-18T18:56:50.540" v="910" actId="114"/>
          <ac:spMkLst>
            <pc:docMk/>
            <pc:sldMk cId="1814439503" sldId="428"/>
            <ac:spMk id="3" creationId="{8574BE04-F64E-EFE0-5336-E1F567A37E78}"/>
          </ac:spMkLst>
        </pc:spChg>
      </pc:sldChg>
      <pc:sldChg chg="addSp delSp modSp mod">
        <pc:chgData name="Josh Hug" userId="e2159f7335c131c2" providerId="LiveId" clId="{138F76F6-BDFE-43E7-A070-24B46DF0227F}" dt="2025-11-18T19:04:48.631" v="1613" actId="20577"/>
        <pc:sldMkLst>
          <pc:docMk/>
          <pc:sldMk cId="148784029" sldId="429"/>
        </pc:sldMkLst>
        <pc:spChg chg="add del mod">
          <ac:chgData name="Josh Hug" userId="e2159f7335c131c2" providerId="LiveId" clId="{138F76F6-BDFE-43E7-A070-24B46DF0227F}" dt="2025-11-18T19:04:48.631" v="1613" actId="20577"/>
          <ac:spMkLst>
            <pc:docMk/>
            <pc:sldMk cId="148784029" sldId="429"/>
            <ac:spMk id="3" creationId="{0EB5C835-241B-CF20-47C5-5E4AC880DE61}"/>
          </ac:spMkLst>
        </pc:spChg>
        <pc:spChg chg="add del mod">
          <ac:chgData name="Josh Hug" userId="e2159f7335c131c2" providerId="LiveId" clId="{138F76F6-BDFE-43E7-A070-24B46DF0227F}" dt="2025-11-18T19:03:07.869" v="1373" actId="478"/>
          <ac:spMkLst>
            <pc:docMk/>
            <pc:sldMk cId="148784029" sldId="429"/>
            <ac:spMk id="5" creationId="{EC6383FD-3515-05CE-40CB-A28A9CA4F6D4}"/>
          </ac:spMkLst>
        </pc:spChg>
      </pc:sldChg>
      <pc:sldChg chg="modSp mod">
        <pc:chgData name="Josh Hug" userId="e2159f7335c131c2" providerId="LiveId" clId="{138F76F6-BDFE-43E7-A070-24B46DF0227F}" dt="2025-11-18T22:49:51.457" v="3725" actId="20577"/>
        <pc:sldMkLst>
          <pc:docMk/>
          <pc:sldMk cId="862173171" sldId="430"/>
        </pc:sldMkLst>
        <pc:spChg chg="mod">
          <ac:chgData name="Josh Hug" userId="e2159f7335c131c2" providerId="LiveId" clId="{138F76F6-BDFE-43E7-A070-24B46DF0227F}" dt="2025-11-18T22:49:51.457" v="3725" actId="20577"/>
          <ac:spMkLst>
            <pc:docMk/>
            <pc:sldMk cId="862173171" sldId="430"/>
            <ac:spMk id="3" creationId="{AE71DE05-C899-C11E-9F8B-DB804D192BA7}"/>
          </ac:spMkLst>
        </pc:spChg>
      </pc:sldChg>
      <pc:sldChg chg="modSp mod">
        <pc:chgData name="Josh Hug" userId="e2159f7335c131c2" providerId="LiveId" clId="{138F76F6-BDFE-43E7-A070-24B46DF0227F}" dt="2025-11-18T23:10:20.956" v="4298" actId="20577"/>
        <pc:sldMkLst>
          <pc:docMk/>
          <pc:sldMk cId="4252330430" sldId="431"/>
        </pc:sldMkLst>
        <pc:spChg chg="mod">
          <ac:chgData name="Josh Hug" userId="e2159f7335c131c2" providerId="LiveId" clId="{138F76F6-BDFE-43E7-A070-24B46DF0227F}" dt="2025-11-18T18:45:19.097" v="0"/>
          <ac:spMkLst>
            <pc:docMk/>
            <pc:sldMk cId="4252330430" sldId="431"/>
            <ac:spMk id="3" creationId="{0B08478F-E62D-FC37-D766-2BC21BF3896E}"/>
          </ac:spMkLst>
        </pc:spChg>
        <pc:spChg chg="mod">
          <ac:chgData name="Josh Hug" userId="e2159f7335c131c2" providerId="LiveId" clId="{138F76F6-BDFE-43E7-A070-24B46DF0227F}" dt="2025-11-18T23:10:20.956" v="4298" actId="20577"/>
          <ac:spMkLst>
            <pc:docMk/>
            <pc:sldMk cId="4252330430" sldId="431"/>
            <ac:spMk id="4" creationId="{665E86C2-8249-5F59-EB14-AD9FDAD61FA8}"/>
          </ac:spMkLst>
        </pc:spChg>
      </pc:sldChg>
      <pc:sldChg chg="setBg">
        <pc:chgData name="Josh Hug" userId="e2159f7335c131c2" providerId="LiveId" clId="{138F76F6-BDFE-43E7-A070-24B46DF0227F}" dt="2025-11-18T23:20:41.016" v="4324"/>
        <pc:sldMkLst>
          <pc:docMk/>
          <pc:sldMk cId="2070927122" sldId="438"/>
        </pc:sldMkLst>
      </pc:sldChg>
      <pc:sldChg chg="setBg">
        <pc:chgData name="Josh Hug" userId="e2159f7335c131c2" providerId="LiveId" clId="{138F76F6-BDFE-43E7-A070-24B46DF0227F}" dt="2025-11-18T23:20:44.745" v="4325"/>
        <pc:sldMkLst>
          <pc:docMk/>
          <pc:sldMk cId="756981631" sldId="439"/>
        </pc:sldMkLst>
      </pc:sldChg>
      <pc:sldChg chg="modSp mod">
        <pc:chgData name="Josh Hug" userId="e2159f7335c131c2" providerId="LiveId" clId="{138F76F6-BDFE-43E7-A070-24B46DF0227F}" dt="2025-11-18T19:05:32.222" v="1621" actId="20577"/>
        <pc:sldMkLst>
          <pc:docMk/>
          <pc:sldMk cId="2806942638" sldId="443"/>
        </pc:sldMkLst>
        <pc:spChg chg="mod">
          <ac:chgData name="Josh Hug" userId="e2159f7335c131c2" providerId="LiveId" clId="{138F76F6-BDFE-43E7-A070-24B46DF0227F}" dt="2025-11-18T19:05:32.222" v="1621" actId="20577"/>
          <ac:spMkLst>
            <pc:docMk/>
            <pc:sldMk cId="2806942638" sldId="443"/>
            <ac:spMk id="2" creationId="{0A11BD21-2BD9-425B-07DC-6E7337783FFB}"/>
          </ac:spMkLst>
        </pc:spChg>
      </pc:sldChg>
      <pc:sldChg chg="addSp modSp mod modAnim">
        <pc:chgData name="Josh Hug" userId="e2159f7335c131c2" providerId="LiveId" clId="{138F76F6-BDFE-43E7-A070-24B46DF0227F}" dt="2025-11-18T22:56:09.315" v="3760" actId="20577"/>
        <pc:sldMkLst>
          <pc:docMk/>
          <pc:sldMk cId="912600464" sldId="447"/>
        </pc:sldMkLst>
        <pc:spChg chg="mod">
          <ac:chgData name="Josh Hug" userId="e2159f7335c131c2" providerId="LiveId" clId="{138F76F6-BDFE-43E7-A070-24B46DF0227F}" dt="2025-11-18T22:56:09.315" v="3760" actId="20577"/>
          <ac:spMkLst>
            <pc:docMk/>
            <pc:sldMk cId="912600464" sldId="447"/>
            <ac:spMk id="3" creationId="{58476D12-F11D-C007-6F6B-DCE280B63F9D}"/>
          </ac:spMkLst>
        </pc:spChg>
        <pc:graphicFrameChg chg="add mod modGraphic">
          <ac:chgData name="Josh Hug" userId="e2159f7335c131c2" providerId="LiveId" clId="{138F76F6-BDFE-43E7-A070-24B46DF0227F}" dt="2025-11-18T22:55:29.840" v="3732"/>
          <ac:graphicFrameMkLst>
            <pc:docMk/>
            <pc:sldMk cId="912600464" sldId="447"/>
            <ac:graphicFrameMk id="4" creationId="{3DD4BC2D-DC18-47C6-F92F-FCEDF0C2F23F}"/>
          </ac:graphicFrameMkLst>
        </pc:graphicFrameChg>
      </pc:sldChg>
      <pc:sldChg chg="delSp mod delAnim">
        <pc:chgData name="Josh Hug" userId="e2159f7335c131c2" providerId="LiveId" clId="{138F76F6-BDFE-43E7-A070-24B46DF0227F}" dt="2025-11-18T22:57:39.923" v="3761" actId="478"/>
        <pc:sldMkLst>
          <pc:docMk/>
          <pc:sldMk cId="3690925633" sldId="449"/>
        </pc:sldMkLst>
        <pc:spChg chg="del">
          <ac:chgData name="Josh Hug" userId="e2159f7335c131c2" providerId="LiveId" clId="{138F76F6-BDFE-43E7-A070-24B46DF0227F}" dt="2025-11-18T22:57:39.923" v="3761" actId="478"/>
          <ac:spMkLst>
            <pc:docMk/>
            <pc:sldMk cId="3690925633" sldId="449"/>
            <ac:spMk id="11" creationId="{68BCFDBA-BB30-A06A-4A11-C7673366B537}"/>
          </ac:spMkLst>
        </pc:spChg>
      </pc:sldChg>
      <pc:sldChg chg="modSp mod">
        <pc:chgData name="Josh Hug" userId="e2159f7335c131c2" providerId="LiveId" clId="{138F76F6-BDFE-43E7-A070-24B46DF0227F}" dt="2025-11-18T23:10:16.089" v="4295" actId="113"/>
        <pc:sldMkLst>
          <pc:docMk/>
          <pc:sldMk cId="1773705830" sldId="452"/>
        </pc:sldMkLst>
        <pc:spChg chg="mod">
          <ac:chgData name="Josh Hug" userId="e2159f7335c131c2" providerId="LiveId" clId="{138F76F6-BDFE-43E7-A070-24B46DF0227F}" dt="2025-11-18T18:45:19.127" v="1" actId="27636"/>
          <ac:spMkLst>
            <pc:docMk/>
            <pc:sldMk cId="1773705830" sldId="452"/>
            <ac:spMk id="2" creationId="{AB62A3F1-358E-1B6E-6E1D-302E0F4AFD9C}"/>
          </ac:spMkLst>
        </pc:spChg>
        <pc:spChg chg="mod">
          <ac:chgData name="Josh Hug" userId="e2159f7335c131c2" providerId="LiveId" clId="{138F76F6-BDFE-43E7-A070-24B46DF0227F}" dt="2025-11-18T18:45:19.097" v="0"/>
          <ac:spMkLst>
            <pc:docMk/>
            <pc:sldMk cId="1773705830" sldId="452"/>
            <ac:spMk id="3" creationId="{C6E71590-A637-AE99-C1D9-3089DAA3BB9E}"/>
          </ac:spMkLst>
        </pc:spChg>
        <pc:spChg chg="mod">
          <ac:chgData name="Josh Hug" userId="e2159f7335c131c2" providerId="LiveId" clId="{138F76F6-BDFE-43E7-A070-24B46DF0227F}" dt="2025-11-18T23:10:16.089" v="4295" actId="113"/>
          <ac:spMkLst>
            <pc:docMk/>
            <pc:sldMk cId="1773705830" sldId="452"/>
            <ac:spMk id="4" creationId="{515DF428-D6C8-1455-DE65-81AC82B1FB17}"/>
          </ac:spMkLst>
        </pc:spChg>
      </pc:sldChg>
      <pc:sldChg chg="modSp mod">
        <pc:chgData name="Josh Hug" userId="e2159f7335c131c2" providerId="LiveId" clId="{138F76F6-BDFE-43E7-A070-24B46DF0227F}" dt="2025-11-18T23:10:39.690" v="4310" actId="20577"/>
        <pc:sldMkLst>
          <pc:docMk/>
          <pc:sldMk cId="3140874451" sldId="453"/>
        </pc:sldMkLst>
        <pc:spChg chg="mod">
          <ac:chgData name="Josh Hug" userId="e2159f7335c131c2" providerId="LiveId" clId="{138F76F6-BDFE-43E7-A070-24B46DF0227F}" dt="2025-11-18T18:45:19.097" v="0"/>
          <ac:spMkLst>
            <pc:docMk/>
            <pc:sldMk cId="3140874451" sldId="453"/>
            <ac:spMk id="3" creationId="{F8571B81-75F3-CE78-7BC7-F272C049AC53}"/>
          </ac:spMkLst>
        </pc:spChg>
        <pc:spChg chg="mod">
          <ac:chgData name="Josh Hug" userId="e2159f7335c131c2" providerId="LiveId" clId="{138F76F6-BDFE-43E7-A070-24B46DF0227F}" dt="2025-11-18T23:10:39.690" v="4310" actId="20577"/>
          <ac:spMkLst>
            <pc:docMk/>
            <pc:sldMk cId="3140874451" sldId="453"/>
            <ac:spMk id="4" creationId="{7458CB04-8628-D23E-2A63-940C6035AC67}"/>
          </ac:spMkLst>
        </pc:spChg>
      </pc:sldChg>
      <pc:sldChg chg="modSp mod">
        <pc:chgData name="Josh Hug" userId="e2159f7335c131c2" providerId="LiveId" clId="{138F76F6-BDFE-43E7-A070-24B46DF0227F}" dt="2025-11-18T23:10:35.909" v="4307" actId="20577"/>
        <pc:sldMkLst>
          <pc:docMk/>
          <pc:sldMk cId="1662166241" sldId="460"/>
        </pc:sldMkLst>
        <pc:spChg chg="mod">
          <ac:chgData name="Josh Hug" userId="e2159f7335c131c2" providerId="LiveId" clId="{138F76F6-BDFE-43E7-A070-24B46DF0227F}" dt="2025-11-18T18:45:19.097" v="0"/>
          <ac:spMkLst>
            <pc:docMk/>
            <pc:sldMk cId="1662166241" sldId="460"/>
            <ac:spMk id="3" creationId="{DFC6D4FC-2651-7DB9-94A7-67808E86FF05}"/>
          </ac:spMkLst>
        </pc:spChg>
        <pc:spChg chg="mod">
          <ac:chgData name="Josh Hug" userId="e2159f7335c131c2" providerId="LiveId" clId="{138F76F6-BDFE-43E7-A070-24B46DF0227F}" dt="2025-11-18T23:10:35.909" v="4307" actId="20577"/>
          <ac:spMkLst>
            <pc:docMk/>
            <pc:sldMk cId="1662166241" sldId="460"/>
            <ac:spMk id="6" creationId="{A3AD828F-DA45-5679-3719-81D921C1BCF8}"/>
          </ac:spMkLst>
        </pc:spChg>
      </pc:sldChg>
      <pc:sldChg chg="modSp mod">
        <pc:chgData name="Josh Hug" userId="e2159f7335c131c2" providerId="LiveId" clId="{138F76F6-BDFE-43E7-A070-24B46DF0227F}" dt="2025-11-18T19:18:03.531" v="2850" actId="20577"/>
        <pc:sldMkLst>
          <pc:docMk/>
          <pc:sldMk cId="3045584558" sldId="463"/>
        </pc:sldMkLst>
        <pc:spChg chg="mod">
          <ac:chgData name="Josh Hug" userId="e2159f7335c131c2" providerId="LiveId" clId="{138F76F6-BDFE-43E7-A070-24B46DF0227F}" dt="2025-11-18T19:18:03.531" v="2850" actId="20577"/>
          <ac:spMkLst>
            <pc:docMk/>
            <pc:sldMk cId="3045584558" sldId="463"/>
            <ac:spMk id="3" creationId="{03CA368D-B74D-8EA8-40FC-01F435177EAE}"/>
          </ac:spMkLst>
        </pc:spChg>
      </pc:sldChg>
      <pc:sldChg chg="modSp mod">
        <pc:chgData name="Josh Hug" userId="e2159f7335c131c2" providerId="LiveId" clId="{138F76F6-BDFE-43E7-A070-24B46DF0227F}" dt="2025-11-18T22:37:31.287" v="3677" actId="20577"/>
        <pc:sldMkLst>
          <pc:docMk/>
          <pc:sldMk cId="1408181821" sldId="464"/>
        </pc:sldMkLst>
        <pc:spChg chg="mod">
          <ac:chgData name="Josh Hug" userId="e2159f7335c131c2" providerId="LiveId" clId="{138F76F6-BDFE-43E7-A070-24B46DF0227F}" dt="2025-11-18T22:37:31.287" v="3677" actId="20577"/>
          <ac:spMkLst>
            <pc:docMk/>
            <pc:sldMk cId="1408181821" sldId="464"/>
            <ac:spMk id="3" creationId="{4D8668BD-FE09-15D5-C729-DF571307047E}"/>
          </ac:spMkLst>
        </pc:spChg>
      </pc:sldChg>
      <pc:sldChg chg="addSp delSp modSp mod">
        <pc:chgData name="Josh Hug" userId="e2159f7335c131c2" providerId="LiveId" clId="{138F76F6-BDFE-43E7-A070-24B46DF0227F}" dt="2025-11-18T23:18:35.811" v="4320" actId="20577"/>
        <pc:sldMkLst>
          <pc:docMk/>
          <pc:sldMk cId="3854015994" sldId="467"/>
        </pc:sldMkLst>
        <pc:spChg chg="mod">
          <ac:chgData name="Josh Hug" userId="e2159f7335c131c2" providerId="LiveId" clId="{138F76F6-BDFE-43E7-A070-24B46DF0227F}" dt="2025-11-18T23:18:35.811" v="4320" actId="20577"/>
          <ac:spMkLst>
            <pc:docMk/>
            <pc:sldMk cId="3854015994" sldId="467"/>
            <ac:spMk id="3" creationId="{D6E33283-2ABF-02D8-08F6-7105BD41BE97}"/>
          </ac:spMkLst>
        </pc:spChg>
        <pc:picChg chg="del">
          <ac:chgData name="Josh Hug" userId="e2159f7335c131c2" providerId="LiveId" clId="{138F76F6-BDFE-43E7-A070-24B46DF0227F}" dt="2025-11-18T23:17:13.794" v="4313" actId="478"/>
          <ac:picMkLst>
            <pc:docMk/>
            <pc:sldMk cId="3854015994" sldId="467"/>
            <ac:picMk id="5" creationId="{CE805A7A-372C-8A08-3B23-61F8B19C2601}"/>
          </ac:picMkLst>
        </pc:picChg>
        <pc:picChg chg="add del mod">
          <ac:chgData name="Josh Hug" userId="e2159f7335c131c2" providerId="LiveId" clId="{138F76F6-BDFE-43E7-A070-24B46DF0227F}" dt="2025-11-18T23:18:33.044" v="4319" actId="478"/>
          <ac:picMkLst>
            <pc:docMk/>
            <pc:sldMk cId="3854015994" sldId="467"/>
            <ac:picMk id="1026" creationId="{B9FCCD5B-D893-A5E2-1B65-EF3E78A262ED}"/>
          </ac:picMkLst>
        </pc:picChg>
      </pc:sldChg>
      <pc:sldChg chg="modSp mod">
        <pc:chgData name="Josh Hug" userId="e2159f7335c131c2" providerId="LiveId" clId="{138F76F6-BDFE-43E7-A070-24B46DF0227F}" dt="2025-11-18T18:45:34.034" v="6"/>
        <pc:sldMkLst>
          <pc:docMk/>
          <pc:sldMk cId="3107922890" sldId="468"/>
        </pc:sldMkLst>
        <pc:spChg chg="mod">
          <ac:chgData name="Josh Hug" userId="e2159f7335c131c2" providerId="LiveId" clId="{138F76F6-BDFE-43E7-A070-24B46DF0227F}" dt="2025-11-18T18:45:34.034" v="6"/>
          <ac:spMkLst>
            <pc:docMk/>
            <pc:sldMk cId="3107922890" sldId="468"/>
            <ac:spMk id="3" creationId="{70349924-3EC9-16FF-55A3-02CF20F018EC}"/>
          </ac:spMkLst>
        </pc:spChg>
      </pc:sldChg>
      <pc:sldChg chg="setBg">
        <pc:chgData name="Josh Hug" userId="e2159f7335c131c2" providerId="LiveId" clId="{138F76F6-BDFE-43E7-A070-24B46DF0227F}" dt="2025-11-18T23:20:47.788" v="4326"/>
        <pc:sldMkLst>
          <pc:docMk/>
          <pc:sldMk cId="3137614361" sldId="471"/>
        </pc:sldMkLst>
      </pc:sldChg>
      <pc:sldChg chg="modSp mod ord modAnim">
        <pc:chgData name="Josh Hug" userId="e2159f7335c131c2" providerId="LiveId" clId="{138F76F6-BDFE-43E7-A070-24B46DF0227F}" dt="2025-11-18T23:05:50.976" v="4125" actId="20578"/>
        <pc:sldMkLst>
          <pc:docMk/>
          <pc:sldMk cId="653250684" sldId="476"/>
        </pc:sldMkLst>
        <pc:spChg chg="mod">
          <ac:chgData name="Josh Hug" userId="e2159f7335c131c2" providerId="LiveId" clId="{138F76F6-BDFE-43E7-A070-24B46DF0227F}" dt="2025-11-18T22:59:48.225" v="3853" actId="20577"/>
          <ac:spMkLst>
            <pc:docMk/>
            <pc:sldMk cId="653250684" sldId="476"/>
            <ac:spMk id="2" creationId="{C7D8C59C-FAB1-54AA-D655-A3AEDF0EB76B}"/>
          </ac:spMkLst>
        </pc:spChg>
        <pc:spChg chg="mod">
          <ac:chgData name="Josh Hug" userId="e2159f7335c131c2" providerId="LiveId" clId="{138F76F6-BDFE-43E7-A070-24B46DF0227F}" dt="2025-11-18T23:05:30.802" v="4118" actId="12"/>
          <ac:spMkLst>
            <pc:docMk/>
            <pc:sldMk cId="653250684" sldId="476"/>
            <ac:spMk id="3" creationId="{5C9778DD-3E49-67C8-E0E9-25ED3547726E}"/>
          </ac:spMkLst>
        </pc:spChg>
        <pc:spChg chg="mod">
          <ac:chgData name="Josh Hug" userId="e2159f7335c131c2" providerId="LiveId" clId="{138F76F6-BDFE-43E7-A070-24B46DF0227F}" dt="2025-11-18T19:32:34.315" v="3501" actId="1076"/>
          <ac:spMkLst>
            <pc:docMk/>
            <pc:sldMk cId="653250684" sldId="476"/>
            <ac:spMk id="4" creationId="{A3EE1C69-F833-0249-634F-00F8866B1CCE}"/>
          </ac:spMkLst>
        </pc:spChg>
      </pc:sldChg>
      <pc:sldChg chg="modSp mod">
        <pc:chgData name="Josh Hug" userId="e2159f7335c131c2" providerId="LiveId" clId="{138F76F6-BDFE-43E7-A070-24B46DF0227F}" dt="2025-11-18T23:07:55.905" v="4206" actId="207"/>
        <pc:sldMkLst>
          <pc:docMk/>
          <pc:sldMk cId="3330959589" sldId="478"/>
        </pc:sldMkLst>
        <pc:spChg chg="mod">
          <ac:chgData name="Josh Hug" userId="e2159f7335c131c2" providerId="LiveId" clId="{138F76F6-BDFE-43E7-A070-24B46DF0227F}" dt="2025-11-18T23:07:41.847" v="4204" actId="20577"/>
          <ac:spMkLst>
            <pc:docMk/>
            <pc:sldMk cId="3330959589" sldId="478"/>
            <ac:spMk id="3" creationId="{765F8C76-67A8-A353-A8CC-ED31ACB8D9EE}"/>
          </ac:spMkLst>
        </pc:spChg>
        <pc:spChg chg="mod">
          <ac:chgData name="Josh Hug" userId="e2159f7335c131c2" providerId="LiveId" clId="{138F76F6-BDFE-43E7-A070-24B46DF0227F}" dt="2025-11-18T23:07:37.757" v="4194" actId="1037"/>
          <ac:spMkLst>
            <pc:docMk/>
            <pc:sldMk cId="3330959589" sldId="478"/>
            <ac:spMk id="5" creationId="{B7785072-0273-50E4-FA9F-241D44256DC9}"/>
          </ac:spMkLst>
        </pc:spChg>
        <pc:spChg chg="mod">
          <ac:chgData name="Josh Hug" userId="e2159f7335c131c2" providerId="LiveId" clId="{138F76F6-BDFE-43E7-A070-24B46DF0227F}" dt="2025-11-18T23:07:55.905" v="4206" actId="207"/>
          <ac:spMkLst>
            <pc:docMk/>
            <pc:sldMk cId="3330959589" sldId="478"/>
            <ac:spMk id="11" creationId="{CA134726-9AE4-E4C8-05B9-A2C929D7E52A}"/>
          </ac:spMkLst>
        </pc:spChg>
      </pc:sldChg>
      <pc:sldChg chg="addSp delSp modSp mod">
        <pc:chgData name="Josh Hug" userId="e2159f7335c131c2" providerId="LiveId" clId="{138F76F6-BDFE-43E7-A070-24B46DF0227F}" dt="2025-11-18T23:08:20.117" v="4225" actId="20577"/>
        <pc:sldMkLst>
          <pc:docMk/>
          <pc:sldMk cId="1359057044" sldId="479"/>
        </pc:sldMkLst>
        <pc:spChg chg="mod">
          <ac:chgData name="Josh Hug" userId="e2159f7335c131c2" providerId="LiveId" clId="{138F76F6-BDFE-43E7-A070-24B46DF0227F}" dt="2025-11-18T23:08:20.117" v="4225" actId="20577"/>
          <ac:spMkLst>
            <pc:docMk/>
            <pc:sldMk cId="1359057044" sldId="479"/>
            <ac:spMk id="3" creationId="{DA4B8E1D-64D5-6DBB-6498-E35D9A197B90}"/>
          </ac:spMkLst>
        </pc:spChg>
        <pc:spChg chg="del">
          <ac:chgData name="Josh Hug" userId="e2159f7335c131c2" providerId="LiveId" clId="{138F76F6-BDFE-43E7-A070-24B46DF0227F}" dt="2025-11-18T23:08:07.551" v="4208" actId="478"/>
          <ac:spMkLst>
            <pc:docMk/>
            <pc:sldMk cId="1359057044" sldId="479"/>
            <ac:spMk id="5" creationId="{0EA099A4-8AF1-91F9-78CE-5612CA5E056A}"/>
          </ac:spMkLst>
        </pc:spChg>
        <pc:spChg chg="add mod">
          <ac:chgData name="Josh Hug" userId="e2159f7335c131c2" providerId="LiveId" clId="{138F76F6-BDFE-43E7-A070-24B46DF0227F}" dt="2025-11-18T23:08:07.773" v="4209"/>
          <ac:spMkLst>
            <pc:docMk/>
            <pc:sldMk cId="1359057044" sldId="479"/>
            <ac:spMk id="6" creationId="{988CF8C6-90A9-7AD4-7E32-E40689ECDE1A}"/>
          </ac:spMkLst>
        </pc:spChg>
      </pc:sldChg>
      <pc:sldChg chg="modSp mod setBg">
        <pc:chgData name="Josh Hug" userId="e2159f7335c131c2" providerId="LiveId" clId="{138F76F6-BDFE-43E7-A070-24B46DF0227F}" dt="2025-11-18T23:20:51.475" v="4327"/>
        <pc:sldMkLst>
          <pc:docMk/>
          <pc:sldMk cId="602060006" sldId="481"/>
        </pc:sldMkLst>
        <pc:spChg chg="mod">
          <ac:chgData name="Josh Hug" userId="e2159f7335c131c2" providerId="LiveId" clId="{138F76F6-BDFE-43E7-A070-24B46DF0227F}" dt="2025-11-18T23:08:43.835" v="4264" actId="14100"/>
          <ac:spMkLst>
            <pc:docMk/>
            <pc:sldMk cId="602060006" sldId="481"/>
            <ac:spMk id="3" creationId="{F48FA92F-EC2A-9C69-89D4-9954F855E702}"/>
          </ac:spMkLst>
        </pc:spChg>
        <pc:spChg chg="mod">
          <ac:chgData name="Josh Hug" userId="e2159f7335c131c2" providerId="LiveId" clId="{138F76F6-BDFE-43E7-A070-24B46DF0227F}" dt="2025-11-18T23:08:36.372" v="4263" actId="207"/>
          <ac:spMkLst>
            <pc:docMk/>
            <pc:sldMk cId="602060006" sldId="481"/>
            <ac:spMk id="5" creationId="{D84D1A18-8AC6-85FD-6433-E5E3BFF84C7C}"/>
          </ac:spMkLst>
        </pc:spChg>
      </pc:sldChg>
      <pc:sldChg chg="addSp delSp modSp mod">
        <pc:chgData name="Josh Hug" userId="e2159f7335c131c2" providerId="LiveId" clId="{138F76F6-BDFE-43E7-A070-24B46DF0227F}" dt="2025-11-18T23:09:03.440" v="4277" actId="20577"/>
        <pc:sldMkLst>
          <pc:docMk/>
          <pc:sldMk cId="2849909724" sldId="482"/>
        </pc:sldMkLst>
        <pc:spChg chg="mod">
          <ac:chgData name="Josh Hug" userId="e2159f7335c131c2" providerId="LiveId" clId="{138F76F6-BDFE-43E7-A070-24B46DF0227F}" dt="2025-11-18T23:09:03.440" v="4277" actId="20577"/>
          <ac:spMkLst>
            <pc:docMk/>
            <pc:sldMk cId="2849909724" sldId="482"/>
            <ac:spMk id="3" creationId="{B42FE734-EE05-E5ED-99A2-6953C014556B}"/>
          </ac:spMkLst>
        </pc:spChg>
        <pc:spChg chg="del">
          <ac:chgData name="Josh Hug" userId="e2159f7335c131c2" providerId="LiveId" clId="{138F76F6-BDFE-43E7-A070-24B46DF0227F}" dt="2025-11-18T23:08:58.698" v="4269" actId="478"/>
          <ac:spMkLst>
            <pc:docMk/>
            <pc:sldMk cId="2849909724" sldId="482"/>
            <ac:spMk id="5" creationId="{B8D22BD8-FB26-EA07-B1DF-2358E9CBDAD8}"/>
          </ac:spMkLst>
        </pc:spChg>
        <pc:spChg chg="add mod">
          <ac:chgData name="Josh Hug" userId="e2159f7335c131c2" providerId="LiveId" clId="{138F76F6-BDFE-43E7-A070-24B46DF0227F}" dt="2025-11-18T23:08:55.571" v="4268"/>
          <ac:spMkLst>
            <pc:docMk/>
            <pc:sldMk cId="2849909724" sldId="482"/>
            <ac:spMk id="6" creationId="{E274C36E-AB45-3BE4-6295-E2478CEBF7A8}"/>
          </ac:spMkLst>
        </pc:spChg>
        <pc:spChg chg="add mod">
          <ac:chgData name="Josh Hug" userId="e2159f7335c131c2" providerId="LiveId" clId="{138F76F6-BDFE-43E7-A070-24B46DF0227F}" dt="2025-11-18T23:08:59.224" v="4270"/>
          <ac:spMkLst>
            <pc:docMk/>
            <pc:sldMk cId="2849909724" sldId="482"/>
            <ac:spMk id="7" creationId="{A853FB84-24A6-AAF4-A419-7A4D2122E8E6}"/>
          </ac:spMkLst>
        </pc:spChg>
      </pc:sldChg>
      <pc:sldChg chg="modSp mod">
        <pc:chgData name="Josh Hug" userId="e2159f7335c131c2" providerId="LiveId" clId="{138F76F6-BDFE-43E7-A070-24B46DF0227F}" dt="2025-11-18T23:09:16.275" v="4279" actId="207"/>
        <pc:sldMkLst>
          <pc:docMk/>
          <pc:sldMk cId="540390193" sldId="483"/>
        </pc:sldMkLst>
        <pc:spChg chg="mod">
          <ac:chgData name="Josh Hug" userId="e2159f7335c131c2" providerId="LiveId" clId="{138F76F6-BDFE-43E7-A070-24B46DF0227F}" dt="2025-11-18T23:09:11.145" v="4278" actId="14100"/>
          <ac:spMkLst>
            <pc:docMk/>
            <pc:sldMk cId="540390193" sldId="483"/>
            <ac:spMk id="3" creationId="{F0AC771F-6AE4-C82F-A1D5-DB1D77972517}"/>
          </ac:spMkLst>
        </pc:spChg>
        <pc:spChg chg="mod">
          <ac:chgData name="Josh Hug" userId="e2159f7335c131c2" providerId="LiveId" clId="{138F76F6-BDFE-43E7-A070-24B46DF0227F}" dt="2025-11-18T23:09:16.275" v="4279" actId="207"/>
          <ac:spMkLst>
            <pc:docMk/>
            <pc:sldMk cId="540390193" sldId="483"/>
            <ac:spMk id="8" creationId="{3FEE1F5F-812C-1CC6-9009-052B98DB558A}"/>
          </ac:spMkLst>
        </pc:spChg>
      </pc:sldChg>
      <pc:sldChg chg="addSp delSp modSp mod setBg">
        <pc:chgData name="Josh Hug" userId="e2159f7335c131c2" providerId="LiveId" clId="{138F76F6-BDFE-43E7-A070-24B46DF0227F}" dt="2025-11-18T23:19:56.561" v="4321" actId="478"/>
        <pc:sldMkLst>
          <pc:docMk/>
          <pc:sldMk cId="2442385263" sldId="488"/>
        </pc:sldMkLst>
        <pc:spChg chg="add del mod">
          <ac:chgData name="Josh Hug" userId="e2159f7335c131c2" providerId="LiveId" clId="{138F76F6-BDFE-43E7-A070-24B46DF0227F}" dt="2025-11-18T23:19:56.561" v="4321" actId="478"/>
          <ac:spMkLst>
            <pc:docMk/>
            <pc:sldMk cId="2442385263" sldId="488"/>
            <ac:spMk id="4" creationId="{A839A3AF-E233-FC95-073C-88274394E63D}"/>
          </ac:spMkLst>
        </pc:spChg>
      </pc:sldChg>
      <pc:sldChg chg="addSp delSp modSp mod">
        <pc:chgData name="Josh Hug" userId="e2159f7335c131c2" providerId="LiveId" clId="{138F76F6-BDFE-43E7-A070-24B46DF0227F}" dt="2025-11-18T18:48:50.196" v="306" actId="1076"/>
        <pc:sldMkLst>
          <pc:docMk/>
          <pc:sldMk cId="1800938346" sldId="489"/>
        </pc:sldMkLst>
        <pc:spChg chg="add mod">
          <ac:chgData name="Josh Hug" userId="e2159f7335c131c2" providerId="LiveId" clId="{138F76F6-BDFE-43E7-A070-24B46DF0227F}" dt="2025-11-18T18:48:34.409" v="294" actId="1076"/>
          <ac:spMkLst>
            <pc:docMk/>
            <pc:sldMk cId="1800938346" sldId="489"/>
            <ac:spMk id="4" creationId="{21A1B787-6B4F-256E-4085-A80F4BE2CA99}"/>
          </ac:spMkLst>
        </pc:spChg>
        <pc:spChg chg="add">
          <ac:chgData name="Josh Hug" userId="e2159f7335c131c2" providerId="LiveId" clId="{138F76F6-BDFE-43E7-A070-24B46DF0227F}" dt="2025-11-18T18:48:18.961" v="292" actId="11529"/>
          <ac:spMkLst>
            <pc:docMk/>
            <pc:sldMk cId="1800938346" sldId="489"/>
            <ac:spMk id="6" creationId="{5E8BFD96-38A2-A89C-61BC-1A9C7E415714}"/>
          </ac:spMkLst>
        </pc:spChg>
        <pc:spChg chg="add mod">
          <ac:chgData name="Josh Hug" userId="e2159f7335c131c2" providerId="LiveId" clId="{138F76F6-BDFE-43E7-A070-24B46DF0227F}" dt="2025-11-18T18:48:43.379" v="302" actId="1076"/>
          <ac:spMkLst>
            <pc:docMk/>
            <pc:sldMk cId="1800938346" sldId="489"/>
            <ac:spMk id="7" creationId="{F24072F8-0476-5A82-2350-57151440D380}"/>
          </ac:spMkLst>
        </pc:spChg>
        <pc:spChg chg="add mod">
          <ac:chgData name="Josh Hug" userId="e2159f7335c131c2" providerId="LiveId" clId="{138F76F6-BDFE-43E7-A070-24B46DF0227F}" dt="2025-11-18T18:48:50.196" v="306" actId="1076"/>
          <ac:spMkLst>
            <pc:docMk/>
            <pc:sldMk cId="1800938346" sldId="489"/>
            <ac:spMk id="8" creationId="{D906D9D0-7D81-1CAC-A033-43DC50572912}"/>
          </ac:spMkLst>
        </pc:spChg>
        <pc:picChg chg="del">
          <ac:chgData name="Josh Hug" userId="e2159f7335c131c2" providerId="LiveId" clId="{138F76F6-BDFE-43E7-A070-24B46DF0227F}" dt="2025-11-18T18:46:21.633" v="34" actId="478"/>
          <ac:picMkLst>
            <pc:docMk/>
            <pc:sldMk cId="1800938346" sldId="489"/>
            <ac:picMk id="5" creationId="{40BF54E4-2113-DDAE-751A-84C117CFE3DC}"/>
          </ac:picMkLst>
        </pc:picChg>
      </pc:sldChg>
      <pc:sldChg chg="addSp delSp modSp add mod setBg">
        <pc:chgData name="Josh Hug" userId="e2159f7335c131c2" providerId="LiveId" clId="{138F76F6-BDFE-43E7-A070-24B46DF0227F}" dt="2025-11-18T18:52:37.381" v="424" actId="1076"/>
        <pc:sldMkLst>
          <pc:docMk/>
          <pc:sldMk cId="1590659504" sldId="490"/>
        </pc:sldMkLst>
        <pc:spChg chg="mod">
          <ac:chgData name="Josh Hug" userId="e2159f7335c131c2" providerId="LiveId" clId="{138F76F6-BDFE-43E7-A070-24B46DF0227F}" dt="2025-11-18T18:47:45.860" v="289" actId="20577"/>
          <ac:spMkLst>
            <pc:docMk/>
            <pc:sldMk cId="1590659504" sldId="490"/>
            <ac:spMk id="3" creationId="{9C5B5325-3F2B-DD9E-E544-E13659E2EEB2}"/>
          </ac:spMkLst>
        </pc:spChg>
        <pc:spChg chg="del">
          <ac:chgData name="Josh Hug" userId="e2159f7335c131c2" providerId="LiveId" clId="{138F76F6-BDFE-43E7-A070-24B46DF0227F}" dt="2025-11-18T18:49:10.099" v="309" actId="478"/>
          <ac:spMkLst>
            <pc:docMk/>
            <pc:sldMk cId="1590659504" sldId="490"/>
            <ac:spMk id="4" creationId="{F1EE0262-6D10-BD17-E18F-4EECB58952C5}"/>
          </ac:spMkLst>
        </pc:spChg>
        <pc:spChg chg="add mod">
          <ac:chgData name="Josh Hug" userId="e2159f7335c131c2" providerId="LiveId" clId="{138F76F6-BDFE-43E7-A070-24B46DF0227F}" dt="2025-11-18T18:50:55.021" v="371" actId="1076"/>
          <ac:spMkLst>
            <pc:docMk/>
            <pc:sldMk cId="1590659504" sldId="490"/>
            <ac:spMk id="5" creationId="{DEAA7571-A8CC-41E5-A9A9-052CD7C79836}"/>
          </ac:spMkLst>
        </pc:spChg>
        <pc:spChg chg="add mod">
          <ac:chgData name="Josh Hug" userId="e2159f7335c131c2" providerId="LiveId" clId="{138F76F6-BDFE-43E7-A070-24B46DF0227F}" dt="2025-11-18T18:49:08.861" v="308" actId="1076"/>
          <ac:spMkLst>
            <pc:docMk/>
            <pc:sldMk cId="1590659504" sldId="490"/>
            <ac:spMk id="6" creationId="{26E353D0-2F83-54BC-FA56-E96742503BC9}"/>
          </ac:spMkLst>
        </pc:spChg>
        <pc:spChg chg="add del mod">
          <ac:chgData name="Josh Hug" userId="e2159f7335c131c2" providerId="LiveId" clId="{138F76F6-BDFE-43E7-A070-24B46DF0227F}" dt="2025-11-18T18:49:13.777" v="312" actId="478"/>
          <ac:spMkLst>
            <pc:docMk/>
            <pc:sldMk cId="1590659504" sldId="490"/>
            <ac:spMk id="7" creationId="{B9503A8B-BB13-58EE-7A1D-474E5219A76D}"/>
          </ac:spMkLst>
        </pc:spChg>
        <pc:spChg chg="add del mod">
          <ac:chgData name="Josh Hug" userId="e2159f7335c131c2" providerId="LiveId" clId="{138F76F6-BDFE-43E7-A070-24B46DF0227F}" dt="2025-11-18T18:49:22.693" v="313" actId="478"/>
          <ac:spMkLst>
            <pc:docMk/>
            <pc:sldMk cId="1590659504" sldId="490"/>
            <ac:spMk id="8" creationId="{49156B90-02D3-FD2D-B05D-C57B67BC1546}"/>
          </ac:spMkLst>
        </pc:spChg>
        <pc:spChg chg="add del mod">
          <ac:chgData name="Josh Hug" userId="e2159f7335c131c2" providerId="LiveId" clId="{138F76F6-BDFE-43E7-A070-24B46DF0227F}" dt="2025-11-18T18:51:31.356" v="402" actId="478"/>
          <ac:spMkLst>
            <pc:docMk/>
            <pc:sldMk cId="1590659504" sldId="490"/>
            <ac:spMk id="9" creationId="{9922BED3-A39A-C474-4534-FBCF5D2AB221}"/>
          </ac:spMkLst>
        </pc:spChg>
        <pc:spChg chg="add mod">
          <ac:chgData name="Josh Hug" userId="e2159f7335c131c2" providerId="LiveId" clId="{138F76F6-BDFE-43E7-A070-24B46DF0227F}" dt="2025-11-18T18:50:30.867" v="324" actId="692"/>
          <ac:spMkLst>
            <pc:docMk/>
            <pc:sldMk cId="1590659504" sldId="490"/>
            <ac:spMk id="10" creationId="{83A5E6C6-4A21-E636-D6C6-65B4AFB857A3}"/>
          </ac:spMkLst>
        </pc:spChg>
        <pc:spChg chg="add mod">
          <ac:chgData name="Josh Hug" userId="e2159f7335c131c2" providerId="LiveId" clId="{138F76F6-BDFE-43E7-A070-24B46DF0227F}" dt="2025-11-18T18:50:33.802" v="325" actId="692"/>
          <ac:spMkLst>
            <pc:docMk/>
            <pc:sldMk cId="1590659504" sldId="490"/>
            <ac:spMk id="11" creationId="{DADBE8C8-E950-2173-B8A7-FC516D68C900}"/>
          </ac:spMkLst>
        </pc:spChg>
        <pc:spChg chg="add mod">
          <ac:chgData name="Josh Hug" userId="e2159f7335c131c2" providerId="LiveId" clId="{138F76F6-BDFE-43E7-A070-24B46DF0227F}" dt="2025-11-18T18:52:35.794" v="423" actId="1076"/>
          <ac:spMkLst>
            <pc:docMk/>
            <pc:sldMk cId="1590659504" sldId="490"/>
            <ac:spMk id="12" creationId="{2A56251B-DDBC-979D-0681-8DC1D65CD968}"/>
          </ac:spMkLst>
        </pc:spChg>
        <pc:spChg chg="add del mod">
          <ac:chgData name="Josh Hug" userId="e2159f7335c131c2" providerId="LiveId" clId="{138F76F6-BDFE-43E7-A070-24B46DF0227F}" dt="2025-11-18T18:52:30.252" v="421" actId="478"/>
          <ac:spMkLst>
            <pc:docMk/>
            <pc:sldMk cId="1590659504" sldId="490"/>
            <ac:spMk id="13" creationId="{AABA798F-BEA9-69B1-F21E-E9E98058FBDC}"/>
          </ac:spMkLst>
        </pc:spChg>
        <pc:spChg chg="add mod">
          <ac:chgData name="Josh Hug" userId="e2159f7335c131c2" providerId="LiveId" clId="{138F76F6-BDFE-43E7-A070-24B46DF0227F}" dt="2025-11-18T18:50:28.219" v="323" actId="692"/>
          <ac:spMkLst>
            <pc:docMk/>
            <pc:sldMk cId="1590659504" sldId="490"/>
            <ac:spMk id="14" creationId="{6DAFC3C1-3C43-A455-731E-7E34AC44F8A3}"/>
          </ac:spMkLst>
        </pc:spChg>
        <pc:spChg chg="add mod">
          <ac:chgData name="Josh Hug" userId="e2159f7335c131c2" providerId="LiveId" clId="{138F76F6-BDFE-43E7-A070-24B46DF0227F}" dt="2025-11-18T18:51:41.958" v="403" actId="1076"/>
          <ac:spMkLst>
            <pc:docMk/>
            <pc:sldMk cId="1590659504" sldId="490"/>
            <ac:spMk id="15" creationId="{42CB3639-055E-F6C1-C817-5F35B5B2281A}"/>
          </ac:spMkLst>
        </pc:spChg>
        <pc:spChg chg="add mod">
          <ac:chgData name="Josh Hug" userId="e2159f7335c131c2" providerId="LiveId" clId="{138F76F6-BDFE-43E7-A070-24B46DF0227F}" dt="2025-11-18T18:50:57.857" v="372" actId="1076"/>
          <ac:spMkLst>
            <pc:docMk/>
            <pc:sldMk cId="1590659504" sldId="490"/>
            <ac:spMk id="16" creationId="{967F0100-CCC5-CAEA-4BAB-FB8620487679}"/>
          </ac:spMkLst>
        </pc:spChg>
        <pc:spChg chg="add mod">
          <ac:chgData name="Josh Hug" userId="e2159f7335c131c2" providerId="LiveId" clId="{138F76F6-BDFE-43E7-A070-24B46DF0227F}" dt="2025-11-18T18:51:05.860" v="378" actId="20577"/>
          <ac:spMkLst>
            <pc:docMk/>
            <pc:sldMk cId="1590659504" sldId="490"/>
            <ac:spMk id="17" creationId="{6944E19B-06F4-1A8E-57F9-537EB1283828}"/>
          </ac:spMkLst>
        </pc:spChg>
        <pc:spChg chg="add mod">
          <ac:chgData name="Josh Hug" userId="e2159f7335c131c2" providerId="LiveId" clId="{138F76F6-BDFE-43E7-A070-24B46DF0227F}" dt="2025-11-18T18:51:41.958" v="403" actId="1076"/>
          <ac:spMkLst>
            <pc:docMk/>
            <pc:sldMk cId="1590659504" sldId="490"/>
            <ac:spMk id="18" creationId="{441D5FA2-93A8-5C51-96A7-7594A7BD1886}"/>
          </ac:spMkLst>
        </pc:spChg>
        <pc:spChg chg="add mod">
          <ac:chgData name="Josh Hug" userId="e2159f7335c131c2" providerId="LiveId" clId="{138F76F6-BDFE-43E7-A070-24B46DF0227F}" dt="2025-11-18T18:52:06.597" v="407" actId="1076"/>
          <ac:spMkLst>
            <pc:docMk/>
            <pc:sldMk cId="1590659504" sldId="490"/>
            <ac:spMk id="19" creationId="{F5091645-E687-5FEC-2C87-EA0524145405}"/>
          </ac:spMkLst>
        </pc:spChg>
        <pc:spChg chg="add mod">
          <ac:chgData name="Josh Hug" userId="e2159f7335c131c2" providerId="LiveId" clId="{138F76F6-BDFE-43E7-A070-24B46DF0227F}" dt="2025-11-18T18:52:05.007" v="406" actId="692"/>
          <ac:spMkLst>
            <pc:docMk/>
            <pc:sldMk cId="1590659504" sldId="490"/>
            <ac:spMk id="20" creationId="{5F912924-928E-D244-28F0-FDFB129E72A3}"/>
          </ac:spMkLst>
        </pc:spChg>
        <pc:spChg chg="add del mod">
          <ac:chgData name="Josh Hug" userId="e2159f7335c131c2" providerId="LiveId" clId="{138F76F6-BDFE-43E7-A070-24B46DF0227F}" dt="2025-11-18T18:52:28.960" v="420" actId="478"/>
          <ac:spMkLst>
            <pc:docMk/>
            <pc:sldMk cId="1590659504" sldId="490"/>
            <ac:spMk id="21" creationId="{04B65733-117B-66F7-9F9F-9046F172FC03}"/>
          </ac:spMkLst>
        </pc:spChg>
        <pc:spChg chg="add mod">
          <ac:chgData name="Josh Hug" userId="e2159f7335c131c2" providerId="LiveId" clId="{138F76F6-BDFE-43E7-A070-24B46DF0227F}" dt="2025-11-18T18:52:16.462" v="411" actId="20577"/>
          <ac:spMkLst>
            <pc:docMk/>
            <pc:sldMk cId="1590659504" sldId="490"/>
            <ac:spMk id="22" creationId="{DA0E2127-2DC3-8435-332F-4733296CB39B}"/>
          </ac:spMkLst>
        </pc:spChg>
        <pc:spChg chg="add mod">
          <ac:chgData name="Josh Hug" userId="e2159f7335c131c2" providerId="LiveId" clId="{138F76F6-BDFE-43E7-A070-24B46DF0227F}" dt="2025-11-18T18:52:37.381" v="424" actId="1076"/>
          <ac:spMkLst>
            <pc:docMk/>
            <pc:sldMk cId="1590659504" sldId="490"/>
            <ac:spMk id="23" creationId="{5E05B0C5-46A9-C8F1-9261-EC2797415533}"/>
          </ac:spMkLst>
        </pc:spChg>
        <pc:spChg chg="add del mod">
          <ac:chgData name="Josh Hug" userId="e2159f7335c131c2" providerId="LiveId" clId="{138F76F6-BDFE-43E7-A070-24B46DF0227F}" dt="2025-11-18T18:52:27.872" v="419" actId="478"/>
          <ac:spMkLst>
            <pc:docMk/>
            <pc:sldMk cId="1590659504" sldId="490"/>
            <ac:spMk id="24" creationId="{5A14C95D-F338-69B3-2546-FF2374DD4DE8}"/>
          </ac:spMkLst>
        </pc:spChg>
      </pc:sldChg>
      <pc:sldChg chg="delSp modSp add mod">
        <pc:chgData name="Josh Hug" userId="e2159f7335c131c2" providerId="LiveId" clId="{138F76F6-BDFE-43E7-A070-24B46DF0227F}" dt="2025-11-18T18:55:36.753" v="755" actId="20577"/>
        <pc:sldMkLst>
          <pc:docMk/>
          <pc:sldMk cId="2072409582" sldId="491"/>
        </pc:sldMkLst>
        <pc:spChg chg="mod">
          <ac:chgData name="Josh Hug" userId="e2159f7335c131c2" providerId="LiveId" clId="{138F76F6-BDFE-43E7-A070-24B46DF0227F}" dt="2025-11-18T18:55:36.753" v="755" actId="20577"/>
          <ac:spMkLst>
            <pc:docMk/>
            <pc:sldMk cId="2072409582" sldId="491"/>
            <ac:spMk id="3" creationId="{0002C22E-11EE-0CAF-5310-03E132C77096}"/>
          </ac:spMkLst>
        </pc:spChg>
        <pc:spChg chg="del">
          <ac:chgData name="Josh Hug" userId="e2159f7335c131c2" providerId="LiveId" clId="{138F76F6-BDFE-43E7-A070-24B46DF0227F}" dt="2025-11-18T18:53:12.564" v="451" actId="478"/>
          <ac:spMkLst>
            <pc:docMk/>
            <pc:sldMk cId="2072409582" sldId="491"/>
            <ac:spMk id="5" creationId="{6D89A932-B027-6D53-3FD8-3C175CD0961C}"/>
          </ac:spMkLst>
        </pc:spChg>
        <pc:spChg chg="del">
          <ac:chgData name="Josh Hug" userId="e2159f7335c131c2" providerId="LiveId" clId="{138F76F6-BDFE-43E7-A070-24B46DF0227F}" dt="2025-11-18T18:53:12.564" v="451" actId="478"/>
          <ac:spMkLst>
            <pc:docMk/>
            <pc:sldMk cId="2072409582" sldId="491"/>
            <ac:spMk id="6" creationId="{E2E012D5-EE3C-7B37-F71D-90F4F552440F}"/>
          </ac:spMkLst>
        </pc:spChg>
        <pc:spChg chg="del">
          <ac:chgData name="Josh Hug" userId="e2159f7335c131c2" providerId="LiveId" clId="{138F76F6-BDFE-43E7-A070-24B46DF0227F}" dt="2025-11-18T18:53:12.564" v="451" actId="478"/>
          <ac:spMkLst>
            <pc:docMk/>
            <pc:sldMk cId="2072409582" sldId="491"/>
            <ac:spMk id="10" creationId="{8ACA3261-D0E2-57AE-2172-58E88AD17A9A}"/>
          </ac:spMkLst>
        </pc:spChg>
        <pc:spChg chg="del">
          <ac:chgData name="Josh Hug" userId="e2159f7335c131c2" providerId="LiveId" clId="{138F76F6-BDFE-43E7-A070-24B46DF0227F}" dt="2025-11-18T18:53:12.564" v="451" actId="478"/>
          <ac:spMkLst>
            <pc:docMk/>
            <pc:sldMk cId="2072409582" sldId="491"/>
            <ac:spMk id="11" creationId="{57F55FF2-C024-B454-FB21-77EF97420004}"/>
          </ac:spMkLst>
        </pc:spChg>
        <pc:spChg chg="del">
          <ac:chgData name="Josh Hug" userId="e2159f7335c131c2" providerId="LiveId" clId="{138F76F6-BDFE-43E7-A070-24B46DF0227F}" dt="2025-11-18T18:53:12.564" v="451" actId="478"/>
          <ac:spMkLst>
            <pc:docMk/>
            <pc:sldMk cId="2072409582" sldId="491"/>
            <ac:spMk id="14" creationId="{41A06D27-770D-9199-ECB5-974E31F12E14}"/>
          </ac:spMkLst>
        </pc:spChg>
        <pc:spChg chg="del">
          <ac:chgData name="Josh Hug" userId="e2159f7335c131c2" providerId="LiveId" clId="{138F76F6-BDFE-43E7-A070-24B46DF0227F}" dt="2025-11-18T18:53:12.564" v="451" actId="478"/>
          <ac:spMkLst>
            <pc:docMk/>
            <pc:sldMk cId="2072409582" sldId="491"/>
            <ac:spMk id="15" creationId="{7A8288AE-2368-6C71-30CE-7110E753DDAE}"/>
          </ac:spMkLst>
        </pc:spChg>
        <pc:spChg chg="del">
          <ac:chgData name="Josh Hug" userId="e2159f7335c131c2" providerId="LiveId" clId="{138F76F6-BDFE-43E7-A070-24B46DF0227F}" dt="2025-11-18T18:53:12.564" v="451" actId="478"/>
          <ac:spMkLst>
            <pc:docMk/>
            <pc:sldMk cId="2072409582" sldId="491"/>
            <ac:spMk id="16" creationId="{86D18850-23CB-6B9A-AAB2-808C0D7FB304}"/>
          </ac:spMkLst>
        </pc:spChg>
        <pc:spChg chg="del">
          <ac:chgData name="Josh Hug" userId="e2159f7335c131c2" providerId="LiveId" clId="{138F76F6-BDFE-43E7-A070-24B46DF0227F}" dt="2025-11-18T18:53:12.564" v="451" actId="478"/>
          <ac:spMkLst>
            <pc:docMk/>
            <pc:sldMk cId="2072409582" sldId="491"/>
            <ac:spMk id="17" creationId="{26D0F177-2D0A-DBD5-4D33-CDF01B47017D}"/>
          </ac:spMkLst>
        </pc:spChg>
        <pc:spChg chg="del">
          <ac:chgData name="Josh Hug" userId="e2159f7335c131c2" providerId="LiveId" clId="{138F76F6-BDFE-43E7-A070-24B46DF0227F}" dt="2025-11-18T18:53:12.564" v="451" actId="478"/>
          <ac:spMkLst>
            <pc:docMk/>
            <pc:sldMk cId="2072409582" sldId="491"/>
            <ac:spMk id="19" creationId="{7EEFC983-C979-C88E-E1E7-2029B2D96F70}"/>
          </ac:spMkLst>
        </pc:spChg>
        <pc:spChg chg="del">
          <ac:chgData name="Josh Hug" userId="e2159f7335c131c2" providerId="LiveId" clId="{138F76F6-BDFE-43E7-A070-24B46DF0227F}" dt="2025-11-18T18:53:12.564" v="451" actId="478"/>
          <ac:spMkLst>
            <pc:docMk/>
            <pc:sldMk cId="2072409582" sldId="491"/>
            <ac:spMk id="22" creationId="{86DA45B4-AC38-67EE-6ECC-C18DF1A2DE5B}"/>
          </ac:spMkLst>
        </pc:spChg>
      </pc:sldChg>
      <pc:sldChg chg="modSp add mod">
        <pc:chgData name="Josh Hug" userId="e2159f7335c131c2" providerId="LiveId" clId="{138F76F6-BDFE-43E7-A070-24B46DF0227F}" dt="2025-11-18T19:10:58.370" v="1995" actId="20577"/>
        <pc:sldMkLst>
          <pc:docMk/>
          <pc:sldMk cId="2545530575" sldId="492"/>
        </pc:sldMkLst>
        <pc:spChg chg="mod">
          <ac:chgData name="Josh Hug" userId="e2159f7335c131c2" providerId="LiveId" clId="{138F76F6-BDFE-43E7-A070-24B46DF0227F}" dt="2025-11-18T19:10:58.370" v="1995" actId="20577"/>
          <ac:spMkLst>
            <pc:docMk/>
            <pc:sldMk cId="2545530575" sldId="492"/>
            <ac:spMk id="3" creationId="{65F14D11-2CE4-5EBA-B741-6D21E4743378}"/>
          </ac:spMkLst>
        </pc:spChg>
      </pc:sldChg>
      <pc:sldChg chg="modSp add del">
        <pc:chgData name="Josh Hug" userId="e2159f7335c131c2" providerId="LiveId" clId="{138F76F6-BDFE-43E7-A070-24B46DF0227F}" dt="2025-11-18T19:06:36.324" v="1624"/>
        <pc:sldMkLst>
          <pc:docMk/>
          <pc:sldMk cId="706565939" sldId="493"/>
        </pc:sldMkLst>
        <pc:spChg chg="mod">
          <ac:chgData name="Josh Hug" userId="e2159f7335c131c2" providerId="LiveId" clId="{138F76F6-BDFE-43E7-A070-24B46DF0227F}" dt="2025-11-18T19:06:32.786" v="1623" actId="20577"/>
          <ac:spMkLst>
            <pc:docMk/>
            <pc:sldMk cId="706565939" sldId="493"/>
            <ac:spMk id="3" creationId="{58191645-9638-F40F-EA94-A060F0AB17B7}"/>
          </ac:spMkLst>
        </pc:spChg>
      </pc:sldChg>
      <pc:sldChg chg="add del">
        <pc:chgData name="Josh Hug" userId="e2159f7335c131c2" providerId="LiveId" clId="{138F76F6-BDFE-43E7-A070-24B46DF0227F}" dt="2025-11-18T19:14:54.535" v="2104"/>
        <pc:sldMkLst>
          <pc:docMk/>
          <pc:sldMk cId="1425696149" sldId="493"/>
        </pc:sldMkLst>
      </pc:sldChg>
      <pc:sldChg chg="modSp add del mod">
        <pc:chgData name="Josh Hug" userId="e2159f7335c131c2" providerId="LiveId" clId="{138F76F6-BDFE-43E7-A070-24B46DF0227F}" dt="2025-11-18T19:25:22.337" v="3475" actId="47"/>
        <pc:sldMkLst>
          <pc:docMk/>
          <pc:sldMk cId="1657355199" sldId="493"/>
        </pc:sldMkLst>
        <pc:graphicFrameChg chg="modGraphic">
          <ac:chgData name="Josh Hug" userId="e2159f7335c131c2" providerId="LiveId" clId="{138F76F6-BDFE-43E7-A070-24B46DF0227F}" dt="2025-11-18T19:24:01.101" v="3465" actId="14734"/>
          <ac:graphicFrameMkLst>
            <pc:docMk/>
            <pc:sldMk cId="1657355199" sldId="493"/>
            <ac:graphicFrameMk id="4" creationId="{250C2D4F-F82D-7E80-327F-D2B59FF3097D}"/>
          </ac:graphicFrameMkLst>
        </pc:graphicFrameChg>
      </pc:sldChg>
      <pc:sldChg chg="addSp delSp modSp add mod ord">
        <pc:chgData name="Josh Hug" userId="e2159f7335c131c2" providerId="LiveId" clId="{138F76F6-BDFE-43E7-A070-24B46DF0227F}" dt="2025-11-18T22:54:48.750" v="3731"/>
        <pc:sldMkLst>
          <pc:docMk/>
          <pc:sldMk cId="154460752" sldId="494"/>
        </pc:sldMkLst>
        <pc:spChg chg="mod">
          <ac:chgData name="Josh Hug" userId="e2159f7335c131c2" providerId="LiveId" clId="{138F76F6-BDFE-43E7-A070-24B46DF0227F}" dt="2025-11-18T19:35:06.676" v="3550" actId="20577"/>
          <ac:spMkLst>
            <pc:docMk/>
            <pc:sldMk cId="154460752" sldId="494"/>
            <ac:spMk id="3" creationId="{55DBD0D3-50A3-40DA-75E9-0F3F6745EC08}"/>
          </ac:spMkLst>
        </pc:spChg>
        <pc:graphicFrameChg chg="del mod">
          <ac:chgData name="Josh Hug" userId="e2159f7335c131c2" providerId="LiveId" clId="{138F76F6-BDFE-43E7-A070-24B46DF0227F}" dt="2025-11-18T19:24:31.051" v="3471" actId="478"/>
          <ac:graphicFrameMkLst>
            <pc:docMk/>
            <pc:sldMk cId="154460752" sldId="494"/>
            <ac:graphicFrameMk id="4" creationId="{9B534F52-9F58-AB9B-AA35-383EBE8867F6}"/>
          </ac:graphicFrameMkLst>
        </pc:graphicFrameChg>
        <pc:graphicFrameChg chg="add mod">
          <ac:chgData name="Josh Hug" userId="e2159f7335c131c2" providerId="LiveId" clId="{138F76F6-BDFE-43E7-A070-24B46DF0227F}" dt="2025-11-18T22:54:48.750" v="3731"/>
          <ac:graphicFrameMkLst>
            <pc:docMk/>
            <pc:sldMk cId="154460752" sldId="494"/>
            <ac:graphicFrameMk id="5" creationId="{7527751D-8026-B210-8F6C-DB5DE9A42FC4}"/>
          </ac:graphicFrameMkLst>
        </pc:graphicFrameChg>
      </pc:sldChg>
      <pc:sldChg chg="modSp mod">
        <pc:chgData name="Josh Hug" userId="e2159f7335c131c2" providerId="LiveId" clId="{138F76F6-BDFE-43E7-A070-24B46DF0227F}" dt="2025-11-18T23:10:03.432" v="4290"/>
        <pc:sldMkLst>
          <pc:docMk/>
          <pc:sldMk cId="2974542994" sldId="497"/>
        </pc:sldMkLst>
        <pc:spChg chg="mod">
          <ac:chgData name="Josh Hug" userId="e2159f7335c131c2" providerId="LiveId" clId="{138F76F6-BDFE-43E7-A070-24B46DF0227F}" dt="2025-11-18T23:09:36.495" v="4281" actId="20577"/>
          <ac:spMkLst>
            <pc:docMk/>
            <pc:sldMk cId="2974542994" sldId="497"/>
            <ac:spMk id="2" creationId="{C5F97819-E39D-11D7-CE5E-F43AB74F90A2}"/>
          </ac:spMkLst>
        </pc:spChg>
        <pc:spChg chg="mod">
          <ac:chgData name="Josh Hug" userId="e2159f7335c131c2" providerId="LiveId" clId="{138F76F6-BDFE-43E7-A070-24B46DF0227F}" dt="2025-11-18T23:10:03.432" v="4290"/>
          <ac:spMkLst>
            <pc:docMk/>
            <pc:sldMk cId="2974542994" sldId="497"/>
            <ac:spMk id="4" creationId="{1C7E5CBE-2F49-E3DE-9E69-08F231595166}"/>
          </ac:spMkLst>
        </pc:spChg>
      </pc:sldChg>
      <pc:sldChg chg="modSp modAnim">
        <pc:chgData name="Josh Hug" userId="e2159f7335c131c2" providerId="LiveId" clId="{138F76F6-BDFE-43E7-A070-24B46DF0227F}" dt="2025-11-18T22:59:06.871" v="3822" actId="20577"/>
        <pc:sldMkLst>
          <pc:docMk/>
          <pc:sldMk cId="174602268" sldId="499"/>
        </pc:sldMkLst>
        <pc:spChg chg="mod">
          <ac:chgData name="Josh Hug" userId="e2159f7335c131c2" providerId="LiveId" clId="{138F76F6-BDFE-43E7-A070-24B46DF0227F}" dt="2025-11-18T22:59:06.871" v="3822" actId="20577"/>
          <ac:spMkLst>
            <pc:docMk/>
            <pc:sldMk cId="174602268" sldId="499"/>
            <ac:spMk id="3" creationId="{D82A2F46-18BD-4E2F-F1F8-0AADEFA41773}"/>
          </ac:spMkLst>
        </pc:spChg>
      </pc:sldChg>
      <pc:sldChg chg="modSp">
        <pc:chgData name="Josh Hug" userId="e2159f7335c131c2" providerId="LiveId" clId="{138F76F6-BDFE-43E7-A070-24B46DF0227F}" dt="2025-11-18T22:40:10.978" v="3678" actId="207"/>
        <pc:sldMkLst>
          <pc:docMk/>
          <pc:sldMk cId="3055775732" sldId="505"/>
        </pc:sldMkLst>
        <pc:spChg chg="mod">
          <ac:chgData name="Josh Hug" userId="e2159f7335c131c2" providerId="LiveId" clId="{138F76F6-BDFE-43E7-A070-24B46DF0227F}" dt="2025-11-18T22:40:10.978" v="3678" actId="207"/>
          <ac:spMkLst>
            <pc:docMk/>
            <pc:sldMk cId="3055775732" sldId="505"/>
            <ac:spMk id="3" creationId="{4C822C0B-690F-CFDF-78C7-519455DA6B41}"/>
          </ac:spMkLst>
        </pc:spChg>
      </pc:sldChg>
      <pc:sldChg chg="modAnim">
        <pc:chgData name="Josh Hug" userId="e2159f7335c131c2" providerId="LiveId" clId="{138F76F6-BDFE-43E7-A070-24B46DF0227F}" dt="2025-11-18T22:40:36.425" v="3683"/>
        <pc:sldMkLst>
          <pc:docMk/>
          <pc:sldMk cId="501672347" sldId="506"/>
        </pc:sldMkLst>
      </pc:sldChg>
      <pc:sldChg chg="mod modShow">
        <pc:chgData name="Josh Hug" userId="e2159f7335c131c2" providerId="LiveId" clId="{138F76F6-BDFE-43E7-A070-24B46DF0227F}" dt="2025-11-18T22:59:40.059" v="3823" actId="729"/>
        <pc:sldMkLst>
          <pc:docMk/>
          <pc:sldMk cId="3388428270" sldId="508"/>
        </pc:sldMkLst>
      </pc:sldChg>
      <pc:sldChg chg="modSp mod">
        <pc:chgData name="Josh Hug" userId="e2159f7335c131c2" providerId="LiveId" clId="{138F76F6-BDFE-43E7-A070-24B46DF0227F}" dt="2025-11-18T23:06:51.150" v="4137" actId="20577"/>
        <pc:sldMkLst>
          <pc:docMk/>
          <pc:sldMk cId="3481920047" sldId="512"/>
        </pc:sldMkLst>
        <pc:spChg chg="mod">
          <ac:chgData name="Josh Hug" userId="e2159f7335c131c2" providerId="LiveId" clId="{138F76F6-BDFE-43E7-A070-24B46DF0227F}" dt="2025-11-18T23:06:51.150" v="4137" actId="20577"/>
          <ac:spMkLst>
            <pc:docMk/>
            <pc:sldMk cId="3481920047" sldId="512"/>
            <ac:spMk id="3" creationId="{2D4D7443-E079-C264-6C3E-521FE62C02D8}"/>
          </ac:spMkLst>
        </pc:spChg>
      </pc:sldChg>
      <pc:sldChg chg="modSp mod">
        <pc:chgData name="Josh Hug" userId="e2159f7335c131c2" providerId="LiveId" clId="{138F76F6-BDFE-43E7-A070-24B46DF0227F}" dt="2025-11-18T23:01:09.650" v="3859" actId="14100"/>
        <pc:sldMkLst>
          <pc:docMk/>
          <pc:sldMk cId="463608492" sldId="513"/>
        </pc:sldMkLst>
        <pc:spChg chg="mod">
          <ac:chgData name="Josh Hug" userId="e2159f7335c131c2" providerId="LiveId" clId="{138F76F6-BDFE-43E7-A070-24B46DF0227F}" dt="2025-11-18T23:01:09.650" v="3859" actId="14100"/>
          <ac:spMkLst>
            <pc:docMk/>
            <pc:sldMk cId="463608492" sldId="513"/>
            <ac:spMk id="3" creationId="{E893471B-0713-0A7A-7BD6-197C1DA95621}"/>
          </ac:spMkLst>
        </pc:spChg>
      </pc:sldChg>
      <pc:sldChg chg="modSp mod">
        <pc:chgData name="Josh Hug" userId="e2159f7335c131c2" providerId="LiveId" clId="{138F76F6-BDFE-43E7-A070-24B46DF0227F}" dt="2025-11-18T23:01:04.656" v="3858" actId="14100"/>
        <pc:sldMkLst>
          <pc:docMk/>
          <pc:sldMk cId="2669673423" sldId="514"/>
        </pc:sldMkLst>
        <pc:spChg chg="mod">
          <ac:chgData name="Josh Hug" userId="e2159f7335c131c2" providerId="LiveId" clId="{138F76F6-BDFE-43E7-A070-24B46DF0227F}" dt="2025-11-18T23:01:04.656" v="3858" actId="14100"/>
          <ac:spMkLst>
            <pc:docMk/>
            <pc:sldMk cId="2669673423" sldId="514"/>
            <ac:spMk id="3" creationId="{FD647FE6-F5F7-B597-C08B-9D0AB0DFD9AB}"/>
          </ac:spMkLst>
        </pc:spChg>
      </pc:sldChg>
      <pc:sldChg chg="modSp mod">
        <pc:chgData name="Josh Hug" userId="e2159f7335c131c2" providerId="LiveId" clId="{138F76F6-BDFE-43E7-A070-24B46DF0227F}" dt="2025-11-18T23:01:17.245" v="3860" actId="14100"/>
        <pc:sldMkLst>
          <pc:docMk/>
          <pc:sldMk cId="115916481" sldId="515"/>
        </pc:sldMkLst>
        <pc:spChg chg="mod">
          <ac:chgData name="Josh Hug" userId="e2159f7335c131c2" providerId="LiveId" clId="{138F76F6-BDFE-43E7-A070-24B46DF0227F}" dt="2025-11-18T23:01:17.245" v="3860" actId="14100"/>
          <ac:spMkLst>
            <pc:docMk/>
            <pc:sldMk cId="115916481" sldId="515"/>
            <ac:spMk id="3" creationId="{446329B4-42CD-8C48-D393-D34F7E5EC03F}"/>
          </ac:spMkLst>
        </pc:spChg>
      </pc:sldChg>
      <pc:sldChg chg="modSp mod ord modShow">
        <pc:chgData name="Josh Hug" userId="e2159f7335c131c2" providerId="LiveId" clId="{138F76F6-BDFE-43E7-A070-24B46DF0227F}" dt="2025-11-18T23:07:06.166" v="4165" actId="20577"/>
        <pc:sldMkLst>
          <pc:docMk/>
          <pc:sldMk cId="143343384" sldId="516"/>
        </pc:sldMkLst>
        <pc:spChg chg="mod">
          <ac:chgData name="Josh Hug" userId="e2159f7335c131c2" providerId="LiveId" clId="{138F76F6-BDFE-43E7-A070-24B46DF0227F}" dt="2025-11-18T23:07:06.166" v="4165" actId="20577"/>
          <ac:spMkLst>
            <pc:docMk/>
            <pc:sldMk cId="143343384" sldId="516"/>
            <ac:spMk id="3" creationId="{B36CA7F1-2A28-C9B8-AADB-B86B0252E0D5}"/>
          </ac:spMkLst>
        </pc:spChg>
      </pc:sldChg>
      <pc:sldChg chg="add del mod modShow">
        <pc:chgData name="Josh Hug" userId="e2159f7335c131c2" providerId="LiveId" clId="{138F76F6-BDFE-43E7-A070-24B46DF0227F}" dt="2025-11-18T23:07:10.185" v="4166" actId="47"/>
        <pc:sldMkLst>
          <pc:docMk/>
          <pc:sldMk cId="1863448430" sldId="517"/>
        </pc:sldMkLst>
      </pc:sldChg>
      <pc:sldChg chg="modSp add del mod ord">
        <pc:chgData name="Josh Hug" userId="e2159f7335c131c2" providerId="LiveId" clId="{138F76F6-BDFE-43E7-A070-24B46DF0227F}" dt="2025-11-18T23:05:57.277" v="4127" actId="47"/>
        <pc:sldMkLst>
          <pc:docMk/>
          <pc:sldMk cId="1111470639" sldId="518"/>
        </pc:sldMkLst>
        <pc:spChg chg="mod">
          <ac:chgData name="Josh Hug" userId="e2159f7335c131c2" providerId="LiveId" clId="{138F76F6-BDFE-43E7-A070-24B46DF0227F}" dt="2025-11-18T23:05:14.648" v="4112" actId="20577"/>
          <ac:spMkLst>
            <pc:docMk/>
            <pc:sldMk cId="1111470639" sldId="518"/>
            <ac:spMk id="3" creationId="{620FC4EC-435C-BFA8-70FB-F79C6BB7AE95}"/>
          </ac:spMkLst>
        </pc:spChg>
      </pc:sldChg>
      <pc:sldChg chg="modSp add">
        <pc:chgData name="Josh Hug" userId="e2159f7335c131c2" providerId="LiveId" clId="{138F76F6-BDFE-43E7-A070-24B46DF0227F}" dt="2025-11-18T23:06:17.339" v="4128" actId="207"/>
        <pc:sldMkLst>
          <pc:docMk/>
          <pc:sldMk cId="1759318152" sldId="519"/>
        </pc:sldMkLst>
        <pc:spChg chg="mod">
          <ac:chgData name="Josh Hug" userId="e2159f7335c131c2" providerId="LiveId" clId="{138F76F6-BDFE-43E7-A070-24B46DF0227F}" dt="2025-11-18T23:06:17.339" v="4128" actId="207"/>
          <ac:spMkLst>
            <pc:docMk/>
            <pc:sldMk cId="1759318152" sldId="519"/>
            <ac:spMk id="3" creationId="{80785D4E-4CBF-71F8-C758-C39451A1F21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11503D0-B2A1-404A-4E4F-55A3EA65CD3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EDBCFC8-C0DE-311A-C5A6-26DC8B48835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069414A-D032-1A4D-90CB-BC259D65F813}" type="datetimeFigureOut">
              <a:rPr lang="en-US" smtClean="0"/>
              <a:t>11/23/2025</a:t>
            </a:fld>
            <a:endParaRPr lang="en-US"/>
          </a:p>
        </p:txBody>
      </p:sp>
      <p:sp>
        <p:nvSpPr>
          <p:cNvPr id="4" name="Footer Placeholder 3">
            <a:extLst>
              <a:ext uri="{FF2B5EF4-FFF2-40B4-BE49-F238E27FC236}">
                <a16:creationId xmlns:a16="http://schemas.microsoft.com/office/drawing/2014/main" id="{E185B715-74B6-5B23-9A47-FF3BA0B5325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B20CE52-9100-415C-39A2-C29FBF018B6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E4A23A8-7B1F-7746-ACE0-490D0656D580}" type="slidenum">
              <a:rPr lang="en-US" smtClean="0"/>
              <a:t>‹#›</a:t>
            </a:fld>
            <a:endParaRPr lang="en-US"/>
          </a:p>
        </p:txBody>
      </p:sp>
    </p:spTree>
    <p:extLst>
      <p:ext uri="{BB962C8B-B14F-4D97-AF65-F5344CB8AC3E}">
        <p14:creationId xmlns:p14="http://schemas.microsoft.com/office/powerpoint/2010/main" val="12434874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69E78D-A8C0-480E-889F-8EC1F2071405}" type="datetimeFigureOut">
              <a:rPr lang="en-US" smtClean="0"/>
              <a:t>11/23/2025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A6D8E4-4389-4BDB-844A-A58F014B2926}" type="slidenum">
              <a:rPr lang="en-US" smtClean="0"/>
              <a:t>‹#›</a:t>
            </a:fld>
            <a:endParaRPr lang="en-US"/>
          </a:p>
        </p:txBody>
      </p:sp>
    </p:spTree>
    <p:extLst>
      <p:ext uri="{BB962C8B-B14F-4D97-AF65-F5344CB8AC3E}">
        <p14:creationId xmlns:p14="http://schemas.microsoft.com/office/powerpoint/2010/main" val="26076752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Google Shape;26;p5">
            <a:extLst>
              <a:ext uri="{FF2B5EF4-FFF2-40B4-BE49-F238E27FC236}">
                <a16:creationId xmlns:a16="http://schemas.microsoft.com/office/drawing/2014/main" id="{54018777-5825-1DD9-F0F1-CB39782E2522}"/>
              </a:ext>
            </a:extLst>
          </p:cNvPr>
          <p:cNvSpPr/>
          <p:nvPr userDrawn="1"/>
        </p:nvSpPr>
        <p:spPr>
          <a:xfrm>
            <a:off x="7883" y="10251"/>
            <a:ext cx="6019800" cy="6858125"/>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51"/>
          </a:p>
        </p:txBody>
      </p:sp>
      <p:sp>
        <p:nvSpPr>
          <p:cNvPr id="2" name="Title 1">
            <a:extLst>
              <a:ext uri="{FF2B5EF4-FFF2-40B4-BE49-F238E27FC236}">
                <a16:creationId xmlns:a16="http://schemas.microsoft.com/office/drawing/2014/main" id="{62B9C4DB-FE1C-AFF9-6D3D-BE4C2F5EB265}"/>
              </a:ext>
            </a:extLst>
          </p:cNvPr>
          <p:cNvSpPr>
            <a:spLocks noGrp="1"/>
          </p:cNvSpPr>
          <p:nvPr>
            <p:ph type="ctrTitle"/>
          </p:nvPr>
        </p:nvSpPr>
        <p:spPr>
          <a:xfrm>
            <a:off x="236483" y="2878327"/>
            <a:ext cx="4716517" cy="2387601"/>
          </a:xfrm>
        </p:spPr>
        <p:txBody>
          <a:bodyPr anchor="b">
            <a:normAutofit/>
          </a:bodyPr>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989228E1-E086-EB78-46DA-64561B1337C6}"/>
              </a:ext>
            </a:extLst>
          </p:cNvPr>
          <p:cNvSpPr>
            <a:spLocks noGrp="1"/>
          </p:cNvSpPr>
          <p:nvPr>
            <p:ph type="subTitle" idx="1"/>
          </p:nvPr>
        </p:nvSpPr>
        <p:spPr>
          <a:xfrm>
            <a:off x="233857" y="5430837"/>
            <a:ext cx="4719145" cy="609601"/>
          </a:xfrm>
          <a:prstGeom prst="rect">
            <a:avLst/>
          </a:prstGeom>
        </p:spPr>
        <p:txBody>
          <a:bodyPr>
            <a:normAutofit/>
          </a:bodyPr>
          <a:lstStyle>
            <a:lvl1pPr marL="0" indent="0" algn="l">
              <a:buNone/>
              <a:defRPr sz="2100">
                <a:latin typeface="Inter Light" panose="02000403000000020004" pitchFamily="2" charset="0"/>
                <a:ea typeface="Inter Light" panose="02000403000000020004" pitchFamily="2" charset="0"/>
                <a:cs typeface="Inter Light" panose="02000403000000020004" pitchFamily="2"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pic>
        <p:nvPicPr>
          <p:cNvPr id="8" name="Google Shape;29;p5">
            <a:extLst>
              <a:ext uri="{FF2B5EF4-FFF2-40B4-BE49-F238E27FC236}">
                <a16:creationId xmlns:a16="http://schemas.microsoft.com/office/drawing/2014/main" id="{A126BCB9-91F0-D815-1454-67C972B79D9D}"/>
              </a:ext>
            </a:extLst>
          </p:cNvPr>
          <p:cNvPicPr preferRelativeResize="0"/>
          <p:nvPr userDrawn="1"/>
        </p:nvPicPr>
        <p:blipFill>
          <a:blip r:embed="rId2">
            <a:alphaModFix/>
          </a:blip>
          <a:stretch>
            <a:fillRect/>
          </a:stretch>
        </p:blipFill>
        <p:spPr>
          <a:xfrm>
            <a:off x="5255" y="6687727"/>
            <a:ext cx="457200" cy="160022"/>
          </a:xfrm>
          <a:prstGeom prst="rect">
            <a:avLst/>
          </a:prstGeom>
          <a:noFill/>
          <a:ln>
            <a:noFill/>
          </a:ln>
        </p:spPr>
      </p:pic>
      <p:cxnSp>
        <p:nvCxnSpPr>
          <p:cNvPr id="9" name="Google Shape;21;p4">
            <a:extLst>
              <a:ext uri="{FF2B5EF4-FFF2-40B4-BE49-F238E27FC236}">
                <a16:creationId xmlns:a16="http://schemas.microsoft.com/office/drawing/2014/main" id="{0517905A-48BB-F8DB-1DE9-61D6A041865B}"/>
              </a:ext>
            </a:extLst>
          </p:cNvPr>
          <p:cNvCxnSpPr>
            <a:cxnSpLocks/>
          </p:cNvCxnSpPr>
          <p:nvPr userDrawn="1"/>
        </p:nvCxnSpPr>
        <p:spPr>
          <a:xfrm>
            <a:off x="223344" y="5311596"/>
            <a:ext cx="4882056" cy="0"/>
          </a:xfrm>
          <a:prstGeom prst="straightConnector1">
            <a:avLst/>
          </a:prstGeom>
          <a:noFill/>
          <a:ln w="19050" cap="flat" cmpd="sng">
            <a:solidFill>
              <a:srgbClr val="BF9000"/>
            </a:solidFill>
            <a:prstDash val="solid"/>
            <a:round/>
            <a:headEnd type="none" w="med" len="med"/>
            <a:tailEnd type="none" w="med" len="med"/>
          </a:ln>
        </p:spPr>
      </p:cxnSp>
      <p:sp>
        <p:nvSpPr>
          <p:cNvPr id="5" name="Content Placeholder 4">
            <a:extLst>
              <a:ext uri="{FF2B5EF4-FFF2-40B4-BE49-F238E27FC236}">
                <a16:creationId xmlns:a16="http://schemas.microsoft.com/office/drawing/2014/main" id="{C7BE7FE5-5841-F18C-6EA7-DAFDA72B17C6}"/>
              </a:ext>
            </a:extLst>
          </p:cNvPr>
          <p:cNvSpPr>
            <a:spLocks noGrp="1"/>
          </p:cNvSpPr>
          <p:nvPr>
            <p:ph sz="quarter" idx="10"/>
          </p:nvPr>
        </p:nvSpPr>
        <p:spPr>
          <a:xfrm>
            <a:off x="6096000" y="65087"/>
            <a:ext cx="6096000" cy="6716713"/>
          </a:xfrm>
          <a:prstGeom prst="rect">
            <a:avLst/>
          </a:prstGeom>
        </p:spPr>
        <p:txBody>
          <a:bodyPr anchor="ctr">
            <a:normAutofit/>
          </a:bodyPr>
          <a:lstStyle>
            <a:lvl1pPr algn="l">
              <a:defRPr sz="2400" b="0" i="0">
                <a:latin typeface="Inter Light" panose="02000403000000020004" pitchFamily="2" charset="0"/>
                <a:ea typeface="Inter Light" panose="02000403000000020004" pitchFamily="2" charset="0"/>
                <a:cs typeface="Inter Light" panose="02000403000000020004" pitchFamily="2" charset="0"/>
              </a:defRPr>
            </a:lvl1pPr>
            <a:lvl2pPr algn="l">
              <a:buSzPct val="125000"/>
              <a:defRPr sz="2400" b="0" i="0">
                <a:latin typeface="Inter Light" panose="02000403000000020004" pitchFamily="2" charset="0"/>
                <a:ea typeface="Inter Light" panose="02000403000000020004" pitchFamily="2" charset="0"/>
                <a:cs typeface="Inter Light" panose="02000403000000020004" pitchFamily="2" charset="0"/>
              </a:defRPr>
            </a:lvl2pPr>
            <a:lvl3pPr marL="1142971" indent="-228594" algn="l">
              <a:buFont typeface="Courier New" panose="02070309020205020404" pitchFamily="49" charset="0"/>
              <a:buChar char="o"/>
              <a:defRPr sz="2400" b="0" i="0">
                <a:latin typeface="Inter Light" panose="02000403000000020004" pitchFamily="2" charset="0"/>
                <a:ea typeface="Inter Light" panose="02000403000000020004" pitchFamily="2" charset="0"/>
                <a:cs typeface="Inter Light" panose="02000403000000020004" pitchFamily="2" charset="0"/>
              </a:defRPr>
            </a:lvl3pPr>
            <a:lvl4pPr marL="1600160" indent="-228594" algn="l">
              <a:buFont typeface="Wingdings" pitchFamily="2" charset="2"/>
              <a:buChar char="§"/>
              <a:defRPr sz="2400" b="0" i="0">
                <a:latin typeface="Inter Light" panose="02000403000000020004" pitchFamily="2" charset="0"/>
                <a:ea typeface="Inter Light" panose="02000403000000020004" pitchFamily="2" charset="0"/>
                <a:cs typeface="Inter Light" panose="02000403000000020004" pitchFamily="2" charset="0"/>
              </a:defRPr>
            </a:lvl4pPr>
            <a:lvl5pPr algn="l">
              <a:defRPr sz="2400" b="0" i="0">
                <a:latin typeface="Inter Light" panose="02000403000000020004" pitchFamily="2" charset="0"/>
                <a:ea typeface="Inter Light" panose="02000403000000020004" pitchFamily="2" charset="0"/>
                <a:cs typeface="Inter Light" panose="02000403000000020004"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7212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30F85-F851-4F4D-E2E6-07F71CABE4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0602A28-2CC0-D2A6-A218-DE8C7CFEF9F9}"/>
              </a:ext>
            </a:extLst>
          </p:cNvPr>
          <p:cNvSpPr>
            <a:spLocks noGrp="1"/>
          </p:cNvSpPr>
          <p:nvPr>
            <p:ph idx="1"/>
          </p:nvPr>
        </p:nvSpPr>
        <p:spPr>
          <a:xfrm>
            <a:off x="93657" y="533400"/>
            <a:ext cx="11488745" cy="5638732"/>
          </a:xfrm>
          <a:prstGeom prst="rect">
            <a:avLst/>
          </a:prstGeom>
        </p:spPr>
        <p:txBody>
          <a:bodyPr>
            <a:noAutofit/>
          </a:bodyPr>
          <a:lstStyle>
            <a:lvl1pPr marL="0" indent="0">
              <a:buNone/>
              <a:defRPr sz="2400" b="0" i="0">
                <a:latin typeface="Inter Light" panose="02000403000000020004" pitchFamily="2" charset="0"/>
                <a:ea typeface="Inter Light" panose="02000403000000020004" pitchFamily="2" charset="0"/>
                <a:cs typeface="Inter Light" panose="02000403000000020004" pitchFamily="2" charset="0"/>
              </a:defRPr>
            </a:lvl1pPr>
            <a:lvl2pPr marL="685783" indent="-228594">
              <a:buSzPct val="100000"/>
              <a:buFont typeface="Courier New" panose="02070309020205020404" pitchFamily="49" charset="0"/>
              <a:buChar char="o"/>
              <a:defRPr sz="2400" b="0" i="0">
                <a:latin typeface="Inter Light" panose="02000403000000020004" pitchFamily="2" charset="0"/>
                <a:ea typeface="Inter Light" panose="02000403000000020004" pitchFamily="2" charset="0"/>
                <a:cs typeface="Inter Light" panose="02000403000000020004" pitchFamily="2" charset="0"/>
              </a:defRPr>
            </a:lvl2pPr>
            <a:lvl3pPr marL="1142971" indent="-228594">
              <a:buFont typeface="Wingdings" pitchFamily="2" charset="2"/>
              <a:buChar char="§"/>
              <a:defRPr sz="2400" b="0" i="0">
                <a:latin typeface="Inter Light" panose="02000403000000020004" pitchFamily="2" charset="0"/>
                <a:ea typeface="Inter Light" panose="02000403000000020004" pitchFamily="2" charset="0"/>
                <a:cs typeface="Inter Light" panose="02000403000000020004" pitchFamily="2" charset="0"/>
              </a:defRPr>
            </a:lvl3pPr>
            <a:lvl4pPr marL="1600160" indent="-228594">
              <a:buFont typeface="Arial" panose="020B0604020202020204" pitchFamily="34" charset="0"/>
              <a:buChar char="•"/>
              <a:defRPr sz="2400" b="0" i="0">
                <a:latin typeface="Inter Light" panose="02000403000000020004" pitchFamily="2" charset="0"/>
                <a:ea typeface="Inter Light" panose="02000403000000020004" pitchFamily="2" charset="0"/>
                <a:cs typeface="Inter Light" panose="02000403000000020004" pitchFamily="2" charset="0"/>
              </a:defRPr>
            </a:lvl4pPr>
            <a:lvl5pPr>
              <a:defRPr sz="2400" b="0" i="0">
                <a:latin typeface="Inter Light" panose="02000403000000020004" pitchFamily="2" charset="0"/>
                <a:ea typeface="Inter Light" panose="02000403000000020004" pitchFamily="2" charset="0"/>
                <a:cs typeface="Inter Light" panose="02000403000000020004"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C403DC90-05B5-A90A-60DC-914CE36E04A1}"/>
              </a:ext>
            </a:extLst>
          </p:cNvPr>
          <p:cNvSpPr>
            <a:spLocks noGrp="1"/>
          </p:cNvSpPr>
          <p:nvPr>
            <p:ph type="sldNum" sz="quarter" idx="12"/>
          </p:nvPr>
        </p:nvSpPr>
        <p:spPr/>
        <p:txBody>
          <a:bodyPr/>
          <a:lstStyle/>
          <a:p>
            <a:fld id="{8306E4CF-373C-401B-BBC8-66AC3A72A4AB}" type="slidenum">
              <a:rPr lang="en-US" smtClean="0"/>
              <a:t>‹#›</a:t>
            </a:fld>
            <a:endParaRPr lang="en-US"/>
          </a:p>
        </p:txBody>
      </p:sp>
      <p:cxnSp>
        <p:nvCxnSpPr>
          <p:cNvPr id="7" name="Google Shape;21;p4">
            <a:extLst>
              <a:ext uri="{FF2B5EF4-FFF2-40B4-BE49-F238E27FC236}">
                <a16:creationId xmlns:a16="http://schemas.microsoft.com/office/drawing/2014/main" id="{B141A41B-8850-A20F-A868-FF9415A83C2E}"/>
              </a:ext>
            </a:extLst>
          </p:cNvPr>
          <p:cNvCxnSpPr>
            <a:cxnSpLocks/>
          </p:cNvCxnSpPr>
          <p:nvPr userDrawn="1"/>
        </p:nvCxnSpPr>
        <p:spPr>
          <a:xfrm flipV="1">
            <a:off x="88284" y="457202"/>
            <a:ext cx="10439400" cy="1"/>
          </a:xfrm>
          <a:prstGeom prst="straightConnector1">
            <a:avLst/>
          </a:prstGeom>
          <a:noFill/>
          <a:ln w="19050" cap="flat" cmpd="sng">
            <a:solidFill>
              <a:srgbClr val="BF9000"/>
            </a:solidFill>
            <a:prstDash val="solid"/>
            <a:round/>
            <a:headEnd type="none" w="med" len="med"/>
            <a:tailEnd type="none" w="med" len="med"/>
          </a:ln>
        </p:spPr>
      </p:cxnSp>
    </p:spTree>
    <p:extLst>
      <p:ext uri="{BB962C8B-B14F-4D97-AF65-F5344CB8AC3E}">
        <p14:creationId xmlns:p14="http://schemas.microsoft.com/office/powerpoint/2010/main" val="100806822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FD4A60-6C16-80BA-4FEA-981785C72207}"/>
              </a:ext>
            </a:extLst>
          </p:cNvPr>
          <p:cNvSpPr>
            <a:spLocks noGrp="1"/>
          </p:cNvSpPr>
          <p:nvPr>
            <p:ph type="title"/>
          </p:nvPr>
        </p:nvSpPr>
        <p:spPr>
          <a:xfrm>
            <a:off x="0" y="3"/>
            <a:ext cx="10515600" cy="457200"/>
          </a:xfrm>
          <a:prstGeom prst="rect">
            <a:avLst/>
          </a:prstGeom>
        </p:spPr>
        <p:txBody>
          <a:bodyPr vert="horz" lIns="91440" tIns="45720" rIns="91440" bIns="45720" rtlCol="0" anchor="ctr">
            <a:normAutofit/>
          </a:bodyPr>
          <a:lstStyle/>
          <a:p>
            <a:r>
              <a:rPr lang="en-US"/>
              <a:t>Click to edit Master title style</a:t>
            </a:r>
          </a:p>
        </p:txBody>
      </p:sp>
      <p:sp>
        <p:nvSpPr>
          <p:cNvPr id="6" name="Slide Number Placeholder 5">
            <a:extLst>
              <a:ext uri="{FF2B5EF4-FFF2-40B4-BE49-F238E27FC236}">
                <a16:creationId xmlns:a16="http://schemas.microsoft.com/office/drawing/2014/main" id="{3996B9CB-D30E-202E-2F40-9EBE6ACE78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306E4CF-373C-401B-BBC8-66AC3A72A4AB}" type="slidenum">
              <a:rPr lang="en-US" smtClean="0"/>
              <a:t>‹#›</a:t>
            </a:fld>
            <a:endParaRPr lang="en-US"/>
          </a:p>
        </p:txBody>
      </p:sp>
      <p:pic>
        <p:nvPicPr>
          <p:cNvPr id="7" name="Google Shape;29;p5">
            <a:extLst>
              <a:ext uri="{FF2B5EF4-FFF2-40B4-BE49-F238E27FC236}">
                <a16:creationId xmlns:a16="http://schemas.microsoft.com/office/drawing/2014/main" id="{7A750F8F-3D3A-3346-1992-68E79F83A01D}"/>
              </a:ext>
            </a:extLst>
          </p:cNvPr>
          <p:cNvPicPr preferRelativeResize="0"/>
          <p:nvPr userDrawn="1"/>
        </p:nvPicPr>
        <p:blipFill>
          <a:blip r:embed="rId4">
            <a:alphaModFix/>
          </a:blip>
          <a:stretch>
            <a:fillRect/>
          </a:stretch>
        </p:blipFill>
        <p:spPr>
          <a:xfrm>
            <a:off x="5255" y="6687727"/>
            <a:ext cx="457200" cy="160022"/>
          </a:xfrm>
          <a:prstGeom prst="rect">
            <a:avLst/>
          </a:prstGeom>
          <a:noFill/>
          <a:ln>
            <a:noFill/>
          </a:ln>
        </p:spPr>
      </p:pic>
    </p:spTree>
    <p:extLst>
      <p:ext uri="{BB962C8B-B14F-4D97-AF65-F5344CB8AC3E}">
        <p14:creationId xmlns:p14="http://schemas.microsoft.com/office/powerpoint/2010/main" val="583393115"/>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377" rtl="0" eaLnBrk="1" latinLnBrk="0" hangingPunct="1">
        <a:lnSpc>
          <a:spcPct val="90000"/>
        </a:lnSpc>
        <a:spcBef>
          <a:spcPct val="0"/>
        </a:spcBef>
        <a:buNone/>
        <a:defRPr sz="2400" kern="1200">
          <a:solidFill>
            <a:srgbClr val="0B5394"/>
          </a:solidFill>
          <a:latin typeface="Inter Medium" panose="02000603000000020004" pitchFamily="2" charset="0"/>
          <a:ea typeface="Inter Medium" panose="02000603000000020004" pitchFamily="2" charset="0"/>
          <a:cs typeface="Inter Medium" panose="02000603000000020004" pitchFamily="2" charset="0"/>
        </a:defRPr>
      </a:lvl1pPr>
    </p:titleStyle>
    <p:bodyStyle>
      <a:lvl1pPr marL="0" indent="0" algn="l" defTabSz="914377" rtl="0" eaLnBrk="1" latinLnBrk="0" hangingPunct="1">
        <a:lnSpc>
          <a:spcPct val="110000"/>
        </a:lnSpc>
        <a:spcBef>
          <a:spcPts val="1000"/>
        </a:spcBef>
        <a:buFont typeface="Arial" panose="020B0604020202020204" pitchFamily="34" charset="0"/>
        <a:buNone/>
        <a:defRPr sz="240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joshh.ug/cs70/chebyshev_sample_quality_estimator.htm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3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4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4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4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4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6.png"/><Relationship Id="rId1" Type="http://schemas.openxmlformats.org/officeDocument/2006/relationships/slideLayout" Target="../slideLayouts/slideLayout2.xml"/><Relationship Id="rId5" Type="http://schemas.openxmlformats.org/officeDocument/2006/relationships/image" Target="../media/image77.png"/><Relationship Id="rId4" Type="http://schemas.openxmlformats.org/officeDocument/2006/relationships/image" Target="../media/image73.png"/></Relationships>
</file>

<file path=ppt/slides/_rels/slide4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84.png"/><Relationship Id="rId7" Type="http://schemas.openxmlformats.org/officeDocument/2006/relationships/image" Target="../media/image88.png"/><Relationship Id="rId2" Type="http://schemas.openxmlformats.org/officeDocument/2006/relationships/image" Target="../media/image83.png"/><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86.png"/><Relationship Id="rId10" Type="http://schemas.openxmlformats.org/officeDocument/2006/relationships/image" Target="../media/image91.png"/><Relationship Id="rId4" Type="http://schemas.openxmlformats.org/officeDocument/2006/relationships/image" Target="../media/image85.png"/><Relationship Id="rId9" Type="http://schemas.openxmlformats.org/officeDocument/2006/relationships/image" Target="../media/image90.png"/></Relationships>
</file>

<file path=ppt/slides/_rels/slide54.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84.png"/><Relationship Id="rId7" Type="http://schemas.openxmlformats.org/officeDocument/2006/relationships/image" Target="../media/image88.png"/><Relationship Id="rId2" Type="http://schemas.openxmlformats.org/officeDocument/2006/relationships/image" Target="../media/image83.png"/><Relationship Id="rId1" Type="http://schemas.openxmlformats.org/officeDocument/2006/relationships/slideLayout" Target="../slideLayouts/slideLayout2.xml"/><Relationship Id="rId6" Type="http://schemas.openxmlformats.org/officeDocument/2006/relationships/image" Target="../media/image87.png"/><Relationship Id="rId11" Type="http://schemas.openxmlformats.org/officeDocument/2006/relationships/image" Target="../media/image92.png"/><Relationship Id="rId5" Type="http://schemas.openxmlformats.org/officeDocument/2006/relationships/image" Target="../media/image86.png"/><Relationship Id="rId10" Type="http://schemas.openxmlformats.org/officeDocument/2006/relationships/image" Target="../media/image91.png"/><Relationship Id="rId4" Type="http://schemas.openxmlformats.org/officeDocument/2006/relationships/image" Target="../media/image85.png"/><Relationship Id="rId9" Type="http://schemas.openxmlformats.org/officeDocument/2006/relationships/image" Target="../media/image90.png"/></Relationships>
</file>

<file path=ppt/slides/_rels/slide55.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84.png"/><Relationship Id="rId7" Type="http://schemas.openxmlformats.org/officeDocument/2006/relationships/image" Target="../media/image88.png"/><Relationship Id="rId2" Type="http://schemas.openxmlformats.org/officeDocument/2006/relationships/image" Target="../media/image83.png"/><Relationship Id="rId1" Type="http://schemas.openxmlformats.org/officeDocument/2006/relationships/slideLayout" Target="../slideLayouts/slideLayout2.xml"/><Relationship Id="rId6" Type="http://schemas.openxmlformats.org/officeDocument/2006/relationships/image" Target="../media/image87.png"/><Relationship Id="rId11" Type="http://schemas.openxmlformats.org/officeDocument/2006/relationships/image" Target="../media/image93.png"/><Relationship Id="rId5" Type="http://schemas.openxmlformats.org/officeDocument/2006/relationships/image" Target="../media/image86.png"/><Relationship Id="rId10" Type="http://schemas.openxmlformats.org/officeDocument/2006/relationships/image" Target="../media/image91.png"/><Relationship Id="rId4" Type="http://schemas.openxmlformats.org/officeDocument/2006/relationships/image" Target="../media/image85.png"/><Relationship Id="rId9" Type="http://schemas.openxmlformats.org/officeDocument/2006/relationships/image" Target="../media/image90.png"/></Relationships>
</file>

<file path=ppt/slides/_rels/slide56.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84.png"/><Relationship Id="rId7" Type="http://schemas.openxmlformats.org/officeDocument/2006/relationships/image" Target="../media/image97.png"/><Relationship Id="rId2" Type="http://schemas.openxmlformats.org/officeDocument/2006/relationships/image" Target="../media/image94.png"/><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image" Target="../media/image95.png"/><Relationship Id="rId10" Type="http://schemas.openxmlformats.org/officeDocument/2006/relationships/image" Target="../media/image100.png"/><Relationship Id="rId4" Type="http://schemas.openxmlformats.org/officeDocument/2006/relationships/image" Target="../media/image85.png"/><Relationship Id="rId9" Type="http://schemas.openxmlformats.org/officeDocument/2006/relationships/image" Target="../media/image99.png"/></Relationships>
</file>

<file path=ppt/slides/_rels/slide5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image" Target="../media/image109.png"/><Relationship Id="rId3" Type="http://schemas.openxmlformats.org/officeDocument/2006/relationships/image" Target="../media/image104.png"/><Relationship Id="rId7" Type="http://schemas.openxmlformats.org/officeDocument/2006/relationships/image" Target="../media/image108.png"/><Relationship Id="rId2" Type="http://schemas.openxmlformats.org/officeDocument/2006/relationships/image" Target="../media/image103.png"/><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106.png"/><Relationship Id="rId10" Type="http://schemas.openxmlformats.org/officeDocument/2006/relationships/image" Target="../media/image111.png"/><Relationship Id="rId4" Type="http://schemas.openxmlformats.org/officeDocument/2006/relationships/image" Target="../media/image105.png"/><Relationship Id="rId9" Type="http://schemas.openxmlformats.org/officeDocument/2006/relationships/image" Target="../media/image11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2.xml"/><Relationship Id="rId4" Type="http://schemas.openxmlformats.org/officeDocument/2006/relationships/image" Target="../media/image105.png"/></Relationships>
</file>

<file path=ppt/slides/_rels/slide62.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3.png"/><Relationship Id="rId1" Type="http://schemas.openxmlformats.org/officeDocument/2006/relationships/slideLayout" Target="../slideLayouts/slideLayout2.xml"/><Relationship Id="rId4" Type="http://schemas.openxmlformats.org/officeDocument/2006/relationships/image" Target="../media/image105.png"/></Relationships>
</file>

<file path=ppt/slides/_rels/slide63.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03.png"/><Relationship Id="rId1" Type="http://schemas.openxmlformats.org/officeDocument/2006/relationships/slideLayout" Target="../slideLayouts/slideLayout2.xml"/><Relationship Id="rId4" Type="http://schemas.openxmlformats.org/officeDocument/2006/relationships/image" Target="../media/image105.png"/></Relationships>
</file>

<file path=ppt/slides/_rels/slide64.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03.png"/><Relationship Id="rId1" Type="http://schemas.openxmlformats.org/officeDocument/2006/relationships/slideLayout" Target="../slideLayouts/slideLayout2.xml"/><Relationship Id="rId4" Type="http://schemas.openxmlformats.org/officeDocument/2006/relationships/image" Target="../media/image105.png"/></Relationships>
</file>

<file path=ppt/slides/_rels/slide65.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03.png"/><Relationship Id="rId1" Type="http://schemas.openxmlformats.org/officeDocument/2006/relationships/slideLayout" Target="../slideLayouts/slideLayout2.xml"/><Relationship Id="rId4" Type="http://schemas.openxmlformats.org/officeDocument/2006/relationships/image" Target="../media/image105.png"/></Relationships>
</file>

<file path=ppt/slides/_rels/slide66.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03.png"/><Relationship Id="rId1" Type="http://schemas.openxmlformats.org/officeDocument/2006/relationships/slideLayout" Target="../slideLayouts/slideLayout2.xml"/><Relationship Id="rId4" Type="http://schemas.openxmlformats.org/officeDocument/2006/relationships/image" Target="../media/image105.png"/></Relationships>
</file>

<file path=ppt/slides/_rels/slide67.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03.png"/><Relationship Id="rId1" Type="http://schemas.openxmlformats.org/officeDocument/2006/relationships/slideLayout" Target="../slideLayouts/slideLayout2.xml"/><Relationship Id="rId4" Type="http://schemas.openxmlformats.org/officeDocument/2006/relationships/image" Target="../media/image105.png"/></Relationships>
</file>

<file path=ppt/slides/_rels/slide68.xml.rels><?xml version="1.0" encoding="UTF-8" standalone="yes"?>
<Relationships xmlns="http://schemas.openxmlformats.org/package/2006/relationships"><Relationship Id="rId8" Type="http://schemas.openxmlformats.org/officeDocument/2006/relationships/image" Target="../media/image125.png"/><Relationship Id="rId3" Type="http://schemas.openxmlformats.org/officeDocument/2006/relationships/image" Target="../media/image121.png"/><Relationship Id="rId7" Type="http://schemas.openxmlformats.org/officeDocument/2006/relationships/image" Target="../media/image124.png"/><Relationship Id="rId12" Type="http://schemas.openxmlformats.org/officeDocument/2006/relationships/image" Target="../media/image129.png"/><Relationship Id="rId2" Type="http://schemas.openxmlformats.org/officeDocument/2006/relationships/image" Target="../media/image103.png"/><Relationship Id="rId1" Type="http://schemas.openxmlformats.org/officeDocument/2006/relationships/slideLayout" Target="../slideLayouts/slideLayout2.xml"/><Relationship Id="rId6" Type="http://schemas.openxmlformats.org/officeDocument/2006/relationships/image" Target="../media/image123.png"/><Relationship Id="rId11" Type="http://schemas.openxmlformats.org/officeDocument/2006/relationships/image" Target="../media/image128.png"/><Relationship Id="rId5" Type="http://schemas.openxmlformats.org/officeDocument/2006/relationships/image" Target="../media/image122.png"/><Relationship Id="rId10" Type="http://schemas.openxmlformats.org/officeDocument/2006/relationships/image" Target="../media/image127.png"/><Relationship Id="rId4" Type="http://schemas.openxmlformats.org/officeDocument/2006/relationships/image" Target="../media/image105.png"/><Relationship Id="rId9" Type="http://schemas.openxmlformats.org/officeDocument/2006/relationships/image" Target="../media/image126.png"/></Relationships>
</file>

<file path=ppt/slides/_rels/slide69.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03.png"/><Relationship Id="rId1" Type="http://schemas.openxmlformats.org/officeDocument/2006/relationships/slideLayout" Target="../slideLayouts/slideLayout2.xml"/><Relationship Id="rId6" Type="http://schemas.openxmlformats.org/officeDocument/2006/relationships/image" Target="../media/image132.png"/><Relationship Id="rId5" Type="http://schemas.openxmlformats.org/officeDocument/2006/relationships/image" Target="../media/image131.png"/><Relationship Id="rId4" Type="http://schemas.openxmlformats.org/officeDocument/2006/relationships/image" Target="../media/image105.png"/></Relationships>
</file>

<file path=ppt/slides/_rels/slide70.xml.rels><?xml version="1.0" encoding="UTF-8" standalone="yes"?>
<Relationships xmlns="http://schemas.openxmlformats.org/package/2006/relationships"><Relationship Id="rId3" Type="http://schemas.openxmlformats.org/officeDocument/2006/relationships/image" Target="../media/image133.png"/><Relationship Id="rId7" Type="http://schemas.openxmlformats.org/officeDocument/2006/relationships/image" Target="../media/image136.png"/><Relationship Id="rId2" Type="http://schemas.openxmlformats.org/officeDocument/2006/relationships/image" Target="../media/image103.png"/><Relationship Id="rId1" Type="http://schemas.openxmlformats.org/officeDocument/2006/relationships/slideLayout" Target="../slideLayouts/slideLayout2.xml"/><Relationship Id="rId6" Type="http://schemas.openxmlformats.org/officeDocument/2006/relationships/image" Target="../media/image135.png"/><Relationship Id="rId5" Type="http://schemas.openxmlformats.org/officeDocument/2006/relationships/image" Target="../media/image134.png"/><Relationship Id="rId4" Type="http://schemas.openxmlformats.org/officeDocument/2006/relationships/image" Target="../media/image105.png"/></Relationships>
</file>

<file path=ppt/slides/_rels/slide71.xml.rels><?xml version="1.0" encoding="UTF-8" standalone="yes"?>
<Relationships xmlns="http://schemas.openxmlformats.org/package/2006/relationships"><Relationship Id="rId3" Type="http://schemas.openxmlformats.org/officeDocument/2006/relationships/image" Target="../media/image137.png"/><Relationship Id="rId7" Type="http://schemas.openxmlformats.org/officeDocument/2006/relationships/image" Target="../media/image132.png"/><Relationship Id="rId2" Type="http://schemas.openxmlformats.org/officeDocument/2006/relationships/image" Target="../media/image103.png"/><Relationship Id="rId1" Type="http://schemas.openxmlformats.org/officeDocument/2006/relationships/slideLayout" Target="../slideLayouts/slideLayout2.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image" Target="../media/image105.png"/></Relationships>
</file>

<file path=ppt/slides/_rels/slide72.xml.rels><?xml version="1.0" encoding="UTF-8" standalone="yes"?>
<Relationships xmlns="http://schemas.openxmlformats.org/package/2006/relationships"><Relationship Id="rId3" Type="http://schemas.openxmlformats.org/officeDocument/2006/relationships/image" Target="../media/image140.png"/><Relationship Id="rId7" Type="http://schemas.openxmlformats.org/officeDocument/2006/relationships/image" Target="../media/image143.png"/><Relationship Id="rId2" Type="http://schemas.openxmlformats.org/officeDocument/2006/relationships/image" Target="../media/image103.png"/><Relationship Id="rId1" Type="http://schemas.openxmlformats.org/officeDocument/2006/relationships/slideLayout" Target="../slideLayouts/slideLayout2.xml"/><Relationship Id="rId6" Type="http://schemas.openxmlformats.org/officeDocument/2006/relationships/image" Target="../media/image142.png"/><Relationship Id="rId5" Type="http://schemas.openxmlformats.org/officeDocument/2006/relationships/image" Target="../media/image141.png"/><Relationship Id="rId4" Type="http://schemas.openxmlformats.org/officeDocument/2006/relationships/image" Target="../media/image10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46.png"/><Relationship Id="rId1" Type="http://schemas.openxmlformats.org/officeDocument/2006/relationships/slideLayout" Target="../slideLayouts/slideLayout2.xml"/><Relationship Id="rId6" Type="http://schemas.openxmlformats.org/officeDocument/2006/relationships/image" Target="../media/image150.png"/><Relationship Id="rId5" Type="http://schemas.openxmlformats.org/officeDocument/2006/relationships/image" Target="../media/image149.png"/><Relationship Id="rId4" Type="http://schemas.openxmlformats.org/officeDocument/2006/relationships/image" Target="../media/image148.png"/></Relationships>
</file>

<file path=ppt/slides/_rels/slide77.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151.png"/><Relationship Id="rId1" Type="http://schemas.openxmlformats.org/officeDocument/2006/relationships/slideLayout" Target="../slideLayouts/slideLayout2.xml"/><Relationship Id="rId5" Type="http://schemas.openxmlformats.org/officeDocument/2006/relationships/image" Target="../media/image154.png"/><Relationship Id="rId4" Type="http://schemas.openxmlformats.org/officeDocument/2006/relationships/image" Target="../media/image15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hyperlink" Target="https://en.wikipedia.org/wiki/Chernoff_bound" TargetMode="Externa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2A29A-619A-8056-9860-509E14A0F9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95BFF6-48F2-8AE0-AE2E-84CF9B249E70}"/>
              </a:ext>
            </a:extLst>
          </p:cNvPr>
          <p:cNvSpPr>
            <a:spLocks noGrp="1"/>
          </p:cNvSpPr>
          <p:nvPr>
            <p:ph type="ctrTitle"/>
          </p:nvPr>
        </p:nvSpPr>
        <p:spPr>
          <a:xfrm>
            <a:off x="236483" y="2878327"/>
            <a:ext cx="4903076" cy="2387601"/>
          </a:xfrm>
        </p:spPr>
        <p:txBody>
          <a:bodyPr>
            <a:normAutofit/>
          </a:bodyPr>
          <a:lstStyle/>
          <a:p>
            <a:r>
              <a:rPr lang="en-US"/>
              <a:t>Estimating p for </a:t>
            </a:r>
            <a:r>
              <a:rPr lang="en-US" err="1"/>
              <a:t>X~Bernoulli</a:t>
            </a:r>
            <a:r>
              <a:rPr lang="en-US"/>
              <a:t>(p)</a:t>
            </a:r>
          </a:p>
        </p:txBody>
      </p:sp>
      <p:sp>
        <p:nvSpPr>
          <p:cNvPr id="3" name="Subtitle 2">
            <a:extLst>
              <a:ext uri="{FF2B5EF4-FFF2-40B4-BE49-F238E27FC236}">
                <a16:creationId xmlns:a16="http://schemas.microsoft.com/office/drawing/2014/main" id="{F199E03F-D903-16C4-D04E-0278962CC1C0}"/>
              </a:ext>
            </a:extLst>
          </p:cNvPr>
          <p:cNvSpPr>
            <a:spLocks noGrp="1"/>
          </p:cNvSpPr>
          <p:nvPr>
            <p:ph type="subTitle" idx="1"/>
          </p:nvPr>
        </p:nvSpPr>
        <p:spPr/>
        <p:txBody>
          <a:bodyPr/>
          <a:lstStyle/>
          <a:p>
            <a:r>
              <a:rPr lang="en-US"/>
              <a:t>Lecture 22, CS70 Fall 2025</a:t>
            </a:r>
          </a:p>
        </p:txBody>
      </p:sp>
      <p:sp>
        <p:nvSpPr>
          <p:cNvPr id="6" name="Content Placeholder 5">
            <a:extLst>
              <a:ext uri="{FF2B5EF4-FFF2-40B4-BE49-F238E27FC236}">
                <a16:creationId xmlns:a16="http://schemas.microsoft.com/office/drawing/2014/main" id="{D6CB9104-92EC-5EF0-3B3A-86B484B9D6D8}"/>
              </a:ext>
            </a:extLst>
          </p:cNvPr>
          <p:cNvSpPr>
            <a:spLocks noGrp="1"/>
          </p:cNvSpPr>
          <p:nvPr>
            <p:ph sz="quarter" idx="10"/>
          </p:nvPr>
        </p:nvSpPr>
        <p:spPr/>
        <p:txBody>
          <a:bodyPr/>
          <a:lstStyle/>
          <a:p>
            <a:endParaRPr lang="en-US">
              <a:solidFill>
                <a:schemeClr val="bg1">
                  <a:lumMod val="65000"/>
                </a:schemeClr>
              </a:solidFill>
            </a:endParaRPr>
          </a:p>
          <a:p>
            <a:endParaRPr lang="en-US" b="1">
              <a:solidFill>
                <a:schemeClr val="accent3"/>
              </a:solidFill>
              <a:latin typeface="Inter" panose="02000503000000020004" pitchFamily="2" charset="0"/>
              <a:ea typeface="Inter" panose="02000503000000020004" pitchFamily="2" charset="0"/>
              <a:cs typeface="Inter" panose="02000503000000020004" pitchFamily="2" charset="0"/>
            </a:endParaRPr>
          </a:p>
        </p:txBody>
      </p:sp>
      <p:sp>
        <p:nvSpPr>
          <p:cNvPr id="4" name="Content Placeholder 5">
            <a:extLst>
              <a:ext uri="{FF2B5EF4-FFF2-40B4-BE49-F238E27FC236}">
                <a16:creationId xmlns:a16="http://schemas.microsoft.com/office/drawing/2014/main" id="{0C28E600-D600-CEB3-69AF-7F3CC1A483F5}"/>
              </a:ext>
            </a:extLst>
          </p:cNvPr>
          <p:cNvSpPr txBox="1">
            <a:spLocks/>
          </p:cNvSpPr>
          <p:nvPr/>
        </p:nvSpPr>
        <p:spPr>
          <a:xfrm>
            <a:off x="6248400" y="217487"/>
            <a:ext cx="6096000" cy="6716713"/>
          </a:xfrm>
          <a:prstGeom prst="rect">
            <a:avLst/>
          </a:prstGeom>
        </p:spPr>
        <p:txBody>
          <a:bodyPr anchor="ctr">
            <a:normAutofit/>
          </a:bodyPr>
          <a:lstStyle>
            <a:lvl1pPr marL="0" indent="0" algn="l" defTabSz="914377" rtl="0" eaLnBrk="1" latinLnBrk="0" hangingPunct="1">
              <a:lnSpc>
                <a:spcPct val="110000"/>
              </a:lnSpc>
              <a:spcBef>
                <a:spcPts val="1000"/>
              </a:spcBef>
              <a:buFont typeface="Arial" panose="020B0604020202020204" pitchFamily="34" charset="0"/>
              <a:buNone/>
              <a:defRPr sz="2400" b="0" i="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1pPr>
            <a:lvl2pPr marL="685783" indent="-228594" algn="l" defTabSz="914377" rtl="0" eaLnBrk="1" latinLnBrk="0" hangingPunct="1">
              <a:lnSpc>
                <a:spcPct val="90000"/>
              </a:lnSpc>
              <a:spcBef>
                <a:spcPts val="500"/>
              </a:spcBef>
              <a:buSzPct val="125000"/>
              <a:buFont typeface="Arial" panose="020B0604020202020204" pitchFamily="34" charset="0"/>
              <a:buChar char="•"/>
              <a:defRPr sz="2400" b="0" i="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2pPr>
            <a:lvl3pPr marL="1142971" indent="-228594" algn="l" defTabSz="914377" rtl="0" eaLnBrk="1" latinLnBrk="0" hangingPunct="1">
              <a:lnSpc>
                <a:spcPct val="90000"/>
              </a:lnSpc>
              <a:spcBef>
                <a:spcPts val="500"/>
              </a:spcBef>
              <a:buFont typeface="Courier New" panose="02070309020205020404" pitchFamily="49" charset="0"/>
              <a:buChar char="o"/>
              <a:defRPr sz="2400" b="0" i="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3pPr>
            <a:lvl4pPr marL="1600160" indent="-228594" algn="l" defTabSz="914377" rtl="0" eaLnBrk="1" latinLnBrk="0" hangingPunct="1">
              <a:lnSpc>
                <a:spcPct val="90000"/>
              </a:lnSpc>
              <a:spcBef>
                <a:spcPts val="500"/>
              </a:spcBef>
              <a:buFont typeface="Wingdings" pitchFamily="2" charset="2"/>
              <a:buChar char="§"/>
              <a:defRPr sz="2400" b="0" i="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4pPr>
            <a:lvl5pPr marL="2057349" indent="-228594" algn="l" defTabSz="914377" rtl="0" eaLnBrk="1" latinLnBrk="0" hangingPunct="1">
              <a:lnSpc>
                <a:spcPct val="90000"/>
              </a:lnSpc>
              <a:spcBef>
                <a:spcPts val="500"/>
              </a:spcBef>
              <a:buFont typeface="Arial" panose="020B0604020202020204" pitchFamily="34" charset="0"/>
              <a:buChar char="•"/>
              <a:defRPr sz="2400" b="0" i="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solidFill>
                  <a:schemeClr val="accent3"/>
                </a:solidFill>
                <a:latin typeface="Inter" panose="02000503000000020004" pitchFamily="2" charset="0"/>
                <a:ea typeface="Inter" panose="02000503000000020004" pitchFamily="2" charset="0"/>
                <a:cs typeface="Inter" panose="02000503000000020004" pitchFamily="2" charset="0"/>
              </a:rPr>
              <a:t>Estimating p for </a:t>
            </a:r>
            <a:r>
              <a:rPr lang="en-US" b="1" err="1">
                <a:solidFill>
                  <a:schemeClr val="accent3"/>
                </a:solidFill>
                <a:latin typeface="Inter" panose="02000503000000020004" pitchFamily="2" charset="0"/>
                <a:ea typeface="Inter" panose="02000503000000020004" pitchFamily="2" charset="0"/>
                <a:cs typeface="Inter" panose="02000503000000020004" pitchFamily="2" charset="0"/>
              </a:rPr>
              <a:t>X~Bernoulli</a:t>
            </a:r>
            <a:r>
              <a:rPr lang="en-US" b="1">
                <a:solidFill>
                  <a:schemeClr val="accent3"/>
                </a:solidFill>
                <a:latin typeface="Inter" panose="02000503000000020004" pitchFamily="2" charset="0"/>
                <a:ea typeface="Inter" panose="02000503000000020004" pitchFamily="2" charset="0"/>
                <a:cs typeface="Inter" panose="02000503000000020004" pitchFamily="2" charset="0"/>
              </a:rPr>
              <a:t>(p)</a:t>
            </a:r>
          </a:p>
          <a:p>
            <a:r>
              <a:rPr lang="en-US">
                <a:solidFill>
                  <a:schemeClr val="bg1">
                    <a:lumMod val="65000"/>
                  </a:schemeClr>
                </a:solidFill>
              </a:rPr>
              <a:t>Markov’s Inequality</a:t>
            </a:r>
          </a:p>
          <a:p>
            <a:r>
              <a:rPr lang="en-US">
                <a:solidFill>
                  <a:schemeClr val="bg1">
                    <a:lumMod val="65000"/>
                  </a:schemeClr>
                </a:solidFill>
              </a:rPr>
              <a:t>Chebyshev’s Inequality</a:t>
            </a:r>
          </a:p>
          <a:p>
            <a:r>
              <a:rPr lang="en-US">
                <a:solidFill>
                  <a:schemeClr val="bg1">
                    <a:lumMod val="65000"/>
                  </a:schemeClr>
                </a:solidFill>
              </a:rPr>
              <a:t>The Chebyshev Bound for Number of Heads</a:t>
            </a:r>
          </a:p>
          <a:p>
            <a:r>
              <a:rPr lang="en-US">
                <a:solidFill>
                  <a:schemeClr val="tx2"/>
                </a:solidFill>
              </a:rPr>
              <a:t>The Chebyshev Bound for Estimating the Fairness of a Coin</a:t>
            </a:r>
            <a:endParaRPr lang="en-US">
              <a:solidFill>
                <a:schemeClr val="bg1">
                  <a:lumMod val="65000"/>
                </a:schemeClr>
              </a:solidFill>
            </a:endParaRPr>
          </a:p>
          <a:p>
            <a:r>
              <a:rPr lang="en-US">
                <a:solidFill>
                  <a:schemeClr val="bg1">
                    <a:lumMod val="65000"/>
                  </a:schemeClr>
                </a:solidFill>
              </a:rPr>
              <a:t>Weak Law of Large Numbers</a:t>
            </a:r>
          </a:p>
          <a:p>
            <a:r>
              <a:rPr lang="en-US">
                <a:solidFill>
                  <a:schemeClr val="bg1">
                    <a:lumMod val="65000"/>
                  </a:schemeClr>
                </a:solidFill>
              </a:rPr>
              <a:t>Bounds Beyond CS70</a:t>
            </a:r>
          </a:p>
        </p:txBody>
      </p:sp>
    </p:spTree>
    <p:extLst>
      <p:ext uri="{BB962C8B-B14F-4D97-AF65-F5344CB8AC3E}">
        <p14:creationId xmlns:p14="http://schemas.microsoft.com/office/powerpoint/2010/main" val="470386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6CD5C-D156-A4E1-0759-38DE9D8F14F1}"/>
              </a:ext>
            </a:extLst>
          </p:cNvPr>
          <p:cNvSpPr>
            <a:spLocks noGrp="1"/>
          </p:cNvSpPr>
          <p:nvPr>
            <p:ph type="title"/>
          </p:nvPr>
        </p:nvSpPr>
        <p:spPr/>
        <p:txBody>
          <a:bodyPr/>
          <a:lstStyle/>
          <a:p>
            <a:r>
              <a:rPr lang="en-US"/>
              <a:t>Motivating Problem of the Day</a:t>
            </a:r>
          </a:p>
        </p:txBody>
      </p:sp>
      <p:sp>
        <p:nvSpPr>
          <p:cNvPr id="3" name="Content Placeholder 2">
            <a:extLst>
              <a:ext uri="{FF2B5EF4-FFF2-40B4-BE49-F238E27FC236}">
                <a16:creationId xmlns:a16="http://schemas.microsoft.com/office/drawing/2014/main" id="{4D8668BD-FE09-15D5-C729-DF571307047E}"/>
              </a:ext>
            </a:extLst>
          </p:cNvPr>
          <p:cNvSpPr>
            <a:spLocks noGrp="1"/>
          </p:cNvSpPr>
          <p:nvPr>
            <p:ph idx="1"/>
          </p:nvPr>
        </p:nvSpPr>
        <p:spPr/>
        <p:txBody>
          <a:bodyPr/>
          <a:lstStyle/>
          <a:p>
            <a:r>
              <a:rPr lang="en-US"/>
              <a:t>Suppose we wanted to know in advance how many people will vote for Donald Trump in the 2024 election.</a:t>
            </a:r>
          </a:p>
          <a:p>
            <a:endParaRPr lang="en-US"/>
          </a:p>
          <a:p>
            <a:r>
              <a:rPr lang="en-US"/>
              <a:t>One approach: Ask random people.</a:t>
            </a:r>
          </a:p>
          <a:p>
            <a:pPr marL="342900" indent="-342900">
              <a:buFont typeface="Arial" panose="020B0604020202020204" pitchFamily="34" charset="0"/>
              <a:buChar char="•"/>
            </a:pPr>
            <a:r>
              <a:rPr lang="en-US"/>
              <a:t>As long as we ask enough of the right people, we’ll get an accurate result.</a:t>
            </a:r>
          </a:p>
          <a:p>
            <a:pPr marL="342900" indent="-342900">
              <a:buFont typeface="Arial" panose="020B0604020202020204" pitchFamily="34" charset="0"/>
              <a:buChar char="•"/>
            </a:pPr>
            <a:r>
              <a:rPr lang="en-US"/>
              <a:t>But how many people do we need to ask?</a:t>
            </a:r>
          </a:p>
        </p:txBody>
      </p:sp>
    </p:spTree>
    <p:extLst>
      <p:ext uri="{BB962C8B-B14F-4D97-AF65-F5344CB8AC3E}">
        <p14:creationId xmlns:p14="http://schemas.microsoft.com/office/powerpoint/2010/main" val="1408181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930C8-A273-2A17-D688-FCEA6E4F3B67}"/>
              </a:ext>
            </a:extLst>
          </p:cNvPr>
          <p:cNvSpPr>
            <a:spLocks noGrp="1"/>
          </p:cNvSpPr>
          <p:nvPr>
            <p:ph type="title"/>
          </p:nvPr>
        </p:nvSpPr>
        <p:spPr/>
        <p:txBody>
          <a:bodyPr/>
          <a:lstStyle/>
          <a:p>
            <a:r>
              <a:rPr lang="en-US"/>
              <a:t>Motivating Problem of the Day: Coin Version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CE225BE-BE4F-C983-8836-5BFAF2971351}"/>
                  </a:ext>
                </a:extLst>
              </p:cNvPr>
              <p:cNvSpPr>
                <a:spLocks noGrp="1"/>
              </p:cNvSpPr>
              <p:nvPr>
                <p:ph idx="1"/>
              </p:nvPr>
            </p:nvSpPr>
            <p:spPr>
              <a:xfrm>
                <a:off x="93657" y="533400"/>
                <a:ext cx="11688440" cy="5638732"/>
              </a:xfrm>
            </p:spPr>
            <p:txBody>
              <a:bodyPr/>
              <a:lstStyle/>
              <a:p>
                <a:r>
                  <a:rPr lang="en-US"/>
                  <a:t>We can think of this polling question in terms of a coin flip.</a:t>
                </a:r>
              </a:p>
              <a:p>
                <a:pPr marL="342900" indent="-342900">
                  <a:buFont typeface="Arial" panose="020B0604020202020204" pitchFamily="34" charset="0"/>
                  <a:buChar char="•"/>
                </a:pPr>
                <a:r>
                  <a:rPr lang="en-US"/>
                  <a:t>Every person we ask is effectively one flip of the national coin. Let’s say  “heads” is a Donald Trump vote. If 50.2% of the population will vote for Donald Trump, then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=0.502</m:t>
                    </m:r>
                  </m:oMath>
                </a14:m>
                <a:r>
                  <a:rPr lang="en-US"/>
                  <a:t>.</a:t>
                </a:r>
              </a:p>
              <a:p>
                <a:pPr marL="342900" indent="-342900">
                  <a:buFont typeface="Arial" panose="020B0604020202020204" pitchFamily="34" charset="0"/>
                  <a:buChar char="•"/>
                </a:pPr>
                <a:r>
                  <a:rPr lang="en-US"/>
                  <a:t>Note: The coin flipping is not modeling the randomness inherent in an individual’s vote! Instead, it’s a sample drawn from the entire population, 50.2% of whom will definitely vote for Donald Trump.</a:t>
                </a:r>
              </a:p>
              <a:p>
                <a:pPr marL="342900" indent="-342900">
                  <a:buFont typeface="Arial" panose="020B0604020202020204" pitchFamily="34" charset="0"/>
                  <a:buChar char="•"/>
                </a:pPr>
                <a:endParaRPr lang="en-US"/>
              </a:p>
              <a:p>
                <a:r>
                  <a:rPr lang="en-US"/>
                  <a:t>Our goal is to flip the coin a bunch of times to estimate the probability of heads </a:t>
                </a:r>
                <a14:m>
                  <m:oMath xmlns:m="http://schemas.openxmlformats.org/officeDocument/2006/math">
                    <m:r>
                      <a:rPr lang="en-US" b="0" i="1" smtClean="0">
                        <a:latin typeface="Cambria Math" panose="02040503050406030204" pitchFamily="18" charset="0"/>
                      </a:rPr>
                      <m:t>𝑝</m:t>
                    </m:r>
                  </m:oMath>
                </a14:m>
                <a:r>
                  <a:rPr lang="en-US"/>
                  <a:t>.</a:t>
                </a:r>
              </a:p>
            </p:txBody>
          </p:sp>
        </mc:Choice>
        <mc:Fallback>
          <p:sp>
            <p:nvSpPr>
              <p:cNvPr id="3" name="Content Placeholder 2">
                <a:extLst>
                  <a:ext uri="{FF2B5EF4-FFF2-40B4-BE49-F238E27FC236}">
                    <a16:creationId xmlns:a16="http://schemas.microsoft.com/office/drawing/2014/main" id="{4CE225BE-BE4F-C983-8836-5BFAF2971351}"/>
                  </a:ext>
                </a:extLst>
              </p:cNvPr>
              <p:cNvSpPr>
                <a:spLocks noGrp="1" noRot="1" noChangeAspect="1" noMove="1" noResize="1" noEditPoints="1" noAdjustHandles="1" noChangeArrowheads="1" noChangeShapeType="1" noTextEdit="1"/>
              </p:cNvSpPr>
              <p:nvPr>
                <p:ph idx="1"/>
              </p:nvPr>
            </p:nvSpPr>
            <p:spPr>
              <a:xfrm>
                <a:off x="93657" y="533400"/>
                <a:ext cx="11688440" cy="5638732"/>
              </a:xfrm>
              <a:blipFill>
                <a:blip r:embed="rId2"/>
                <a:stretch>
                  <a:fillRect l="-782" t="-541"/>
                </a:stretch>
              </a:blipFill>
            </p:spPr>
            <p:txBody>
              <a:bodyPr/>
              <a:lstStyle/>
              <a:p>
                <a:r>
                  <a:rPr lang="en-US">
                    <a:noFill/>
                  </a:rPr>
                  <a:t> </a:t>
                </a:r>
              </a:p>
            </p:txBody>
          </p:sp>
        </mc:Fallback>
      </mc:AlternateContent>
    </p:spTree>
    <p:extLst>
      <p:ext uri="{BB962C8B-B14F-4D97-AF65-F5344CB8AC3E}">
        <p14:creationId xmlns:p14="http://schemas.microsoft.com/office/powerpoint/2010/main" val="1926621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FFDAD-DD2A-01B0-A223-43A8D3BB65AA}"/>
              </a:ext>
            </a:extLst>
          </p:cNvPr>
          <p:cNvSpPr>
            <a:spLocks noGrp="1"/>
          </p:cNvSpPr>
          <p:nvPr>
            <p:ph type="title"/>
          </p:nvPr>
        </p:nvSpPr>
        <p:spPr/>
        <p:txBody>
          <a:bodyPr/>
          <a:lstStyle/>
          <a:p>
            <a:r>
              <a:rPr lang="en-US"/>
              <a:t>Experiment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BD82F3B-9341-CCE6-4BB9-989FBA4B2C2E}"/>
                  </a:ext>
                </a:extLst>
              </p:cNvPr>
              <p:cNvSpPr>
                <a:spLocks noGrp="1"/>
              </p:cNvSpPr>
              <p:nvPr>
                <p:ph idx="1"/>
              </p:nvPr>
            </p:nvSpPr>
            <p:spPr/>
            <p:txBody>
              <a:bodyPr/>
              <a:lstStyle/>
              <a:p>
                <a:r>
                  <a:rPr lang="en-US"/>
                  <a:t>Suppose we flip the coin 10,000 times and we get heads 4800 times and tails 5200 times? Let </a:t>
                </a:r>
                <a14:m>
                  <m:oMath xmlns:m="http://schemas.openxmlformats.org/officeDocument/2006/math">
                    <m:r>
                      <a:rPr lang="en-US" i="1">
                        <a:latin typeface="Cambria Math" panose="02040503050406030204" pitchFamily="18" charset="0"/>
                      </a:rPr>
                      <m:t>𝑝</m:t>
                    </m:r>
                  </m:oMath>
                </a14:m>
                <a:r>
                  <a:rPr lang="en-US"/>
                  <a:t> be the true chance of heads. Let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a:t> be our estimate.</a:t>
                </a:r>
              </a:p>
              <a:p>
                <a:endParaRPr lang="en-US"/>
              </a:p>
              <a:p>
                <a:r>
                  <a:rPr lang="en-US"/>
                  <a:t>Based on our experiment, what should we use as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a:t>?</a:t>
                </a:r>
              </a:p>
            </p:txBody>
          </p:sp>
        </mc:Choice>
        <mc:Fallback>
          <p:sp>
            <p:nvSpPr>
              <p:cNvPr id="3" name="Content Placeholder 2">
                <a:extLst>
                  <a:ext uri="{FF2B5EF4-FFF2-40B4-BE49-F238E27FC236}">
                    <a16:creationId xmlns:a16="http://schemas.microsoft.com/office/drawing/2014/main" id="{FBD82F3B-9341-CCE6-4BB9-989FBA4B2C2E}"/>
                  </a:ext>
                </a:extLst>
              </p:cNvPr>
              <p:cNvSpPr>
                <a:spLocks noGrp="1" noRot="1" noChangeAspect="1" noMove="1" noResize="1" noEditPoints="1" noAdjustHandles="1" noChangeArrowheads="1" noChangeShapeType="1" noTextEdit="1"/>
              </p:cNvSpPr>
              <p:nvPr>
                <p:ph idx="1"/>
              </p:nvPr>
            </p:nvSpPr>
            <p:spPr>
              <a:blipFill>
                <a:blip r:embed="rId2"/>
                <a:stretch>
                  <a:fillRect l="-796" t="-541"/>
                </a:stretch>
              </a:blipFill>
            </p:spPr>
            <p:txBody>
              <a:bodyPr/>
              <a:lstStyle/>
              <a:p>
                <a:r>
                  <a:rPr lang="en-US">
                    <a:noFill/>
                  </a:rPr>
                  <a:t> </a:t>
                </a:r>
              </a:p>
            </p:txBody>
          </p:sp>
        </mc:Fallback>
      </mc:AlternateContent>
    </p:spTree>
    <p:extLst>
      <p:ext uri="{BB962C8B-B14F-4D97-AF65-F5344CB8AC3E}">
        <p14:creationId xmlns:p14="http://schemas.microsoft.com/office/powerpoint/2010/main" val="42338181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2D24A-4A12-0E27-40D6-736E6E0024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96F02E-2683-F933-99AD-FD67A4E5AAF5}"/>
              </a:ext>
            </a:extLst>
          </p:cNvPr>
          <p:cNvSpPr>
            <a:spLocks noGrp="1"/>
          </p:cNvSpPr>
          <p:nvPr>
            <p:ph type="title"/>
          </p:nvPr>
        </p:nvSpPr>
        <p:spPr/>
        <p:txBody>
          <a:bodyPr/>
          <a:lstStyle/>
          <a:p>
            <a:r>
              <a:rPr lang="en-US"/>
              <a:t>Experiment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99D3B4D-F341-2FAD-02D9-FEBF1DFAC957}"/>
                  </a:ext>
                </a:extLst>
              </p:cNvPr>
              <p:cNvSpPr>
                <a:spLocks noGrp="1"/>
              </p:cNvSpPr>
              <p:nvPr>
                <p:ph idx="1"/>
              </p:nvPr>
            </p:nvSpPr>
            <p:spPr/>
            <p:txBody>
              <a:bodyPr/>
              <a:lstStyle/>
              <a:p>
                <a:r>
                  <a:rPr lang="en-US"/>
                  <a:t>Suppose we flip the coin 10,000 times and we get heads 4800 times and tails 5200 times? Let </a:t>
                </a:r>
                <a14:m>
                  <m:oMath xmlns:m="http://schemas.openxmlformats.org/officeDocument/2006/math">
                    <m:r>
                      <a:rPr lang="en-US" b="0" i="1" smtClean="0">
                        <a:latin typeface="Cambria Math" panose="02040503050406030204" pitchFamily="18" charset="0"/>
                      </a:rPr>
                      <m:t>𝑝</m:t>
                    </m:r>
                  </m:oMath>
                </a14:m>
                <a:r>
                  <a:rPr lang="en-US"/>
                  <a:t> be the true chance of heads. Let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oMath>
                </a14:m>
                <a:r>
                  <a:rPr lang="en-US"/>
                  <a:t> be our estimate.</a:t>
                </a:r>
              </a:p>
              <a:p>
                <a:endParaRPr lang="en-US"/>
              </a:p>
              <a:p>
                <a:r>
                  <a:rPr lang="en-US"/>
                  <a:t>Based on our experiment, what should we use as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a: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b="0" i="1" smtClean="0">
                        <a:latin typeface="Cambria Math" panose="02040503050406030204" pitchFamily="18" charset="0"/>
                      </a:rPr>
                      <m:t>=0.48</m:t>
                    </m:r>
                  </m:oMath>
                </a14:m>
                <a:endParaRPr lang="en-US"/>
              </a:p>
              <a:p>
                <a:pPr marL="342900" indent="-342900">
                  <a:buFont typeface="Arial" panose="020B0604020202020204" pitchFamily="34" charset="0"/>
                  <a:buChar char="•"/>
                </a:pPr>
                <a:r>
                  <a:rPr lang="en-US"/>
                  <a:t>(as you also saw on Homework 11, Problem 4a)</a:t>
                </a:r>
              </a:p>
            </p:txBody>
          </p:sp>
        </mc:Choice>
        <mc:Fallback>
          <p:sp>
            <p:nvSpPr>
              <p:cNvPr id="3" name="Content Placeholder 2">
                <a:extLst>
                  <a:ext uri="{FF2B5EF4-FFF2-40B4-BE49-F238E27FC236}">
                    <a16:creationId xmlns:a16="http://schemas.microsoft.com/office/drawing/2014/main" id="{C99D3B4D-F341-2FAD-02D9-FEBF1DFAC957}"/>
                  </a:ext>
                </a:extLst>
              </p:cNvPr>
              <p:cNvSpPr>
                <a:spLocks noGrp="1" noRot="1" noChangeAspect="1" noMove="1" noResize="1" noEditPoints="1" noAdjustHandles="1" noChangeArrowheads="1" noChangeShapeType="1" noTextEdit="1"/>
              </p:cNvSpPr>
              <p:nvPr>
                <p:ph idx="1"/>
              </p:nvPr>
            </p:nvSpPr>
            <p:spPr>
              <a:blipFill>
                <a:blip r:embed="rId2"/>
                <a:stretch>
                  <a:fillRect l="-796" t="-541"/>
                </a:stretch>
              </a:blipFill>
            </p:spPr>
            <p:txBody>
              <a:bodyPr/>
              <a:lstStyle/>
              <a:p>
                <a:r>
                  <a:rPr lang="en-US">
                    <a:noFill/>
                  </a:rPr>
                  <a:t> </a:t>
                </a:r>
              </a:p>
            </p:txBody>
          </p:sp>
        </mc:Fallback>
      </mc:AlternateContent>
    </p:spTree>
    <p:extLst>
      <p:ext uri="{BB962C8B-B14F-4D97-AF65-F5344CB8AC3E}">
        <p14:creationId xmlns:p14="http://schemas.microsoft.com/office/powerpoint/2010/main" val="1529887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C58CA-2E87-3443-48B0-DE83001A44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EF3643-BEAA-C6DB-F988-9500BF5D3822}"/>
              </a:ext>
            </a:extLst>
          </p:cNvPr>
          <p:cNvSpPr>
            <a:spLocks noGrp="1"/>
          </p:cNvSpPr>
          <p:nvPr>
            <p:ph type="title"/>
          </p:nvPr>
        </p:nvSpPr>
        <p:spPr/>
        <p:txBody>
          <a:bodyPr/>
          <a:lstStyle/>
          <a:p>
            <a:r>
              <a:rPr lang="en-US"/>
              <a:t>Experiment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0047D57-6256-BDFB-23A5-F093C0DC9687}"/>
                  </a:ext>
                </a:extLst>
              </p:cNvPr>
              <p:cNvSpPr>
                <a:spLocks noGrp="1"/>
              </p:cNvSpPr>
              <p:nvPr>
                <p:ph idx="1"/>
              </p:nvPr>
            </p:nvSpPr>
            <p:spPr/>
            <p:txBody>
              <a:bodyPr/>
              <a:lstStyle/>
              <a:p>
                <a:r>
                  <a:rPr lang="en-US"/>
                  <a:t>Suppose we flip the coin 10,000 times and we get heads 4800 times and tails 5200 times? Let </a:t>
                </a:r>
                <a14:m>
                  <m:oMath xmlns:m="http://schemas.openxmlformats.org/officeDocument/2006/math">
                    <m:r>
                      <a:rPr lang="en-US" i="1">
                        <a:latin typeface="Cambria Math" panose="02040503050406030204" pitchFamily="18" charset="0"/>
                      </a:rPr>
                      <m:t>𝑝</m:t>
                    </m:r>
                  </m:oMath>
                </a14:m>
                <a:r>
                  <a:rPr lang="en-US"/>
                  <a:t> be the true chance of heads. Let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a:t> be our estimate.</a:t>
                </a:r>
              </a:p>
              <a:p>
                <a:endParaRPr lang="en-US"/>
              </a:p>
              <a:p>
                <a:r>
                  <a:rPr lang="en-US"/>
                  <a:t>Based on our experiment, what should we use as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a: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i="1">
                        <a:latin typeface="Cambria Math" panose="02040503050406030204" pitchFamily="18" charset="0"/>
                      </a:rPr>
                      <m:t>=0.48</m:t>
                    </m:r>
                  </m:oMath>
                </a14:m>
                <a:endParaRPr lang="en-US"/>
              </a:p>
              <a:p>
                <a:endParaRPr lang="en-US"/>
              </a:p>
              <a:p>
                <a:r>
                  <a:rPr lang="en-US"/>
                  <a:t>How confident should we feel about this estimate?</a:t>
                </a:r>
              </a:p>
              <a:p>
                <a:pPr marL="342900" indent="-342900">
                  <a:buFont typeface="Arial" panose="020B0604020202020204" pitchFamily="34" charset="0"/>
                  <a:buChar char="•"/>
                </a:pPr>
                <a:r>
                  <a:rPr lang="en-US"/>
                  <a:t>Example: How sure are we that we’re off by 0.01 or less? That is, what can we say about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r>
                              <a:rPr lang="en-US" i="1">
                                <a:latin typeface="Cambria Math" panose="02040503050406030204" pitchFamily="18" charset="0"/>
                              </a:rPr>
                              <m:t>𝑝</m:t>
                            </m:r>
                            <m:r>
                              <a:rPr lang="en-US" i="1" dirty="0">
                                <a:latin typeface="Cambria Math" panose="02040503050406030204" pitchFamily="18" charset="0"/>
                              </a:rPr>
                              <m:t>−</m:t>
                            </m:r>
                            <m:r>
                              <a:rPr lang="en-US" i="1">
                                <a:latin typeface="Cambria Math" panose="02040503050406030204" pitchFamily="18" charset="0"/>
                              </a:rPr>
                              <m:t>0.48 </m:t>
                            </m:r>
                          </m:e>
                        </m:d>
                        <m:r>
                          <a:rPr lang="en-US" i="1">
                            <a:latin typeface="Cambria Math" panose="02040503050406030204" pitchFamily="18" charset="0"/>
                          </a:rPr>
                          <m:t>≤0.01</m:t>
                        </m:r>
                      </m:e>
                    </m:d>
                  </m:oMath>
                </a14:m>
                <a:r>
                  <a:rPr lang="en-US"/>
                  <a:t>?</a:t>
                </a:r>
              </a:p>
              <a:p>
                <a:pPr marL="1028683" lvl="1" indent="-342900">
                  <a:buFont typeface="Arial" panose="020B0604020202020204" pitchFamily="34" charset="0"/>
                  <a:buChar char="•"/>
                </a:pPr>
                <a:r>
                  <a:rPr lang="en-US"/>
                  <a:t>In other words, what is the chance that the true </a:t>
                </a:r>
                <a14:m>
                  <m:oMath xmlns:m="http://schemas.openxmlformats.org/officeDocument/2006/math">
                    <m:r>
                      <a:rPr lang="en-US" i="1">
                        <a:latin typeface="Cambria Math" panose="02040503050406030204" pitchFamily="18" charset="0"/>
                      </a:rPr>
                      <m:t>𝑝</m:t>
                    </m:r>
                  </m:oMath>
                </a14:m>
                <a:r>
                  <a:rPr lang="en-US"/>
                  <a:t> lies inside </a:t>
                </a:r>
                <a14:m>
                  <m:oMath xmlns:m="http://schemas.openxmlformats.org/officeDocument/2006/math">
                    <m:r>
                      <a:rPr lang="en-US">
                        <a:latin typeface="Cambria Math" panose="02040503050406030204" pitchFamily="18" charset="0"/>
                      </a:rPr>
                      <m:t>[</m:t>
                    </m:r>
                    <m:r>
                      <a:rPr lang="en-US" i="1">
                        <a:latin typeface="Cambria Math" panose="02040503050406030204" pitchFamily="18" charset="0"/>
                      </a:rPr>
                      <m:t>0.47, 0.49]</m:t>
                    </m:r>
                  </m:oMath>
                </a14:m>
                <a:r>
                  <a:rPr lang="en-US"/>
                  <a:t>?</a:t>
                </a:r>
              </a:p>
              <a:p>
                <a:pPr marL="1028683" lvl="1" indent="-342900">
                  <a:buFont typeface="Arial" panose="020B0604020202020204" pitchFamily="34" charset="0"/>
                  <a:buChar char="•"/>
                </a:pPr>
                <a:endParaRPr lang="en-US"/>
              </a:p>
            </p:txBody>
          </p:sp>
        </mc:Choice>
        <mc:Fallback>
          <p:sp>
            <p:nvSpPr>
              <p:cNvPr id="3" name="Content Placeholder 2">
                <a:extLst>
                  <a:ext uri="{FF2B5EF4-FFF2-40B4-BE49-F238E27FC236}">
                    <a16:creationId xmlns:a16="http://schemas.microsoft.com/office/drawing/2014/main" id="{00047D57-6256-BDFB-23A5-F093C0DC9687}"/>
                  </a:ext>
                </a:extLst>
              </p:cNvPr>
              <p:cNvSpPr>
                <a:spLocks noGrp="1" noRot="1" noChangeAspect="1" noMove="1" noResize="1" noEditPoints="1" noAdjustHandles="1" noChangeArrowheads="1" noChangeShapeType="1" noTextEdit="1"/>
              </p:cNvSpPr>
              <p:nvPr>
                <p:ph idx="1"/>
              </p:nvPr>
            </p:nvSpPr>
            <p:spPr>
              <a:blipFill>
                <a:blip r:embed="rId2"/>
                <a:stretch>
                  <a:fillRect l="-796" t="-541" r="-318"/>
                </a:stretch>
              </a:blipFill>
            </p:spPr>
            <p:txBody>
              <a:bodyPr/>
              <a:lstStyle/>
              <a:p>
                <a:r>
                  <a:rPr lang="en-US">
                    <a:noFill/>
                  </a:rPr>
                  <a:t> </a:t>
                </a:r>
              </a:p>
            </p:txBody>
          </p:sp>
        </mc:Fallback>
      </mc:AlternateContent>
    </p:spTree>
    <p:extLst>
      <p:ext uri="{BB962C8B-B14F-4D97-AF65-F5344CB8AC3E}">
        <p14:creationId xmlns:p14="http://schemas.microsoft.com/office/powerpoint/2010/main" val="1749126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5215C-0028-BDE4-774F-707BFD00CF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F3C67C-A04E-C9BA-5520-427B5019E78B}"/>
              </a:ext>
            </a:extLst>
          </p:cNvPr>
          <p:cNvSpPr>
            <a:spLocks noGrp="1"/>
          </p:cNvSpPr>
          <p:nvPr>
            <p:ph type="title"/>
          </p:nvPr>
        </p:nvSpPr>
        <p:spPr/>
        <p:txBody>
          <a:bodyPr/>
          <a:lstStyle/>
          <a:p>
            <a:r>
              <a:rPr lang="en-US"/>
              <a:t>Experiment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6E1FC44-8D7E-CAAD-A63F-7F21BEE2866A}"/>
                  </a:ext>
                </a:extLst>
              </p:cNvPr>
              <p:cNvSpPr>
                <a:spLocks noGrp="1"/>
              </p:cNvSpPr>
              <p:nvPr>
                <p:ph idx="1"/>
              </p:nvPr>
            </p:nvSpPr>
            <p:spPr/>
            <p:txBody>
              <a:bodyPr/>
              <a:lstStyle/>
              <a:p>
                <a:r>
                  <a:rPr lang="en-US"/>
                  <a:t>Suppose we flip the coin 10,000 times and we get heads 4800 times and tails 5200 times? Let </a:t>
                </a:r>
                <a14:m>
                  <m:oMath xmlns:m="http://schemas.openxmlformats.org/officeDocument/2006/math">
                    <m:r>
                      <a:rPr lang="en-US" i="1">
                        <a:latin typeface="Cambria Math" panose="02040503050406030204" pitchFamily="18" charset="0"/>
                      </a:rPr>
                      <m:t>𝑝</m:t>
                    </m:r>
                  </m:oMath>
                </a14:m>
                <a:r>
                  <a:rPr lang="en-US"/>
                  <a:t> be the true chance of heads. Let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a:t> be our estimate.</a:t>
                </a:r>
              </a:p>
              <a:p>
                <a:endParaRPr lang="en-US"/>
              </a:p>
              <a:p>
                <a:r>
                  <a:rPr lang="en-US"/>
                  <a:t>Based on our experiment, what should we use as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a: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i="1">
                        <a:latin typeface="Cambria Math" panose="02040503050406030204" pitchFamily="18" charset="0"/>
                      </a:rPr>
                      <m:t>=0.48</m:t>
                    </m:r>
                  </m:oMath>
                </a14:m>
                <a:endParaRPr lang="en-US"/>
              </a:p>
              <a:p>
                <a:endParaRPr lang="en-US"/>
              </a:p>
              <a:p>
                <a:r>
                  <a:rPr lang="en-US"/>
                  <a:t>How confident should we feel about this estimate?</a:t>
                </a:r>
              </a:p>
              <a:p>
                <a:pPr marL="342900" indent="-342900">
                  <a:buFont typeface="Arial" panose="020B0604020202020204" pitchFamily="34" charset="0"/>
                  <a:buChar char="•"/>
                </a:pPr>
                <a:r>
                  <a:rPr lang="en-US"/>
                  <a:t>Example: How sure are we that we’re off by 0.01 or less? That is, what can we say about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𝑝</m:t>
                            </m:r>
                            <m:r>
                              <a:rPr lang="en-US" b="0" i="1" dirty="0" smtClean="0">
                                <a:latin typeface="Cambria Math" panose="02040503050406030204" pitchFamily="18" charset="0"/>
                              </a:rPr>
                              <m:t>−</m:t>
                            </m:r>
                            <m:r>
                              <a:rPr lang="en-US" b="0" i="1" smtClean="0">
                                <a:latin typeface="Cambria Math" panose="02040503050406030204" pitchFamily="18" charset="0"/>
                              </a:rPr>
                              <m:t>0.48 </m:t>
                            </m:r>
                          </m:e>
                        </m:d>
                        <m:r>
                          <a:rPr lang="en-US" b="0" i="1" smtClean="0">
                            <a:latin typeface="Cambria Math" panose="02040503050406030204" pitchFamily="18" charset="0"/>
                          </a:rPr>
                          <m:t>≤0.01</m:t>
                        </m:r>
                      </m:e>
                    </m:d>
                  </m:oMath>
                </a14:m>
                <a:r>
                  <a:rPr lang="en-US"/>
                  <a:t>?</a:t>
                </a:r>
              </a:p>
              <a:p>
                <a:pPr marL="1028683" lvl="1" indent="-342900">
                  <a:buFont typeface="Arial" panose="020B0604020202020204" pitchFamily="34" charset="0"/>
                  <a:buChar char="•"/>
                </a:pPr>
                <a:r>
                  <a:rPr lang="en-US"/>
                  <a:t>In other words, what is the chance that the true </a:t>
                </a:r>
                <a14:m>
                  <m:oMath xmlns:m="http://schemas.openxmlformats.org/officeDocument/2006/math">
                    <m:r>
                      <a:rPr lang="en-US" i="1">
                        <a:latin typeface="Cambria Math" panose="02040503050406030204" pitchFamily="18" charset="0"/>
                      </a:rPr>
                      <m:t>𝑝</m:t>
                    </m:r>
                  </m:oMath>
                </a14:m>
                <a:r>
                  <a:rPr lang="en-US"/>
                  <a:t> lies inside </a:t>
                </a:r>
                <a14:m>
                  <m:oMath xmlns:m="http://schemas.openxmlformats.org/officeDocument/2006/math">
                    <m:r>
                      <a:rPr lang="en-US" b="0" i="0" smtClean="0">
                        <a:latin typeface="Cambria Math" panose="02040503050406030204" pitchFamily="18" charset="0"/>
                      </a:rPr>
                      <m:t>[</m:t>
                    </m:r>
                    <m:r>
                      <a:rPr lang="en-US" i="1">
                        <a:latin typeface="Cambria Math" panose="02040503050406030204" pitchFamily="18" charset="0"/>
                      </a:rPr>
                      <m:t>0.4</m:t>
                    </m:r>
                    <m:r>
                      <a:rPr lang="en-US" b="0" i="1" smtClean="0">
                        <a:latin typeface="Cambria Math" panose="02040503050406030204" pitchFamily="18" charset="0"/>
                      </a:rPr>
                      <m:t>7, 0.49]</m:t>
                    </m:r>
                  </m:oMath>
                </a14:m>
                <a:r>
                  <a:rPr lang="en-US"/>
                  <a:t>?</a:t>
                </a:r>
              </a:p>
              <a:p>
                <a:pPr marL="1028683" lvl="1" indent="-342900">
                  <a:buFont typeface="Arial" panose="020B0604020202020204" pitchFamily="34" charset="0"/>
                  <a:buChar char="•"/>
                </a:pPr>
                <a:r>
                  <a:rPr lang="en-US"/>
                  <a:t>Today: The “Chebyshev bound” tells us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r>
                              <a:rPr lang="en-US" i="1">
                                <a:latin typeface="Cambria Math" panose="02040503050406030204" pitchFamily="18" charset="0"/>
                              </a:rPr>
                              <m:t>𝑝</m:t>
                            </m:r>
                            <m:r>
                              <a:rPr lang="en-US" i="1" dirty="0">
                                <a:latin typeface="Cambria Math" panose="02040503050406030204" pitchFamily="18" charset="0"/>
                              </a:rPr>
                              <m:t>−</m:t>
                            </m:r>
                            <m:r>
                              <a:rPr lang="en-US" i="1">
                                <a:latin typeface="Cambria Math" panose="02040503050406030204" pitchFamily="18" charset="0"/>
                              </a:rPr>
                              <m:t>0.4</m:t>
                            </m:r>
                            <m:r>
                              <a:rPr lang="en-US" b="0" i="1" smtClean="0">
                                <a:latin typeface="Cambria Math" panose="02040503050406030204" pitchFamily="18" charset="0"/>
                              </a:rPr>
                              <m:t>8</m:t>
                            </m:r>
                            <m:r>
                              <a:rPr lang="en-US" i="1">
                                <a:latin typeface="Cambria Math" panose="02040503050406030204" pitchFamily="18" charset="0"/>
                              </a:rPr>
                              <m:t> </m:t>
                            </m:r>
                          </m:e>
                        </m:d>
                        <m:r>
                          <a:rPr lang="en-US" i="1">
                            <a:latin typeface="Cambria Math" panose="02040503050406030204" pitchFamily="18" charset="0"/>
                          </a:rPr>
                          <m:t>&lt;0.01</m:t>
                        </m:r>
                      </m:e>
                    </m:d>
                    <m:r>
                      <a:rPr lang="en-US" b="0" i="1" smtClean="0">
                        <a:latin typeface="Cambria Math" panose="02040503050406030204" pitchFamily="18" charset="0"/>
                      </a:rPr>
                      <m:t>≥75%</m:t>
                    </m:r>
                  </m:oMath>
                </a14:m>
                <a:endParaRPr lang="en-US"/>
              </a:p>
              <a:p>
                <a:pPr marL="1028683" lvl="1" indent="-342900">
                  <a:buFont typeface="Arial" panose="020B0604020202020204" pitchFamily="34" charset="0"/>
                  <a:buChar char="•"/>
                </a:pPr>
                <a:r>
                  <a:rPr lang="en-US"/>
                  <a:t>In other words, we have at LEAST a 75% chance of being “right”, where “right” is defined as being with 0.01.</a:t>
                </a:r>
              </a:p>
              <a:p>
                <a:pPr marL="342900" indent="-342900">
                  <a:buFont typeface="Arial" panose="020B0604020202020204" pitchFamily="34" charset="0"/>
                  <a:buChar char="•"/>
                </a:pPr>
                <a:endParaRPr lang="en-US"/>
              </a:p>
              <a:p>
                <a:pPr marL="1028683" lvl="1" indent="-342900">
                  <a:buFont typeface="Arial" panose="020B0604020202020204" pitchFamily="34" charset="0"/>
                  <a:buChar char="•"/>
                </a:pPr>
                <a:endParaRPr lang="en-US"/>
              </a:p>
            </p:txBody>
          </p:sp>
        </mc:Choice>
        <mc:Fallback>
          <p:sp>
            <p:nvSpPr>
              <p:cNvPr id="3" name="Content Placeholder 2">
                <a:extLst>
                  <a:ext uri="{FF2B5EF4-FFF2-40B4-BE49-F238E27FC236}">
                    <a16:creationId xmlns:a16="http://schemas.microsoft.com/office/drawing/2014/main" id="{16E1FC44-8D7E-CAAD-A63F-7F21BEE2866A}"/>
                  </a:ext>
                </a:extLst>
              </p:cNvPr>
              <p:cNvSpPr>
                <a:spLocks noGrp="1" noRot="1" noChangeAspect="1" noMove="1" noResize="1" noEditPoints="1" noAdjustHandles="1" noChangeArrowheads="1" noChangeShapeType="1" noTextEdit="1"/>
              </p:cNvSpPr>
              <p:nvPr>
                <p:ph idx="1"/>
              </p:nvPr>
            </p:nvSpPr>
            <p:spPr>
              <a:blipFill>
                <a:blip r:embed="rId2"/>
                <a:stretch>
                  <a:fillRect l="-796" t="-541" r="-318"/>
                </a:stretch>
              </a:blipFill>
            </p:spPr>
            <p:txBody>
              <a:bodyPr/>
              <a:lstStyle/>
              <a:p>
                <a:r>
                  <a:rPr lang="en-US">
                    <a:noFill/>
                  </a:rPr>
                  <a:t> </a:t>
                </a:r>
              </a:p>
            </p:txBody>
          </p:sp>
        </mc:Fallback>
      </mc:AlternateContent>
    </p:spTree>
    <p:extLst>
      <p:ext uri="{BB962C8B-B14F-4D97-AF65-F5344CB8AC3E}">
        <p14:creationId xmlns:p14="http://schemas.microsoft.com/office/powerpoint/2010/main" val="569832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9C6FF-0E86-2D05-9B00-61009166B4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6BBE2D-BC89-84DD-70CA-270B6D7D55E1}"/>
              </a:ext>
            </a:extLst>
          </p:cNvPr>
          <p:cNvSpPr>
            <a:spLocks noGrp="1"/>
          </p:cNvSpPr>
          <p:nvPr>
            <p:ph type="title"/>
          </p:nvPr>
        </p:nvSpPr>
        <p:spPr/>
        <p:txBody>
          <a:bodyPr/>
          <a:lstStyle/>
          <a:p>
            <a:r>
              <a:rPr lang="en-US"/>
              <a:t>Other Framing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C822C0B-690F-CFDF-78C7-519455DA6B41}"/>
                  </a:ext>
                </a:extLst>
              </p:cNvPr>
              <p:cNvSpPr>
                <a:spLocks noGrp="1"/>
              </p:cNvSpPr>
              <p:nvPr>
                <p:ph idx="1"/>
              </p:nvPr>
            </p:nvSpPr>
            <p:spPr/>
            <p:txBody>
              <a:bodyPr/>
              <a:lstStyle/>
              <a:p>
                <a:r>
                  <a:rPr lang="en-US"/>
                  <a:t>We could also ask the reverse question:</a:t>
                </a:r>
              </a:p>
              <a:p>
                <a:pPr marL="342900" indent="-342900">
                  <a:buFont typeface="Arial" panose="020B0604020202020204" pitchFamily="34" charset="0"/>
                  <a:buChar char="•"/>
                </a:pPr>
                <a:r>
                  <a:rPr lang="en-US"/>
                  <a:t>Suppose we want to create an estimate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a:t> for the true heads probability </a:t>
                </a:r>
                <a14:m>
                  <m:oMath xmlns:m="http://schemas.openxmlformats.org/officeDocument/2006/math">
                    <m:r>
                      <a:rPr lang="en-US" i="1" dirty="0" smtClean="0">
                        <a:latin typeface="Cambria Math" panose="02040503050406030204" pitchFamily="18" charset="0"/>
                      </a:rPr>
                      <m:t>𝑝</m:t>
                    </m:r>
                  </m:oMath>
                </a14:m>
                <a:r>
                  <a:rPr lang="en-US"/>
                  <a:t>.</a:t>
                </a:r>
              </a:p>
              <a:p>
                <a:pPr marL="342900" indent="-342900">
                  <a:buFont typeface="Arial" panose="020B0604020202020204" pitchFamily="34" charset="0"/>
                  <a:buChar char="•"/>
                </a:pPr>
                <a:r>
                  <a:rPr lang="en-US"/>
                  <a:t>How many times do we need to flip the coin so that we have a 75% chance of being within 0.01 of the true value of p?</a:t>
                </a:r>
              </a:p>
              <a:p>
                <a:pPr marL="1028683" lvl="1" indent="-342900">
                  <a:buFont typeface="Arial" panose="020B0604020202020204" pitchFamily="34" charset="0"/>
                  <a:buChar char="•"/>
                </a:pPr>
                <a:r>
                  <a:rPr lang="en-US"/>
                  <a:t>Want </a:t>
                </a:r>
                <a14:m>
                  <m:oMath xmlns:m="http://schemas.openxmlformats.org/officeDocument/2006/math">
                    <m:r>
                      <a:rPr lang="en-US" i="1" dirty="0" smtClean="0">
                        <a:latin typeface="Cambria Math" panose="02040503050406030204" pitchFamily="18" charset="0"/>
                      </a:rPr>
                      <m:t>𝑛</m:t>
                    </m:r>
                  </m:oMath>
                </a14:m>
                <a:r>
                  <a:rPr lang="en-US"/>
                  <a:t> such that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r>
                              <a:rPr lang="en-US" i="1">
                                <a:latin typeface="Cambria Math" panose="02040503050406030204" pitchFamily="18" charset="0"/>
                              </a:rPr>
                              <m:t>𝑝</m:t>
                            </m:r>
                            <m:r>
                              <a:rPr lang="en-US" i="1" dirty="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𝑝</m:t>
                                </m:r>
                              </m:e>
                            </m:acc>
                            <m:r>
                              <a:rPr lang="en-US" i="1">
                                <a:latin typeface="Cambria Math" panose="02040503050406030204" pitchFamily="18" charset="0"/>
                              </a:rPr>
                              <m:t> </m:t>
                            </m:r>
                          </m:e>
                        </m:d>
                        <m:r>
                          <a:rPr lang="en-US" i="1">
                            <a:latin typeface="Cambria Math" panose="02040503050406030204" pitchFamily="18" charset="0"/>
                          </a:rPr>
                          <m:t>≤0.01</m:t>
                        </m:r>
                      </m:e>
                    </m:d>
                    <m:r>
                      <a:rPr lang="en-US" i="1">
                        <a:latin typeface="Cambria Math" panose="02040503050406030204" pitchFamily="18" charset="0"/>
                      </a:rPr>
                      <m:t>≥75%</m:t>
                    </m:r>
                  </m:oMath>
                </a14:m>
                <a:endParaRPr lang="en-US"/>
              </a:p>
              <a:p>
                <a:endParaRPr lang="en-US"/>
              </a:p>
              <a:p>
                <a:r>
                  <a:rPr lang="en-US"/>
                  <a:t>Or more generally, we want </a:t>
                </a:r>
                <a14:m>
                  <m:oMath xmlns:m="http://schemas.openxmlformats.org/officeDocument/2006/math">
                    <m:r>
                      <a:rPr lang="en-US" i="1" dirty="0">
                        <a:latin typeface="Cambria Math" panose="02040503050406030204" pitchFamily="18" charset="0"/>
                      </a:rPr>
                      <m:t>𝑛</m:t>
                    </m:r>
                  </m:oMath>
                </a14:m>
                <a:r>
                  <a:rPr lang="en-US"/>
                  <a:t> such that </a:t>
                </a:r>
                <a14:m>
                  <m:oMath xmlns:m="http://schemas.openxmlformats.org/officeDocument/2006/math">
                    <m:r>
                      <a:rPr lang="en-US" i="1" smtClean="0">
                        <a:solidFill>
                          <a:schemeClr val="accent3"/>
                        </a:solidFill>
                        <a:latin typeface="Cambria Math" panose="02040503050406030204" pitchFamily="18" charset="0"/>
                      </a:rPr>
                      <m:t>𝑃</m:t>
                    </m:r>
                    <m:d>
                      <m:dPr>
                        <m:ctrlPr>
                          <a:rPr lang="en-US" i="1">
                            <a:solidFill>
                              <a:schemeClr val="accent3"/>
                            </a:solidFill>
                            <a:latin typeface="Cambria Math" panose="02040503050406030204" pitchFamily="18" charset="0"/>
                          </a:rPr>
                        </m:ctrlPr>
                      </m:dPr>
                      <m:e>
                        <m:d>
                          <m:dPr>
                            <m:begChr m:val="|"/>
                            <m:endChr m:val="|"/>
                            <m:ctrlPr>
                              <a:rPr lang="en-US" i="1">
                                <a:solidFill>
                                  <a:schemeClr val="accent3"/>
                                </a:solidFill>
                                <a:latin typeface="Cambria Math" panose="02040503050406030204" pitchFamily="18" charset="0"/>
                              </a:rPr>
                            </m:ctrlPr>
                          </m:dPr>
                          <m:e>
                            <m:r>
                              <a:rPr lang="en-US" i="1">
                                <a:solidFill>
                                  <a:schemeClr val="accent3"/>
                                </a:solidFill>
                                <a:latin typeface="Cambria Math" panose="02040503050406030204" pitchFamily="18" charset="0"/>
                              </a:rPr>
                              <m:t>𝑝</m:t>
                            </m:r>
                            <m:r>
                              <a:rPr lang="en-US" i="1" dirty="0">
                                <a:solidFill>
                                  <a:schemeClr val="accent3"/>
                                </a:solidFill>
                                <a:latin typeface="Cambria Math" panose="02040503050406030204" pitchFamily="18" charset="0"/>
                              </a:rPr>
                              <m:t>−</m:t>
                            </m:r>
                            <m:acc>
                              <m:accPr>
                                <m:chr m:val="̂"/>
                                <m:ctrlPr>
                                  <a:rPr lang="en-US" b="0" i="1" dirty="0" smtClean="0">
                                    <a:solidFill>
                                      <a:schemeClr val="accent3"/>
                                    </a:solidFill>
                                    <a:latin typeface="Cambria Math" panose="02040503050406030204" pitchFamily="18" charset="0"/>
                                  </a:rPr>
                                </m:ctrlPr>
                              </m:accPr>
                              <m:e>
                                <m:r>
                                  <a:rPr lang="en-US" b="0" i="1" dirty="0" smtClean="0">
                                    <a:solidFill>
                                      <a:schemeClr val="accent3"/>
                                    </a:solidFill>
                                    <a:latin typeface="Cambria Math" panose="02040503050406030204" pitchFamily="18" charset="0"/>
                                  </a:rPr>
                                  <m:t>𝑝</m:t>
                                </m:r>
                              </m:e>
                            </m:acc>
                          </m:e>
                        </m:d>
                        <m:r>
                          <a:rPr lang="en-US" b="0" i="1" smtClean="0">
                            <a:solidFill>
                              <a:schemeClr val="accent3"/>
                            </a:solidFill>
                            <a:latin typeface="Cambria Math" panose="02040503050406030204" pitchFamily="18" charset="0"/>
                          </a:rPr>
                          <m:t>≤</m:t>
                        </m:r>
                        <m:r>
                          <a:rPr lang="en-US" b="0" i="1" smtClean="0">
                            <a:solidFill>
                              <a:schemeClr val="accent3"/>
                            </a:solidFill>
                            <a:latin typeface="Cambria Math" panose="02040503050406030204" pitchFamily="18" charset="0"/>
                          </a:rPr>
                          <m:t>𝜖</m:t>
                        </m:r>
                      </m:e>
                    </m:d>
                    <m:r>
                      <a:rPr lang="en-US" i="1">
                        <a:solidFill>
                          <a:schemeClr val="accent3"/>
                        </a:solidFill>
                        <a:latin typeface="Cambria Math" panose="02040503050406030204" pitchFamily="18" charset="0"/>
                      </a:rPr>
                      <m:t>≥</m:t>
                    </m:r>
                    <m:r>
                      <a:rPr lang="en-US" b="0" i="1" smtClean="0">
                        <a:solidFill>
                          <a:schemeClr val="accent3"/>
                        </a:solidFill>
                        <a:latin typeface="Cambria Math" panose="02040503050406030204" pitchFamily="18" charset="0"/>
                      </a:rPr>
                      <m:t>𝐶</m:t>
                    </m:r>
                  </m:oMath>
                </a14:m>
                <a:endParaRPr lang="en-US"/>
              </a:p>
              <a:p>
                <a:pPr marL="342900" indent="-342900">
                  <a:buFont typeface="Arial" panose="020B0604020202020204" pitchFamily="34" charset="0"/>
                  <a:buChar char="•"/>
                </a:pPr>
                <a:r>
                  <a:rPr lang="en-US" b="0"/>
                  <a:t>Here, </a:t>
                </a:r>
                <a14:m>
                  <m:oMath xmlns:m="http://schemas.openxmlformats.org/officeDocument/2006/math">
                    <m:r>
                      <a:rPr lang="en-US" b="0" i="1" smtClean="0">
                        <a:latin typeface="Cambria Math" panose="02040503050406030204" pitchFamily="18" charset="0"/>
                      </a:rPr>
                      <m:t>𝐶</m:t>
                    </m:r>
                  </m:oMath>
                </a14:m>
                <a:r>
                  <a:rPr lang="en-US"/>
                  <a:t> is our desired confidence level.</a:t>
                </a:r>
              </a:p>
            </p:txBody>
          </p:sp>
        </mc:Choice>
        <mc:Fallback>
          <p:sp>
            <p:nvSpPr>
              <p:cNvPr id="3" name="Content Placeholder 2">
                <a:extLst>
                  <a:ext uri="{FF2B5EF4-FFF2-40B4-BE49-F238E27FC236}">
                    <a16:creationId xmlns:a16="http://schemas.microsoft.com/office/drawing/2014/main" id="{4C822C0B-690F-CFDF-78C7-519455DA6B41}"/>
                  </a:ext>
                </a:extLst>
              </p:cNvPr>
              <p:cNvSpPr>
                <a:spLocks noGrp="1" noRot="1" noChangeAspect="1" noMove="1" noResize="1" noEditPoints="1" noAdjustHandles="1" noChangeArrowheads="1" noChangeShapeType="1" noTextEdit="1"/>
              </p:cNvSpPr>
              <p:nvPr>
                <p:ph idx="1"/>
              </p:nvPr>
            </p:nvSpPr>
            <p:spPr>
              <a:blipFill>
                <a:blip r:embed="rId2"/>
                <a:stretch>
                  <a:fillRect l="-796" t="-541"/>
                </a:stretch>
              </a:blipFill>
            </p:spPr>
            <p:txBody>
              <a:bodyPr/>
              <a:lstStyle/>
              <a:p>
                <a:r>
                  <a:rPr lang="en-US">
                    <a:noFill/>
                  </a:rPr>
                  <a:t> </a:t>
                </a:r>
              </a:p>
            </p:txBody>
          </p:sp>
        </mc:Fallback>
      </mc:AlternateContent>
    </p:spTree>
    <p:extLst>
      <p:ext uri="{BB962C8B-B14F-4D97-AF65-F5344CB8AC3E}">
        <p14:creationId xmlns:p14="http://schemas.microsoft.com/office/powerpoint/2010/main" val="3055775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AF816-967B-195D-310F-FF196EF863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5097F4-47AA-FEEC-3FBA-0677F6982C44}"/>
              </a:ext>
            </a:extLst>
          </p:cNvPr>
          <p:cNvSpPr>
            <a:spLocks noGrp="1"/>
          </p:cNvSpPr>
          <p:nvPr>
            <p:ph type="title"/>
          </p:nvPr>
        </p:nvSpPr>
        <p:spPr/>
        <p:txBody>
          <a:bodyPr/>
          <a:lstStyle/>
          <a:p>
            <a:r>
              <a:rPr lang="en-US"/>
              <a:t>Today’s Answer (Spoiler)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433E8A9-53CB-48EE-D975-2EDF67A5BC48}"/>
                  </a:ext>
                </a:extLst>
              </p:cNvPr>
              <p:cNvSpPr>
                <a:spLocks noGrp="1"/>
              </p:cNvSpPr>
              <p:nvPr>
                <p:ph idx="1"/>
              </p:nvPr>
            </p:nvSpPr>
            <p:spPr/>
            <p:txBody>
              <a:bodyPr/>
              <a:lstStyle/>
              <a:p>
                <a:r>
                  <a:rPr lang="en-US"/>
                  <a:t>To achieve our desired goal: </a:t>
                </a:r>
                <a14:m>
                  <m:oMath xmlns:m="http://schemas.openxmlformats.org/officeDocument/2006/math">
                    <m:r>
                      <a:rPr lang="en-US" sz="2800" b="0" i="1" smtClean="0">
                        <a:solidFill>
                          <a:schemeClr val="accent3"/>
                        </a:solidFill>
                        <a:latin typeface="Cambria Math" panose="02040503050406030204" pitchFamily="18" charset="0"/>
                      </a:rPr>
                      <m:t>𝑃</m:t>
                    </m:r>
                    <m:d>
                      <m:dPr>
                        <m:ctrlPr>
                          <a:rPr lang="en-US" sz="2800" b="0" i="1" smtClean="0">
                            <a:solidFill>
                              <a:schemeClr val="accent3"/>
                            </a:solidFill>
                            <a:latin typeface="Cambria Math" panose="02040503050406030204" pitchFamily="18" charset="0"/>
                          </a:rPr>
                        </m:ctrlPr>
                      </m:dPr>
                      <m:e>
                        <m:d>
                          <m:dPr>
                            <m:begChr m:val="|"/>
                            <m:endChr m:val="|"/>
                            <m:ctrlPr>
                              <a:rPr lang="en-US" sz="2800" b="0" i="1" smtClean="0">
                                <a:solidFill>
                                  <a:schemeClr val="accent3"/>
                                </a:solidFill>
                                <a:latin typeface="Cambria Math" panose="02040503050406030204" pitchFamily="18" charset="0"/>
                              </a:rPr>
                            </m:ctrlPr>
                          </m:dPr>
                          <m:e>
                            <m:r>
                              <a:rPr lang="en-US" sz="2800" b="0" i="1" smtClean="0">
                                <a:solidFill>
                                  <a:schemeClr val="accent3"/>
                                </a:solidFill>
                                <a:latin typeface="Cambria Math" panose="02040503050406030204" pitchFamily="18" charset="0"/>
                              </a:rPr>
                              <m:t>𝑝</m:t>
                            </m:r>
                            <m:r>
                              <a:rPr lang="en-US" sz="2800" b="0" i="1" smtClean="0">
                                <a:solidFill>
                                  <a:schemeClr val="accent3"/>
                                </a:solidFill>
                                <a:latin typeface="Cambria Math" panose="02040503050406030204" pitchFamily="18" charset="0"/>
                              </a:rPr>
                              <m:t>−</m:t>
                            </m:r>
                            <m:acc>
                              <m:accPr>
                                <m:chr m:val="̂"/>
                                <m:ctrlPr>
                                  <a:rPr lang="en-US" sz="2800" b="0" i="1" smtClean="0">
                                    <a:solidFill>
                                      <a:schemeClr val="accent3"/>
                                    </a:solidFill>
                                    <a:latin typeface="Cambria Math" panose="02040503050406030204" pitchFamily="18" charset="0"/>
                                  </a:rPr>
                                </m:ctrlPr>
                              </m:accPr>
                              <m:e>
                                <m:r>
                                  <a:rPr lang="en-US" sz="2800" b="0" i="1" smtClean="0">
                                    <a:solidFill>
                                      <a:schemeClr val="accent3"/>
                                    </a:solidFill>
                                    <a:latin typeface="Cambria Math" panose="02040503050406030204" pitchFamily="18" charset="0"/>
                                  </a:rPr>
                                  <m:t>𝑝</m:t>
                                </m:r>
                              </m:e>
                            </m:acc>
                          </m:e>
                        </m:d>
                        <m:r>
                          <a:rPr lang="en-US" sz="2800" b="0" i="1" smtClean="0">
                            <a:solidFill>
                              <a:schemeClr val="accent3"/>
                            </a:solidFill>
                            <a:latin typeface="Cambria Math" panose="02040503050406030204" pitchFamily="18" charset="0"/>
                          </a:rPr>
                          <m:t>≤</m:t>
                        </m:r>
                        <m:r>
                          <a:rPr lang="en-US" sz="2800" b="0" i="1" smtClean="0">
                            <a:solidFill>
                              <a:schemeClr val="accent3"/>
                            </a:solidFill>
                            <a:latin typeface="Cambria Math" panose="02040503050406030204" pitchFamily="18" charset="0"/>
                          </a:rPr>
                          <m:t>𝜖</m:t>
                        </m:r>
                      </m:e>
                    </m:d>
                    <m:r>
                      <a:rPr lang="en-US" sz="2800" b="0" i="1" smtClean="0">
                        <a:solidFill>
                          <a:schemeClr val="accent3"/>
                        </a:solidFill>
                        <a:latin typeface="Cambria Math" panose="02040503050406030204" pitchFamily="18" charset="0"/>
                      </a:rPr>
                      <m:t>≥</m:t>
                    </m:r>
                    <m:r>
                      <a:rPr lang="en-US" sz="2800" b="0" i="1" smtClean="0">
                        <a:solidFill>
                          <a:schemeClr val="accent3"/>
                        </a:solidFill>
                        <a:latin typeface="Cambria Math" panose="02040503050406030204" pitchFamily="18" charset="0"/>
                      </a:rPr>
                      <m:t>𝐶</m:t>
                    </m:r>
                  </m:oMath>
                </a14:m>
                <a:endParaRPr lang="en-US" sz="2800">
                  <a:solidFill>
                    <a:schemeClr val="accent3"/>
                  </a:solidFill>
                </a:endParaRPr>
              </a:p>
              <a:p>
                <a:endParaRPr lang="en-US"/>
              </a:p>
              <a:p>
                <a:r>
                  <a:rPr lang="en-US"/>
                  <a:t>We can show that </a:t>
                </a:r>
                <a14:m>
                  <m:oMath xmlns:m="http://schemas.openxmlformats.org/officeDocument/2006/math">
                    <m:r>
                      <a:rPr lang="en-US" sz="2800" b="0" i="1" smtClean="0">
                        <a:solidFill>
                          <a:schemeClr val="accent3"/>
                        </a:solidFill>
                        <a:latin typeface="Cambria Math" panose="02040503050406030204" pitchFamily="18" charset="0"/>
                      </a:rPr>
                      <m:t>𝑛</m:t>
                    </m:r>
                    <m:r>
                      <a:rPr lang="en-US" sz="2800" b="0" i="1" smtClean="0">
                        <a:solidFill>
                          <a:schemeClr val="accent3"/>
                        </a:solidFill>
                        <a:latin typeface="Cambria Math" panose="02040503050406030204" pitchFamily="18" charset="0"/>
                      </a:rPr>
                      <m:t>≥</m:t>
                    </m:r>
                    <m:f>
                      <m:fPr>
                        <m:ctrlPr>
                          <a:rPr lang="en-US" sz="2800" b="0" i="1" smtClean="0">
                            <a:solidFill>
                              <a:schemeClr val="accent3"/>
                            </a:solidFill>
                            <a:latin typeface="Cambria Math" panose="02040503050406030204" pitchFamily="18" charset="0"/>
                          </a:rPr>
                        </m:ctrlPr>
                      </m:fPr>
                      <m:num>
                        <m:r>
                          <a:rPr lang="en-US" sz="2800" b="0" i="1" smtClean="0">
                            <a:solidFill>
                              <a:schemeClr val="accent3"/>
                            </a:solidFill>
                            <a:latin typeface="Cambria Math" panose="02040503050406030204" pitchFamily="18" charset="0"/>
                          </a:rPr>
                          <m:t>1</m:t>
                        </m:r>
                      </m:num>
                      <m:den>
                        <m:r>
                          <a:rPr lang="en-US" sz="2800" b="0" i="1" smtClean="0">
                            <a:solidFill>
                              <a:schemeClr val="accent3"/>
                            </a:solidFill>
                            <a:latin typeface="Cambria Math" panose="02040503050406030204" pitchFamily="18" charset="0"/>
                          </a:rPr>
                          <m:t>4</m:t>
                        </m:r>
                        <m:sSup>
                          <m:sSupPr>
                            <m:ctrlPr>
                              <a:rPr lang="en-US" sz="2800" b="0" i="1" smtClean="0">
                                <a:solidFill>
                                  <a:schemeClr val="accent3"/>
                                </a:solidFill>
                                <a:latin typeface="Cambria Math" panose="02040503050406030204" pitchFamily="18" charset="0"/>
                              </a:rPr>
                            </m:ctrlPr>
                          </m:sSupPr>
                          <m:e>
                            <m:r>
                              <a:rPr lang="en-US" sz="2800" b="0" i="1" smtClean="0">
                                <a:solidFill>
                                  <a:schemeClr val="accent3"/>
                                </a:solidFill>
                                <a:latin typeface="Cambria Math" panose="02040503050406030204" pitchFamily="18" charset="0"/>
                              </a:rPr>
                              <m:t>𝜖</m:t>
                            </m:r>
                          </m:e>
                          <m:sup>
                            <m:r>
                              <a:rPr lang="en-US" sz="2800" b="0" i="1" smtClean="0">
                                <a:solidFill>
                                  <a:schemeClr val="accent3"/>
                                </a:solidFill>
                                <a:latin typeface="Cambria Math" panose="02040503050406030204" pitchFamily="18" charset="0"/>
                              </a:rPr>
                              <m:t>2</m:t>
                            </m:r>
                          </m:sup>
                        </m:sSup>
                        <m:r>
                          <a:rPr lang="en-US" sz="2800" b="0" i="1" smtClean="0">
                            <a:solidFill>
                              <a:schemeClr val="accent3"/>
                            </a:solidFill>
                            <a:latin typeface="Cambria Math" panose="02040503050406030204" pitchFamily="18" charset="0"/>
                          </a:rPr>
                          <m:t>(1−</m:t>
                        </m:r>
                        <m:r>
                          <a:rPr lang="en-US" sz="2800" b="0" i="1" smtClean="0">
                            <a:solidFill>
                              <a:schemeClr val="accent3"/>
                            </a:solidFill>
                            <a:latin typeface="Cambria Math" panose="02040503050406030204" pitchFamily="18" charset="0"/>
                          </a:rPr>
                          <m:t>𝐶</m:t>
                        </m:r>
                        <m:r>
                          <a:rPr lang="en-US" sz="2800" b="0" i="1" smtClean="0">
                            <a:solidFill>
                              <a:schemeClr val="accent3"/>
                            </a:solidFill>
                            <a:latin typeface="Cambria Math" panose="02040503050406030204" pitchFamily="18" charset="0"/>
                          </a:rPr>
                          <m:t>)</m:t>
                        </m:r>
                      </m:den>
                    </m:f>
                  </m:oMath>
                </a14:m>
                <a:r>
                  <a:rPr lang="en-US"/>
                  <a:t> coin flips is sufficient.</a:t>
                </a:r>
              </a:p>
              <a:p>
                <a:pPr marL="342900" indent="-342900">
                  <a:buFont typeface="Arial" panose="020B0604020202020204" pitchFamily="34" charset="0"/>
                  <a:buChar char="•"/>
                </a:pPr>
                <a:r>
                  <a:rPr lang="en-US"/>
                  <a:t>We’ll use something called Chebyshev’s inequality to derive this later.</a:t>
                </a:r>
              </a:p>
              <a:p>
                <a:endParaRPr lang="en-US"/>
              </a:p>
              <a:p>
                <a:r>
                  <a:rPr lang="en-US"/>
                  <a:t>Example: If </a:t>
                </a:r>
                <a14:m>
                  <m:oMath xmlns:m="http://schemas.openxmlformats.org/officeDocument/2006/math">
                    <m:r>
                      <m:rPr>
                        <m:sty m:val="p"/>
                      </m:rPr>
                      <a:rPr lang="en-US" sz="2400" b="0" i="0" smtClean="0">
                        <a:solidFill>
                          <a:schemeClr val="accent3"/>
                        </a:solidFill>
                        <a:latin typeface="Cambria Math" panose="02040503050406030204" pitchFamily="18" charset="0"/>
                      </a:rPr>
                      <m:t>C</m:t>
                    </m:r>
                    <m:r>
                      <a:rPr lang="en-US" sz="2400" b="0" i="1" smtClean="0">
                        <a:solidFill>
                          <a:schemeClr val="accent3"/>
                        </a:solidFill>
                        <a:latin typeface="Cambria Math" panose="02040503050406030204" pitchFamily="18" charset="0"/>
                      </a:rPr>
                      <m:t>=99%</m:t>
                    </m:r>
                  </m:oMath>
                </a14:m>
                <a:r>
                  <a:rPr lang="en-US"/>
                  <a:t> and </a:t>
                </a:r>
                <a14:m>
                  <m:oMath xmlns:m="http://schemas.openxmlformats.org/officeDocument/2006/math">
                    <m:r>
                      <a:rPr lang="en-US" i="1">
                        <a:solidFill>
                          <a:schemeClr val="accent3"/>
                        </a:solidFill>
                        <a:latin typeface="Cambria Math" panose="02040503050406030204" pitchFamily="18" charset="0"/>
                      </a:rPr>
                      <m:t>𝜖</m:t>
                    </m:r>
                    <m:r>
                      <a:rPr lang="en-US" b="0" i="1" smtClean="0">
                        <a:solidFill>
                          <a:schemeClr val="accent3"/>
                        </a:solidFill>
                        <a:latin typeface="Cambria Math" panose="02040503050406030204" pitchFamily="18" charset="0"/>
                      </a:rPr>
                      <m:t>=0.05</m:t>
                    </m:r>
                  </m:oMath>
                </a14:m>
                <a:r>
                  <a:rPr lang="en-US"/>
                  <a:t>, then target </a:t>
                </a:r>
                <a14:m>
                  <m:oMath xmlns:m="http://schemas.openxmlformats.org/officeDocument/2006/math">
                    <m:r>
                      <a:rPr lang="en-US" i="1" dirty="0" smtClean="0">
                        <a:latin typeface="Cambria Math" panose="02040503050406030204" pitchFamily="18" charset="0"/>
                      </a:rPr>
                      <m:t>𝑛</m:t>
                    </m:r>
                  </m:oMath>
                </a14:m>
                <a:r>
                  <a:rPr lang="en-US"/>
                  <a:t> is </a:t>
                </a:r>
                <a14:m>
                  <m:oMath xmlns:m="http://schemas.openxmlformats.org/officeDocument/2006/math">
                    <m:f>
                      <m:fPr>
                        <m:ctrlPr>
                          <a:rPr lang="en-US" sz="2800" i="1">
                            <a:solidFill>
                              <a:schemeClr val="accent3"/>
                            </a:solidFill>
                            <a:latin typeface="Cambria Math" panose="02040503050406030204" pitchFamily="18" charset="0"/>
                          </a:rPr>
                        </m:ctrlPr>
                      </m:fPr>
                      <m:num>
                        <m:r>
                          <a:rPr lang="en-US" sz="2800" i="1">
                            <a:solidFill>
                              <a:schemeClr val="accent3"/>
                            </a:solidFill>
                            <a:latin typeface="Cambria Math" panose="02040503050406030204" pitchFamily="18" charset="0"/>
                          </a:rPr>
                          <m:t>1</m:t>
                        </m:r>
                      </m:num>
                      <m:den>
                        <m:r>
                          <a:rPr lang="en-US" sz="2800" i="1">
                            <a:solidFill>
                              <a:schemeClr val="accent3"/>
                            </a:solidFill>
                            <a:latin typeface="Cambria Math" panose="02040503050406030204" pitchFamily="18" charset="0"/>
                          </a:rPr>
                          <m:t>4</m:t>
                        </m:r>
                        <m:sSup>
                          <m:sSupPr>
                            <m:ctrlPr>
                              <a:rPr lang="en-US" sz="2800" b="0" i="1" smtClean="0">
                                <a:solidFill>
                                  <a:schemeClr val="accent3"/>
                                </a:solidFill>
                                <a:latin typeface="Cambria Math" panose="02040503050406030204" pitchFamily="18" charset="0"/>
                              </a:rPr>
                            </m:ctrlPr>
                          </m:sSupPr>
                          <m:e>
                            <m:d>
                              <m:dPr>
                                <m:ctrlPr>
                                  <a:rPr lang="en-US" sz="2800" b="0" i="1" smtClean="0">
                                    <a:solidFill>
                                      <a:schemeClr val="accent3"/>
                                    </a:solidFill>
                                    <a:latin typeface="Cambria Math" panose="02040503050406030204" pitchFamily="18" charset="0"/>
                                  </a:rPr>
                                </m:ctrlPr>
                              </m:dPr>
                              <m:e>
                                <m:r>
                                  <a:rPr lang="en-US" sz="2800" b="0" i="1" smtClean="0">
                                    <a:solidFill>
                                      <a:schemeClr val="accent3"/>
                                    </a:solidFill>
                                    <a:latin typeface="Cambria Math" panose="02040503050406030204" pitchFamily="18" charset="0"/>
                                  </a:rPr>
                                  <m:t>0.05</m:t>
                                </m:r>
                              </m:e>
                            </m:d>
                          </m:e>
                          <m:sup>
                            <m:r>
                              <a:rPr lang="en-US" sz="2800" b="0" i="1" smtClean="0">
                                <a:solidFill>
                                  <a:schemeClr val="accent3"/>
                                </a:solidFill>
                                <a:latin typeface="Cambria Math" panose="02040503050406030204" pitchFamily="18" charset="0"/>
                              </a:rPr>
                              <m:t>2</m:t>
                            </m:r>
                          </m:sup>
                        </m:sSup>
                        <m:r>
                          <a:rPr lang="en-US" sz="2800" b="0" i="1" smtClean="0">
                            <a:solidFill>
                              <a:schemeClr val="accent3"/>
                            </a:solidFill>
                            <a:latin typeface="Cambria Math" panose="02040503050406030204" pitchFamily="18" charset="0"/>
                          </a:rPr>
                          <m:t>(0.01)</m:t>
                        </m:r>
                      </m:den>
                    </m:f>
                    <m:r>
                      <a:rPr lang="en-US" sz="2800" b="0" i="1" smtClean="0">
                        <a:solidFill>
                          <a:schemeClr val="accent3"/>
                        </a:solidFill>
                        <a:latin typeface="Cambria Math" panose="02040503050406030204" pitchFamily="18" charset="0"/>
                      </a:rPr>
                      <m:t>=10000</m:t>
                    </m:r>
                  </m:oMath>
                </a14:m>
                <a:endParaRPr lang="en-US" sz="2800"/>
              </a:p>
              <a:p>
                <a:pPr marL="342900" indent="-342900">
                  <a:buFont typeface="Arial" panose="020B0604020202020204" pitchFamily="34" charset="0"/>
                  <a:buChar char="•"/>
                </a:pPr>
                <a:r>
                  <a:rPr lang="en-US"/>
                  <a:t>Here </a:t>
                </a:r>
                <a14:m>
                  <m:oMath xmlns:m="http://schemas.openxmlformats.org/officeDocument/2006/math">
                    <m:r>
                      <m:rPr>
                        <m:sty m:val="p"/>
                      </m:rPr>
                      <a:rPr lang="en-US">
                        <a:solidFill>
                          <a:schemeClr val="accent3"/>
                        </a:solidFill>
                        <a:latin typeface="Cambria Math" panose="02040503050406030204" pitchFamily="18" charset="0"/>
                      </a:rPr>
                      <m:t>C</m:t>
                    </m:r>
                  </m:oMath>
                </a14:m>
                <a:r>
                  <a:rPr lang="en-US"/>
                  <a:t> is our desired confidence level.</a:t>
                </a:r>
              </a:p>
              <a:p>
                <a:pPr marL="342900" indent="-342900">
                  <a:buFont typeface="Arial" panose="020B0604020202020204" pitchFamily="34" charset="0"/>
                  <a:buChar char="•"/>
                </a:pPr>
                <a:r>
                  <a:rPr lang="en-US"/>
                  <a:t>That is, if we flip the coin 10,000 times, then there is only a 1% chance that our estimate </a:t>
                </a:r>
                <a14:m>
                  <m:oMath xmlns:m="http://schemas.openxmlformats.org/officeDocument/2006/math">
                    <m:acc>
                      <m:accPr>
                        <m:chr m:val="̂"/>
                        <m:ctrlPr>
                          <a:rPr lang="en-US" sz="2400" b="0" i="1" smtClean="0">
                            <a:solidFill>
                              <a:schemeClr val="tx1"/>
                            </a:solidFill>
                            <a:latin typeface="Cambria Math" panose="02040503050406030204" pitchFamily="18" charset="0"/>
                          </a:rPr>
                        </m:ctrlPr>
                      </m:accPr>
                      <m:e>
                        <m:r>
                          <a:rPr lang="en-US" sz="2400" b="0" i="1" smtClean="0">
                            <a:solidFill>
                              <a:schemeClr val="tx1"/>
                            </a:solidFill>
                            <a:latin typeface="Cambria Math" panose="02040503050406030204" pitchFamily="18" charset="0"/>
                          </a:rPr>
                          <m:t>𝑝</m:t>
                        </m:r>
                      </m:e>
                    </m:acc>
                  </m:oMath>
                </a14:m>
                <a:r>
                  <a:rPr lang="en-US"/>
                  <a:t> is off by more than 0.05.</a:t>
                </a:r>
              </a:p>
              <a:p>
                <a:pPr marL="1028683" lvl="1" indent="-342900">
                  <a:buFont typeface="Arial" panose="020B0604020202020204" pitchFamily="34" charset="0"/>
                  <a:buChar char="•"/>
                </a:pPr>
                <a:r>
                  <a:rPr lang="en-US"/>
                  <a:t>Example: If we get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i="1">
                        <a:latin typeface="Cambria Math" panose="02040503050406030204" pitchFamily="18" charset="0"/>
                      </a:rPr>
                      <m:t>=</m:t>
                    </m:r>
                    <m:r>
                      <a:rPr lang="en-US" i="1" smtClean="0">
                        <a:latin typeface="Cambria Math" panose="02040503050406030204" pitchFamily="18" charset="0"/>
                      </a:rPr>
                      <m:t>0.4</m:t>
                    </m:r>
                    <m:r>
                      <a:rPr lang="en-US" b="0" i="1" smtClean="0">
                        <a:latin typeface="Cambria Math" panose="02040503050406030204" pitchFamily="18" charset="0"/>
                      </a:rPr>
                      <m:t>8</m:t>
                    </m:r>
                  </m:oMath>
                </a14:m>
                <a:r>
                  <a:rPr lang="en-US"/>
                  <a:t>, the bound says the chance is less than 1% that the true </a:t>
                </a:r>
                <a14:m>
                  <m:oMath xmlns:m="http://schemas.openxmlformats.org/officeDocument/2006/math">
                    <m:r>
                      <a:rPr lang="en-US" i="1">
                        <a:latin typeface="Cambria Math" panose="02040503050406030204" pitchFamily="18" charset="0"/>
                      </a:rPr>
                      <m:t>𝑝</m:t>
                    </m:r>
                  </m:oMath>
                </a14:m>
                <a:r>
                  <a:rPr lang="en-US"/>
                  <a:t> lies outside the range </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0.</m:t>
                        </m:r>
                        <m:r>
                          <a:rPr lang="en-US" b="0" i="1" smtClean="0">
                            <a:latin typeface="Cambria Math" panose="02040503050406030204" pitchFamily="18" charset="0"/>
                          </a:rPr>
                          <m:t>43</m:t>
                        </m:r>
                        <m:r>
                          <a:rPr lang="en-US" i="1">
                            <a:latin typeface="Cambria Math" panose="02040503050406030204" pitchFamily="18" charset="0"/>
                          </a:rPr>
                          <m:t>, 0.</m:t>
                        </m:r>
                        <m:r>
                          <a:rPr lang="en-US" b="0" i="1" smtClean="0">
                            <a:latin typeface="Cambria Math" panose="02040503050406030204" pitchFamily="18" charset="0"/>
                          </a:rPr>
                          <m:t>53</m:t>
                        </m:r>
                      </m:e>
                    </m:d>
                  </m:oMath>
                </a14:m>
                <a:r>
                  <a:rPr lang="en-US"/>
                  <a:t>. </a:t>
                </a:r>
              </a:p>
              <a:p>
                <a:pPr marL="342900" indent="-342900">
                  <a:buFont typeface="Arial" panose="020B0604020202020204" pitchFamily="34" charset="0"/>
                  <a:buChar char="•"/>
                </a:pPr>
                <a:endParaRPr lang="en-US"/>
              </a:p>
            </p:txBody>
          </p:sp>
        </mc:Choice>
        <mc:Fallback>
          <p:sp>
            <p:nvSpPr>
              <p:cNvPr id="3" name="Content Placeholder 2">
                <a:extLst>
                  <a:ext uri="{FF2B5EF4-FFF2-40B4-BE49-F238E27FC236}">
                    <a16:creationId xmlns:a16="http://schemas.microsoft.com/office/drawing/2014/main" id="{5433E8A9-53CB-48EE-D975-2EDF67A5BC48}"/>
                  </a:ext>
                </a:extLst>
              </p:cNvPr>
              <p:cNvSpPr>
                <a:spLocks noGrp="1" noRot="1" noChangeAspect="1" noMove="1" noResize="1" noEditPoints="1" noAdjustHandles="1" noChangeArrowheads="1" noChangeShapeType="1" noTextEdit="1"/>
              </p:cNvSpPr>
              <p:nvPr>
                <p:ph idx="1"/>
              </p:nvPr>
            </p:nvSpPr>
            <p:spPr>
              <a:blipFill>
                <a:blip r:embed="rId2"/>
                <a:stretch>
                  <a:fillRect l="-796" r="-637" b="-9524"/>
                </a:stretch>
              </a:blipFill>
            </p:spPr>
            <p:txBody>
              <a:bodyPr/>
              <a:lstStyle/>
              <a:p>
                <a:r>
                  <a:rPr lang="en-US">
                    <a:noFill/>
                  </a:rPr>
                  <a:t> </a:t>
                </a:r>
              </a:p>
            </p:txBody>
          </p:sp>
        </mc:Fallback>
      </mc:AlternateContent>
    </p:spTree>
    <p:extLst>
      <p:ext uri="{BB962C8B-B14F-4D97-AF65-F5344CB8AC3E}">
        <p14:creationId xmlns:p14="http://schemas.microsoft.com/office/powerpoint/2010/main" val="501672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F4B1C-1450-3B32-BAEC-23DBC8D696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B8811-F239-DB8A-3E81-EE274DBD4277}"/>
              </a:ext>
            </a:extLst>
          </p:cNvPr>
          <p:cNvSpPr>
            <a:spLocks noGrp="1"/>
          </p:cNvSpPr>
          <p:nvPr>
            <p:ph type="title"/>
          </p:nvPr>
        </p:nvSpPr>
        <p:spPr/>
        <p:txBody>
          <a:bodyPr/>
          <a:lstStyle/>
          <a:p>
            <a:r>
              <a:rPr lang="en-US"/>
              <a:t>Today’s Answer (Alternate Form)</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47A8EC3-FE0C-A43E-1AE4-A12DB538DF3B}"/>
                  </a:ext>
                </a:extLst>
              </p:cNvPr>
              <p:cNvSpPr>
                <a:spLocks noGrp="1"/>
              </p:cNvSpPr>
              <p:nvPr>
                <p:ph idx="1"/>
              </p:nvPr>
            </p:nvSpPr>
            <p:spPr/>
            <p:txBody>
              <a:bodyPr/>
              <a:lstStyle/>
              <a:p>
                <a:r>
                  <a:rPr lang="en-US"/>
                  <a:t>To achieve our desired goal: </a:t>
                </a:r>
                <a14:m>
                  <m:oMath xmlns:m="http://schemas.openxmlformats.org/officeDocument/2006/math">
                    <m:r>
                      <a:rPr lang="en-US" sz="2800" b="0" i="1" smtClean="0">
                        <a:solidFill>
                          <a:schemeClr val="accent3"/>
                        </a:solidFill>
                        <a:latin typeface="Cambria Math" panose="02040503050406030204" pitchFamily="18" charset="0"/>
                      </a:rPr>
                      <m:t>𝑃</m:t>
                    </m:r>
                    <m:d>
                      <m:dPr>
                        <m:ctrlPr>
                          <a:rPr lang="en-US" sz="2800" b="0" i="1" smtClean="0">
                            <a:solidFill>
                              <a:schemeClr val="accent3"/>
                            </a:solidFill>
                            <a:latin typeface="Cambria Math" panose="02040503050406030204" pitchFamily="18" charset="0"/>
                          </a:rPr>
                        </m:ctrlPr>
                      </m:dPr>
                      <m:e>
                        <m:d>
                          <m:dPr>
                            <m:begChr m:val="|"/>
                            <m:endChr m:val="|"/>
                            <m:ctrlPr>
                              <a:rPr lang="en-US" sz="2800" b="0" i="1" smtClean="0">
                                <a:solidFill>
                                  <a:schemeClr val="accent3"/>
                                </a:solidFill>
                                <a:latin typeface="Cambria Math" panose="02040503050406030204" pitchFamily="18" charset="0"/>
                              </a:rPr>
                            </m:ctrlPr>
                          </m:dPr>
                          <m:e>
                            <m:r>
                              <a:rPr lang="en-US" sz="2800" b="0" i="1" smtClean="0">
                                <a:solidFill>
                                  <a:schemeClr val="accent3"/>
                                </a:solidFill>
                                <a:latin typeface="Cambria Math" panose="02040503050406030204" pitchFamily="18" charset="0"/>
                              </a:rPr>
                              <m:t>𝑝</m:t>
                            </m:r>
                            <m:r>
                              <a:rPr lang="en-US" sz="2800" b="0" i="1" smtClean="0">
                                <a:solidFill>
                                  <a:schemeClr val="accent3"/>
                                </a:solidFill>
                                <a:latin typeface="Cambria Math" panose="02040503050406030204" pitchFamily="18" charset="0"/>
                              </a:rPr>
                              <m:t>−</m:t>
                            </m:r>
                            <m:acc>
                              <m:accPr>
                                <m:chr m:val="̂"/>
                                <m:ctrlPr>
                                  <a:rPr lang="en-US" sz="2800" b="0" i="1" smtClean="0">
                                    <a:solidFill>
                                      <a:schemeClr val="accent3"/>
                                    </a:solidFill>
                                    <a:latin typeface="Cambria Math" panose="02040503050406030204" pitchFamily="18" charset="0"/>
                                  </a:rPr>
                                </m:ctrlPr>
                              </m:accPr>
                              <m:e>
                                <m:r>
                                  <a:rPr lang="en-US" sz="2800" b="0" i="1" smtClean="0">
                                    <a:solidFill>
                                      <a:schemeClr val="accent3"/>
                                    </a:solidFill>
                                    <a:latin typeface="Cambria Math" panose="02040503050406030204" pitchFamily="18" charset="0"/>
                                  </a:rPr>
                                  <m:t>𝑝</m:t>
                                </m:r>
                              </m:e>
                            </m:acc>
                          </m:e>
                        </m:d>
                        <m:r>
                          <a:rPr lang="en-US" sz="2800" b="0" i="1" smtClean="0">
                            <a:solidFill>
                              <a:schemeClr val="accent3"/>
                            </a:solidFill>
                            <a:latin typeface="Cambria Math" panose="02040503050406030204" pitchFamily="18" charset="0"/>
                          </a:rPr>
                          <m:t>≤</m:t>
                        </m:r>
                        <m:r>
                          <a:rPr lang="en-US" sz="2800" b="0" i="1" smtClean="0">
                            <a:solidFill>
                              <a:schemeClr val="accent3"/>
                            </a:solidFill>
                            <a:latin typeface="Cambria Math" panose="02040503050406030204" pitchFamily="18" charset="0"/>
                          </a:rPr>
                          <m:t>𝜖</m:t>
                        </m:r>
                      </m:e>
                    </m:d>
                    <m:r>
                      <a:rPr lang="en-US" sz="2800" b="0" i="1" smtClean="0">
                        <a:solidFill>
                          <a:schemeClr val="accent3"/>
                        </a:solidFill>
                        <a:latin typeface="Cambria Math" panose="02040503050406030204" pitchFamily="18" charset="0"/>
                      </a:rPr>
                      <m:t>≥1−</m:t>
                    </m:r>
                    <m:r>
                      <a:rPr lang="en-US" sz="2800" b="0" i="1" smtClean="0">
                        <a:solidFill>
                          <a:schemeClr val="accent3"/>
                        </a:solidFill>
                        <a:latin typeface="Cambria Math" panose="02040503050406030204" pitchFamily="18" charset="0"/>
                      </a:rPr>
                      <m:t>𝛿</m:t>
                    </m:r>
                  </m:oMath>
                </a14:m>
                <a:endParaRPr lang="en-US" sz="2800">
                  <a:solidFill>
                    <a:schemeClr val="accent3"/>
                  </a:solidFill>
                </a:endParaRPr>
              </a:p>
              <a:p>
                <a:endParaRPr lang="en-US"/>
              </a:p>
              <a:p>
                <a:r>
                  <a:rPr lang="en-US"/>
                  <a:t>We can show that </a:t>
                </a:r>
                <a14:m>
                  <m:oMath xmlns:m="http://schemas.openxmlformats.org/officeDocument/2006/math">
                    <m:r>
                      <a:rPr lang="en-US" sz="2800" b="0" i="1" smtClean="0">
                        <a:solidFill>
                          <a:schemeClr val="accent3"/>
                        </a:solidFill>
                        <a:latin typeface="Cambria Math" panose="02040503050406030204" pitchFamily="18" charset="0"/>
                      </a:rPr>
                      <m:t>𝑛</m:t>
                    </m:r>
                    <m:r>
                      <a:rPr lang="en-US" sz="2800" b="0" i="1" smtClean="0">
                        <a:solidFill>
                          <a:schemeClr val="accent3"/>
                        </a:solidFill>
                        <a:latin typeface="Cambria Math" panose="02040503050406030204" pitchFamily="18" charset="0"/>
                      </a:rPr>
                      <m:t>≥</m:t>
                    </m:r>
                    <m:f>
                      <m:fPr>
                        <m:ctrlPr>
                          <a:rPr lang="en-US" sz="2800" b="0" i="1" smtClean="0">
                            <a:solidFill>
                              <a:schemeClr val="accent3"/>
                            </a:solidFill>
                            <a:latin typeface="Cambria Math" panose="02040503050406030204" pitchFamily="18" charset="0"/>
                          </a:rPr>
                        </m:ctrlPr>
                      </m:fPr>
                      <m:num>
                        <m:r>
                          <a:rPr lang="en-US" sz="2800" b="0" i="1" smtClean="0">
                            <a:solidFill>
                              <a:schemeClr val="accent3"/>
                            </a:solidFill>
                            <a:latin typeface="Cambria Math" panose="02040503050406030204" pitchFamily="18" charset="0"/>
                          </a:rPr>
                          <m:t>1</m:t>
                        </m:r>
                      </m:num>
                      <m:den>
                        <m:r>
                          <a:rPr lang="en-US" sz="2800" b="0" i="1" smtClean="0">
                            <a:solidFill>
                              <a:schemeClr val="accent3"/>
                            </a:solidFill>
                            <a:latin typeface="Cambria Math" panose="02040503050406030204" pitchFamily="18" charset="0"/>
                          </a:rPr>
                          <m:t>4</m:t>
                        </m:r>
                        <m:sSup>
                          <m:sSupPr>
                            <m:ctrlPr>
                              <a:rPr lang="en-US" sz="2800" b="0" i="1" smtClean="0">
                                <a:solidFill>
                                  <a:schemeClr val="accent3"/>
                                </a:solidFill>
                                <a:latin typeface="Cambria Math" panose="02040503050406030204" pitchFamily="18" charset="0"/>
                              </a:rPr>
                            </m:ctrlPr>
                          </m:sSupPr>
                          <m:e>
                            <m:r>
                              <a:rPr lang="en-US" sz="2800" b="0" i="1" smtClean="0">
                                <a:solidFill>
                                  <a:schemeClr val="accent3"/>
                                </a:solidFill>
                                <a:latin typeface="Cambria Math" panose="02040503050406030204" pitchFamily="18" charset="0"/>
                              </a:rPr>
                              <m:t>𝜖</m:t>
                            </m:r>
                          </m:e>
                          <m:sup>
                            <m:r>
                              <a:rPr lang="en-US" sz="2800" b="0" i="1" smtClean="0">
                                <a:solidFill>
                                  <a:schemeClr val="accent3"/>
                                </a:solidFill>
                                <a:latin typeface="Cambria Math" panose="02040503050406030204" pitchFamily="18" charset="0"/>
                              </a:rPr>
                              <m:t>2</m:t>
                            </m:r>
                          </m:sup>
                        </m:sSup>
                        <m:r>
                          <a:rPr lang="en-US" sz="2800" b="0" i="1" smtClean="0">
                            <a:solidFill>
                              <a:schemeClr val="accent3"/>
                            </a:solidFill>
                            <a:latin typeface="Cambria Math" panose="02040503050406030204" pitchFamily="18" charset="0"/>
                          </a:rPr>
                          <m:t>𝛿</m:t>
                        </m:r>
                      </m:den>
                    </m:f>
                  </m:oMath>
                </a14:m>
                <a:r>
                  <a:rPr lang="en-US"/>
                  <a:t> coin flips is sufficient.</a:t>
                </a:r>
              </a:p>
              <a:p>
                <a:pPr marL="342900" indent="-342900">
                  <a:buFont typeface="Arial" panose="020B0604020202020204" pitchFamily="34" charset="0"/>
                  <a:buChar char="•"/>
                </a:pPr>
                <a:r>
                  <a:rPr lang="en-US"/>
                  <a:t>We’ll use something called Chebyshev’s inequality to derive this later.</a:t>
                </a:r>
              </a:p>
              <a:p>
                <a:endParaRPr lang="en-US"/>
              </a:p>
              <a:p>
                <a:r>
                  <a:rPr lang="en-US"/>
                  <a:t>Example: If </a:t>
                </a:r>
                <a14:m>
                  <m:oMath xmlns:m="http://schemas.openxmlformats.org/officeDocument/2006/math">
                    <m:r>
                      <a:rPr lang="en-US" i="1" smtClean="0">
                        <a:solidFill>
                          <a:schemeClr val="accent3"/>
                        </a:solidFill>
                        <a:latin typeface="Cambria Math" panose="02040503050406030204" pitchFamily="18" charset="0"/>
                      </a:rPr>
                      <m:t>𝛿</m:t>
                    </m:r>
                    <m:r>
                      <a:rPr lang="en-US" sz="2400" b="0" i="1" smtClean="0">
                        <a:solidFill>
                          <a:schemeClr val="accent3"/>
                        </a:solidFill>
                        <a:latin typeface="Cambria Math" panose="02040503050406030204" pitchFamily="18" charset="0"/>
                      </a:rPr>
                      <m:t>=1%</m:t>
                    </m:r>
                  </m:oMath>
                </a14:m>
                <a:r>
                  <a:rPr lang="en-US"/>
                  <a:t> and </a:t>
                </a:r>
                <a14:m>
                  <m:oMath xmlns:m="http://schemas.openxmlformats.org/officeDocument/2006/math">
                    <m:r>
                      <a:rPr lang="en-US" i="1">
                        <a:solidFill>
                          <a:schemeClr val="accent3"/>
                        </a:solidFill>
                        <a:latin typeface="Cambria Math" panose="02040503050406030204" pitchFamily="18" charset="0"/>
                      </a:rPr>
                      <m:t>𝜖</m:t>
                    </m:r>
                    <m:r>
                      <a:rPr lang="en-US" b="0" i="1" smtClean="0">
                        <a:solidFill>
                          <a:schemeClr val="accent3"/>
                        </a:solidFill>
                        <a:latin typeface="Cambria Math" panose="02040503050406030204" pitchFamily="18" charset="0"/>
                      </a:rPr>
                      <m:t>=0.05</m:t>
                    </m:r>
                  </m:oMath>
                </a14:m>
                <a:r>
                  <a:rPr lang="en-US"/>
                  <a:t>, then target </a:t>
                </a:r>
                <a14:m>
                  <m:oMath xmlns:m="http://schemas.openxmlformats.org/officeDocument/2006/math">
                    <m:r>
                      <a:rPr lang="en-US" i="1" dirty="0" smtClean="0">
                        <a:latin typeface="Cambria Math" panose="02040503050406030204" pitchFamily="18" charset="0"/>
                      </a:rPr>
                      <m:t>𝑛</m:t>
                    </m:r>
                  </m:oMath>
                </a14:m>
                <a:r>
                  <a:rPr lang="en-US"/>
                  <a:t> is </a:t>
                </a:r>
                <a14:m>
                  <m:oMath xmlns:m="http://schemas.openxmlformats.org/officeDocument/2006/math">
                    <m:f>
                      <m:fPr>
                        <m:ctrlPr>
                          <a:rPr lang="en-US" sz="2800" i="1">
                            <a:solidFill>
                              <a:schemeClr val="accent3"/>
                            </a:solidFill>
                            <a:latin typeface="Cambria Math" panose="02040503050406030204" pitchFamily="18" charset="0"/>
                          </a:rPr>
                        </m:ctrlPr>
                      </m:fPr>
                      <m:num>
                        <m:r>
                          <a:rPr lang="en-US" sz="2800" i="1">
                            <a:solidFill>
                              <a:schemeClr val="accent3"/>
                            </a:solidFill>
                            <a:latin typeface="Cambria Math" panose="02040503050406030204" pitchFamily="18" charset="0"/>
                          </a:rPr>
                          <m:t>1</m:t>
                        </m:r>
                      </m:num>
                      <m:den>
                        <m:r>
                          <a:rPr lang="en-US" sz="2800" i="1">
                            <a:solidFill>
                              <a:schemeClr val="accent3"/>
                            </a:solidFill>
                            <a:latin typeface="Cambria Math" panose="02040503050406030204" pitchFamily="18" charset="0"/>
                          </a:rPr>
                          <m:t>4</m:t>
                        </m:r>
                        <m:sSup>
                          <m:sSupPr>
                            <m:ctrlPr>
                              <a:rPr lang="en-US" sz="2800" b="0" i="1" smtClean="0">
                                <a:solidFill>
                                  <a:schemeClr val="accent3"/>
                                </a:solidFill>
                                <a:latin typeface="Cambria Math" panose="02040503050406030204" pitchFamily="18" charset="0"/>
                              </a:rPr>
                            </m:ctrlPr>
                          </m:sSupPr>
                          <m:e>
                            <m:d>
                              <m:dPr>
                                <m:ctrlPr>
                                  <a:rPr lang="en-US" sz="2800" b="0" i="1" smtClean="0">
                                    <a:solidFill>
                                      <a:schemeClr val="accent3"/>
                                    </a:solidFill>
                                    <a:latin typeface="Cambria Math" panose="02040503050406030204" pitchFamily="18" charset="0"/>
                                  </a:rPr>
                                </m:ctrlPr>
                              </m:dPr>
                              <m:e>
                                <m:r>
                                  <a:rPr lang="en-US" sz="2800" b="0" i="1" smtClean="0">
                                    <a:solidFill>
                                      <a:schemeClr val="accent3"/>
                                    </a:solidFill>
                                    <a:latin typeface="Cambria Math" panose="02040503050406030204" pitchFamily="18" charset="0"/>
                                  </a:rPr>
                                  <m:t>0.05</m:t>
                                </m:r>
                              </m:e>
                            </m:d>
                          </m:e>
                          <m:sup>
                            <m:r>
                              <a:rPr lang="en-US" sz="2800" b="0" i="1" smtClean="0">
                                <a:solidFill>
                                  <a:schemeClr val="accent3"/>
                                </a:solidFill>
                                <a:latin typeface="Cambria Math" panose="02040503050406030204" pitchFamily="18" charset="0"/>
                              </a:rPr>
                              <m:t>2</m:t>
                            </m:r>
                          </m:sup>
                        </m:sSup>
                        <m:r>
                          <a:rPr lang="en-US" sz="2800" b="0" i="1" smtClean="0">
                            <a:solidFill>
                              <a:schemeClr val="accent3"/>
                            </a:solidFill>
                            <a:latin typeface="Cambria Math" panose="02040503050406030204" pitchFamily="18" charset="0"/>
                          </a:rPr>
                          <m:t>(0.01)</m:t>
                        </m:r>
                      </m:den>
                    </m:f>
                    <m:r>
                      <a:rPr lang="en-US" sz="2800" b="0" i="1" smtClean="0">
                        <a:solidFill>
                          <a:schemeClr val="accent3"/>
                        </a:solidFill>
                        <a:latin typeface="Cambria Math" panose="02040503050406030204" pitchFamily="18" charset="0"/>
                      </a:rPr>
                      <m:t>=10000</m:t>
                    </m:r>
                  </m:oMath>
                </a14:m>
                <a:endParaRPr lang="en-US" sz="2800"/>
              </a:p>
              <a:p>
                <a:pPr marL="342900" indent="-342900">
                  <a:buFont typeface="Arial" panose="020B0604020202020204" pitchFamily="34" charset="0"/>
                  <a:buChar char="•"/>
                </a:pPr>
                <a:r>
                  <a:rPr lang="en-US"/>
                  <a:t>Here </a:t>
                </a:r>
                <a14:m>
                  <m:oMath xmlns:m="http://schemas.openxmlformats.org/officeDocument/2006/math">
                    <m:r>
                      <a:rPr lang="en-US" i="1">
                        <a:solidFill>
                          <a:schemeClr val="accent3"/>
                        </a:solidFill>
                        <a:latin typeface="Cambria Math" panose="02040503050406030204" pitchFamily="18" charset="0"/>
                      </a:rPr>
                      <m:t>𝛿</m:t>
                    </m:r>
                  </m:oMath>
                </a14:m>
                <a:r>
                  <a:rPr lang="en-US"/>
                  <a:t> is our acceptable failure level.</a:t>
                </a:r>
              </a:p>
              <a:p>
                <a:pPr marL="342900" indent="-342900">
                  <a:buFont typeface="Arial" panose="020B0604020202020204" pitchFamily="34" charset="0"/>
                  <a:buChar char="•"/>
                </a:pPr>
                <a:r>
                  <a:rPr lang="en-US"/>
                  <a:t>That is, if we flip the coin 10,000 times, then there is only a 1% chance that our estimate </a:t>
                </a:r>
                <a14:m>
                  <m:oMath xmlns:m="http://schemas.openxmlformats.org/officeDocument/2006/math">
                    <m:acc>
                      <m:accPr>
                        <m:chr m:val="̂"/>
                        <m:ctrlPr>
                          <a:rPr lang="en-US" sz="2400" b="0" i="1" smtClean="0">
                            <a:solidFill>
                              <a:schemeClr val="tx1"/>
                            </a:solidFill>
                            <a:latin typeface="Cambria Math" panose="02040503050406030204" pitchFamily="18" charset="0"/>
                          </a:rPr>
                        </m:ctrlPr>
                      </m:accPr>
                      <m:e>
                        <m:r>
                          <a:rPr lang="en-US" sz="2400" b="0" i="1" smtClean="0">
                            <a:solidFill>
                              <a:schemeClr val="tx1"/>
                            </a:solidFill>
                            <a:latin typeface="Cambria Math" panose="02040503050406030204" pitchFamily="18" charset="0"/>
                          </a:rPr>
                          <m:t>𝑝</m:t>
                        </m:r>
                      </m:e>
                    </m:acc>
                  </m:oMath>
                </a14:m>
                <a:r>
                  <a:rPr lang="en-US"/>
                  <a:t> is off by more than 0.05.</a:t>
                </a:r>
              </a:p>
              <a:p>
                <a:pPr marL="1028683" lvl="1" indent="-342900">
                  <a:buFont typeface="Arial" panose="020B0604020202020204" pitchFamily="34" charset="0"/>
                  <a:buChar char="•"/>
                </a:pPr>
                <a:r>
                  <a:rPr lang="en-US"/>
                  <a:t>Example: If we get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i="1">
                        <a:latin typeface="Cambria Math" panose="02040503050406030204" pitchFamily="18" charset="0"/>
                      </a:rPr>
                      <m:t>=</m:t>
                    </m:r>
                    <m:r>
                      <a:rPr lang="en-US" i="1" smtClean="0">
                        <a:latin typeface="Cambria Math" panose="02040503050406030204" pitchFamily="18" charset="0"/>
                      </a:rPr>
                      <m:t>0.4</m:t>
                    </m:r>
                    <m:r>
                      <a:rPr lang="en-US" b="0" i="1" smtClean="0">
                        <a:latin typeface="Cambria Math" panose="02040503050406030204" pitchFamily="18" charset="0"/>
                      </a:rPr>
                      <m:t>8</m:t>
                    </m:r>
                  </m:oMath>
                </a14:m>
                <a:r>
                  <a:rPr lang="en-US"/>
                  <a:t>, the bound says the chance is less than 1% that the true </a:t>
                </a:r>
                <a14:m>
                  <m:oMath xmlns:m="http://schemas.openxmlformats.org/officeDocument/2006/math">
                    <m:r>
                      <a:rPr lang="en-US" i="1">
                        <a:latin typeface="Cambria Math" panose="02040503050406030204" pitchFamily="18" charset="0"/>
                      </a:rPr>
                      <m:t>𝑝</m:t>
                    </m:r>
                  </m:oMath>
                </a14:m>
                <a:r>
                  <a:rPr lang="en-US"/>
                  <a:t> lies outside the range </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0.</m:t>
                        </m:r>
                        <m:r>
                          <a:rPr lang="en-US" b="0" i="1" smtClean="0">
                            <a:latin typeface="Cambria Math" panose="02040503050406030204" pitchFamily="18" charset="0"/>
                          </a:rPr>
                          <m:t>43</m:t>
                        </m:r>
                        <m:r>
                          <a:rPr lang="en-US" i="1">
                            <a:latin typeface="Cambria Math" panose="02040503050406030204" pitchFamily="18" charset="0"/>
                          </a:rPr>
                          <m:t>, 0.</m:t>
                        </m:r>
                        <m:r>
                          <a:rPr lang="en-US" b="0" i="1" smtClean="0">
                            <a:latin typeface="Cambria Math" panose="02040503050406030204" pitchFamily="18" charset="0"/>
                          </a:rPr>
                          <m:t>53</m:t>
                        </m:r>
                      </m:e>
                    </m:d>
                  </m:oMath>
                </a14:m>
                <a:r>
                  <a:rPr lang="en-US"/>
                  <a:t>. </a:t>
                </a:r>
              </a:p>
              <a:p>
                <a:pPr marL="342900" indent="-342900">
                  <a:buFont typeface="Arial" panose="020B0604020202020204" pitchFamily="34" charset="0"/>
                  <a:buChar char="•"/>
                </a:pPr>
                <a:endParaRPr lang="en-US"/>
              </a:p>
            </p:txBody>
          </p:sp>
        </mc:Choice>
        <mc:Fallback>
          <p:sp>
            <p:nvSpPr>
              <p:cNvPr id="3" name="Content Placeholder 2">
                <a:extLst>
                  <a:ext uri="{FF2B5EF4-FFF2-40B4-BE49-F238E27FC236}">
                    <a16:creationId xmlns:a16="http://schemas.microsoft.com/office/drawing/2014/main" id="{747A8EC3-FE0C-A43E-1AE4-A12DB538DF3B}"/>
                  </a:ext>
                </a:extLst>
              </p:cNvPr>
              <p:cNvSpPr>
                <a:spLocks noGrp="1" noRot="1" noChangeAspect="1" noMove="1" noResize="1" noEditPoints="1" noAdjustHandles="1" noChangeArrowheads="1" noChangeShapeType="1" noTextEdit="1"/>
              </p:cNvSpPr>
              <p:nvPr>
                <p:ph idx="1"/>
              </p:nvPr>
            </p:nvSpPr>
            <p:spPr>
              <a:blipFill>
                <a:blip r:embed="rId2"/>
                <a:stretch>
                  <a:fillRect l="-796" r="-637" b="-8442"/>
                </a:stretch>
              </a:blipFill>
            </p:spPr>
            <p:txBody>
              <a:bodyPr/>
              <a:lstStyle/>
              <a:p>
                <a:r>
                  <a:rPr lang="en-US">
                    <a:noFill/>
                  </a:rPr>
                  <a:t> </a:t>
                </a:r>
              </a:p>
            </p:txBody>
          </p:sp>
        </mc:Fallback>
      </mc:AlternateContent>
    </p:spTree>
    <p:extLst>
      <p:ext uri="{BB962C8B-B14F-4D97-AF65-F5344CB8AC3E}">
        <p14:creationId xmlns:p14="http://schemas.microsoft.com/office/powerpoint/2010/main" val="4126176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66FACDD-B990-45AA-9C7A-C6BDA74D39DB}"/>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30C9F7A9-706E-37DA-6978-19659F0A54F1}"/>
                  </a:ext>
                </a:extLst>
              </p:cNvPr>
              <p:cNvSpPr>
                <a:spLocks noGrp="1"/>
              </p:cNvSpPr>
              <p:nvPr>
                <p:ph type="title"/>
              </p:nvPr>
            </p:nvSpPr>
            <p:spPr/>
            <p:txBody>
              <a:bodyPr/>
              <a:lstStyle/>
              <a:p>
                <a:r>
                  <a:rPr lang="en-US"/>
                  <a:t>Experimental Procedure for Determining </a:t>
                </a:r>
                <a14:m>
                  <m:oMath xmlns:m="http://schemas.openxmlformats.org/officeDocument/2006/math">
                    <m:r>
                      <a:rPr lang="en-US" b="0" i="1" smtClean="0">
                        <a:latin typeface="Cambria Math" panose="02040503050406030204" pitchFamily="18" charset="0"/>
                      </a:rPr>
                      <m:t>𝑝</m:t>
                    </m:r>
                  </m:oMath>
                </a14:m>
                <a:endParaRPr lang="en-US"/>
              </a:p>
            </p:txBody>
          </p:sp>
        </mc:Choice>
        <mc:Fallback>
          <p:sp>
            <p:nvSpPr>
              <p:cNvPr id="2" name="Title 1">
                <a:extLst>
                  <a:ext uri="{FF2B5EF4-FFF2-40B4-BE49-F238E27FC236}">
                    <a16:creationId xmlns:a16="http://schemas.microsoft.com/office/drawing/2014/main" id="{30C9F7A9-706E-37DA-6978-19659F0A54F1}"/>
                  </a:ext>
                </a:extLst>
              </p:cNvPr>
              <p:cNvSpPr>
                <a:spLocks noGrp="1" noRot="1" noChangeAspect="1" noMove="1" noResize="1" noEditPoints="1" noAdjustHandles="1" noChangeArrowheads="1" noChangeShapeType="1" noTextEdit="1"/>
              </p:cNvSpPr>
              <p:nvPr>
                <p:ph type="title"/>
              </p:nvPr>
            </p:nvSpPr>
            <p:spPr>
              <a:blipFill>
                <a:blip r:embed="rId2"/>
                <a:stretch>
                  <a:fillRect l="-870" t="-14667" b="-2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40A4479-693B-E10E-E1AA-83F0CCA3DFCA}"/>
                  </a:ext>
                </a:extLst>
              </p:cNvPr>
              <p:cNvSpPr>
                <a:spLocks noGrp="1"/>
              </p:cNvSpPr>
              <p:nvPr>
                <p:ph idx="1"/>
              </p:nvPr>
            </p:nvSpPr>
            <p:spPr/>
            <p:txBody>
              <a:bodyPr/>
              <a:lstStyle/>
              <a:p>
                <a:r>
                  <a:rPr lang="en-US"/>
                  <a:t>Suppose you have a coin with probability of heads </a:t>
                </a:r>
                <a14:m>
                  <m:oMath xmlns:m="http://schemas.openxmlformats.org/officeDocument/2006/math">
                    <m:r>
                      <a:rPr lang="en-US" i="1" dirty="0" smtClean="0">
                        <a:latin typeface="Cambria Math" panose="02040503050406030204" pitchFamily="18" charset="0"/>
                      </a:rPr>
                      <m:t>𝑝</m:t>
                    </m:r>
                  </m:oMath>
                </a14:m>
                <a:r>
                  <a:rPr lang="en-US"/>
                  <a:t>. You don’t know </a:t>
                </a:r>
                <a14:m>
                  <m:oMath xmlns:m="http://schemas.openxmlformats.org/officeDocument/2006/math">
                    <m:r>
                      <a:rPr lang="en-US" i="1" dirty="0">
                        <a:latin typeface="Cambria Math" panose="02040503050406030204" pitchFamily="18" charset="0"/>
                      </a:rPr>
                      <m:t>𝑝</m:t>
                    </m:r>
                  </m:oMath>
                </a14:m>
                <a:r>
                  <a:rPr lang="en-US"/>
                  <a:t>, but you want to figure it out experimentally.</a:t>
                </a:r>
              </a:p>
              <a:p>
                <a:endParaRPr lang="en-US"/>
              </a:p>
              <a:p>
                <a:r>
                  <a:rPr lang="en-US"/>
                  <a:t>Method: Toss the coin </a:t>
                </a:r>
                <a14:m>
                  <m:oMath xmlns:m="http://schemas.openxmlformats.org/officeDocument/2006/math">
                    <m:r>
                      <a:rPr lang="en-US" i="1" dirty="0" smtClean="0">
                        <a:latin typeface="Cambria Math" panose="02040503050406030204" pitchFamily="18" charset="0"/>
                      </a:rPr>
                      <m:t>𝑛</m:t>
                    </m:r>
                  </m:oMath>
                </a14:m>
                <a:r>
                  <a:rPr lang="en-US"/>
                  <a:t> times. Let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oMath>
                </a14:m>
                <a:r>
                  <a:rPr lang="en-US"/>
                  <a:t> be the number of times it comes up heads divided by the total number of flips.</a:t>
                </a:r>
              </a:p>
              <a:p>
                <a:endParaRPr lang="en-US"/>
              </a:p>
              <a:p>
                <a:r>
                  <a:rPr lang="en-US" b="1">
                    <a:solidFill>
                      <a:schemeClr val="accent3"/>
                    </a:solidFill>
                    <a:latin typeface="Inter" panose="02000503000000020004" pitchFamily="2" charset="0"/>
                    <a:ea typeface="Inter" panose="02000503000000020004" pitchFamily="2" charset="0"/>
                    <a:cs typeface="Inter" panose="02000503000000020004" pitchFamily="2" charset="0"/>
                  </a:rPr>
                  <a:t>What we want</a:t>
                </a:r>
                <a:r>
                  <a:rPr lang="en-US"/>
                  <a:t>: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𝑝</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e>
                    </m:d>
                    <m:r>
                      <a:rPr lang="en-US" b="0" i="1" smtClean="0">
                        <a:latin typeface="Cambria Math" panose="02040503050406030204" pitchFamily="18" charset="0"/>
                      </a:rPr>
                      <m:t>&lt;</m:t>
                    </m:r>
                    <m:r>
                      <a:rPr lang="en-US" b="0" i="1" smtClean="0">
                        <a:latin typeface="Cambria Math" panose="02040503050406030204" pitchFamily="18" charset="0"/>
                      </a:rPr>
                      <m:t>𝜖</m:t>
                    </m:r>
                  </m:oMath>
                </a14:m>
                <a:endParaRPr lang="en-US"/>
              </a:p>
              <a:p>
                <a:pPr marL="342900" indent="-342900">
                  <a:buFont typeface="Arial" panose="020B0604020202020204" pitchFamily="34" charset="0"/>
                  <a:buChar char="•"/>
                </a:pPr>
                <a:r>
                  <a:rPr lang="en-US"/>
                  <a:t>Unfortunately, we can never guarantee this!</a:t>
                </a:r>
              </a:p>
              <a:p>
                <a:pPr marL="342900" indent="-342900">
                  <a:buFont typeface="Arial" panose="020B0604020202020204" pitchFamily="34" charset="0"/>
                  <a:buChar char="•"/>
                </a:pPr>
                <a:endParaRPr lang="en-US"/>
              </a:p>
              <a:p>
                <a:r>
                  <a:rPr lang="en-US" b="1">
                    <a:solidFill>
                      <a:schemeClr val="accent4"/>
                    </a:solidFill>
                    <a:latin typeface="Inter" panose="02000503000000020004" pitchFamily="2" charset="0"/>
                    <a:ea typeface="Inter" panose="02000503000000020004" pitchFamily="2" charset="0"/>
                    <a:cs typeface="Inter" panose="02000503000000020004" pitchFamily="2" charset="0"/>
                  </a:rPr>
                  <a:t>What we can get</a:t>
                </a:r>
                <a:r>
                  <a:rPr lang="en-US"/>
                  <a:t>: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𝑝</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e>
                    </m:d>
                    <m:r>
                      <a:rPr lang="en-US" b="0" i="1" smtClean="0">
                        <a:latin typeface="Cambria Math" panose="02040503050406030204" pitchFamily="18" charset="0"/>
                      </a:rPr>
                      <m:t>&lt;</m:t>
                    </m:r>
                    <m:r>
                      <a:rPr lang="en-US" b="0" i="1" smtClean="0">
                        <a:latin typeface="Cambria Math" panose="02040503050406030204" pitchFamily="18" charset="0"/>
                      </a:rPr>
                      <m:t>𝜖</m:t>
                    </m:r>
                  </m:oMath>
                </a14:m>
                <a:r>
                  <a:rPr lang="en-US"/>
                  <a:t> with confidence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𝛿</m:t>
                    </m:r>
                  </m:oMath>
                </a14:m>
                <a:endParaRPr lang="en-US"/>
              </a:p>
              <a:p>
                <a:pPr marL="342900" indent="-342900">
                  <a:buFont typeface="Arial" panose="020B0604020202020204" pitchFamily="34" charset="0"/>
                  <a:buChar char="•"/>
                </a:pPr>
                <a:r>
                  <a:rPr lang="en-US"/>
                  <a:t>Example: </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𝑝</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𝑝</m:t>
                            </m:r>
                          </m:e>
                        </m:acc>
                      </m:e>
                    </m:d>
                    <m:r>
                      <a:rPr lang="en-US" i="1">
                        <a:latin typeface="Cambria Math" panose="02040503050406030204" pitchFamily="18" charset="0"/>
                      </a:rPr>
                      <m:t>&lt;</m:t>
                    </m:r>
                    <m:r>
                      <a:rPr lang="en-US" b="0" i="1" smtClean="0">
                        <a:latin typeface="Cambria Math" panose="02040503050406030204" pitchFamily="18" charset="0"/>
                      </a:rPr>
                      <m:t>0.01</m:t>
                    </m:r>
                  </m:oMath>
                </a14:m>
                <a:r>
                  <a:rPr lang="en-US"/>
                  <a:t> with 75% confidence (</a:t>
                </a:r>
                <a14:m>
                  <m:oMath xmlns:m="http://schemas.openxmlformats.org/officeDocument/2006/math">
                    <m:r>
                      <a:rPr lang="en-US" i="1">
                        <a:latin typeface="Cambria Math" panose="02040503050406030204" pitchFamily="18" charset="0"/>
                      </a:rPr>
                      <m:t>𝛿</m:t>
                    </m:r>
                    <m:r>
                      <a:rPr lang="en-US" b="0" i="1" smtClean="0">
                        <a:latin typeface="Cambria Math" panose="02040503050406030204" pitchFamily="18" charset="0"/>
                      </a:rPr>
                      <m:t>=0.25</m:t>
                    </m:r>
                  </m:oMath>
                </a14:m>
                <a:r>
                  <a:rPr lang="en-US"/>
                  <a:t>)</a:t>
                </a:r>
              </a:p>
              <a:p>
                <a:pPr marL="342900" indent="-342900">
                  <a:buFont typeface="Arial" panose="020B0604020202020204" pitchFamily="34" charset="0"/>
                  <a:buChar char="•"/>
                </a:pPr>
                <a:r>
                  <a:rPr lang="en-US"/>
                  <a:t>Or in terms of probabilities, we’ll settle for </a:t>
                </a:r>
                <a14:m>
                  <m:oMath xmlns:m="http://schemas.openxmlformats.org/officeDocument/2006/math">
                    <m:r>
                      <a:rPr lang="en-US" b="0" i="1" smtClean="0">
                        <a:solidFill>
                          <a:schemeClr val="accent3"/>
                        </a:solidFill>
                        <a:latin typeface="Cambria Math" panose="02040503050406030204" pitchFamily="18" charset="0"/>
                      </a:rPr>
                      <m:t>𝑃</m:t>
                    </m:r>
                    <m:d>
                      <m:dPr>
                        <m:ctrlPr>
                          <a:rPr lang="en-US" b="0" i="1" smtClean="0">
                            <a:solidFill>
                              <a:schemeClr val="accent3"/>
                            </a:solidFill>
                            <a:latin typeface="Cambria Math" panose="02040503050406030204" pitchFamily="18" charset="0"/>
                          </a:rPr>
                        </m:ctrlPr>
                      </m:dPr>
                      <m:e>
                        <m:d>
                          <m:dPr>
                            <m:begChr m:val="|"/>
                            <m:endChr m:val="|"/>
                            <m:ctrlPr>
                              <a:rPr lang="en-US" i="1">
                                <a:solidFill>
                                  <a:schemeClr val="accent3"/>
                                </a:solidFill>
                                <a:latin typeface="Cambria Math" panose="02040503050406030204" pitchFamily="18" charset="0"/>
                              </a:rPr>
                            </m:ctrlPr>
                          </m:dPr>
                          <m:e>
                            <m:r>
                              <a:rPr lang="en-US" i="1">
                                <a:solidFill>
                                  <a:schemeClr val="accent3"/>
                                </a:solidFill>
                                <a:latin typeface="Cambria Math" panose="02040503050406030204" pitchFamily="18" charset="0"/>
                              </a:rPr>
                              <m:t>𝑝</m:t>
                            </m:r>
                            <m:r>
                              <a:rPr lang="en-US" i="1">
                                <a:solidFill>
                                  <a:schemeClr val="accent3"/>
                                </a:solidFill>
                                <a:latin typeface="Cambria Math" panose="02040503050406030204" pitchFamily="18" charset="0"/>
                              </a:rPr>
                              <m:t>−</m:t>
                            </m:r>
                            <m:acc>
                              <m:accPr>
                                <m:chr m:val="̂"/>
                                <m:ctrlPr>
                                  <a:rPr lang="en-US" i="1">
                                    <a:solidFill>
                                      <a:schemeClr val="accent3"/>
                                    </a:solidFill>
                                    <a:latin typeface="Cambria Math" panose="02040503050406030204" pitchFamily="18" charset="0"/>
                                  </a:rPr>
                                </m:ctrlPr>
                              </m:accPr>
                              <m:e>
                                <m:r>
                                  <a:rPr lang="en-US" i="1">
                                    <a:solidFill>
                                      <a:schemeClr val="accent3"/>
                                    </a:solidFill>
                                    <a:latin typeface="Cambria Math" panose="02040503050406030204" pitchFamily="18" charset="0"/>
                                  </a:rPr>
                                  <m:t>𝑝</m:t>
                                </m:r>
                              </m:e>
                            </m:acc>
                          </m:e>
                        </m:d>
                        <m:r>
                          <a:rPr lang="en-US" i="1">
                            <a:solidFill>
                              <a:schemeClr val="accent3"/>
                            </a:solidFill>
                            <a:latin typeface="Cambria Math" panose="02040503050406030204" pitchFamily="18" charset="0"/>
                          </a:rPr>
                          <m:t>≤</m:t>
                        </m:r>
                        <m:r>
                          <a:rPr lang="en-US" i="1">
                            <a:solidFill>
                              <a:schemeClr val="accent3"/>
                            </a:solidFill>
                            <a:latin typeface="Cambria Math" panose="02040503050406030204" pitchFamily="18" charset="0"/>
                          </a:rPr>
                          <m:t>𝜖</m:t>
                        </m:r>
                      </m:e>
                    </m:d>
                    <m:r>
                      <a:rPr lang="en-US" b="0" i="1" smtClean="0">
                        <a:solidFill>
                          <a:schemeClr val="accent3"/>
                        </a:solidFill>
                        <a:latin typeface="Cambria Math" panose="02040503050406030204" pitchFamily="18" charset="0"/>
                      </a:rPr>
                      <m:t>≥1−</m:t>
                    </m:r>
                    <m:r>
                      <a:rPr lang="en-US" b="0" i="1" smtClean="0">
                        <a:solidFill>
                          <a:schemeClr val="accent3"/>
                        </a:solidFill>
                        <a:latin typeface="Cambria Math" panose="02040503050406030204" pitchFamily="18" charset="0"/>
                      </a:rPr>
                      <m:t>𝛿</m:t>
                    </m:r>
                  </m:oMath>
                </a14:m>
                <a:r>
                  <a:rPr lang="en-US">
                    <a:solidFill>
                      <a:schemeClr val="accent3"/>
                    </a:solidFill>
                  </a:rPr>
                  <a:t>  </a:t>
                </a:r>
                <a:endParaRPr lang="en-US"/>
              </a:p>
            </p:txBody>
          </p:sp>
        </mc:Choice>
        <mc:Fallback>
          <p:sp>
            <p:nvSpPr>
              <p:cNvPr id="3" name="Content Placeholder 2">
                <a:extLst>
                  <a:ext uri="{FF2B5EF4-FFF2-40B4-BE49-F238E27FC236}">
                    <a16:creationId xmlns:a16="http://schemas.microsoft.com/office/drawing/2014/main" id="{540A4479-693B-E10E-E1AA-83F0CCA3DFCA}"/>
                  </a:ext>
                </a:extLst>
              </p:cNvPr>
              <p:cNvSpPr>
                <a:spLocks noGrp="1" noRot="1" noChangeAspect="1" noMove="1" noResize="1" noEditPoints="1" noAdjustHandles="1" noChangeArrowheads="1" noChangeShapeType="1" noTextEdit="1"/>
              </p:cNvSpPr>
              <p:nvPr>
                <p:ph idx="1"/>
              </p:nvPr>
            </p:nvSpPr>
            <p:spPr>
              <a:blipFill>
                <a:blip r:embed="rId3"/>
                <a:stretch>
                  <a:fillRect l="-796" t="-541" b="-9632"/>
                </a:stretch>
              </a:blipFill>
            </p:spPr>
            <p:txBody>
              <a:bodyPr/>
              <a:lstStyle/>
              <a:p>
                <a:r>
                  <a:rPr lang="en-US">
                    <a:noFill/>
                  </a:rPr>
                  <a:t> </a:t>
                </a:r>
              </a:p>
            </p:txBody>
          </p:sp>
        </mc:Fallback>
      </mc:AlternateContent>
    </p:spTree>
    <p:extLst>
      <p:ext uri="{BB962C8B-B14F-4D97-AF65-F5344CB8AC3E}">
        <p14:creationId xmlns:p14="http://schemas.microsoft.com/office/powerpoint/2010/main" val="15651157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F7E35-1BFA-65C3-3172-85BE9EE11E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5B6EEF-F9BD-1669-5132-3F01E442E7B9}"/>
              </a:ext>
            </a:extLst>
          </p:cNvPr>
          <p:cNvSpPr>
            <a:spLocks noGrp="1"/>
          </p:cNvSpPr>
          <p:nvPr>
            <p:ph type="title"/>
          </p:nvPr>
        </p:nvSpPr>
        <p:spPr/>
        <p:txBody>
          <a:bodyPr/>
          <a:lstStyle/>
          <a:p>
            <a:r>
              <a:rPr lang="en-US"/>
              <a:t>Today’s Answer (Spoiler)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6E33283-2ABF-02D8-08F6-7105BD41BE97}"/>
                  </a:ext>
                </a:extLst>
              </p:cNvPr>
              <p:cNvSpPr>
                <a:spLocks noGrp="1"/>
              </p:cNvSpPr>
              <p:nvPr>
                <p:ph idx="1"/>
              </p:nvPr>
            </p:nvSpPr>
            <p:spPr/>
            <p:txBody>
              <a:bodyPr/>
              <a:lstStyle/>
              <a:p>
                <a:r>
                  <a:rPr lang="en-US"/>
                  <a:t>To achieve our desired goal: </a:t>
                </a:r>
                <a14:m>
                  <m:oMath xmlns:m="http://schemas.openxmlformats.org/officeDocument/2006/math">
                    <m:r>
                      <a:rPr lang="en-US" sz="2800" b="0" i="1" smtClean="0">
                        <a:solidFill>
                          <a:schemeClr val="accent3"/>
                        </a:solidFill>
                        <a:latin typeface="Cambria Math" panose="02040503050406030204" pitchFamily="18" charset="0"/>
                      </a:rPr>
                      <m:t>𝑃</m:t>
                    </m:r>
                    <m:d>
                      <m:dPr>
                        <m:ctrlPr>
                          <a:rPr lang="en-US" sz="2800" b="0" i="1" smtClean="0">
                            <a:solidFill>
                              <a:schemeClr val="accent3"/>
                            </a:solidFill>
                            <a:latin typeface="Cambria Math" panose="02040503050406030204" pitchFamily="18" charset="0"/>
                          </a:rPr>
                        </m:ctrlPr>
                      </m:dPr>
                      <m:e>
                        <m:d>
                          <m:dPr>
                            <m:begChr m:val="|"/>
                            <m:endChr m:val="|"/>
                            <m:ctrlPr>
                              <a:rPr lang="en-US" sz="2800" b="0" i="1" smtClean="0">
                                <a:solidFill>
                                  <a:schemeClr val="accent3"/>
                                </a:solidFill>
                                <a:latin typeface="Cambria Math" panose="02040503050406030204" pitchFamily="18" charset="0"/>
                              </a:rPr>
                            </m:ctrlPr>
                          </m:dPr>
                          <m:e>
                            <m:r>
                              <a:rPr lang="en-US" sz="2800" b="0" i="1" smtClean="0">
                                <a:solidFill>
                                  <a:schemeClr val="accent3"/>
                                </a:solidFill>
                                <a:latin typeface="Cambria Math" panose="02040503050406030204" pitchFamily="18" charset="0"/>
                              </a:rPr>
                              <m:t>𝑝</m:t>
                            </m:r>
                            <m:r>
                              <a:rPr lang="en-US" sz="2800" b="0" i="1" smtClean="0">
                                <a:solidFill>
                                  <a:schemeClr val="accent3"/>
                                </a:solidFill>
                                <a:latin typeface="Cambria Math" panose="02040503050406030204" pitchFamily="18" charset="0"/>
                              </a:rPr>
                              <m:t>−</m:t>
                            </m:r>
                            <m:acc>
                              <m:accPr>
                                <m:chr m:val="̂"/>
                                <m:ctrlPr>
                                  <a:rPr lang="en-US" sz="2800" b="0" i="1" smtClean="0">
                                    <a:solidFill>
                                      <a:schemeClr val="accent3"/>
                                    </a:solidFill>
                                    <a:latin typeface="Cambria Math" panose="02040503050406030204" pitchFamily="18" charset="0"/>
                                  </a:rPr>
                                </m:ctrlPr>
                              </m:accPr>
                              <m:e>
                                <m:r>
                                  <a:rPr lang="en-US" sz="2800" b="0" i="1" smtClean="0">
                                    <a:solidFill>
                                      <a:schemeClr val="accent3"/>
                                    </a:solidFill>
                                    <a:latin typeface="Cambria Math" panose="02040503050406030204" pitchFamily="18" charset="0"/>
                                  </a:rPr>
                                  <m:t>𝑝</m:t>
                                </m:r>
                              </m:e>
                            </m:acc>
                          </m:e>
                        </m:d>
                        <m:r>
                          <a:rPr lang="en-US" sz="2800" b="0" i="1" smtClean="0">
                            <a:solidFill>
                              <a:schemeClr val="accent3"/>
                            </a:solidFill>
                            <a:latin typeface="Cambria Math" panose="02040503050406030204" pitchFamily="18" charset="0"/>
                          </a:rPr>
                          <m:t>≤</m:t>
                        </m:r>
                        <m:r>
                          <a:rPr lang="en-US" sz="2800" b="0" i="1" smtClean="0">
                            <a:solidFill>
                              <a:schemeClr val="accent3"/>
                            </a:solidFill>
                            <a:latin typeface="Cambria Math" panose="02040503050406030204" pitchFamily="18" charset="0"/>
                          </a:rPr>
                          <m:t>𝜖</m:t>
                        </m:r>
                      </m:e>
                    </m:d>
                    <m:r>
                      <a:rPr lang="en-US" sz="2800" b="0" i="1" smtClean="0">
                        <a:solidFill>
                          <a:schemeClr val="accent3"/>
                        </a:solidFill>
                        <a:latin typeface="Cambria Math" panose="02040503050406030204" pitchFamily="18" charset="0"/>
                      </a:rPr>
                      <m:t>≥1−</m:t>
                    </m:r>
                    <m:r>
                      <a:rPr lang="en-US" sz="2800" b="0" i="1" smtClean="0">
                        <a:solidFill>
                          <a:schemeClr val="accent3"/>
                        </a:solidFill>
                        <a:latin typeface="Cambria Math" panose="02040503050406030204" pitchFamily="18" charset="0"/>
                      </a:rPr>
                      <m:t>𝛿</m:t>
                    </m:r>
                  </m:oMath>
                </a14:m>
                <a:endParaRPr lang="en-US" sz="2800">
                  <a:solidFill>
                    <a:schemeClr val="accent3"/>
                  </a:solidFill>
                </a:endParaRPr>
              </a:p>
              <a:p>
                <a:endParaRPr lang="en-US"/>
              </a:p>
              <a:p>
                <a:r>
                  <a:rPr lang="en-US"/>
                  <a:t>We can show that </a:t>
                </a:r>
                <a14:m>
                  <m:oMath xmlns:m="http://schemas.openxmlformats.org/officeDocument/2006/math">
                    <m:r>
                      <a:rPr lang="en-US" sz="2800" b="0" i="1" smtClean="0">
                        <a:solidFill>
                          <a:schemeClr val="accent3"/>
                        </a:solidFill>
                        <a:latin typeface="Cambria Math" panose="02040503050406030204" pitchFamily="18" charset="0"/>
                      </a:rPr>
                      <m:t>𝑛</m:t>
                    </m:r>
                    <m:r>
                      <a:rPr lang="en-US" sz="2800" b="0" i="1" smtClean="0">
                        <a:solidFill>
                          <a:schemeClr val="accent3"/>
                        </a:solidFill>
                        <a:latin typeface="Cambria Math" panose="02040503050406030204" pitchFamily="18" charset="0"/>
                      </a:rPr>
                      <m:t>≥</m:t>
                    </m:r>
                    <m:f>
                      <m:fPr>
                        <m:ctrlPr>
                          <a:rPr lang="en-US" sz="2800" b="0" i="1" smtClean="0">
                            <a:solidFill>
                              <a:schemeClr val="accent3"/>
                            </a:solidFill>
                            <a:latin typeface="Cambria Math" panose="02040503050406030204" pitchFamily="18" charset="0"/>
                          </a:rPr>
                        </m:ctrlPr>
                      </m:fPr>
                      <m:num>
                        <m:r>
                          <a:rPr lang="en-US" sz="2800" b="0" i="1" smtClean="0">
                            <a:solidFill>
                              <a:schemeClr val="accent3"/>
                            </a:solidFill>
                            <a:latin typeface="Cambria Math" panose="02040503050406030204" pitchFamily="18" charset="0"/>
                          </a:rPr>
                          <m:t>1</m:t>
                        </m:r>
                      </m:num>
                      <m:den>
                        <m:r>
                          <a:rPr lang="en-US" sz="2800" b="0" i="1" smtClean="0">
                            <a:solidFill>
                              <a:schemeClr val="accent3"/>
                            </a:solidFill>
                            <a:latin typeface="Cambria Math" panose="02040503050406030204" pitchFamily="18" charset="0"/>
                          </a:rPr>
                          <m:t>4</m:t>
                        </m:r>
                        <m:sSup>
                          <m:sSupPr>
                            <m:ctrlPr>
                              <a:rPr lang="en-US" sz="2800" b="0" i="1" smtClean="0">
                                <a:solidFill>
                                  <a:schemeClr val="accent3"/>
                                </a:solidFill>
                                <a:latin typeface="Cambria Math" panose="02040503050406030204" pitchFamily="18" charset="0"/>
                              </a:rPr>
                            </m:ctrlPr>
                          </m:sSupPr>
                          <m:e>
                            <m:r>
                              <a:rPr lang="en-US" sz="2800" b="0" i="1" smtClean="0">
                                <a:solidFill>
                                  <a:schemeClr val="accent3"/>
                                </a:solidFill>
                                <a:latin typeface="Cambria Math" panose="02040503050406030204" pitchFamily="18" charset="0"/>
                              </a:rPr>
                              <m:t>𝜖</m:t>
                            </m:r>
                          </m:e>
                          <m:sup>
                            <m:r>
                              <a:rPr lang="en-US" sz="2800" b="0" i="1" smtClean="0">
                                <a:solidFill>
                                  <a:schemeClr val="accent3"/>
                                </a:solidFill>
                                <a:latin typeface="Cambria Math" panose="02040503050406030204" pitchFamily="18" charset="0"/>
                              </a:rPr>
                              <m:t>2</m:t>
                            </m:r>
                          </m:sup>
                        </m:sSup>
                        <m:r>
                          <a:rPr lang="en-US" sz="2800" b="0" i="1" smtClean="0">
                            <a:solidFill>
                              <a:schemeClr val="accent3"/>
                            </a:solidFill>
                            <a:latin typeface="Cambria Math" panose="02040503050406030204" pitchFamily="18" charset="0"/>
                          </a:rPr>
                          <m:t>𝛿</m:t>
                        </m:r>
                      </m:den>
                    </m:f>
                  </m:oMath>
                </a14:m>
                <a:r>
                  <a:rPr lang="en-US"/>
                  <a:t> coin flips is sufficient.</a:t>
                </a:r>
              </a:p>
              <a:p>
                <a:pPr marL="342900" indent="-342900">
                  <a:buFont typeface="Arial" panose="020B0604020202020204" pitchFamily="34" charset="0"/>
                  <a:buChar char="•"/>
                </a:pPr>
                <a:r>
                  <a:rPr lang="en-US"/>
                  <a:t>We’ll use something called Chebyshev’s inequality to derive this later.</a:t>
                </a:r>
              </a:p>
              <a:p>
                <a:endParaRPr lang="en-US"/>
              </a:p>
              <a:p>
                <a:r>
                  <a:rPr lang="en-US"/>
                  <a:t>Example: If </a:t>
                </a:r>
                <a14:m>
                  <m:oMath xmlns:m="http://schemas.openxmlformats.org/officeDocument/2006/math">
                    <m:r>
                      <a:rPr lang="en-US" sz="2400" b="0" i="1" smtClean="0">
                        <a:solidFill>
                          <a:schemeClr val="accent3"/>
                        </a:solidFill>
                        <a:latin typeface="Cambria Math" panose="02040503050406030204" pitchFamily="18" charset="0"/>
                      </a:rPr>
                      <m:t>𝛿</m:t>
                    </m:r>
                    <m:r>
                      <a:rPr lang="en-US" sz="2400" b="0" i="1" smtClean="0">
                        <a:solidFill>
                          <a:schemeClr val="accent3"/>
                        </a:solidFill>
                        <a:latin typeface="Cambria Math" panose="02040503050406030204" pitchFamily="18" charset="0"/>
                      </a:rPr>
                      <m:t>=1%</m:t>
                    </m:r>
                  </m:oMath>
                </a14:m>
                <a:r>
                  <a:rPr lang="en-US"/>
                  <a:t> and </a:t>
                </a:r>
                <a14:m>
                  <m:oMath xmlns:m="http://schemas.openxmlformats.org/officeDocument/2006/math">
                    <m:r>
                      <a:rPr lang="en-US" i="1">
                        <a:solidFill>
                          <a:schemeClr val="accent3"/>
                        </a:solidFill>
                        <a:latin typeface="Cambria Math" panose="02040503050406030204" pitchFamily="18" charset="0"/>
                      </a:rPr>
                      <m:t>𝜖</m:t>
                    </m:r>
                    <m:r>
                      <a:rPr lang="en-US" b="0" i="1" smtClean="0">
                        <a:solidFill>
                          <a:schemeClr val="accent3"/>
                        </a:solidFill>
                        <a:latin typeface="Cambria Math" panose="02040503050406030204" pitchFamily="18" charset="0"/>
                      </a:rPr>
                      <m:t>=0.05</m:t>
                    </m:r>
                  </m:oMath>
                </a14:m>
                <a:r>
                  <a:rPr lang="en-US"/>
                  <a:t>, then target </a:t>
                </a:r>
                <a14:m>
                  <m:oMath xmlns:m="http://schemas.openxmlformats.org/officeDocument/2006/math">
                    <m:r>
                      <a:rPr lang="en-US" i="1" dirty="0" smtClean="0">
                        <a:latin typeface="Cambria Math" panose="02040503050406030204" pitchFamily="18" charset="0"/>
                      </a:rPr>
                      <m:t>𝑛</m:t>
                    </m:r>
                  </m:oMath>
                </a14:m>
                <a:r>
                  <a:rPr lang="en-US"/>
                  <a:t> is </a:t>
                </a:r>
                <a14:m>
                  <m:oMath xmlns:m="http://schemas.openxmlformats.org/officeDocument/2006/math">
                    <m:f>
                      <m:fPr>
                        <m:ctrlPr>
                          <a:rPr lang="en-US" sz="2800" i="1">
                            <a:solidFill>
                              <a:schemeClr val="accent3"/>
                            </a:solidFill>
                            <a:latin typeface="Cambria Math" panose="02040503050406030204" pitchFamily="18" charset="0"/>
                          </a:rPr>
                        </m:ctrlPr>
                      </m:fPr>
                      <m:num>
                        <m:r>
                          <a:rPr lang="en-US" sz="2800" i="1">
                            <a:solidFill>
                              <a:schemeClr val="accent3"/>
                            </a:solidFill>
                            <a:latin typeface="Cambria Math" panose="02040503050406030204" pitchFamily="18" charset="0"/>
                          </a:rPr>
                          <m:t>1</m:t>
                        </m:r>
                      </m:num>
                      <m:den>
                        <m:r>
                          <a:rPr lang="en-US" sz="2800" i="1">
                            <a:solidFill>
                              <a:schemeClr val="accent3"/>
                            </a:solidFill>
                            <a:latin typeface="Cambria Math" panose="02040503050406030204" pitchFamily="18" charset="0"/>
                          </a:rPr>
                          <m:t>4</m:t>
                        </m:r>
                        <m:sSup>
                          <m:sSupPr>
                            <m:ctrlPr>
                              <a:rPr lang="en-US" sz="2800" b="0" i="1" smtClean="0">
                                <a:solidFill>
                                  <a:schemeClr val="accent3"/>
                                </a:solidFill>
                                <a:latin typeface="Cambria Math" panose="02040503050406030204" pitchFamily="18" charset="0"/>
                              </a:rPr>
                            </m:ctrlPr>
                          </m:sSupPr>
                          <m:e>
                            <m:d>
                              <m:dPr>
                                <m:ctrlPr>
                                  <a:rPr lang="en-US" sz="2800" b="0" i="1" smtClean="0">
                                    <a:solidFill>
                                      <a:schemeClr val="accent3"/>
                                    </a:solidFill>
                                    <a:latin typeface="Cambria Math" panose="02040503050406030204" pitchFamily="18" charset="0"/>
                                  </a:rPr>
                                </m:ctrlPr>
                              </m:dPr>
                              <m:e>
                                <m:r>
                                  <a:rPr lang="en-US" sz="2800" b="0" i="1" smtClean="0">
                                    <a:solidFill>
                                      <a:schemeClr val="accent3"/>
                                    </a:solidFill>
                                    <a:latin typeface="Cambria Math" panose="02040503050406030204" pitchFamily="18" charset="0"/>
                                  </a:rPr>
                                  <m:t>0.05</m:t>
                                </m:r>
                              </m:e>
                            </m:d>
                          </m:e>
                          <m:sup>
                            <m:r>
                              <a:rPr lang="en-US" sz="2800" b="0" i="1" smtClean="0">
                                <a:solidFill>
                                  <a:schemeClr val="accent3"/>
                                </a:solidFill>
                                <a:latin typeface="Cambria Math" panose="02040503050406030204" pitchFamily="18" charset="0"/>
                              </a:rPr>
                              <m:t>2</m:t>
                            </m:r>
                          </m:sup>
                        </m:sSup>
                        <m:r>
                          <a:rPr lang="en-US" sz="2800" b="0" i="1" smtClean="0">
                            <a:solidFill>
                              <a:schemeClr val="accent3"/>
                            </a:solidFill>
                            <a:latin typeface="Cambria Math" panose="02040503050406030204" pitchFamily="18" charset="0"/>
                          </a:rPr>
                          <m:t>0.01</m:t>
                        </m:r>
                      </m:den>
                    </m:f>
                    <m:r>
                      <a:rPr lang="en-US" sz="2800" b="0" i="1" smtClean="0">
                        <a:solidFill>
                          <a:schemeClr val="accent3"/>
                        </a:solidFill>
                        <a:latin typeface="Cambria Math" panose="02040503050406030204" pitchFamily="18" charset="0"/>
                      </a:rPr>
                      <m:t>=10000</m:t>
                    </m:r>
                  </m:oMath>
                </a14:m>
                <a:endParaRPr lang="en-US" sz="2800"/>
              </a:p>
              <a:p>
                <a:pPr marL="342900" indent="-342900">
                  <a:buFont typeface="Arial" panose="020B0604020202020204" pitchFamily="34" charset="0"/>
                  <a:buChar char="•"/>
                </a:pPr>
                <a:r>
                  <a:rPr lang="en-US"/>
                  <a:t>That is, if we flip the coin 10,000 times, then there is only a 1% chance that our estimate </a:t>
                </a:r>
                <a14:m>
                  <m:oMath xmlns:m="http://schemas.openxmlformats.org/officeDocument/2006/math">
                    <m:acc>
                      <m:accPr>
                        <m:chr m:val="̂"/>
                        <m:ctrlPr>
                          <a:rPr lang="en-US" sz="2400" b="0" i="1" smtClean="0">
                            <a:solidFill>
                              <a:schemeClr val="tx1"/>
                            </a:solidFill>
                            <a:latin typeface="Cambria Math" panose="02040503050406030204" pitchFamily="18" charset="0"/>
                          </a:rPr>
                        </m:ctrlPr>
                      </m:accPr>
                      <m:e>
                        <m:r>
                          <a:rPr lang="en-US" sz="2400" b="0" i="1" smtClean="0">
                            <a:solidFill>
                              <a:schemeClr val="tx1"/>
                            </a:solidFill>
                            <a:latin typeface="Cambria Math" panose="02040503050406030204" pitchFamily="18" charset="0"/>
                          </a:rPr>
                          <m:t>𝑝</m:t>
                        </m:r>
                      </m:e>
                    </m:acc>
                  </m:oMath>
                </a14:m>
                <a:r>
                  <a:rPr lang="en-US"/>
                  <a:t> is off by more than 0.05.</a:t>
                </a:r>
              </a:p>
              <a:p>
                <a:pPr marL="342900" indent="-342900">
                  <a:buFont typeface="Arial" panose="020B0604020202020204" pitchFamily="34" charset="0"/>
                  <a:buChar char="•"/>
                </a:pPr>
                <a:r>
                  <a:rPr lang="en-US"/>
                  <a:t>I observe that it is also true that  </a:t>
                </a:r>
                <a14:m>
                  <m:oMath xmlns:m="http://schemas.openxmlformats.org/officeDocument/2006/math">
                    <m:f>
                      <m:fPr>
                        <m:ctrlPr>
                          <a:rPr lang="en-US" sz="2800" i="1">
                            <a:solidFill>
                              <a:schemeClr val="accent3"/>
                            </a:solidFill>
                            <a:latin typeface="Cambria Math" panose="02040503050406030204" pitchFamily="18" charset="0"/>
                          </a:rPr>
                        </m:ctrlPr>
                      </m:fPr>
                      <m:num>
                        <m:r>
                          <a:rPr lang="en-US" sz="2800" i="1">
                            <a:solidFill>
                              <a:schemeClr val="accent3"/>
                            </a:solidFill>
                            <a:latin typeface="Cambria Math" panose="02040503050406030204" pitchFamily="18" charset="0"/>
                          </a:rPr>
                          <m:t>1</m:t>
                        </m:r>
                      </m:num>
                      <m:den>
                        <m:r>
                          <a:rPr lang="en-US" sz="2800" i="1">
                            <a:solidFill>
                              <a:schemeClr val="accent3"/>
                            </a:solidFill>
                            <a:latin typeface="Cambria Math" panose="02040503050406030204" pitchFamily="18" charset="0"/>
                          </a:rPr>
                          <m:t>4</m:t>
                        </m:r>
                        <m:sSup>
                          <m:sSupPr>
                            <m:ctrlPr>
                              <a:rPr lang="en-US" sz="2800" i="1">
                                <a:solidFill>
                                  <a:schemeClr val="accent3"/>
                                </a:solidFill>
                                <a:latin typeface="Cambria Math" panose="02040503050406030204" pitchFamily="18" charset="0"/>
                              </a:rPr>
                            </m:ctrlPr>
                          </m:sSupPr>
                          <m:e>
                            <m:d>
                              <m:dPr>
                                <m:ctrlPr>
                                  <a:rPr lang="en-US" sz="2800" i="1">
                                    <a:solidFill>
                                      <a:schemeClr val="accent3"/>
                                    </a:solidFill>
                                    <a:latin typeface="Cambria Math" panose="02040503050406030204" pitchFamily="18" charset="0"/>
                                  </a:rPr>
                                </m:ctrlPr>
                              </m:dPr>
                              <m:e>
                                <m:r>
                                  <a:rPr lang="en-US" sz="2800" i="1">
                                    <a:solidFill>
                                      <a:schemeClr val="accent3"/>
                                    </a:solidFill>
                                    <a:latin typeface="Cambria Math" panose="02040503050406030204" pitchFamily="18" charset="0"/>
                                  </a:rPr>
                                  <m:t>0.01</m:t>
                                </m:r>
                              </m:e>
                            </m:d>
                          </m:e>
                          <m:sup>
                            <m:r>
                              <a:rPr lang="en-US" sz="2800" i="1">
                                <a:solidFill>
                                  <a:schemeClr val="accent3"/>
                                </a:solidFill>
                                <a:latin typeface="Cambria Math" panose="02040503050406030204" pitchFamily="18" charset="0"/>
                              </a:rPr>
                              <m:t>2</m:t>
                            </m:r>
                          </m:sup>
                        </m:sSup>
                        <m:r>
                          <a:rPr lang="en-US" sz="2800" i="1">
                            <a:solidFill>
                              <a:schemeClr val="accent3"/>
                            </a:solidFill>
                            <a:latin typeface="Cambria Math" panose="02040503050406030204" pitchFamily="18" charset="0"/>
                          </a:rPr>
                          <m:t>0.25</m:t>
                        </m:r>
                      </m:den>
                    </m:f>
                    <m:r>
                      <a:rPr lang="en-US" sz="2800" i="1">
                        <a:solidFill>
                          <a:schemeClr val="accent3"/>
                        </a:solidFill>
                        <a:latin typeface="Cambria Math" panose="02040503050406030204" pitchFamily="18" charset="0"/>
                      </a:rPr>
                      <m:t>=10000</m:t>
                    </m:r>
                  </m:oMath>
                </a14:m>
                <a:r>
                  <a:rPr lang="en-US"/>
                  <a:t>. As a result, what else can I say about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a:t>? </a:t>
                </a:r>
              </a:p>
            </p:txBody>
          </p:sp>
        </mc:Choice>
        <mc:Fallback>
          <p:sp>
            <p:nvSpPr>
              <p:cNvPr id="3" name="Content Placeholder 2">
                <a:extLst>
                  <a:ext uri="{FF2B5EF4-FFF2-40B4-BE49-F238E27FC236}">
                    <a16:creationId xmlns:a16="http://schemas.microsoft.com/office/drawing/2014/main" id="{D6E33283-2ABF-02D8-08F6-7105BD41BE97}"/>
                  </a:ext>
                </a:extLst>
              </p:cNvPr>
              <p:cNvSpPr>
                <a:spLocks noGrp="1" noRot="1" noChangeAspect="1" noMove="1" noResize="1" noEditPoints="1" noAdjustHandles="1" noChangeArrowheads="1" noChangeShapeType="1" noTextEdit="1"/>
              </p:cNvSpPr>
              <p:nvPr>
                <p:ph idx="1"/>
              </p:nvPr>
            </p:nvSpPr>
            <p:spPr>
              <a:blipFill>
                <a:blip r:embed="rId2"/>
                <a:stretch>
                  <a:fillRect l="-796" r="-849" b="-7792"/>
                </a:stretch>
              </a:blipFill>
            </p:spPr>
            <p:txBody>
              <a:bodyPr/>
              <a:lstStyle/>
              <a:p>
                <a:r>
                  <a:rPr lang="en-US">
                    <a:noFill/>
                  </a:rPr>
                  <a:t> </a:t>
                </a:r>
              </a:p>
            </p:txBody>
          </p:sp>
        </mc:Fallback>
      </mc:AlternateContent>
    </p:spTree>
    <p:extLst>
      <p:ext uri="{BB962C8B-B14F-4D97-AF65-F5344CB8AC3E}">
        <p14:creationId xmlns:p14="http://schemas.microsoft.com/office/powerpoint/2010/main" val="38540159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F9281-B864-B589-010F-B86D637DB9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A6F9F0-AD4A-EB24-7EB6-D24A5D590FE9}"/>
              </a:ext>
            </a:extLst>
          </p:cNvPr>
          <p:cNvSpPr>
            <a:spLocks noGrp="1"/>
          </p:cNvSpPr>
          <p:nvPr>
            <p:ph type="title"/>
          </p:nvPr>
        </p:nvSpPr>
        <p:spPr/>
        <p:txBody>
          <a:bodyPr/>
          <a:lstStyle/>
          <a:p>
            <a:r>
              <a:rPr lang="en-US"/>
              <a:t>Today’s Answer (Spoiler)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0349924-3EC9-16FF-55A3-02CF20F018EC}"/>
                  </a:ext>
                </a:extLst>
              </p:cNvPr>
              <p:cNvSpPr>
                <a:spLocks noGrp="1"/>
              </p:cNvSpPr>
              <p:nvPr>
                <p:ph idx="1"/>
              </p:nvPr>
            </p:nvSpPr>
            <p:spPr/>
            <p:txBody>
              <a:bodyPr/>
              <a:lstStyle/>
              <a:p>
                <a:r>
                  <a:rPr lang="en-US"/>
                  <a:t>To achieve our desired goal: </a:t>
                </a:r>
                <a14:m>
                  <m:oMath xmlns:m="http://schemas.openxmlformats.org/officeDocument/2006/math">
                    <m:r>
                      <a:rPr lang="en-US" sz="2800" b="0" i="1" smtClean="0">
                        <a:solidFill>
                          <a:schemeClr val="accent3"/>
                        </a:solidFill>
                        <a:latin typeface="Cambria Math" panose="02040503050406030204" pitchFamily="18" charset="0"/>
                      </a:rPr>
                      <m:t>𝑃</m:t>
                    </m:r>
                    <m:d>
                      <m:dPr>
                        <m:ctrlPr>
                          <a:rPr lang="en-US" sz="2800" b="0" i="1" smtClean="0">
                            <a:solidFill>
                              <a:schemeClr val="accent3"/>
                            </a:solidFill>
                            <a:latin typeface="Cambria Math" panose="02040503050406030204" pitchFamily="18" charset="0"/>
                          </a:rPr>
                        </m:ctrlPr>
                      </m:dPr>
                      <m:e>
                        <m:d>
                          <m:dPr>
                            <m:begChr m:val="|"/>
                            <m:endChr m:val="|"/>
                            <m:ctrlPr>
                              <a:rPr lang="en-US" sz="2800" b="0" i="1" smtClean="0">
                                <a:solidFill>
                                  <a:schemeClr val="accent3"/>
                                </a:solidFill>
                                <a:latin typeface="Cambria Math" panose="02040503050406030204" pitchFamily="18" charset="0"/>
                              </a:rPr>
                            </m:ctrlPr>
                          </m:dPr>
                          <m:e>
                            <m:r>
                              <a:rPr lang="en-US" sz="2800" b="0" i="1" smtClean="0">
                                <a:solidFill>
                                  <a:schemeClr val="accent3"/>
                                </a:solidFill>
                                <a:latin typeface="Cambria Math" panose="02040503050406030204" pitchFamily="18" charset="0"/>
                              </a:rPr>
                              <m:t>𝑝</m:t>
                            </m:r>
                            <m:r>
                              <a:rPr lang="en-US" sz="2800" b="0" i="1" smtClean="0">
                                <a:solidFill>
                                  <a:schemeClr val="accent3"/>
                                </a:solidFill>
                                <a:latin typeface="Cambria Math" panose="02040503050406030204" pitchFamily="18" charset="0"/>
                              </a:rPr>
                              <m:t>−</m:t>
                            </m:r>
                            <m:acc>
                              <m:accPr>
                                <m:chr m:val="̂"/>
                                <m:ctrlPr>
                                  <a:rPr lang="en-US" sz="2800" b="0" i="1" smtClean="0">
                                    <a:solidFill>
                                      <a:schemeClr val="accent3"/>
                                    </a:solidFill>
                                    <a:latin typeface="Cambria Math" panose="02040503050406030204" pitchFamily="18" charset="0"/>
                                  </a:rPr>
                                </m:ctrlPr>
                              </m:accPr>
                              <m:e>
                                <m:r>
                                  <a:rPr lang="en-US" sz="2800" b="0" i="1" smtClean="0">
                                    <a:solidFill>
                                      <a:schemeClr val="accent3"/>
                                    </a:solidFill>
                                    <a:latin typeface="Cambria Math" panose="02040503050406030204" pitchFamily="18" charset="0"/>
                                  </a:rPr>
                                  <m:t>𝑝</m:t>
                                </m:r>
                              </m:e>
                            </m:acc>
                          </m:e>
                        </m:d>
                        <m:r>
                          <a:rPr lang="en-US" sz="2800" b="0" i="1" smtClean="0">
                            <a:solidFill>
                              <a:schemeClr val="accent3"/>
                            </a:solidFill>
                            <a:latin typeface="Cambria Math" panose="02040503050406030204" pitchFamily="18" charset="0"/>
                          </a:rPr>
                          <m:t>≤</m:t>
                        </m:r>
                        <m:r>
                          <a:rPr lang="en-US" sz="2800" b="0" i="1" smtClean="0">
                            <a:solidFill>
                              <a:schemeClr val="accent3"/>
                            </a:solidFill>
                            <a:latin typeface="Cambria Math" panose="02040503050406030204" pitchFamily="18" charset="0"/>
                          </a:rPr>
                          <m:t>𝜖</m:t>
                        </m:r>
                      </m:e>
                    </m:d>
                    <m:r>
                      <a:rPr lang="en-US" sz="2800" b="0" i="1" smtClean="0">
                        <a:solidFill>
                          <a:schemeClr val="accent3"/>
                        </a:solidFill>
                        <a:latin typeface="Cambria Math" panose="02040503050406030204" pitchFamily="18" charset="0"/>
                      </a:rPr>
                      <m:t>≥1−</m:t>
                    </m:r>
                    <m:r>
                      <a:rPr lang="en-US" sz="2800" b="0" i="1" smtClean="0">
                        <a:solidFill>
                          <a:schemeClr val="accent3"/>
                        </a:solidFill>
                        <a:latin typeface="Cambria Math" panose="02040503050406030204" pitchFamily="18" charset="0"/>
                      </a:rPr>
                      <m:t>𝛿</m:t>
                    </m:r>
                  </m:oMath>
                </a14:m>
                <a:endParaRPr lang="en-US" sz="2800">
                  <a:solidFill>
                    <a:schemeClr val="accent3"/>
                  </a:solidFill>
                </a:endParaRPr>
              </a:p>
              <a:p>
                <a:endParaRPr lang="en-US"/>
              </a:p>
              <a:p>
                <a:r>
                  <a:rPr lang="en-US"/>
                  <a:t>We can show that </a:t>
                </a:r>
                <a14:m>
                  <m:oMath xmlns:m="http://schemas.openxmlformats.org/officeDocument/2006/math">
                    <m:r>
                      <a:rPr lang="en-US" sz="2800" b="0" i="1" smtClean="0">
                        <a:solidFill>
                          <a:schemeClr val="accent3"/>
                        </a:solidFill>
                        <a:latin typeface="Cambria Math" panose="02040503050406030204" pitchFamily="18" charset="0"/>
                      </a:rPr>
                      <m:t>𝑛</m:t>
                    </m:r>
                    <m:r>
                      <a:rPr lang="en-US" sz="2800" b="0" i="1" smtClean="0">
                        <a:solidFill>
                          <a:schemeClr val="accent3"/>
                        </a:solidFill>
                        <a:latin typeface="Cambria Math" panose="02040503050406030204" pitchFamily="18" charset="0"/>
                      </a:rPr>
                      <m:t>≥</m:t>
                    </m:r>
                    <m:f>
                      <m:fPr>
                        <m:ctrlPr>
                          <a:rPr lang="en-US" sz="2800" b="0" i="1" smtClean="0">
                            <a:solidFill>
                              <a:schemeClr val="accent3"/>
                            </a:solidFill>
                            <a:latin typeface="Cambria Math" panose="02040503050406030204" pitchFamily="18" charset="0"/>
                          </a:rPr>
                        </m:ctrlPr>
                      </m:fPr>
                      <m:num>
                        <m:r>
                          <a:rPr lang="en-US" sz="2800" b="0" i="1" smtClean="0">
                            <a:solidFill>
                              <a:schemeClr val="accent3"/>
                            </a:solidFill>
                            <a:latin typeface="Cambria Math" panose="02040503050406030204" pitchFamily="18" charset="0"/>
                          </a:rPr>
                          <m:t>1</m:t>
                        </m:r>
                      </m:num>
                      <m:den>
                        <m:r>
                          <a:rPr lang="en-US" sz="2800" b="0" i="1" smtClean="0">
                            <a:solidFill>
                              <a:schemeClr val="accent3"/>
                            </a:solidFill>
                            <a:latin typeface="Cambria Math" panose="02040503050406030204" pitchFamily="18" charset="0"/>
                          </a:rPr>
                          <m:t>4</m:t>
                        </m:r>
                        <m:sSup>
                          <m:sSupPr>
                            <m:ctrlPr>
                              <a:rPr lang="en-US" sz="2800" b="0" i="1" smtClean="0">
                                <a:solidFill>
                                  <a:schemeClr val="accent3"/>
                                </a:solidFill>
                                <a:latin typeface="Cambria Math" panose="02040503050406030204" pitchFamily="18" charset="0"/>
                              </a:rPr>
                            </m:ctrlPr>
                          </m:sSupPr>
                          <m:e>
                            <m:r>
                              <a:rPr lang="en-US" sz="2800" b="0" i="1" smtClean="0">
                                <a:solidFill>
                                  <a:schemeClr val="accent3"/>
                                </a:solidFill>
                                <a:latin typeface="Cambria Math" panose="02040503050406030204" pitchFamily="18" charset="0"/>
                              </a:rPr>
                              <m:t>𝜖</m:t>
                            </m:r>
                          </m:e>
                          <m:sup>
                            <m:r>
                              <a:rPr lang="en-US" sz="2800" b="0" i="1" smtClean="0">
                                <a:solidFill>
                                  <a:schemeClr val="accent3"/>
                                </a:solidFill>
                                <a:latin typeface="Cambria Math" panose="02040503050406030204" pitchFamily="18" charset="0"/>
                              </a:rPr>
                              <m:t>2</m:t>
                            </m:r>
                          </m:sup>
                        </m:sSup>
                        <m:r>
                          <a:rPr lang="en-US" sz="2800" b="0" i="1" smtClean="0">
                            <a:solidFill>
                              <a:schemeClr val="accent3"/>
                            </a:solidFill>
                            <a:latin typeface="Cambria Math" panose="02040503050406030204" pitchFamily="18" charset="0"/>
                          </a:rPr>
                          <m:t>𝛿</m:t>
                        </m:r>
                      </m:den>
                    </m:f>
                  </m:oMath>
                </a14:m>
                <a:r>
                  <a:rPr lang="en-US"/>
                  <a:t> coin flips is sufficient.</a:t>
                </a:r>
              </a:p>
              <a:p>
                <a:pPr marL="342900" indent="-342900">
                  <a:buFont typeface="Arial" panose="020B0604020202020204" pitchFamily="34" charset="0"/>
                  <a:buChar char="•"/>
                </a:pPr>
                <a:r>
                  <a:rPr lang="en-US"/>
                  <a:t>We’ll use something called Chebyshev’s inequality to derive this later.</a:t>
                </a:r>
              </a:p>
              <a:p>
                <a:endParaRPr lang="en-US"/>
              </a:p>
              <a:p>
                <a:r>
                  <a:rPr lang="en-US"/>
                  <a:t>Example: If </a:t>
                </a:r>
                <a14:m>
                  <m:oMath xmlns:m="http://schemas.openxmlformats.org/officeDocument/2006/math">
                    <m:r>
                      <a:rPr lang="en-US" sz="2400" b="0" i="1" smtClean="0">
                        <a:solidFill>
                          <a:schemeClr val="accent3"/>
                        </a:solidFill>
                        <a:latin typeface="Cambria Math" panose="02040503050406030204" pitchFamily="18" charset="0"/>
                      </a:rPr>
                      <m:t>𝛿</m:t>
                    </m:r>
                    <m:r>
                      <a:rPr lang="en-US" sz="2400" b="0" i="1" smtClean="0">
                        <a:solidFill>
                          <a:schemeClr val="accent3"/>
                        </a:solidFill>
                        <a:latin typeface="Cambria Math" panose="02040503050406030204" pitchFamily="18" charset="0"/>
                      </a:rPr>
                      <m:t>=1%</m:t>
                    </m:r>
                  </m:oMath>
                </a14:m>
                <a:r>
                  <a:rPr lang="en-US"/>
                  <a:t> and </a:t>
                </a:r>
                <a14:m>
                  <m:oMath xmlns:m="http://schemas.openxmlformats.org/officeDocument/2006/math">
                    <m:r>
                      <a:rPr lang="en-US" i="1">
                        <a:solidFill>
                          <a:schemeClr val="accent3"/>
                        </a:solidFill>
                        <a:latin typeface="Cambria Math" panose="02040503050406030204" pitchFamily="18" charset="0"/>
                      </a:rPr>
                      <m:t>𝜖</m:t>
                    </m:r>
                    <m:r>
                      <a:rPr lang="en-US" b="0" i="1" smtClean="0">
                        <a:solidFill>
                          <a:schemeClr val="accent3"/>
                        </a:solidFill>
                        <a:latin typeface="Cambria Math" panose="02040503050406030204" pitchFamily="18" charset="0"/>
                      </a:rPr>
                      <m:t>=0.05</m:t>
                    </m:r>
                  </m:oMath>
                </a14:m>
                <a:r>
                  <a:rPr lang="en-US"/>
                  <a:t>, then target </a:t>
                </a:r>
                <a14:m>
                  <m:oMath xmlns:m="http://schemas.openxmlformats.org/officeDocument/2006/math">
                    <m:r>
                      <a:rPr lang="en-US" i="1" dirty="0" smtClean="0">
                        <a:latin typeface="Cambria Math" panose="02040503050406030204" pitchFamily="18" charset="0"/>
                      </a:rPr>
                      <m:t>𝑛</m:t>
                    </m:r>
                  </m:oMath>
                </a14:m>
                <a:r>
                  <a:rPr lang="en-US"/>
                  <a:t> is </a:t>
                </a:r>
                <a14:m>
                  <m:oMath xmlns:m="http://schemas.openxmlformats.org/officeDocument/2006/math">
                    <m:f>
                      <m:fPr>
                        <m:ctrlPr>
                          <a:rPr lang="en-US" sz="2800" i="1">
                            <a:solidFill>
                              <a:schemeClr val="accent3"/>
                            </a:solidFill>
                            <a:latin typeface="Cambria Math" panose="02040503050406030204" pitchFamily="18" charset="0"/>
                          </a:rPr>
                        </m:ctrlPr>
                      </m:fPr>
                      <m:num>
                        <m:r>
                          <a:rPr lang="en-US" sz="2800" i="1">
                            <a:solidFill>
                              <a:schemeClr val="accent3"/>
                            </a:solidFill>
                            <a:latin typeface="Cambria Math" panose="02040503050406030204" pitchFamily="18" charset="0"/>
                          </a:rPr>
                          <m:t>1</m:t>
                        </m:r>
                      </m:num>
                      <m:den>
                        <m:r>
                          <a:rPr lang="en-US" sz="2800" i="1">
                            <a:solidFill>
                              <a:schemeClr val="accent3"/>
                            </a:solidFill>
                            <a:latin typeface="Cambria Math" panose="02040503050406030204" pitchFamily="18" charset="0"/>
                          </a:rPr>
                          <m:t>4</m:t>
                        </m:r>
                        <m:sSup>
                          <m:sSupPr>
                            <m:ctrlPr>
                              <a:rPr lang="en-US" sz="2800" b="0" i="1" smtClean="0">
                                <a:solidFill>
                                  <a:schemeClr val="accent3"/>
                                </a:solidFill>
                                <a:latin typeface="Cambria Math" panose="02040503050406030204" pitchFamily="18" charset="0"/>
                              </a:rPr>
                            </m:ctrlPr>
                          </m:sSupPr>
                          <m:e>
                            <m:d>
                              <m:dPr>
                                <m:ctrlPr>
                                  <a:rPr lang="en-US" sz="2800" b="0" i="1" smtClean="0">
                                    <a:solidFill>
                                      <a:schemeClr val="accent3"/>
                                    </a:solidFill>
                                    <a:latin typeface="Cambria Math" panose="02040503050406030204" pitchFamily="18" charset="0"/>
                                  </a:rPr>
                                </m:ctrlPr>
                              </m:dPr>
                              <m:e>
                                <m:r>
                                  <a:rPr lang="en-US" sz="2800" b="0" i="1" smtClean="0">
                                    <a:solidFill>
                                      <a:schemeClr val="accent3"/>
                                    </a:solidFill>
                                    <a:latin typeface="Cambria Math" panose="02040503050406030204" pitchFamily="18" charset="0"/>
                                  </a:rPr>
                                  <m:t>0.05</m:t>
                                </m:r>
                              </m:e>
                            </m:d>
                          </m:e>
                          <m:sup>
                            <m:r>
                              <a:rPr lang="en-US" sz="2800" b="0" i="1" smtClean="0">
                                <a:solidFill>
                                  <a:schemeClr val="accent3"/>
                                </a:solidFill>
                                <a:latin typeface="Cambria Math" panose="02040503050406030204" pitchFamily="18" charset="0"/>
                              </a:rPr>
                              <m:t>2</m:t>
                            </m:r>
                          </m:sup>
                        </m:sSup>
                        <m:r>
                          <a:rPr lang="en-US" sz="2800" b="0" i="1" smtClean="0">
                            <a:solidFill>
                              <a:schemeClr val="accent3"/>
                            </a:solidFill>
                            <a:latin typeface="Cambria Math" panose="02040503050406030204" pitchFamily="18" charset="0"/>
                          </a:rPr>
                          <m:t>0.01</m:t>
                        </m:r>
                      </m:den>
                    </m:f>
                    <m:r>
                      <a:rPr lang="en-US" sz="2800" b="0" i="1" smtClean="0">
                        <a:solidFill>
                          <a:schemeClr val="accent3"/>
                        </a:solidFill>
                        <a:latin typeface="Cambria Math" panose="02040503050406030204" pitchFamily="18" charset="0"/>
                      </a:rPr>
                      <m:t>=10000</m:t>
                    </m:r>
                  </m:oMath>
                </a14:m>
                <a:endParaRPr lang="en-US" sz="2800"/>
              </a:p>
              <a:p>
                <a:pPr marL="342900" indent="-342900">
                  <a:buFont typeface="Arial" panose="020B0604020202020204" pitchFamily="34" charset="0"/>
                  <a:buChar char="•"/>
                </a:pPr>
                <a:r>
                  <a:rPr lang="en-US"/>
                  <a:t>I observe that it is also true that  </a:t>
                </a:r>
                <a14:m>
                  <m:oMath xmlns:m="http://schemas.openxmlformats.org/officeDocument/2006/math">
                    <m:f>
                      <m:fPr>
                        <m:ctrlPr>
                          <a:rPr lang="en-US" sz="2800" i="1">
                            <a:solidFill>
                              <a:schemeClr val="accent3"/>
                            </a:solidFill>
                            <a:latin typeface="Cambria Math" panose="02040503050406030204" pitchFamily="18" charset="0"/>
                          </a:rPr>
                        </m:ctrlPr>
                      </m:fPr>
                      <m:num>
                        <m:r>
                          <a:rPr lang="en-US" sz="2800" i="1">
                            <a:solidFill>
                              <a:schemeClr val="accent3"/>
                            </a:solidFill>
                            <a:latin typeface="Cambria Math" panose="02040503050406030204" pitchFamily="18" charset="0"/>
                          </a:rPr>
                          <m:t>1</m:t>
                        </m:r>
                      </m:num>
                      <m:den>
                        <m:r>
                          <a:rPr lang="en-US" sz="2800" i="1">
                            <a:solidFill>
                              <a:schemeClr val="accent3"/>
                            </a:solidFill>
                            <a:latin typeface="Cambria Math" panose="02040503050406030204" pitchFamily="18" charset="0"/>
                          </a:rPr>
                          <m:t>4</m:t>
                        </m:r>
                        <m:sSup>
                          <m:sSupPr>
                            <m:ctrlPr>
                              <a:rPr lang="en-US" sz="2800" i="1">
                                <a:solidFill>
                                  <a:schemeClr val="accent3"/>
                                </a:solidFill>
                                <a:latin typeface="Cambria Math" panose="02040503050406030204" pitchFamily="18" charset="0"/>
                              </a:rPr>
                            </m:ctrlPr>
                          </m:sSupPr>
                          <m:e>
                            <m:d>
                              <m:dPr>
                                <m:ctrlPr>
                                  <a:rPr lang="en-US" sz="2800" i="1">
                                    <a:solidFill>
                                      <a:schemeClr val="accent3"/>
                                    </a:solidFill>
                                    <a:latin typeface="Cambria Math" panose="02040503050406030204" pitchFamily="18" charset="0"/>
                                  </a:rPr>
                                </m:ctrlPr>
                              </m:dPr>
                              <m:e>
                                <m:r>
                                  <a:rPr lang="en-US" sz="2800" i="1">
                                    <a:solidFill>
                                      <a:schemeClr val="accent3"/>
                                    </a:solidFill>
                                    <a:latin typeface="Cambria Math" panose="02040503050406030204" pitchFamily="18" charset="0"/>
                                  </a:rPr>
                                  <m:t>0.01</m:t>
                                </m:r>
                              </m:e>
                            </m:d>
                          </m:e>
                          <m:sup>
                            <m:r>
                              <a:rPr lang="en-US" sz="2800" i="1">
                                <a:solidFill>
                                  <a:schemeClr val="accent3"/>
                                </a:solidFill>
                                <a:latin typeface="Cambria Math" panose="02040503050406030204" pitchFamily="18" charset="0"/>
                              </a:rPr>
                              <m:t>2</m:t>
                            </m:r>
                          </m:sup>
                        </m:sSup>
                        <m:r>
                          <a:rPr lang="en-US" sz="2800" i="1">
                            <a:solidFill>
                              <a:schemeClr val="accent3"/>
                            </a:solidFill>
                            <a:latin typeface="Cambria Math" panose="02040503050406030204" pitchFamily="18" charset="0"/>
                          </a:rPr>
                          <m:t>0.25</m:t>
                        </m:r>
                      </m:den>
                    </m:f>
                    <m:r>
                      <a:rPr lang="en-US" sz="2800" i="1">
                        <a:solidFill>
                          <a:schemeClr val="accent3"/>
                        </a:solidFill>
                        <a:latin typeface="Cambria Math" panose="02040503050406030204" pitchFamily="18" charset="0"/>
                      </a:rPr>
                      <m:t>=10000</m:t>
                    </m:r>
                  </m:oMath>
                </a14:m>
                <a:r>
                  <a:rPr lang="en-US"/>
                  <a:t>. </a:t>
                </a:r>
              </a:p>
              <a:p>
                <a:pPr marL="1028683" lvl="1" indent="-342900">
                  <a:buFont typeface="Arial" panose="020B0604020202020204" pitchFamily="34" charset="0"/>
                  <a:buChar char="•"/>
                </a:pPr>
                <a:r>
                  <a:rPr lang="en-US"/>
                  <a:t>There is a less than 25% chance we’re off by more than 0.01.</a:t>
                </a:r>
              </a:p>
              <a:p>
                <a:pPr marL="1028683" lvl="1" indent="-342900">
                  <a:buFont typeface="Arial" panose="020B0604020202020204" pitchFamily="34" charset="0"/>
                  <a:buChar char="•"/>
                </a:pPr>
                <a:r>
                  <a:rPr lang="en-US"/>
                  <a:t>Example: If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r>
                      <a:rPr lang="en-US" b="0" i="1" dirty="0" smtClean="0">
                        <a:latin typeface="Cambria Math" panose="02040503050406030204" pitchFamily="18" charset="0"/>
                      </a:rPr>
                      <m:t>=0.48</m:t>
                    </m:r>
                  </m:oMath>
                </a14:m>
                <a:r>
                  <a:rPr lang="en-US"/>
                  <a:t>, there is a </a:t>
                </a:r>
                <a14:m>
                  <m:oMath xmlns:m="http://schemas.openxmlformats.org/officeDocument/2006/math">
                    <m:r>
                      <a:rPr lang="en-US" b="0" i="1" smtClean="0">
                        <a:latin typeface="Cambria Math" panose="02040503050406030204" pitchFamily="18" charset="0"/>
                      </a:rPr>
                      <m:t>≥75%</m:t>
                    </m:r>
                  </m:oMath>
                </a14:m>
                <a:r>
                  <a:rPr lang="en-US"/>
                  <a:t> chance the true </a:t>
                </a:r>
                <a14:m>
                  <m:oMath xmlns:m="http://schemas.openxmlformats.org/officeDocument/2006/math">
                    <m:r>
                      <a:rPr lang="en-US" b="0" i="1" smtClean="0">
                        <a:latin typeface="Cambria Math" panose="02040503050406030204" pitchFamily="18" charset="0"/>
                      </a:rPr>
                      <m:t>𝑝</m:t>
                    </m:r>
                  </m:oMath>
                </a14:m>
                <a:r>
                  <a:rPr lang="en-US"/>
                  <a:t> is in the range </a:t>
                </a:r>
                <a14:m>
                  <m:oMath xmlns:m="http://schemas.openxmlformats.org/officeDocument/2006/math">
                    <m:r>
                      <a:rPr lang="en-US" i="1" dirty="0" smtClean="0">
                        <a:latin typeface="Cambria Math" panose="02040503050406030204" pitchFamily="18" charset="0"/>
                      </a:rPr>
                      <m:t>[0.</m:t>
                    </m:r>
                    <m:r>
                      <a:rPr lang="en-US" b="0" i="1" dirty="0" smtClean="0">
                        <a:latin typeface="Cambria Math" panose="02040503050406030204" pitchFamily="18" charset="0"/>
                      </a:rPr>
                      <m:t>47</m:t>
                    </m:r>
                    <m:r>
                      <a:rPr lang="en-US" i="1" dirty="0" smtClean="0">
                        <a:latin typeface="Cambria Math" panose="02040503050406030204" pitchFamily="18" charset="0"/>
                      </a:rPr>
                      <m:t>, 0.4</m:t>
                    </m:r>
                    <m:r>
                      <a:rPr lang="en-US" b="0" i="1" dirty="0" smtClean="0">
                        <a:latin typeface="Cambria Math" panose="02040503050406030204" pitchFamily="18" charset="0"/>
                      </a:rPr>
                      <m:t>9</m:t>
                    </m:r>
                    <m:r>
                      <a:rPr lang="en-US" i="1" dirty="0" smtClean="0">
                        <a:latin typeface="Cambria Math" panose="02040503050406030204" pitchFamily="18" charset="0"/>
                      </a:rPr>
                      <m:t>]</m:t>
                    </m:r>
                  </m:oMath>
                </a14:m>
                <a:r>
                  <a:rPr lang="en-US"/>
                  <a:t>.</a:t>
                </a:r>
              </a:p>
            </p:txBody>
          </p:sp>
        </mc:Choice>
        <mc:Fallback>
          <p:sp>
            <p:nvSpPr>
              <p:cNvPr id="3" name="Content Placeholder 2">
                <a:extLst>
                  <a:ext uri="{FF2B5EF4-FFF2-40B4-BE49-F238E27FC236}">
                    <a16:creationId xmlns:a16="http://schemas.microsoft.com/office/drawing/2014/main" id="{70349924-3EC9-16FF-55A3-02CF20F018EC}"/>
                  </a:ext>
                </a:extLst>
              </p:cNvPr>
              <p:cNvSpPr>
                <a:spLocks noGrp="1" noRot="1" noChangeAspect="1" noMove="1" noResize="1" noEditPoints="1" noAdjustHandles="1" noChangeArrowheads="1" noChangeShapeType="1" noTextEdit="1"/>
              </p:cNvSpPr>
              <p:nvPr>
                <p:ph idx="1"/>
              </p:nvPr>
            </p:nvSpPr>
            <p:spPr>
              <a:blipFill>
                <a:blip r:embed="rId2"/>
                <a:stretch>
                  <a:fillRect l="-796" b="-4221"/>
                </a:stretch>
              </a:blipFill>
            </p:spPr>
            <p:txBody>
              <a:bodyPr/>
              <a:lstStyle/>
              <a:p>
                <a:r>
                  <a:rPr lang="en-US">
                    <a:noFill/>
                  </a:rPr>
                  <a:t> </a:t>
                </a:r>
              </a:p>
            </p:txBody>
          </p:sp>
        </mc:Fallback>
      </mc:AlternateContent>
    </p:spTree>
    <p:extLst>
      <p:ext uri="{BB962C8B-B14F-4D97-AF65-F5344CB8AC3E}">
        <p14:creationId xmlns:p14="http://schemas.microsoft.com/office/powerpoint/2010/main" val="3107922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796E5-AC8E-2A30-8EB0-E215FE21B8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833009-1705-D9AB-AB03-12C70BA39F91}"/>
              </a:ext>
            </a:extLst>
          </p:cNvPr>
          <p:cNvSpPr>
            <a:spLocks noGrp="1"/>
          </p:cNvSpPr>
          <p:nvPr>
            <p:ph type="title"/>
          </p:nvPr>
        </p:nvSpPr>
        <p:spPr/>
        <p:txBody>
          <a:bodyPr/>
          <a:lstStyle/>
          <a:p>
            <a:r>
              <a:rPr lang="en-US"/>
              <a:t>Understanding this Bound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30034A4-9C84-06D2-7389-D68F173B2F0D}"/>
                  </a:ext>
                </a:extLst>
              </p:cNvPr>
              <p:cNvSpPr>
                <a:spLocks noGrp="1"/>
              </p:cNvSpPr>
              <p:nvPr>
                <p:ph idx="1"/>
              </p:nvPr>
            </p:nvSpPr>
            <p:spPr/>
            <p:txBody>
              <a:bodyPr/>
              <a:lstStyle/>
              <a:p>
                <a:r>
                  <a:rPr lang="en-US"/>
                  <a:t>To achieve our desired goal: </a:t>
                </a:r>
                <a14:m>
                  <m:oMath xmlns:m="http://schemas.openxmlformats.org/officeDocument/2006/math">
                    <m:r>
                      <a:rPr lang="en-US" sz="2800" b="0" i="1" smtClean="0">
                        <a:solidFill>
                          <a:schemeClr val="accent3"/>
                        </a:solidFill>
                        <a:latin typeface="Cambria Math" panose="02040503050406030204" pitchFamily="18" charset="0"/>
                      </a:rPr>
                      <m:t>𝑃</m:t>
                    </m:r>
                    <m:d>
                      <m:dPr>
                        <m:ctrlPr>
                          <a:rPr lang="en-US" sz="2800" b="0" i="1" smtClean="0">
                            <a:solidFill>
                              <a:schemeClr val="accent3"/>
                            </a:solidFill>
                            <a:latin typeface="Cambria Math" panose="02040503050406030204" pitchFamily="18" charset="0"/>
                          </a:rPr>
                        </m:ctrlPr>
                      </m:dPr>
                      <m:e>
                        <m:d>
                          <m:dPr>
                            <m:begChr m:val="|"/>
                            <m:endChr m:val="|"/>
                            <m:ctrlPr>
                              <a:rPr lang="en-US" sz="2800" b="0" i="1" smtClean="0">
                                <a:solidFill>
                                  <a:schemeClr val="accent3"/>
                                </a:solidFill>
                                <a:latin typeface="Cambria Math" panose="02040503050406030204" pitchFamily="18" charset="0"/>
                              </a:rPr>
                            </m:ctrlPr>
                          </m:dPr>
                          <m:e>
                            <m:r>
                              <a:rPr lang="en-US" sz="2800" b="0" i="1" smtClean="0">
                                <a:solidFill>
                                  <a:schemeClr val="accent3"/>
                                </a:solidFill>
                                <a:latin typeface="Cambria Math" panose="02040503050406030204" pitchFamily="18" charset="0"/>
                              </a:rPr>
                              <m:t>𝑝</m:t>
                            </m:r>
                            <m:r>
                              <a:rPr lang="en-US" sz="2800" b="0" i="1" smtClean="0">
                                <a:solidFill>
                                  <a:schemeClr val="accent3"/>
                                </a:solidFill>
                                <a:latin typeface="Cambria Math" panose="02040503050406030204" pitchFamily="18" charset="0"/>
                              </a:rPr>
                              <m:t>−</m:t>
                            </m:r>
                            <m:acc>
                              <m:accPr>
                                <m:chr m:val="̂"/>
                                <m:ctrlPr>
                                  <a:rPr lang="en-US" sz="2800" b="0" i="1" smtClean="0">
                                    <a:solidFill>
                                      <a:schemeClr val="accent3"/>
                                    </a:solidFill>
                                    <a:latin typeface="Cambria Math" panose="02040503050406030204" pitchFamily="18" charset="0"/>
                                  </a:rPr>
                                </m:ctrlPr>
                              </m:accPr>
                              <m:e>
                                <m:r>
                                  <a:rPr lang="en-US" sz="2800" b="0" i="1" smtClean="0">
                                    <a:solidFill>
                                      <a:schemeClr val="accent3"/>
                                    </a:solidFill>
                                    <a:latin typeface="Cambria Math" panose="02040503050406030204" pitchFamily="18" charset="0"/>
                                  </a:rPr>
                                  <m:t>𝑝</m:t>
                                </m:r>
                              </m:e>
                            </m:acc>
                          </m:e>
                        </m:d>
                        <m:r>
                          <a:rPr lang="en-US" sz="2800" b="0" i="1" smtClean="0">
                            <a:solidFill>
                              <a:schemeClr val="accent3"/>
                            </a:solidFill>
                            <a:latin typeface="Cambria Math" panose="02040503050406030204" pitchFamily="18" charset="0"/>
                          </a:rPr>
                          <m:t>≤</m:t>
                        </m:r>
                        <m:r>
                          <a:rPr lang="en-US" sz="2800" b="0" i="1" smtClean="0">
                            <a:solidFill>
                              <a:schemeClr val="accent3"/>
                            </a:solidFill>
                            <a:latin typeface="Cambria Math" panose="02040503050406030204" pitchFamily="18" charset="0"/>
                          </a:rPr>
                          <m:t>𝜖</m:t>
                        </m:r>
                      </m:e>
                    </m:d>
                    <m:r>
                      <a:rPr lang="en-US" sz="2800" b="0" i="1" smtClean="0">
                        <a:solidFill>
                          <a:schemeClr val="accent3"/>
                        </a:solidFill>
                        <a:latin typeface="Cambria Math" panose="02040503050406030204" pitchFamily="18" charset="0"/>
                      </a:rPr>
                      <m:t>≥1−</m:t>
                    </m:r>
                    <m:r>
                      <a:rPr lang="en-US" sz="2800" b="0" i="1" smtClean="0">
                        <a:solidFill>
                          <a:schemeClr val="accent3"/>
                        </a:solidFill>
                        <a:latin typeface="Cambria Math" panose="02040503050406030204" pitchFamily="18" charset="0"/>
                      </a:rPr>
                      <m:t>𝛿</m:t>
                    </m:r>
                  </m:oMath>
                </a14:m>
                <a:endParaRPr lang="en-US" sz="2800">
                  <a:solidFill>
                    <a:schemeClr val="accent3"/>
                  </a:solidFill>
                </a:endParaRPr>
              </a:p>
              <a:p>
                <a:endParaRPr lang="en-US"/>
              </a:p>
              <a:p>
                <a:r>
                  <a:rPr lang="en-US"/>
                  <a:t>We can show (later!) that </a:t>
                </a:r>
                <a14:m>
                  <m:oMath xmlns:m="http://schemas.openxmlformats.org/officeDocument/2006/math">
                    <m:r>
                      <a:rPr lang="en-US" sz="2800" i="1">
                        <a:solidFill>
                          <a:schemeClr val="accent3"/>
                        </a:solidFill>
                        <a:latin typeface="Cambria Math" panose="02040503050406030204" pitchFamily="18" charset="0"/>
                      </a:rPr>
                      <m:t>𝑛</m:t>
                    </m:r>
                    <m:r>
                      <a:rPr lang="en-US" sz="2800" i="1">
                        <a:solidFill>
                          <a:schemeClr val="accent3"/>
                        </a:solidFill>
                        <a:latin typeface="Cambria Math" panose="02040503050406030204" pitchFamily="18" charset="0"/>
                      </a:rPr>
                      <m:t>≥</m:t>
                    </m:r>
                    <m:f>
                      <m:fPr>
                        <m:ctrlPr>
                          <a:rPr lang="en-US" sz="2800" i="1">
                            <a:solidFill>
                              <a:schemeClr val="accent3"/>
                            </a:solidFill>
                            <a:latin typeface="Cambria Math" panose="02040503050406030204" pitchFamily="18" charset="0"/>
                          </a:rPr>
                        </m:ctrlPr>
                      </m:fPr>
                      <m:num>
                        <m:r>
                          <a:rPr lang="en-US" sz="2800" i="1">
                            <a:solidFill>
                              <a:schemeClr val="accent3"/>
                            </a:solidFill>
                            <a:latin typeface="Cambria Math" panose="02040503050406030204" pitchFamily="18" charset="0"/>
                          </a:rPr>
                          <m:t>1</m:t>
                        </m:r>
                      </m:num>
                      <m:den>
                        <m:r>
                          <a:rPr lang="en-US" sz="2800" i="1">
                            <a:solidFill>
                              <a:schemeClr val="accent3"/>
                            </a:solidFill>
                            <a:latin typeface="Cambria Math" panose="02040503050406030204" pitchFamily="18" charset="0"/>
                          </a:rPr>
                          <m:t>4</m:t>
                        </m:r>
                        <m:sSup>
                          <m:sSupPr>
                            <m:ctrlPr>
                              <a:rPr lang="en-US" sz="2800" i="1">
                                <a:solidFill>
                                  <a:schemeClr val="accent3"/>
                                </a:solidFill>
                                <a:latin typeface="Cambria Math" panose="02040503050406030204" pitchFamily="18" charset="0"/>
                              </a:rPr>
                            </m:ctrlPr>
                          </m:sSupPr>
                          <m:e>
                            <m:r>
                              <a:rPr lang="en-US" sz="2800" i="1">
                                <a:solidFill>
                                  <a:schemeClr val="accent3"/>
                                </a:solidFill>
                                <a:latin typeface="Cambria Math" panose="02040503050406030204" pitchFamily="18" charset="0"/>
                              </a:rPr>
                              <m:t>𝜖</m:t>
                            </m:r>
                          </m:e>
                          <m:sup>
                            <m:r>
                              <a:rPr lang="en-US" sz="2800" i="1">
                                <a:solidFill>
                                  <a:schemeClr val="accent3"/>
                                </a:solidFill>
                                <a:latin typeface="Cambria Math" panose="02040503050406030204" pitchFamily="18" charset="0"/>
                              </a:rPr>
                              <m:t>2</m:t>
                            </m:r>
                          </m:sup>
                        </m:sSup>
                        <m:r>
                          <a:rPr lang="en-US" sz="2800" i="1">
                            <a:solidFill>
                              <a:schemeClr val="accent3"/>
                            </a:solidFill>
                            <a:latin typeface="Cambria Math" panose="02040503050406030204" pitchFamily="18" charset="0"/>
                          </a:rPr>
                          <m:t>𝛿</m:t>
                        </m:r>
                      </m:den>
                    </m:f>
                  </m:oMath>
                </a14:m>
                <a:r>
                  <a:rPr lang="en-US"/>
                  <a:t> coin flips is sufficient.</a:t>
                </a:r>
              </a:p>
              <a:p>
                <a:endParaRPr lang="en-US"/>
              </a:p>
              <a:p>
                <a:r>
                  <a:rPr lang="en-US"/>
                  <a:t>Let’s get some more intuition from this using a simulator.</a:t>
                </a:r>
              </a:p>
              <a:p>
                <a:pPr marL="342900" indent="-342900">
                  <a:buFont typeface="Arial" panose="020B0604020202020204" pitchFamily="34" charset="0"/>
                  <a:buChar char="•"/>
                </a:pPr>
                <a:r>
                  <a:rPr lang="en-US">
                    <a:hlinkClick r:id="rId2"/>
                  </a:rPr>
                  <a:t>https://joshh.ug/cs70/chebyshev_sample_quality_estimator.html</a:t>
                </a:r>
                <a:endParaRPr lang="en-US"/>
              </a:p>
              <a:p>
                <a:endParaRPr lang="en-US"/>
              </a:p>
              <a:p>
                <a:endParaRPr lang="en-US"/>
              </a:p>
              <a:p>
                <a:endParaRPr lang="en-US"/>
              </a:p>
            </p:txBody>
          </p:sp>
        </mc:Choice>
        <mc:Fallback>
          <p:sp>
            <p:nvSpPr>
              <p:cNvPr id="3" name="Content Placeholder 2">
                <a:extLst>
                  <a:ext uri="{FF2B5EF4-FFF2-40B4-BE49-F238E27FC236}">
                    <a16:creationId xmlns:a16="http://schemas.microsoft.com/office/drawing/2014/main" id="{330034A4-9C84-06D2-7389-D68F173B2F0D}"/>
                  </a:ext>
                </a:extLst>
              </p:cNvPr>
              <p:cNvSpPr>
                <a:spLocks noGrp="1" noRot="1" noChangeAspect="1" noMove="1" noResize="1" noEditPoints="1" noAdjustHandles="1" noChangeArrowheads="1" noChangeShapeType="1" noTextEdit="1"/>
              </p:cNvSpPr>
              <p:nvPr>
                <p:ph idx="1"/>
              </p:nvPr>
            </p:nvSpPr>
            <p:spPr>
              <a:blipFill>
                <a:blip r:embed="rId3"/>
                <a:stretch>
                  <a:fillRect l="-796"/>
                </a:stretch>
              </a:blipFill>
            </p:spPr>
            <p:txBody>
              <a:bodyPr/>
              <a:lstStyle/>
              <a:p>
                <a:r>
                  <a:rPr lang="en-US">
                    <a:noFill/>
                  </a:rPr>
                  <a:t> </a:t>
                </a:r>
              </a:p>
            </p:txBody>
          </p:sp>
        </mc:Fallback>
      </mc:AlternateContent>
    </p:spTree>
    <p:extLst>
      <p:ext uri="{BB962C8B-B14F-4D97-AF65-F5344CB8AC3E}">
        <p14:creationId xmlns:p14="http://schemas.microsoft.com/office/powerpoint/2010/main" val="2021430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FF953-4167-3049-D552-D5893D73FD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AF47FC-334D-790C-59C5-0E7E54343584}"/>
              </a:ext>
            </a:extLst>
          </p:cNvPr>
          <p:cNvSpPr>
            <a:spLocks noGrp="1"/>
          </p:cNvSpPr>
          <p:nvPr>
            <p:ph type="title"/>
          </p:nvPr>
        </p:nvSpPr>
        <p:spPr/>
        <p:txBody>
          <a:bodyPr/>
          <a:lstStyle/>
          <a:p>
            <a:r>
              <a:rPr lang="en-US"/>
              <a:t>In Terms of Election Polling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5605674-5015-ED36-B2BD-35C06A8C9ADE}"/>
                  </a:ext>
                </a:extLst>
              </p:cNvPr>
              <p:cNvSpPr>
                <a:spLocks noGrp="1"/>
              </p:cNvSpPr>
              <p:nvPr>
                <p:ph idx="1"/>
              </p:nvPr>
            </p:nvSpPr>
            <p:spPr/>
            <p:txBody>
              <a:bodyPr/>
              <a:lstStyle/>
              <a:p>
                <a:r>
                  <a:rPr lang="en-US"/>
                  <a:t>To achieve our desired goal: </a:t>
                </a:r>
                <a14:m>
                  <m:oMath xmlns:m="http://schemas.openxmlformats.org/officeDocument/2006/math">
                    <m:r>
                      <a:rPr lang="en-US" sz="2800" b="0" i="1" smtClean="0">
                        <a:solidFill>
                          <a:schemeClr val="accent3"/>
                        </a:solidFill>
                        <a:latin typeface="Cambria Math" panose="02040503050406030204" pitchFamily="18" charset="0"/>
                      </a:rPr>
                      <m:t>𝑃</m:t>
                    </m:r>
                    <m:d>
                      <m:dPr>
                        <m:ctrlPr>
                          <a:rPr lang="en-US" sz="2800" b="0" i="1" smtClean="0">
                            <a:solidFill>
                              <a:schemeClr val="accent3"/>
                            </a:solidFill>
                            <a:latin typeface="Cambria Math" panose="02040503050406030204" pitchFamily="18" charset="0"/>
                          </a:rPr>
                        </m:ctrlPr>
                      </m:dPr>
                      <m:e>
                        <m:d>
                          <m:dPr>
                            <m:begChr m:val="|"/>
                            <m:endChr m:val="|"/>
                            <m:ctrlPr>
                              <a:rPr lang="en-US" sz="2800" b="0" i="1" smtClean="0">
                                <a:solidFill>
                                  <a:schemeClr val="accent3"/>
                                </a:solidFill>
                                <a:latin typeface="Cambria Math" panose="02040503050406030204" pitchFamily="18" charset="0"/>
                              </a:rPr>
                            </m:ctrlPr>
                          </m:dPr>
                          <m:e>
                            <m:r>
                              <a:rPr lang="en-US" sz="2800" b="0" i="1" smtClean="0">
                                <a:solidFill>
                                  <a:schemeClr val="accent3"/>
                                </a:solidFill>
                                <a:latin typeface="Cambria Math" panose="02040503050406030204" pitchFamily="18" charset="0"/>
                              </a:rPr>
                              <m:t>𝑝</m:t>
                            </m:r>
                            <m:r>
                              <a:rPr lang="en-US" sz="2800" b="0" i="1" smtClean="0">
                                <a:solidFill>
                                  <a:schemeClr val="accent3"/>
                                </a:solidFill>
                                <a:latin typeface="Cambria Math" panose="02040503050406030204" pitchFamily="18" charset="0"/>
                              </a:rPr>
                              <m:t>−</m:t>
                            </m:r>
                            <m:acc>
                              <m:accPr>
                                <m:chr m:val="̂"/>
                                <m:ctrlPr>
                                  <a:rPr lang="en-US" sz="2800" b="0" i="1" smtClean="0">
                                    <a:solidFill>
                                      <a:schemeClr val="accent3"/>
                                    </a:solidFill>
                                    <a:latin typeface="Cambria Math" panose="02040503050406030204" pitchFamily="18" charset="0"/>
                                  </a:rPr>
                                </m:ctrlPr>
                              </m:accPr>
                              <m:e>
                                <m:r>
                                  <a:rPr lang="en-US" sz="2800" b="0" i="1" smtClean="0">
                                    <a:solidFill>
                                      <a:schemeClr val="accent3"/>
                                    </a:solidFill>
                                    <a:latin typeface="Cambria Math" panose="02040503050406030204" pitchFamily="18" charset="0"/>
                                  </a:rPr>
                                  <m:t>𝑝</m:t>
                                </m:r>
                              </m:e>
                            </m:acc>
                          </m:e>
                        </m:d>
                        <m:r>
                          <a:rPr lang="en-US" sz="2800" b="0" i="1" smtClean="0">
                            <a:solidFill>
                              <a:schemeClr val="accent3"/>
                            </a:solidFill>
                            <a:latin typeface="Cambria Math" panose="02040503050406030204" pitchFamily="18" charset="0"/>
                          </a:rPr>
                          <m:t>≤</m:t>
                        </m:r>
                        <m:r>
                          <a:rPr lang="en-US" sz="2800" b="0" i="1" smtClean="0">
                            <a:solidFill>
                              <a:schemeClr val="accent3"/>
                            </a:solidFill>
                            <a:latin typeface="Cambria Math" panose="02040503050406030204" pitchFamily="18" charset="0"/>
                          </a:rPr>
                          <m:t>𝜖</m:t>
                        </m:r>
                      </m:e>
                    </m:d>
                    <m:r>
                      <a:rPr lang="en-US" sz="2800" b="0" i="1" smtClean="0">
                        <a:solidFill>
                          <a:schemeClr val="accent3"/>
                        </a:solidFill>
                        <a:latin typeface="Cambria Math" panose="02040503050406030204" pitchFamily="18" charset="0"/>
                      </a:rPr>
                      <m:t>≥1−</m:t>
                    </m:r>
                    <m:r>
                      <a:rPr lang="en-US" sz="2800" b="0" i="1" smtClean="0">
                        <a:solidFill>
                          <a:schemeClr val="accent3"/>
                        </a:solidFill>
                        <a:latin typeface="Cambria Math" panose="02040503050406030204" pitchFamily="18" charset="0"/>
                      </a:rPr>
                      <m:t>𝛿</m:t>
                    </m:r>
                  </m:oMath>
                </a14:m>
                <a:endParaRPr lang="en-US" sz="2800">
                  <a:solidFill>
                    <a:schemeClr val="accent3"/>
                  </a:solidFill>
                </a:endParaRPr>
              </a:p>
              <a:p>
                <a:endParaRPr lang="en-US"/>
              </a:p>
              <a:p>
                <a:r>
                  <a:rPr lang="en-US"/>
                  <a:t>We can show (later!) that </a:t>
                </a:r>
                <a14:m>
                  <m:oMath xmlns:m="http://schemas.openxmlformats.org/officeDocument/2006/math">
                    <m:r>
                      <a:rPr lang="en-US" sz="2800" i="1">
                        <a:solidFill>
                          <a:schemeClr val="accent3"/>
                        </a:solidFill>
                        <a:latin typeface="Cambria Math" panose="02040503050406030204" pitchFamily="18" charset="0"/>
                      </a:rPr>
                      <m:t>𝑛</m:t>
                    </m:r>
                    <m:r>
                      <a:rPr lang="en-US" sz="2800" i="1">
                        <a:solidFill>
                          <a:schemeClr val="accent3"/>
                        </a:solidFill>
                        <a:latin typeface="Cambria Math" panose="02040503050406030204" pitchFamily="18" charset="0"/>
                      </a:rPr>
                      <m:t>≥</m:t>
                    </m:r>
                    <m:f>
                      <m:fPr>
                        <m:ctrlPr>
                          <a:rPr lang="en-US" sz="2800" i="1">
                            <a:solidFill>
                              <a:schemeClr val="accent3"/>
                            </a:solidFill>
                            <a:latin typeface="Cambria Math" panose="02040503050406030204" pitchFamily="18" charset="0"/>
                          </a:rPr>
                        </m:ctrlPr>
                      </m:fPr>
                      <m:num>
                        <m:r>
                          <a:rPr lang="en-US" sz="2800" i="1">
                            <a:solidFill>
                              <a:schemeClr val="accent3"/>
                            </a:solidFill>
                            <a:latin typeface="Cambria Math" panose="02040503050406030204" pitchFamily="18" charset="0"/>
                          </a:rPr>
                          <m:t>1</m:t>
                        </m:r>
                      </m:num>
                      <m:den>
                        <m:r>
                          <a:rPr lang="en-US" sz="2800" i="1">
                            <a:solidFill>
                              <a:schemeClr val="accent3"/>
                            </a:solidFill>
                            <a:latin typeface="Cambria Math" panose="02040503050406030204" pitchFamily="18" charset="0"/>
                          </a:rPr>
                          <m:t>4</m:t>
                        </m:r>
                        <m:sSup>
                          <m:sSupPr>
                            <m:ctrlPr>
                              <a:rPr lang="en-US" sz="2800" i="1">
                                <a:solidFill>
                                  <a:schemeClr val="accent3"/>
                                </a:solidFill>
                                <a:latin typeface="Cambria Math" panose="02040503050406030204" pitchFamily="18" charset="0"/>
                              </a:rPr>
                            </m:ctrlPr>
                          </m:sSupPr>
                          <m:e>
                            <m:r>
                              <a:rPr lang="en-US" sz="2800" i="1">
                                <a:solidFill>
                                  <a:schemeClr val="accent3"/>
                                </a:solidFill>
                                <a:latin typeface="Cambria Math" panose="02040503050406030204" pitchFamily="18" charset="0"/>
                              </a:rPr>
                              <m:t>𝜖</m:t>
                            </m:r>
                          </m:e>
                          <m:sup>
                            <m:r>
                              <a:rPr lang="en-US" sz="2800" i="1">
                                <a:solidFill>
                                  <a:schemeClr val="accent3"/>
                                </a:solidFill>
                                <a:latin typeface="Cambria Math" panose="02040503050406030204" pitchFamily="18" charset="0"/>
                              </a:rPr>
                              <m:t>2</m:t>
                            </m:r>
                          </m:sup>
                        </m:sSup>
                        <m:r>
                          <a:rPr lang="en-US" sz="2800" i="1">
                            <a:solidFill>
                              <a:schemeClr val="accent3"/>
                            </a:solidFill>
                            <a:latin typeface="Cambria Math" panose="02040503050406030204" pitchFamily="18" charset="0"/>
                          </a:rPr>
                          <m:t>𝛿</m:t>
                        </m:r>
                      </m:den>
                    </m:f>
                  </m:oMath>
                </a14:m>
                <a:r>
                  <a:rPr lang="en-US"/>
                  <a:t> coin flips is sufficient.</a:t>
                </a:r>
              </a:p>
              <a:p>
                <a:endParaRPr lang="en-US"/>
              </a:p>
              <a:p>
                <a:r>
                  <a:rPr lang="en-US"/>
                  <a:t>(Surprising) Observation: It doesn’t matter how big the population of the country is, the number of people we need to poll to get a desired degree of accuracy is constant.</a:t>
                </a:r>
              </a:p>
              <a:p>
                <a:pPr marL="342900" indent="-342900">
                  <a:buFont typeface="Arial" panose="020B0604020202020204" pitchFamily="34" charset="0"/>
                  <a:buChar char="•"/>
                </a:pPr>
                <a:r>
                  <a:rPr lang="en-US"/>
                  <a:t>Ask 10,000 people, and our bound says we have a 99% chance of being within 0.05 of </a:t>
                </a:r>
                <a14:m>
                  <m:oMath xmlns:m="http://schemas.openxmlformats.org/officeDocument/2006/math">
                    <m:r>
                      <a:rPr lang="en-US" i="1" dirty="0" smtClean="0">
                        <a:latin typeface="Cambria Math" panose="02040503050406030204" pitchFamily="18" charset="0"/>
                      </a:rPr>
                      <m:t>𝑝</m:t>
                    </m:r>
                  </m:oMath>
                </a14:m>
                <a:r>
                  <a:rPr lang="en-US"/>
                  <a:t>. True if we’re surveying Canada (40M) or China (1.4B).</a:t>
                </a:r>
              </a:p>
              <a:p>
                <a:pPr marL="342900" indent="-342900">
                  <a:buFont typeface="Arial" panose="020B0604020202020204" pitchFamily="34" charset="0"/>
                  <a:buChar char="•"/>
                </a:pPr>
                <a:endParaRPr lang="en-US"/>
              </a:p>
              <a:p>
                <a:r>
                  <a:rPr lang="en-US"/>
                  <a:t>Later, we’ll come back to why the actual practice of polling is more difficult than this.</a:t>
                </a:r>
              </a:p>
            </p:txBody>
          </p:sp>
        </mc:Choice>
        <mc:Fallback>
          <p:sp>
            <p:nvSpPr>
              <p:cNvPr id="3" name="Content Placeholder 2">
                <a:extLst>
                  <a:ext uri="{FF2B5EF4-FFF2-40B4-BE49-F238E27FC236}">
                    <a16:creationId xmlns:a16="http://schemas.microsoft.com/office/drawing/2014/main" id="{85605674-5015-ED36-B2BD-35C06A8C9ADE}"/>
                  </a:ext>
                </a:extLst>
              </p:cNvPr>
              <p:cNvSpPr>
                <a:spLocks noGrp="1" noRot="1" noChangeAspect="1" noMove="1" noResize="1" noEditPoints="1" noAdjustHandles="1" noChangeArrowheads="1" noChangeShapeType="1" noTextEdit="1"/>
              </p:cNvSpPr>
              <p:nvPr>
                <p:ph idx="1"/>
              </p:nvPr>
            </p:nvSpPr>
            <p:spPr>
              <a:blipFill>
                <a:blip r:embed="rId2"/>
                <a:stretch>
                  <a:fillRect l="-796" r="-371"/>
                </a:stretch>
              </a:blipFill>
            </p:spPr>
            <p:txBody>
              <a:bodyPr/>
              <a:lstStyle/>
              <a:p>
                <a:r>
                  <a:rPr lang="en-US">
                    <a:noFill/>
                  </a:rPr>
                  <a:t> </a:t>
                </a:r>
              </a:p>
            </p:txBody>
          </p:sp>
        </mc:Fallback>
      </mc:AlternateContent>
    </p:spTree>
    <p:extLst>
      <p:ext uri="{BB962C8B-B14F-4D97-AF65-F5344CB8AC3E}">
        <p14:creationId xmlns:p14="http://schemas.microsoft.com/office/powerpoint/2010/main" val="1604710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F462F-4C69-C298-B806-E1E22964C394}"/>
              </a:ext>
            </a:extLst>
          </p:cNvPr>
          <p:cNvSpPr>
            <a:spLocks noGrp="1"/>
          </p:cNvSpPr>
          <p:nvPr>
            <p:ph type="title"/>
          </p:nvPr>
        </p:nvSpPr>
        <p:spPr/>
        <p:txBody>
          <a:bodyPr/>
          <a:lstStyle/>
          <a:p>
            <a:r>
              <a:rPr lang="en-US"/>
              <a:t>Deriving this Expression and Concentration Inequalities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307F815-1F9A-FB2B-C0D5-40E7F6E48B7A}"/>
                  </a:ext>
                </a:extLst>
              </p:cNvPr>
              <p:cNvSpPr>
                <a:spLocks noGrp="1"/>
              </p:cNvSpPr>
              <p:nvPr>
                <p:ph idx="1"/>
              </p:nvPr>
            </p:nvSpPr>
            <p:spPr/>
            <p:txBody>
              <a:bodyPr/>
              <a:lstStyle/>
              <a:p>
                <a:r>
                  <a:rPr lang="en-US"/>
                  <a:t>I’ve given this formula without any proof or rationale!</a:t>
                </a:r>
              </a:p>
              <a:p>
                <a:endParaRPr lang="en-US"/>
              </a:p>
              <a:p>
                <a:pPr/>
                <a14:m>
                  <m:oMathPara xmlns:m="http://schemas.openxmlformats.org/officeDocument/2006/math">
                    <m:oMathParaPr>
                      <m:jc m:val="centerGroup"/>
                    </m:oMathParaPr>
                    <m:oMath xmlns:m="http://schemas.openxmlformats.org/officeDocument/2006/math">
                      <m:r>
                        <a:rPr lang="en-US" sz="2400" b="0" i="1" smtClean="0">
                          <a:solidFill>
                            <a:schemeClr val="accent3"/>
                          </a:solidFill>
                          <a:latin typeface="Cambria Math" panose="02040503050406030204" pitchFamily="18" charset="0"/>
                        </a:rPr>
                        <m:t>𝑛</m:t>
                      </m:r>
                      <m:r>
                        <a:rPr lang="en-US" sz="2400" b="0" i="1" smtClean="0">
                          <a:solidFill>
                            <a:schemeClr val="accent3"/>
                          </a:solidFill>
                          <a:latin typeface="Cambria Math" panose="02040503050406030204" pitchFamily="18" charset="0"/>
                        </a:rPr>
                        <m:t>≥</m:t>
                      </m:r>
                      <m:f>
                        <m:fPr>
                          <m:ctrlPr>
                            <a:rPr lang="en-US" sz="2400" b="0" i="1" smtClean="0">
                              <a:solidFill>
                                <a:schemeClr val="accent3"/>
                              </a:solidFill>
                              <a:latin typeface="Cambria Math" panose="02040503050406030204" pitchFamily="18" charset="0"/>
                            </a:rPr>
                          </m:ctrlPr>
                        </m:fPr>
                        <m:num>
                          <m:r>
                            <a:rPr lang="en-US" sz="2400" b="0" i="1" smtClean="0">
                              <a:solidFill>
                                <a:schemeClr val="accent3"/>
                              </a:solidFill>
                              <a:latin typeface="Cambria Math" panose="02040503050406030204" pitchFamily="18" charset="0"/>
                            </a:rPr>
                            <m:t>1</m:t>
                          </m:r>
                        </m:num>
                        <m:den>
                          <m:r>
                            <a:rPr lang="en-US" sz="2400" b="0" i="1" smtClean="0">
                              <a:solidFill>
                                <a:schemeClr val="accent3"/>
                              </a:solidFill>
                              <a:latin typeface="Cambria Math" panose="02040503050406030204" pitchFamily="18" charset="0"/>
                            </a:rPr>
                            <m:t>4</m:t>
                          </m:r>
                          <m:sSup>
                            <m:sSupPr>
                              <m:ctrlPr>
                                <a:rPr lang="en-US" sz="2400" b="0" i="1" smtClean="0">
                                  <a:solidFill>
                                    <a:schemeClr val="accent3"/>
                                  </a:solidFill>
                                  <a:latin typeface="Cambria Math" panose="02040503050406030204" pitchFamily="18" charset="0"/>
                                </a:rPr>
                              </m:ctrlPr>
                            </m:sSupPr>
                            <m:e>
                              <m:r>
                                <a:rPr lang="en-US" sz="2400" b="0" i="1" smtClean="0">
                                  <a:solidFill>
                                    <a:schemeClr val="accent3"/>
                                  </a:solidFill>
                                  <a:latin typeface="Cambria Math" panose="02040503050406030204" pitchFamily="18" charset="0"/>
                                </a:rPr>
                                <m:t>𝜖</m:t>
                              </m:r>
                            </m:e>
                            <m:sup>
                              <m:r>
                                <a:rPr lang="en-US" sz="2400" b="0" i="1" smtClean="0">
                                  <a:solidFill>
                                    <a:schemeClr val="accent3"/>
                                  </a:solidFill>
                                  <a:latin typeface="Cambria Math" panose="02040503050406030204" pitchFamily="18" charset="0"/>
                                </a:rPr>
                                <m:t>2</m:t>
                              </m:r>
                            </m:sup>
                          </m:sSup>
                          <m:r>
                            <a:rPr lang="en-US" sz="2400" b="0" i="1" smtClean="0">
                              <a:solidFill>
                                <a:schemeClr val="accent3"/>
                              </a:solidFill>
                              <a:latin typeface="Cambria Math" panose="02040503050406030204" pitchFamily="18" charset="0"/>
                            </a:rPr>
                            <m:t>𝛿</m:t>
                          </m:r>
                        </m:den>
                      </m:f>
                    </m:oMath>
                  </m:oMathPara>
                </a14:m>
                <a:endParaRPr lang="en-US"/>
              </a:p>
              <a:p>
                <a:endParaRPr lang="en-US"/>
              </a:p>
              <a:p>
                <a:r>
                  <a:rPr lang="en-US"/>
                  <a:t>We’ll derive this result using a powerful idea called a “concentration inequality”.</a:t>
                </a:r>
              </a:p>
              <a:p>
                <a:pPr marL="342900" indent="-342900">
                  <a:buFont typeface="Arial" panose="020B0604020202020204" pitchFamily="34" charset="0"/>
                  <a:buChar char="•"/>
                </a:pPr>
                <a:r>
                  <a:rPr lang="en-US"/>
                  <a:t>A concentration inequality is a mathematical bound on how likely a random variable can stray from some quantity.</a:t>
                </a:r>
              </a:p>
              <a:p>
                <a:pPr marL="342900" indent="-342900">
                  <a:buFont typeface="Arial" panose="020B0604020202020204" pitchFamily="34" charset="0"/>
                  <a:buChar char="•"/>
                </a:pPr>
                <a:r>
                  <a:rPr lang="en-US"/>
                  <a:t>Example: For a non-negative random variable </a:t>
                </a:r>
                <a14:m>
                  <m:oMath xmlns:m="http://schemas.openxmlformats.org/officeDocument/2006/math">
                    <m:r>
                      <a:rPr lang="en-US" i="1" dirty="0" smtClean="0">
                        <a:latin typeface="Cambria Math" panose="02040503050406030204" pitchFamily="18" charset="0"/>
                      </a:rPr>
                      <m:t>𝑋</m:t>
                    </m:r>
                  </m:oMath>
                </a14:m>
                <a:r>
                  <a:rPr lang="en-US"/>
                  <a:t> with expectation 45, what is the probability that </a:t>
                </a:r>
                <a14:m>
                  <m:oMath xmlns:m="http://schemas.openxmlformats.org/officeDocument/2006/math">
                    <m:r>
                      <a:rPr lang="en-US" i="1" dirty="0" smtClean="0">
                        <a:latin typeface="Cambria Math" panose="02040503050406030204" pitchFamily="18" charset="0"/>
                      </a:rPr>
                      <m:t>𝑋</m:t>
                    </m:r>
                  </m:oMath>
                </a14:m>
                <a:r>
                  <a:rPr lang="en-US"/>
                  <a:t> &gt; 90? </a:t>
                </a:r>
              </a:p>
              <a:p>
                <a:pPr marL="1028683" lvl="1" indent="-342900">
                  <a:buFont typeface="Arial" panose="020B0604020202020204" pitchFamily="34" charset="0"/>
                  <a:buChar char="•"/>
                </a:pPr>
                <a:r>
                  <a:rPr lang="en-US"/>
                  <a:t>Surprisingly, we can bound this probability without even knowing anything else about the RV (e.g. variance, distribution, </a:t>
                </a:r>
                <a:r>
                  <a:rPr lang="en-US" err="1"/>
                  <a:t>etc</a:t>
                </a:r>
                <a:r>
                  <a:rPr lang="en-US"/>
                  <a:t>).</a:t>
                </a:r>
              </a:p>
            </p:txBody>
          </p:sp>
        </mc:Choice>
        <mc:Fallback>
          <p:sp>
            <p:nvSpPr>
              <p:cNvPr id="3" name="Content Placeholder 2">
                <a:extLst>
                  <a:ext uri="{FF2B5EF4-FFF2-40B4-BE49-F238E27FC236}">
                    <a16:creationId xmlns:a16="http://schemas.microsoft.com/office/drawing/2014/main" id="{A307F815-1F9A-FB2B-C0D5-40E7F6E48B7A}"/>
                  </a:ext>
                </a:extLst>
              </p:cNvPr>
              <p:cNvSpPr>
                <a:spLocks noGrp="1" noRot="1" noChangeAspect="1" noMove="1" noResize="1" noEditPoints="1" noAdjustHandles="1" noChangeArrowheads="1" noChangeShapeType="1" noTextEdit="1"/>
              </p:cNvSpPr>
              <p:nvPr>
                <p:ph idx="1"/>
              </p:nvPr>
            </p:nvSpPr>
            <p:spPr>
              <a:blipFill>
                <a:blip r:embed="rId2"/>
                <a:stretch>
                  <a:fillRect l="-796" t="-541" r="-584"/>
                </a:stretch>
              </a:blipFill>
            </p:spPr>
            <p:txBody>
              <a:bodyPr/>
              <a:lstStyle/>
              <a:p>
                <a:r>
                  <a:rPr lang="en-US">
                    <a:noFill/>
                  </a:rPr>
                  <a:t> </a:t>
                </a:r>
              </a:p>
            </p:txBody>
          </p:sp>
        </mc:Fallback>
      </mc:AlternateContent>
    </p:spTree>
    <p:extLst>
      <p:ext uri="{BB962C8B-B14F-4D97-AF65-F5344CB8AC3E}">
        <p14:creationId xmlns:p14="http://schemas.microsoft.com/office/powerpoint/2010/main" val="187814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blinds(horizontal)">
                                      <p:cBhvr>
                                        <p:cTn id="7" dur="500"/>
                                        <p:tgtEl>
                                          <p:spTgt spid="3">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C2CA0-7A47-8D4F-7AB7-E6C73E3430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EAD131-6C8F-761D-9A14-E3796B2CD236}"/>
              </a:ext>
            </a:extLst>
          </p:cNvPr>
          <p:cNvSpPr>
            <a:spLocks noGrp="1"/>
          </p:cNvSpPr>
          <p:nvPr>
            <p:ph type="ctrTitle"/>
          </p:nvPr>
        </p:nvSpPr>
        <p:spPr/>
        <p:txBody>
          <a:bodyPr>
            <a:normAutofit/>
          </a:bodyPr>
          <a:lstStyle/>
          <a:p>
            <a:r>
              <a:rPr lang="en-US"/>
              <a:t>Markov’s Inequality</a:t>
            </a:r>
          </a:p>
        </p:txBody>
      </p:sp>
      <p:sp>
        <p:nvSpPr>
          <p:cNvPr id="3" name="Subtitle 2">
            <a:extLst>
              <a:ext uri="{FF2B5EF4-FFF2-40B4-BE49-F238E27FC236}">
                <a16:creationId xmlns:a16="http://schemas.microsoft.com/office/drawing/2014/main" id="{CCE1057D-8896-BCCE-98E0-E0B273B8FA74}"/>
              </a:ext>
            </a:extLst>
          </p:cNvPr>
          <p:cNvSpPr>
            <a:spLocks noGrp="1"/>
          </p:cNvSpPr>
          <p:nvPr>
            <p:ph type="subTitle" idx="1"/>
          </p:nvPr>
        </p:nvSpPr>
        <p:spPr/>
        <p:txBody>
          <a:bodyPr/>
          <a:lstStyle/>
          <a:p>
            <a:r>
              <a:rPr lang="en-US"/>
              <a:t>Lecture 22, CS70 Fall 2025</a:t>
            </a:r>
          </a:p>
        </p:txBody>
      </p:sp>
      <p:sp>
        <p:nvSpPr>
          <p:cNvPr id="6" name="Content Placeholder 5">
            <a:extLst>
              <a:ext uri="{FF2B5EF4-FFF2-40B4-BE49-F238E27FC236}">
                <a16:creationId xmlns:a16="http://schemas.microsoft.com/office/drawing/2014/main" id="{A7C53B71-C279-7677-9C07-148DAA782301}"/>
              </a:ext>
            </a:extLst>
          </p:cNvPr>
          <p:cNvSpPr>
            <a:spLocks noGrp="1"/>
          </p:cNvSpPr>
          <p:nvPr>
            <p:ph sz="quarter" idx="10"/>
          </p:nvPr>
        </p:nvSpPr>
        <p:spPr/>
        <p:txBody>
          <a:bodyPr/>
          <a:lstStyle/>
          <a:p>
            <a:endParaRPr lang="en-US">
              <a:solidFill>
                <a:schemeClr val="bg1">
                  <a:lumMod val="65000"/>
                </a:schemeClr>
              </a:solidFill>
            </a:endParaRPr>
          </a:p>
          <a:p>
            <a:endParaRPr lang="en-US" b="1">
              <a:solidFill>
                <a:schemeClr val="accent3"/>
              </a:solidFill>
              <a:latin typeface="Inter" panose="02000503000000020004" pitchFamily="2" charset="0"/>
              <a:ea typeface="Inter" panose="02000503000000020004" pitchFamily="2" charset="0"/>
              <a:cs typeface="Inter" panose="02000503000000020004" pitchFamily="2" charset="0"/>
            </a:endParaRPr>
          </a:p>
        </p:txBody>
      </p:sp>
      <p:sp>
        <p:nvSpPr>
          <p:cNvPr id="4" name="Content Placeholder 5">
            <a:extLst>
              <a:ext uri="{FF2B5EF4-FFF2-40B4-BE49-F238E27FC236}">
                <a16:creationId xmlns:a16="http://schemas.microsoft.com/office/drawing/2014/main" id="{32EDB285-4351-6924-6270-F79A7DD0ABC8}"/>
              </a:ext>
            </a:extLst>
          </p:cNvPr>
          <p:cNvSpPr txBox="1">
            <a:spLocks/>
          </p:cNvSpPr>
          <p:nvPr/>
        </p:nvSpPr>
        <p:spPr>
          <a:xfrm>
            <a:off x="6248400" y="217487"/>
            <a:ext cx="6096000" cy="6716713"/>
          </a:xfrm>
          <a:prstGeom prst="rect">
            <a:avLst/>
          </a:prstGeom>
        </p:spPr>
        <p:txBody>
          <a:bodyPr anchor="ctr">
            <a:normAutofit/>
          </a:bodyPr>
          <a:lstStyle>
            <a:lvl1pPr marL="0" indent="0" algn="l" defTabSz="914377" rtl="0" eaLnBrk="1" latinLnBrk="0" hangingPunct="1">
              <a:lnSpc>
                <a:spcPct val="110000"/>
              </a:lnSpc>
              <a:spcBef>
                <a:spcPts val="1000"/>
              </a:spcBef>
              <a:buFont typeface="Arial" panose="020B0604020202020204" pitchFamily="34" charset="0"/>
              <a:buNone/>
              <a:defRPr sz="2400" b="0" i="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1pPr>
            <a:lvl2pPr marL="685783" indent="-228594" algn="l" defTabSz="914377" rtl="0" eaLnBrk="1" latinLnBrk="0" hangingPunct="1">
              <a:lnSpc>
                <a:spcPct val="90000"/>
              </a:lnSpc>
              <a:spcBef>
                <a:spcPts val="500"/>
              </a:spcBef>
              <a:buSzPct val="125000"/>
              <a:buFont typeface="Arial" panose="020B0604020202020204" pitchFamily="34" charset="0"/>
              <a:buChar char="•"/>
              <a:defRPr sz="2400" b="0" i="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2pPr>
            <a:lvl3pPr marL="1142971" indent="-228594" algn="l" defTabSz="914377" rtl="0" eaLnBrk="1" latinLnBrk="0" hangingPunct="1">
              <a:lnSpc>
                <a:spcPct val="90000"/>
              </a:lnSpc>
              <a:spcBef>
                <a:spcPts val="500"/>
              </a:spcBef>
              <a:buFont typeface="Courier New" panose="02070309020205020404" pitchFamily="49" charset="0"/>
              <a:buChar char="o"/>
              <a:defRPr sz="2400" b="0" i="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3pPr>
            <a:lvl4pPr marL="1600160" indent="-228594" algn="l" defTabSz="914377" rtl="0" eaLnBrk="1" latinLnBrk="0" hangingPunct="1">
              <a:lnSpc>
                <a:spcPct val="90000"/>
              </a:lnSpc>
              <a:spcBef>
                <a:spcPts val="500"/>
              </a:spcBef>
              <a:buFont typeface="Wingdings" pitchFamily="2" charset="2"/>
              <a:buChar char="§"/>
              <a:defRPr sz="2400" b="0" i="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4pPr>
            <a:lvl5pPr marL="2057349" indent="-228594" algn="l" defTabSz="914377" rtl="0" eaLnBrk="1" latinLnBrk="0" hangingPunct="1">
              <a:lnSpc>
                <a:spcPct val="90000"/>
              </a:lnSpc>
              <a:spcBef>
                <a:spcPts val="500"/>
              </a:spcBef>
              <a:buFont typeface="Arial" panose="020B0604020202020204" pitchFamily="34" charset="0"/>
              <a:buChar char="•"/>
              <a:defRPr sz="2400" b="0" i="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chemeClr val="bg1">
                    <a:lumMod val="65000"/>
                  </a:schemeClr>
                </a:solidFill>
              </a:rPr>
              <a:t>Estimating p for </a:t>
            </a:r>
            <a:r>
              <a:rPr lang="en-US" err="1">
                <a:solidFill>
                  <a:schemeClr val="bg1">
                    <a:lumMod val="65000"/>
                  </a:schemeClr>
                </a:solidFill>
              </a:rPr>
              <a:t>X~Bernoulli</a:t>
            </a:r>
            <a:r>
              <a:rPr lang="en-US">
                <a:solidFill>
                  <a:schemeClr val="bg1">
                    <a:lumMod val="65000"/>
                  </a:schemeClr>
                </a:solidFill>
              </a:rPr>
              <a:t>(p)</a:t>
            </a:r>
          </a:p>
          <a:p>
            <a:r>
              <a:rPr lang="en-US" b="1">
                <a:solidFill>
                  <a:schemeClr val="accent3"/>
                </a:solidFill>
                <a:latin typeface="Inter" panose="02000503000000020004" pitchFamily="2" charset="0"/>
                <a:ea typeface="Inter" panose="02000503000000020004" pitchFamily="2" charset="0"/>
                <a:cs typeface="Inter" panose="02000503000000020004" pitchFamily="2" charset="0"/>
              </a:rPr>
              <a:t>Markov’s Inequality</a:t>
            </a:r>
          </a:p>
          <a:p>
            <a:r>
              <a:rPr lang="en-US">
                <a:solidFill>
                  <a:schemeClr val="bg1">
                    <a:lumMod val="65000"/>
                  </a:schemeClr>
                </a:solidFill>
              </a:rPr>
              <a:t>Chebyshev’s Inequality</a:t>
            </a:r>
          </a:p>
          <a:p>
            <a:r>
              <a:rPr lang="en-US">
                <a:solidFill>
                  <a:schemeClr val="bg1">
                    <a:lumMod val="65000"/>
                  </a:schemeClr>
                </a:solidFill>
              </a:rPr>
              <a:t>The Chebyshev Bound for Number of Heads</a:t>
            </a:r>
          </a:p>
          <a:p>
            <a:r>
              <a:rPr lang="en-US">
                <a:solidFill>
                  <a:schemeClr val="tx2"/>
                </a:solidFill>
              </a:rPr>
              <a:t>The Chebyshev Bound for Estimating the Fairness of a Coin</a:t>
            </a:r>
            <a:endParaRPr lang="en-US">
              <a:solidFill>
                <a:schemeClr val="bg1">
                  <a:lumMod val="65000"/>
                </a:schemeClr>
              </a:solidFill>
            </a:endParaRPr>
          </a:p>
          <a:p>
            <a:r>
              <a:rPr lang="en-US">
                <a:solidFill>
                  <a:schemeClr val="bg1">
                    <a:lumMod val="65000"/>
                  </a:schemeClr>
                </a:solidFill>
              </a:rPr>
              <a:t>Weak Law of Large Numbers</a:t>
            </a:r>
          </a:p>
          <a:p>
            <a:r>
              <a:rPr lang="en-US">
                <a:solidFill>
                  <a:schemeClr val="bg1">
                    <a:lumMod val="65000"/>
                  </a:schemeClr>
                </a:solidFill>
              </a:rPr>
              <a:t>Bounds Beyond CS70</a:t>
            </a:r>
          </a:p>
        </p:txBody>
      </p:sp>
    </p:spTree>
    <p:extLst>
      <p:ext uri="{BB962C8B-B14F-4D97-AF65-F5344CB8AC3E}">
        <p14:creationId xmlns:p14="http://schemas.microsoft.com/office/powerpoint/2010/main" val="40380068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F0140-E1CE-1BD0-91D6-42691FD7CA05}"/>
              </a:ext>
            </a:extLst>
          </p:cNvPr>
          <p:cNvSpPr>
            <a:spLocks noGrp="1"/>
          </p:cNvSpPr>
          <p:nvPr>
            <p:ph type="title"/>
          </p:nvPr>
        </p:nvSpPr>
        <p:spPr/>
        <p:txBody>
          <a:bodyPr/>
          <a:lstStyle/>
          <a:p>
            <a:r>
              <a:rPr lang="en-US"/>
              <a:t>Thought Experiment 1</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E751006-9E39-E17F-A37D-4D60E321583F}"/>
                  </a:ext>
                </a:extLst>
              </p:cNvPr>
              <p:cNvSpPr>
                <a:spLocks noGrp="1"/>
              </p:cNvSpPr>
              <p:nvPr>
                <p:ph idx="1"/>
              </p:nvPr>
            </p:nvSpPr>
            <p:spPr/>
            <p:txBody>
              <a:bodyPr/>
              <a:lstStyle/>
              <a:p>
                <a:r>
                  <a:rPr lang="en-US"/>
                  <a:t>Imagine that 100 students take a midterm with average score </a:t>
                </a:r>
                <a14:m>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=45</m:t>
                    </m:r>
                  </m:oMath>
                </a14:m>
                <a:r>
                  <a:rPr lang="en-US"/>
                  <a:t>.</a:t>
                </a:r>
              </a:p>
              <a:p>
                <a:pPr marL="342900" indent="-342900">
                  <a:buFont typeface="Arial" panose="020B0604020202020204" pitchFamily="34" charset="0"/>
                  <a:buChar char="•"/>
                </a:pPr>
                <a:r>
                  <a:rPr lang="en-US"/>
                  <a:t>Can all 100 students score greater than </a:t>
                </a:r>
                <a14:m>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=45</m:t>
                    </m:r>
                  </m:oMath>
                </a14:m>
                <a:r>
                  <a:rPr lang="en-US"/>
                  <a:t> on the midterm?</a:t>
                </a:r>
              </a:p>
              <a:p>
                <a:pPr marL="342900" indent="-342900">
                  <a:buFont typeface="Arial" panose="020B0604020202020204" pitchFamily="34" charset="0"/>
                  <a:buChar char="•"/>
                </a:pPr>
                <a:endParaRPr lang="en-US"/>
              </a:p>
            </p:txBody>
          </p:sp>
        </mc:Choice>
        <mc:Fallback>
          <p:sp>
            <p:nvSpPr>
              <p:cNvPr id="3" name="Content Placeholder 2">
                <a:extLst>
                  <a:ext uri="{FF2B5EF4-FFF2-40B4-BE49-F238E27FC236}">
                    <a16:creationId xmlns:a16="http://schemas.microsoft.com/office/drawing/2014/main" id="{7E751006-9E39-E17F-A37D-4D60E321583F}"/>
                  </a:ext>
                </a:extLst>
              </p:cNvPr>
              <p:cNvSpPr>
                <a:spLocks noGrp="1" noRot="1" noChangeAspect="1" noMove="1" noResize="1" noEditPoints="1" noAdjustHandles="1" noChangeArrowheads="1" noChangeShapeType="1" noTextEdit="1"/>
              </p:cNvSpPr>
              <p:nvPr>
                <p:ph idx="1"/>
              </p:nvPr>
            </p:nvSpPr>
            <p:spPr>
              <a:blipFill>
                <a:blip r:embed="rId2"/>
                <a:stretch>
                  <a:fillRect l="-796" t="-541"/>
                </a:stretch>
              </a:blipFill>
            </p:spPr>
            <p:txBody>
              <a:bodyPr/>
              <a:lstStyle/>
              <a:p>
                <a:r>
                  <a:rPr lang="en-US">
                    <a:noFill/>
                  </a:rPr>
                  <a:t> </a:t>
                </a:r>
              </a:p>
            </p:txBody>
          </p:sp>
        </mc:Fallback>
      </mc:AlternateContent>
    </p:spTree>
    <p:extLst>
      <p:ext uri="{BB962C8B-B14F-4D97-AF65-F5344CB8AC3E}">
        <p14:creationId xmlns:p14="http://schemas.microsoft.com/office/powerpoint/2010/main" val="39548659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43E5D-1A28-F3BA-AEAF-94B5ECD6FE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88330D-EC5E-03FF-31FF-F59E2CEEE77C}"/>
              </a:ext>
            </a:extLst>
          </p:cNvPr>
          <p:cNvSpPr>
            <a:spLocks noGrp="1"/>
          </p:cNvSpPr>
          <p:nvPr>
            <p:ph type="title"/>
          </p:nvPr>
        </p:nvSpPr>
        <p:spPr/>
        <p:txBody>
          <a:bodyPr/>
          <a:lstStyle/>
          <a:p>
            <a:r>
              <a:rPr lang="en-US"/>
              <a:t>Thought Experiment 1</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90B5747-787F-2850-C607-78CC8C5935AC}"/>
                  </a:ext>
                </a:extLst>
              </p:cNvPr>
              <p:cNvSpPr>
                <a:spLocks noGrp="1"/>
              </p:cNvSpPr>
              <p:nvPr>
                <p:ph idx="1"/>
              </p:nvPr>
            </p:nvSpPr>
            <p:spPr/>
            <p:txBody>
              <a:bodyPr/>
              <a:lstStyle/>
              <a:p>
                <a:r>
                  <a:rPr lang="en-US"/>
                  <a:t>Imagine that 100 students take a midterm with average score </a:t>
                </a:r>
                <a14:m>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=45</m:t>
                    </m:r>
                  </m:oMath>
                </a14:m>
                <a:r>
                  <a:rPr lang="en-US"/>
                  <a:t>.</a:t>
                </a:r>
              </a:p>
              <a:p>
                <a:pPr marL="342900" indent="-342900">
                  <a:buFont typeface="Arial" panose="020B0604020202020204" pitchFamily="34" charset="0"/>
                  <a:buChar char="•"/>
                </a:pPr>
                <a:r>
                  <a:rPr lang="en-US"/>
                  <a:t>Can all 100 students score greater than </a:t>
                </a:r>
                <a14:m>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=45</m:t>
                    </m:r>
                  </m:oMath>
                </a14:m>
                <a:r>
                  <a:rPr lang="en-US"/>
                  <a:t> on the midterm?</a:t>
                </a:r>
              </a:p>
              <a:p>
                <a:pPr marL="342900" indent="-342900">
                  <a:buFont typeface="Arial" panose="020B0604020202020204" pitchFamily="34" charset="0"/>
                  <a:buChar char="•"/>
                </a:pPr>
                <a:r>
                  <a:rPr lang="en-US"/>
                  <a:t>No! If they did, then averaging their scores would yield some number larger than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100×45</m:t>
                        </m:r>
                      </m:num>
                      <m:den>
                        <m:r>
                          <a:rPr lang="en-US" b="0" i="1" smtClean="0">
                            <a:latin typeface="Cambria Math" panose="02040503050406030204" pitchFamily="18" charset="0"/>
                          </a:rPr>
                          <m:t>100</m:t>
                        </m:r>
                      </m:den>
                    </m:f>
                  </m:oMath>
                </a14:m>
                <a:r>
                  <a:rPr lang="en-US"/>
                  <a:t>. Average can’t be larger than itself.</a:t>
                </a:r>
              </a:p>
              <a:p>
                <a:pPr marL="342900" indent="-342900">
                  <a:buFont typeface="Arial" panose="020B0604020202020204" pitchFamily="34" charset="0"/>
                  <a:buChar char="•"/>
                </a:pPr>
                <a:endParaRPr lang="en-US"/>
              </a:p>
              <a:p>
                <a:endParaRPr lang="en-US"/>
              </a:p>
              <a:p>
                <a:r>
                  <a:rPr lang="en-US"/>
                  <a:t>Or as a concrete example: Everyone gets just a tiny bit better than the average, say 45.0001, then average would be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45.0001+45.0001+…+45.0001</m:t>
                        </m:r>
                      </m:num>
                      <m:den>
                        <m:r>
                          <a:rPr lang="en-US" b="0" i="1" smtClean="0">
                            <a:latin typeface="Cambria Math" panose="02040503050406030204" pitchFamily="18" charset="0"/>
                          </a:rPr>
                          <m:t>100</m:t>
                        </m:r>
                      </m:den>
                    </m:f>
                    <m:r>
                      <a:rPr lang="en-US" b="0" i="1" smtClean="0">
                        <a:latin typeface="Cambria Math" panose="02040503050406030204" pitchFamily="18" charset="0"/>
                      </a:rPr>
                      <m:t>=45.0001</m:t>
                    </m:r>
                  </m:oMath>
                </a14:m>
                <a:r>
                  <a:rPr lang="en-US"/>
                  <a:t>, but that’s more than 45. </a:t>
                </a:r>
              </a:p>
            </p:txBody>
          </p:sp>
        </mc:Choice>
        <mc:Fallback>
          <p:sp>
            <p:nvSpPr>
              <p:cNvPr id="3" name="Content Placeholder 2">
                <a:extLst>
                  <a:ext uri="{FF2B5EF4-FFF2-40B4-BE49-F238E27FC236}">
                    <a16:creationId xmlns:a16="http://schemas.microsoft.com/office/drawing/2014/main" id="{D90B5747-787F-2850-C607-78CC8C5935AC}"/>
                  </a:ext>
                </a:extLst>
              </p:cNvPr>
              <p:cNvSpPr>
                <a:spLocks noGrp="1" noRot="1" noChangeAspect="1" noMove="1" noResize="1" noEditPoints="1" noAdjustHandles="1" noChangeArrowheads="1" noChangeShapeType="1" noTextEdit="1"/>
              </p:cNvSpPr>
              <p:nvPr>
                <p:ph idx="1"/>
              </p:nvPr>
            </p:nvSpPr>
            <p:spPr>
              <a:blipFill>
                <a:blip r:embed="rId2"/>
                <a:stretch>
                  <a:fillRect l="-796" t="-541" r="-1008"/>
                </a:stretch>
              </a:blipFill>
            </p:spPr>
            <p:txBody>
              <a:bodyPr/>
              <a:lstStyle/>
              <a:p>
                <a:r>
                  <a:rPr lang="en-US">
                    <a:noFill/>
                  </a:rPr>
                  <a:t> </a:t>
                </a:r>
              </a:p>
            </p:txBody>
          </p:sp>
        </mc:Fallback>
      </mc:AlternateContent>
    </p:spTree>
    <p:extLst>
      <p:ext uri="{BB962C8B-B14F-4D97-AF65-F5344CB8AC3E}">
        <p14:creationId xmlns:p14="http://schemas.microsoft.com/office/powerpoint/2010/main" val="38765434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B869440-9B26-8271-CAE8-E45E74C78B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79B1D3-7EB3-9164-8C2E-26C91285013A}"/>
              </a:ext>
            </a:extLst>
          </p:cNvPr>
          <p:cNvSpPr>
            <a:spLocks noGrp="1"/>
          </p:cNvSpPr>
          <p:nvPr>
            <p:ph type="title"/>
          </p:nvPr>
        </p:nvSpPr>
        <p:spPr/>
        <p:txBody>
          <a:bodyPr/>
          <a:lstStyle/>
          <a:p>
            <a:r>
              <a:rPr lang="en-US"/>
              <a:t>Thought Experiment 2</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5710095-C4B7-2492-8DF9-97FDE56011E1}"/>
                  </a:ext>
                </a:extLst>
              </p:cNvPr>
              <p:cNvSpPr>
                <a:spLocks noGrp="1"/>
              </p:cNvSpPr>
              <p:nvPr>
                <p:ph idx="1"/>
              </p:nvPr>
            </p:nvSpPr>
            <p:spPr/>
            <p:txBody>
              <a:bodyPr/>
              <a:lstStyle/>
              <a:p>
                <a:r>
                  <a:rPr lang="en-US"/>
                  <a:t>Imagine that 100 students take a midterm with average score </a:t>
                </a:r>
                <a14:m>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=45</m:t>
                    </m:r>
                  </m:oMath>
                </a14:m>
                <a:r>
                  <a:rPr lang="en-US"/>
                  <a:t>.</a:t>
                </a:r>
              </a:p>
              <a:p>
                <a:pPr marL="342900" indent="-342900">
                  <a:buFont typeface="Arial" panose="020B0604020202020204" pitchFamily="34" charset="0"/>
                  <a:buChar char="•"/>
                </a:pPr>
                <a:r>
                  <a:rPr lang="en-US"/>
                  <a:t>Can 50 students earn a score greater than or equal to </a:t>
                </a:r>
                <a14:m>
                  <m:oMath xmlns:m="http://schemas.openxmlformats.org/officeDocument/2006/math">
                    <m:r>
                      <a:rPr lang="en-US" b="0" i="1" smtClean="0">
                        <a:latin typeface="Cambria Math" panose="02040503050406030204" pitchFamily="18" charset="0"/>
                      </a:rPr>
                      <m:t>2</m:t>
                    </m:r>
                    <m:r>
                      <a:rPr lang="en-US" b="0" i="1" smtClean="0">
                        <a:latin typeface="Cambria Math" panose="02040503050406030204" pitchFamily="18" charset="0"/>
                      </a:rPr>
                      <m:t>𝜇</m:t>
                    </m:r>
                    <m:r>
                      <a:rPr lang="en-US" b="0" i="1" smtClean="0">
                        <a:latin typeface="Cambria Math" panose="02040503050406030204" pitchFamily="18" charset="0"/>
                      </a:rPr>
                      <m:t>=90</m:t>
                    </m:r>
                  </m:oMath>
                </a14:m>
                <a:r>
                  <a:rPr lang="en-US"/>
                  <a:t> on the midterm?</a:t>
                </a:r>
              </a:p>
              <a:p>
                <a:pPr marL="342900" indent="-342900">
                  <a:buFont typeface="Arial" panose="020B0604020202020204" pitchFamily="34" charset="0"/>
                  <a:buChar char="•"/>
                </a:pPr>
                <a:r>
                  <a:rPr lang="en-US" err="1"/>
                  <a:t>joshh.ug</a:t>
                </a:r>
                <a:r>
                  <a:rPr lang="en-US"/>
                  <a:t>/B</a:t>
                </a:r>
              </a:p>
            </p:txBody>
          </p:sp>
        </mc:Choice>
        <mc:Fallback>
          <p:sp>
            <p:nvSpPr>
              <p:cNvPr id="3" name="Content Placeholder 2">
                <a:extLst>
                  <a:ext uri="{FF2B5EF4-FFF2-40B4-BE49-F238E27FC236}">
                    <a16:creationId xmlns:a16="http://schemas.microsoft.com/office/drawing/2014/main" id="{35710095-C4B7-2492-8DF9-97FDE56011E1}"/>
                  </a:ext>
                </a:extLst>
              </p:cNvPr>
              <p:cNvSpPr>
                <a:spLocks noGrp="1" noRot="1" noChangeAspect="1" noMove="1" noResize="1" noEditPoints="1" noAdjustHandles="1" noChangeArrowheads="1" noChangeShapeType="1" noTextEdit="1"/>
              </p:cNvSpPr>
              <p:nvPr>
                <p:ph idx="1"/>
              </p:nvPr>
            </p:nvSpPr>
            <p:spPr>
              <a:blipFill>
                <a:blip r:embed="rId2"/>
                <a:stretch>
                  <a:fillRect l="-796" t="-541"/>
                </a:stretch>
              </a:blipFill>
            </p:spPr>
            <p:txBody>
              <a:bodyPr/>
              <a:lstStyle/>
              <a:p>
                <a:r>
                  <a:rPr lang="en-US">
                    <a:noFill/>
                  </a:rPr>
                  <a:t> </a:t>
                </a:r>
              </a:p>
            </p:txBody>
          </p:sp>
        </mc:Fallback>
      </mc:AlternateContent>
      <p:pic>
        <p:nvPicPr>
          <p:cNvPr id="2050" name="Picture 2">
            <a:extLst>
              <a:ext uri="{FF2B5EF4-FFF2-40B4-BE49-F238E27FC236}">
                <a16:creationId xmlns:a16="http://schemas.microsoft.com/office/drawing/2014/main" id="{38924BD6-95D0-8EA9-ADF0-CB9CF98078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40843" y="3923180"/>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9910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12DEE-0AB5-1706-2F05-7B8A4E24E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03DE2C-5644-B3CA-5808-319FC15D4A30}"/>
              </a:ext>
            </a:extLst>
          </p:cNvPr>
          <p:cNvSpPr>
            <a:spLocks noGrp="1"/>
          </p:cNvSpPr>
          <p:nvPr>
            <p:ph type="title"/>
          </p:nvPr>
        </p:nvSpPr>
        <p:spPr/>
        <p:txBody>
          <a:bodyPr/>
          <a:lstStyle/>
          <a:p>
            <a:r>
              <a:rPr lang="en-US"/>
              <a:t>Thought Experiment 2</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BE7042D-0584-1643-735F-48926F5064D3}"/>
                  </a:ext>
                </a:extLst>
              </p:cNvPr>
              <p:cNvSpPr>
                <a:spLocks noGrp="1"/>
              </p:cNvSpPr>
              <p:nvPr>
                <p:ph idx="1"/>
              </p:nvPr>
            </p:nvSpPr>
            <p:spPr/>
            <p:txBody>
              <a:bodyPr/>
              <a:lstStyle/>
              <a:p>
                <a:r>
                  <a:rPr lang="en-US"/>
                  <a:t>Imagine that 100 students take a midterm with average score </a:t>
                </a:r>
                <a14:m>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=45</m:t>
                    </m:r>
                  </m:oMath>
                </a14:m>
                <a:r>
                  <a:rPr lang="en-US"/>
                  <a:t>.</a:t>
                </a:r>
              </a:p>
              <a:p>
                <a:pPr marL="342900" indent="-342900">
                  <a:buFont typeface="Arial" panose="020B0604020202020204" pitchFamily="34" charset="0"/>
                  <a:buChar char="•"/>
                </a:pPr>
                <a:r>
                  <a:rPr lang="en-US"/>
                  <a:t>Can 50 students earn a score greater than or equal to </a:t>
                </a:r>
                <a14:m>
                  <m:oMath xmlns:m="http://schemas.openxmlformats.org/officeDocument/2006/math">
                    <m:r>
                      <a:rPr lang="en-US" i="1">
                        <a:latin typeface="Cambria Math" panose="02040503050406030204" pitchFamily="18" charset="0"/>
                      </a:rPr>
                      <m:t>2</m:t>
                    </m:r>
                    <m:r>
                      <a:rPr lang="en-US" i="1">
                        <a:latin typeface="Cambria Math" panose="02040503050406030204" pitchFamily="18" charset="0"/>
                      </a:rPr>
                      <m:t>𝜇</m:t>
                    </m:r>
                    <m:r>
                      <a:rPr lang="en-US" i="1">
                        <a:latin typeface="Cambria Math" panose="02040503050406030204" pitchFamily="18" charset="0"/>
                      </a:rPr>
                      <m:t>=90</m:t>
                    </m:r>
                  </m:oMath>
                </a14:m>
                <a:r>
                  <a:rPr lang="en-US"/>
                  <a:t> on the midterm?</a:t>
                </a:r>
              </a:p>
              <a:p>
                <a:pPr marL="342900" indent="-342900">
                  <a:buFont typeface="Arial" panose="020B0604020202020204" pitchFamily="34" charset="0"/>
                  <a:buChar char="•"/>
                </a:pPr>
                <a:r>
                  <a:rPr lang="en-US"/>
                  <a:t>Sure! Assign all of the “small” outcomes to zero, i.e. 50 students get a 0, and all of the “large” outcomes to 90, i.e. the other 50 students get </a:t>
                </a:r>
                <a14:m>
                  <m:oMath xmlns:m="http://schemas.openxmlformats.org/officeDocument/2006/math">
                    <m:r>
                      <a:rPr lang="en-US" b="0" i="0" smtClean="0">
                        <a:latin typeface="Cambria Math" panose="02040503050406030204" pitchFamily="18" charset="0"/>
                      </a:rPr>
                      <m:t>2</m:t>
                    </m:r>
                    <m:r>
                      <a:rPr lang="en-US" b="0" i="1" smtClean="0">
                        <a:latin typeface="Cambria Math" panose="02040503050406030204" pitchFamily="18" charset="0"/>
                      </a:rPr>
                      <m:t>𝜇</m:t>
                    </m:r>
                    <m:r>
                      <a:rPr lang="en-US" b="0" i="1" smtClean="0">
                        <a:latin typeface="Cambria Math" panose="02040503050406030204" pitchFamily="18" charset="0"/>
                      </a:rPr>
                      <m:t>=90</m:t>
                    </m:r>
                  </m:oMath>
                </a14:m>
                <a:r>
                  <a:rPr lang="en-US"/>
                  <a:t>. In that case, the average is:</a:t>
                </a:r>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a:p>
                <a:r>
                  <a:rPr lang="en-US"/>
                  <a:t>Note, the 50 students can’t all earn a score greater than 90! But they can all earn a score equal to 90.</a:t>
                </a:r>
              </a:p>
            </p:txBody>
          </p:sp>
        </mc:Choice>
        <mc:Fallback>
          <p:sp>
            <p:nvSpPr>
              <p:cNvPr id="3" name="Content Placeholder 2">
                <a:extLst>
                  <a:ext uri="{FF2B5EF4-FFF2-40B4-BE49-F238E27FC236}">
                    <a16:creationId xmlns:a16="http://schemas.microsoft.com/office/drawing/2014/main" id="{5BE7042D-0584-1643-735F-48926F5064D3}"/>
                  </a:ext>
                </a:extLst>
              </p:cNvPr>
              <p:cNvSpPr>
                <a:spLocks noGrp="1" noRot="1" noChangeAspect="1" noMove="1" noResize="1" noEditPoints="1" noAdjustHandles="1" noChangeArrowheads="1" noChangeShapeType="1" noTextEdit="1"/>
              </p:cNvSpPr>
              <p:nvPr>
                <p:ph idx="1"/>
              </p:nvPr>
            </p:nvSpPr>
            <p:spPr>
              <a:blipFill>
                <a:blip r:embed="rId2"/>
                <a:stretch>
                  <a:fillRect l="-796" t="-541" r="-7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F899FED8-51EE-EB8B-7CA5-D76DA3881768}"/>
                  </a:ext>
                </a:extLst>
              </p:cNvPr>
              <p:cNvSpPr txBox="1"/>
              <p:nvPr/>
            </p:nvSpPr>
            <p:spPr>
              <a:xfrm>
                <a:off x="3819884" y="3937324"/>
                <a:ext cx="4368800" cy="7936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50×0+50×90</m:t>
                          </m:r>
                        </m:num>
                        <m:den>
                          <m:r>
                            <a:rPr lang="en-US" sz="2400" b="0" i="1" smtClean="0">
                              <a:latin typeface="Cambria Math" panose="02040503050406030204" pitchFamily="18" charset="0"/>
                            </a:rPr>
                            <m:t>100</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450</m:t>
                          </m:r>
                        </m:num>
                        <m:den>
                          <m:r>
                            <a:rPr lang="en-US" sz="2400" b="0" i="1" smtClean="0">
                              <a:latin typeface="Cambria Math" panose="02040503050406030204" pitchFamily="18" charset="0"/>
                            </a:rPr>
                            <m:t>100</m:t>
                          </m:r>
                        </m:den>
                      </m:f>
                      <m:r>
                        <a:rPr lang="en-US" sz="2400" b="0" i="1" smtClean="0">
                          <a:latin typeface="Cambria Math" panose="02040503050406030204" pitchFamily="18" charset="0"/>
                        </a:rPr>
                        <m:t>=45</m:t>
                      </m:r>
                    </m:oMath>
                  </m:oMathPara>
                </a14:m>
                <a:endParaRPr lang="en-US" sz="2400"/>
              </a:p>
            </p:txBody>
          </p:sp>
        </mc:Choice>
        <mc:Fallback>
          <p:sp>
            <p:nvSpPr>
              <p:cNvPr id="4" name="TextBox 3">
                <a:extLst>
                  <a:ext uri="{FF2B5EF4-FFF2-40B4-BE49-F238E27FC236}">
                    <a16:creationId xmlns:a16="http://schemas.microsoft.com/office/drawing/2014/main" id="{F899FED8-51EE-EB8B-7CA5-D76DA3881768}"/>
                  </a:ext>
                </a:extLst>
              </p:cNvPr>
              <p:cNvSpPr txBox="1">
                <a:spLocks noRot="1" noChangeAspect="1" noMove="1" noResize="1" noEditPoints="1" noAdjustHandles="1" noChangeArrowheads="1" noChangeShapeType="1" noTextEdit="1"/>
              </p:cNvSpPr>
              <p:nvPr/>
            </p:nvSpPr>
            <p:spPr>
              <a:xfrm>
                <a:off x="3819884" y="3937324"/>
                <a:ext cx="4368800" cy="793679"/>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67517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92A020F-0D38-0B4C-E500-20D4A35293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F0D1F7-99B1-8526-DD15-31D73311F428}"/>
              </a:ext>
            </a:extLst>
          </p:cNvPr>
          <p:cNvSpPr>
            <a:spLocks noGrp="1"/>
          </p:cNvSpPr>
          <p:nvPr>
            <p:ph type="title"/>
          </p:nvPr>
        </p:nvSpPr>
        <p:spPr/>
        <p:txBody>
          <a:bodyPr/>
          <a:lstStyle/>
          <a:p>
            <a:r>
              <a:rPr lang="en-US"/>
              <a:t>Thought Experiment 3</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FC6DF7F-95A0-7F28-4AFC-26644FDBD383}"/>
                  </a:ext>
                </a:extLst>
              </p:cNvPr>
              <p:cNvSpPr>
                <a:spLocks noGrp="1"/>
              </p:cNvSpPr>
              <p:nvPr>
                <p:ph idx="1"/>
              </p:nvPr>
            </p:nvSpPr>
            <p:spPr/>
            <p:txBody>
              <a:bodyPr/>
              <a:lstStyle/>
              <a:p>
                <a:r>
                  <a:rPr lang="en-US"/>
                  <a:t>Imagine that we have n people whose average bank account balance is </a:t>
                </a:r>
                <a14:m>
                  <m:oMath xmlns:m="http://schemas.openxmlformats.org/officeDocument/2006/math">
                    <m:r>
                      <a:rPr lang="en-US" i="1">
                        <a:latin typeface="Cambria Math" panose="02040503050406030204" pitchFamily="18" charset="0"/>
                      </a:rPr>
                      <m:t>𝜇</m:t>
                    </m:r>
                    <m:r>
                      <a:rPr lang="en-US" i="1">
                        <a:latin typeface="Cambria Math" panose="02040503050406030204" pitchFamily="18" charset="0"/>
                      </a:rPr>
                      <m:t>=$5,000</m:t>
                    </m:r>
                  </m:oMath>
                </a14:m>
                <a:r>
                  <a:rPr lang="en-US"/>
                  <a:t>. What is the maximum possible fraction who have </a:t>
                </a:r>
                <a14:m>
                  <m:oMath xmlns:m="http://schemas.openxmlformats.org/officeDocument/2006/math">
                    <m:r>
                      <a:rPr lang="en-US" i="1">
                        <a:latin typeface="Cambria Math" panose="02040503050406030204" pitchFamily="18" charset="0"/>
                      </a:rPr>
                      <m:t>$1</m:t>
                    </m:r>
                    <m:r>
                      <a:rPr lang="en-US" b="0" i="1" smtClean="0">
                        <a:latin typeface="Cambria Math" panose="02040503050406030204" pitchFamily="18" charset="0"/>
                      </a:rPr>
                      <m:t>5</m:t>
                    </m:r>
                    <m:r>
                      <a:rPr lang="en-US" i="1">
                        <a:latin typeface="Cambria Math" panose="02040503050406030204" pitchFamily="18" charset="0"/>
                      </a:rPr>
                      <m:t>,000</m:t>
                    </m:r>
                  </m:oMath>
                </a14:m>
                <a:r>
                  <a:rPr lang="en-US"/>
                  <a:t> in their account?</a:t>
                </a:r>
              </a:p>
              <a:p>
                <a:pPr marL="342900" indent="-342900">
                  <a:buFont typeface="Arial" panose="020B0604020202020204" pitchFamily="34" charset="0"/>
                  <a:buChar char="•"/>
                </a:pPr>
                <a:r>
                  <a:rPr lang="en-US"/>
                  <a:t>joshh.ug/C</a:t>
                </a:r>
              </a:p>
            </p:txBody>
          </p:sp>
        </mc:Choice>
        <mc:Fallback>
          <p:sp>
            <p:nvSpPr>
              <p:cNvPr id="3" name="Content Placeholder 2">
                <a:extLst>
                  <a:ext uri="{FF2B5EF4-FFF2-40B4-BE49-F238E27FC236}">
                    <a16:creationId xmlns:a16="http://schemas.microsoft.com/office/drawing/2014/main" id="{DFC6DF7F-95A0-7F28-4AFC-26644FDBD383}"/>
                  </a:ext>
                </a:extLst>
              </p:cNvPr>
              <p:cNvSpPr>
                <a:spLocks noGrp="1" noRot="1" noChangeAspect="1" noMove="1" noResize="1" noEditPoints="1" noAdjustHandles="1" noChangeArrowheads="1" noChangeShapeType="1" noTextEdit="1"/>
              </p:cNvSpPr>
              <p:nvPr>
                <p:ph idx="1"/>
              </p:nvPr>
            </p:nvSpPr>
            <p:spPr>
              <a:blipFill>
                <a:blip r:embed="rId2"/>
                <a:stretch>
                  <a:fillRect l="-796" t="-541"/>
                </a:stretch>
              </a:blipFill>
            </p:spPr>
            <p:txBody>
              <a:bodyPr/>
              <a:lstStyle/>
              <a:p>
                <a:r>
                  <a:rPr lang="en-US">
                    <a:noFill/>
                  </a:rPr>
                  <a:t> </a:t>
                </a:r>
              </a:p>
            </p:txBody>
          </p:sp>
        </mc:Fallback>
      </mc:AlternateContent>
      <p:pic>
        <p:nvPicPr>
          <p:cNvPr id="5" name="Picture 4" descr="A qr code on a white background&#10;&#10;Description automatically generated">
            <a:extLst>
              <a:ext uri="{FF2B5EF4-FFF2-40B4-BE49-F238E27FC236}">
                <a16:creationId xmlns:a16="http://schemas.microsoft.com/office/drawing/2014/main" id="{ED6A7D14-6F2F-D571-CC30-8FC0AF4B6B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39300" y="4305300"/>
            <a:ext cx="2552700" cy="2552700"/>
          </a:xfrm>
          <a:prstGeom prst="rect">
            <a:avLst/>
          </a:prstGeom>
        </p:spPr>
      </p:pic>
    </p:spTree>
    <p:extLst>
      <p:ext uri="{BB962C8B-B14F-4D97-AF65-F5344CB8AC3E}">
        <p14:creationId xmlns:p14="http://schemas.microsoft.com/office/powerpoint/2010/main" val="4670158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18DBF-A75B-75D5-2BDD-5C62ACD76B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DD44E2-C87F-3A25-C95C-2CB47DEB2A02}"/>
              </a:ext>
            </a:extLst>
          </p:cNvPr>
          <p:cNvSpPr>
            <a:spLocks noGrp="1"/>
          </p:cNvSpPr>
          <p:nvPr>
            <p:ph type="title"/>
          </p:nvPr>
        </p:nvSpPr>
        <p:spPr/>
        <p:txBody>
          <a:bodyPr/>
          <a:lstStyle/>
          <a:p>
            <a:r>
              <a:rPr lang="en-US"/>
              <a:t>Thought Experiment 3</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B9C755D-0881-3472-F10F-E20E8762B5BD}"/>
                  </a:ext>
                </a:extLst>
              </p:cNvPr>
              <p:cNvSpPr>
                <a:spLocks noGrp="1"/>
              </p:cNvSpPr>
              <p:nvPr>
                <p:ph idx="1"/>
              </p:nvPr>
            </p:nvSpPr>
            <p:spPr/>
            <p:txBody>
              <a:bodyPr/>
              <a:lstStyle/>
              <a:p>
                <a:r>
                  <a:rPr lang="en-US"/>
                  <a:t>Imagine that we have n people whose average bank account balance is </a:t>
                </a:r>
                <a14:m>
                  <m:oMath xmlns:m="http://schemas.openxmlformats.org/officeDocument/2006/math">
                    <m:r>
                      <a:rPr lang="en-US" i="1">
                        <a:latin typeface="Cambria Math" panose="02040503050406030204" pitchFamily="18" charset="0"/>
                      </a:rPr>
                      <m:t>𝜇</m:t>
                    </m:r>
                    <m:r>
                      <a:rPr lang="en-US" i="1">
                        <a:latin typeface="Cambria Math" panose="02040503050406030204" pitchFamily="18" charset="0"/>
                      </a:rPr>
                      <m:t>=$5,000</m:t>
                    </m:r>
                  </m:oMath>
                </a14:m>
                <a:r>
                  <a:rPr lang="en-US"/>
                  <a:t>. What is the maximum possible fraction who have </a:t>
                </a:r>
                <a14:m>
                  <m:oMath xmlns:m="http://schemas.openxmlformats.org/officeDocument/2006/math">
                    <m:r>
                      <a:rPr lang="en-US" i="1">
                        <a:latin typeface="Cambria Math" panose="02040503050406030204" pitchFamily="18" charset="0"/>
                      </a:rPr>
                      <m:t>$1</m:t>
                    </m:r>
                    <m:r>
                      <a:rPr lang="en-US" b="0" i="1" smtClean="0">
                        <a:latin typeface="Cambria Math" panose="02040503050406030204" pitchFamily="18" charset="0"/>
                      </a:rPr>
                      <m:t>5</m:t>
                    </m:r>
                    <m:r>
                      <a:rPr lang="en-US" i="1">
                        <a:latin typeface="Cambria Math" panose="02040503050406030204" pitchFamily="18" charset="0"/>
                      </a:rPr>
                      <m:t>,000</m:t>
                    </m:r>
                  </m:oMath>
                </a14:m>
                <a:r>
                  <a:rPr lang="en-US"/>
                  <a:t> in their account?</a:t>
                </a:r>
              </a:p>
              <a:p>
                <a:pPr marL="342900" indent="-342900">
                  <a:buFont typeface="Arial" panose="020B0604020202020204" pitchFamily="34" charset="0"/>
                  <a:buChar char="•"/>
                </a:pPr>
                <a:r>
                  <a:rPr lang="en-US"/>
                  <a:t>The maximum possible fraction is 1/3</a:t>
                </a:r>
                <a:r>
                  <a:rPr lang="en-US" baseline="30000"/>
                  <a:t>rd</a:t>
                </a:r>
                <a:r>
                  <a:rPr lang="en-US"/>
                  <a:t>:</a:t>
                </a:r>
              </a:p>
              <a:p>
                <a:pPr marL="1028683" lvl="1" indent="-342900">
                  <a:buFont typeface="Arial" panose="020B0604020202020204" pitchFamily="34" charset="0"/>
                  <a:buChar char="•"/>
                </a:pPr>
                <a:r>
                  <a:rPr lang="en-US"/>
                  <a:t>2/3rds of people have zero dollars.</a:t>
                </a:r>
              </a:p>
              <a:p>
                <a:pPr marL="1028683" lvl="1" indent="-342900">
                  <a:buFont typeface="Arial" panose="020B0604020202020204" pitchFamily="34" charset="0"/>
                  <a:buChar char="•"/>
                </a:pPr>
                <a:r>
                  <a:rPr lang="en-US"/>
                  <a:t>1/3rd have $15,000.</a:t>
                </a:r>
              </a:p>
            </p:txBody>
          </p:sp>
        </mc:Choice>
        <mc:Fallback>
          <p:sp>
            <p:nvSpPr>
              <p:cNvPr id="3" name="Content Placeholder 2">
                <a:extLst>
                  <a:ext uri="{FF2B5EF4-FFF2-40B4-BE49-F238E27FC236}">
                    <a16:creationId xmlns:a16="http://schemas.microsoft.com/office/drawing/2014/main" id="{1B9C755D-0881-3472-F10F-E20E8762B5BD}"/>
                  </a:ext>
                </a:extLst>
              </p:cNvPr>
              <p:cNvSpPr>
                <a:spLocks noGrp="1" noRot="1" noChangeAspect="1" noMove="1" noResize="1" noEditPoints="1" noAdjustHandles="1" noChangeArrowheads="1" noChangeShapeType="1" noTextEdit="1"/>
              </p:cNvSpPr>
              <p:nvPr>
                <p:ph idx="1"/>
              </p:nvPr>
            </p:nvSpPr>
            <p:spPr>
              <a:blipFill>
                <a:blip r:embed="rId2"/>
                <a:stretch>
                  <a:fillRect l="-796" t="-541"/>
                </a:stretch>
              </a:blipFill>
            </p:spPr>
            <p:txBody>
              <a:bodyPr/>
              <a:lstStyle/>
              <a:p>
                <a:r>
                  <a:rPr lang="en-US">
                    <a:noFill/>
                  </a:rPr>
                  <a:t> </a:t>
                </a:r>
              </a:p>
            </p:txBody>
          </p:sp>
        </mc:Fallback>
      </mc:AlternateContent>
      <p:sp>
        <p:nvSpPr>
          <p:cNvPr id="4" name="Freeform: Shape 3">
            <a:extLst>
              <a:ext uri="{FF2B5EF4-FFF2-40B4-BE49-F238E27FC236}">
                <a16:creationId xmlns:a16="http://schemas.microsoft.com/office/drawing/2014/main" id="{21A1B787-6B4F-256E-4085-A80F4BE2CA99}"/>
              </a:ext>
            </a:extLst>
          </p:cNvPr>
          <p:cNvSpPr/>
          <p:nvPr/>
        </p:nvSpPr>
        <p:spPr>
          <a:xfrm>
            <a:off x="3622400" y="3429000"/>
            <a:ext cx="5508604" cy="2868706"/>
          </a:xfrm>
          <a:custGeom>
            <a:avLst/>
            <a:gdLst>
              <a:gd name="connsiteX0" fmla="*/ 514812 w 5508604"/>
              <a:gd name="connsiteY0" fmla="*/ 546848 h 2868706"/>
              <a:gd name="connsiteX1" fmla="*/ 88989 w 5508604"/>
              <a:gd name="connsiteY1" fmla="*/ 927848 h 2868706"/>
              <a:gd name="connsiteX2" fmla="*/ 3824 w 5508604"/>
              <a:gd name="connsiteY2" fmla="*/ 1223683 h 2868706"/>
              <a:gd name="connsiteX3" fmla="*/ 241389 w 5508604"/>
              <a:gd name="connsiteY3" fmla="*/ 1855695 h 2868706"/>
              <a:gd name="connsiteX4" fmla="*/ 824094 w 5508604"/>
              <a:gd name="connsiteY4" fmla="*/ 2308412 h 2868706"/>
              <a:gd name="connsiteX5" fmla="*/ 1621953 w 5508604"/>
              <a:gd name="connsiteY5" fmla="*/ 2662518 h 2868706"/>
              <a:gd name="connsiteX6" fmla="*/ 1940200 w 5508604"/>
              <a:gd name="connsiteY6" fmla="*/ 2756648 h 2868706"/>
              <a:gd name="connsiteX7" fmla="*/ 2881494 w 5508604"/>
              <a:gd name="connsiteY7" fmla="*/ 2868706 h 2868706"/>
              <a:gd name="connsiteX8" fmla="*/ 3737624 w 5508604"/>
              <a:gd name="connsiteY8" fmla="*/ 2617695 h 2868706"/>
              <a:gd name="connsiteX9" fmla="*/ 4759600 w 5508604"/>
              <a:gd name="connsiteY9" fmla="*/ 2030506 h 2868706"/>
              <a:gd name="connsiteX10" fmla="*/ 5369200 w 5508604"/>
              <a:gd name="connsiteY10" fmla="*/ 1985683 h 2868706"/>
              <a:gd name="connsiteX11" fmla="*/ 5508153 w 5508604"/>
              <a:gd name="connsiteY11" fmla="*/ 1913965 h 2868706"/>
              <a:gd name="connsiteX12" fmla="*/ 4741671 w 5508604"/>
              <a:gd name="connsiteY12" fmla="*/ 1080248 h 2868706"/>
              <a:gd name="connsiteX13" fmla="*/ 3652459 w 5508604"/>
              <a:gd name="connsiteY13" fmla="*/ 372036 h 2868706"/>
              <a:gd name="connsiteX14" fmla="*/ 3092165 w 5508604"/>
              <a:gd name="connsiteY14" fmla="*/ 161365 h 2868706"/>
              <a:gd name="connsiteX15" fmla="*/ 2657377 w 5508604"/>
              <a:gd name="connsiteY15" fmla="*/ 0 h 2868706"/>
              <a:gd name="connsiteX16" fmla="*/ 2487047 w 5508604"/>
              <a:gd name="connsiteY16" fmla="*/ 8965 h 2868706"/>
              <a:gd name="connsiteX17" fmla="*/ 2231553 w 5508604"/>
              <a:gd name="connsiteY17" fmla="*/ 85165 h 2868706"/>
              <a:gd name="connsiteX18" fmla="*/ 1505412 w 5508604"/>
              <a:gd name="connsiteY18" fmla="*/ 367553 h 2868706"/>
              <a:gd name="connsiteX19" fmla="*/ 1411283 w 5508604"/>
              <a:gd name="connsiteY19" fmla="*/ 385483 h 2868706"/>
              <a:gd name="connsiteX20" fmla="*/ 1030283 w 5508604"/>
              <a:gd name="connsiteY20" fmla="*/ 206189 h 2868706"/>
              <a:gd name="connsiteX21" fmla="*/ 918224 w 5508604"/>
              <a:gd name="connsiteY21" fmla="*/ 197224 h 2868706"/>
              <a:gd name="connsiteX22" fmla="*/ 582047 w 5508604"/>
              <a:gd name="connsiteY22" fmla="*/ 381000 h 2868706"/>
              <a:gd name="connsiteX23" fmla="*/ 492400 w 5508604"/>
              <a:gd name="connsiteY23" fmla="*/ 457200 h 2868706"/>
              <a:gd name="connsiteX24" fmla="*/ 483436 w 5508604"/>
              <a:gd name="connsiteY24" fmla="*/ 484095 h 2868706"/>
              <a:gd name="connsiteX25" fmla="*/ 474471 w 5508604"/>
              <a:gd name="connsiteY25" fmla="*/ 497542 h 2868706"/>
              <a:gd name="connsiteX26" fmla="*/ 514812 w 5508604"/>
              <a:gd name="connsiteY26" fmla="*/ 546848 h 2868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508604" h="2868706">
                <a:moveTo>
                  <a:pt x="514812" y="546848"/>
                </a:moveTo>
                <a:cubicBezTo>
                  <a:pt x="450565" y="618566"/>
                  <a:pt x="373742" y="615714"/>
                  <a:pt x="88989" y="927848"/>
                </a:cubicBezTo>
                <a:cubicBezTo>
                  <a:pt x="60601" y="1026460"/>
                  <a:pt x="14035" y="1121576"/>
                  <a:pt x="3824" y="1223683"/>
                </a:cubicBezTo>
                <a:cubicBezTo>
                  <a:pt x="-20150" y="1463416"/>
                  <a:pt x="69723" y="1683059"/>
                  <a:pt x="241389" y="1855695"/>
                </a:cubicBezTo>
                <a:cubicBezTo>
                  <a:pt x="414823" y="2030109"/>
                  <a:pt x="647036" y="2137677"/>
                  <a:pt x="824094" y="2308412"/>
                </a:cubicBezTo>
                <a:cubicBezTo>
                  <a:pt x="1106784" y="2581007"/>
                  <a:pt x="950051" y="2463785"/>
                  <a:pt x="1621953" y="2662518"/>
                </a:cubicBezTo>
                <a:cubicBezTo>
                  <a:pt x="1728035" y="2693895"/>
                  <a:pt x="1831680" y="2735170"/>
                  <a:pt x="1940200" y="2756648"/>
                </a:cubicBezTo>
                <a:cubicBezTo>
                  <a:pt x="2256223" y="2819194"/>
                  <a:pt x="2562953" y="2840074"/>
                  <a:pt x="2881494" y="2868706"/>
                </a:cubicBezTo>
                <a:cubicBezTo>
                  <a:pt x="3302142" y="2828916"/>
                  <a:pt x="3280939" y="2864133"/>
                  <a:pt x="3737624" y="2617695"/>
                </a:cubicBezTo>
                <a:cubicBezTo>
                  <a:pt x="4205792" y="2365060"/>
                  <a:pt x="4317277" y="2186009"/>
                  <a:pt x="4759600" y="2030506"/>
                </a:cubicBezTo>
                <a:cubicBezTo>
                  <a:pt x="4910559" y="1977435"/>
                  <a:pt x="5252841" y="1988328"/>
                  <a:pt x="5369200" y="1985683"/>
                </a:cubicBezTo>
                <a:cubicBezTo>
                  <a:pt x="5415518" y="1961777"/>
                  <a:pt x="5516165" y="1965469"/>
                  <a:pt x="5508153" y="1913965"/>
                </a:cubicBezTo>
                <a:cubicBezTo>
                  <a:pt x="5463711" y="1628266"/>
                  <a:pt x="4842309" y="1159804"/>
                  <a:pt x="4741671" y="1080248"/>
                </a:cubicBezTo>
                <a:cubicBezTo>
                  <a:pt x="4633413" y="994669"/>
                  <a:pt x="3819928" y="433140"/>
                  <a:pt x="3652459" y="372036"/>
                </a:cubicBezTo>
                <a:cubicBezTo>
                  <a:pt x="3530607" y="327576"/>
                  <a:pt x="3230928" y="221224"/>
                  <a:pt x="3092165" y="161365"/>
                </a:cubicBezTo>
                <a:cubicBezTo>
                  <a:pt x="2797599" y="34297"/>
                  <a:pt x="2942957" y="86916"/>
                  <a:pt x="2657377" y="0"/>
                </a:cubicBezTo>
                <a:cubicBezTo>
                  <a:pt x="2600600" y="2988"/>
                  <a:pt x="2542798" y="-2185"/>
                  <a:pt x="2487047" y="8965"/>
                </a:cubicBezTo>
                <a:cubicBezTo>
                  <a:pt x="2399901" y="26394"/>
                  <a:pt x="2315029" y="54671"/>
                  <a:pt x="2231553" y="85165"/>
                </a:cubicBezTo>
                <a:cubicBezTo>
                  <a:pt x="1987614" y="174275"/>
                  <a:pt x="1760531" y="318957"/>
                  <a:pt x="1505412" y="367553"/>
                </a:cubicBezTo>
                <a:lnTo>
                  <a:pt x="1411283" y="385483"/>
                </a:lnTo>
                <a:cubicBezTo>
                  <a:pt x="1276744" y="311254"/>
                  <a:pt x="1188535" y="256986"/>
                  <a:pt x="1030283" y="206189"/>
                </a:cubicBezTo>
                <a:cubicBezTo>
                  <a:pt x="994604" y="194736"/>
                  <a:pt x="955577" y="200212"/>
                  <a:pt x="918224" y="197224"/>
                </a:cubicBezTo>
                <a:cubicBezTo>
                  <a:pt x="788341" y="240518"/>
                  <a:pt x="722089" y="258462"/>
                  <a:pt x="582047" y="381000"/>
                </a:cubicBezTo>
                <a:cubicBezTo>
                  <a:pt x="504708" y="448673"/>
                  <a:pt x="535743" y="424694"/>
                  <a:pt x="492400" y="457200"/>
                </a:cubicBezTo>
                <a:cubicBezTo>
                  <a:pt x="489412" y="466165"/>
                  <a:pt x="487274" y="475460"/>
                  <a:pt x="483436" y="484095"/>
                </a:cubicBezTo>
                <a:cubicBezTo>
                  <a:pt x="481248" y="489018"/>
                  <a:pt x="474471" y="492155"/>
                  <a:pt x="474471" y="497542"/>
                </a:cubicBezTo>
                <a:cubicBezTo>
                  <a:pt x="474471" y="513341"/>
                  <a:pt x="579059" y="475130"/>
                  <a:pt x="514812" y="546848"/>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5E8BFD96-38A2-A89C-61BC-1A9C7E415714}"/>
              </a:ext>
            </a:extLst>
          </p:cNvPr>
          <p:cNvSpPr/>
          <p:nvPr/>
        </p:nvSpPr>
        <p:spPr>
          <a:xfrm>
            <a:off x="4558553" y="3446929"/>
            <a:ext cx="1524000" cy="2393577"/>
          </a:xfrm>
          <a:custGeom>
            <a:avLst/>
            <a:gdLst>
              <a:gd name="connsiteX0" fmla="*/ 0 w 1524000"/>
              <a:gd name="connsiteY0" fmla="*/ 2393577 h 2393577"/>
              <a:gd name="connsiteX1" fmla="*/ 569259 w 1524000"/>
              <a:gd name="connsiteY1" fmla="*/ 2156012 h 2393577"/>
              <a:gd name="connsiteX2" fmla="*/ 762000 w 1524000"/>
              <a:gd name="connsiteY2" fmla="*/ 1985683 h 2393577"/>
              <a:gd name="connsiteX3" fmla="*/ 1026459 w 1524000"/>
              <a:gd name="connsiteY3" fmla="*/ 1698812 h 2393577"/>
              <a:gd name="connsiteX4" fmla="*/ 1268506 w 1524000"/>
              <a:gd name="connsiteY4" fmla="*/ 1344706 h 2393577"/>
              <a:gd name="connsiteX5" fmla="*/ 1340223 w 1524000"/>
              <a:gd name="connsiteY5" fmla="*/ 1210236 h 2393577"/>
              <a:gd name="connsiteX6" fmla="*/ 1443318 w 1524000"/>
              <a:gd name="connsiteY6" fmla="*/ 914400 h 2393577"/>
              <a:gd name="connsiteX7" fmla="*/ 1470212 w 1524000"/>
              <a:gd name="connsiteY7" fmla="*/ 838200 h 2393577"/>
              <a:gd name="connsiteX8" fmla="*/ 1506071 w 1524000"/>
              <a:gd name="connsiteY8" fmla="*/ 699247 h 2393577"/>
              <a:gd name="connsiteX9" fmla="*/ 1524000 w 1524000"/>
              <a:gd name="connsiteY9" fmla="*/ 564777 h 2393577"/>
              <a:gd name="connsiteX10" fmla="*/ 1519518 w 1524000"/>
              <a:gd name="connsiteY10" fmla="*/ 0 h 239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4000" h="2393577">
                <a:moveTo>
                  <a:pt x="0" y="2393577"/>
                </a:moveTo>
                <a:cubicBezTo>
                  <a:pt x="268306" y="2320403"/>
                  <a:pt x="307690" y="2328875"/>
                  <a:pt x="569259" y="2156012"/>
                </a:cubicBezTo>
                <a:cubicBezTo>
                  <a:pt x="640789" y="2108740"/>
                  <a:pt x="701373" y="2046310"/>
                  <a:pt x="762000" y="1985683"/>
                </a:cubicBezTo>
                <a:cubicBezTo>
                  <a:pt x="853964" y="1893719"/>
                  <a:pt x="950865" y="1804644"/>
                  <a:pt x="1026459" y="1698812"/>
                </a:cubicBezTo>
                <a:cubicBezTo>
                  <a:pt x="1116838" y="1572282"/>
                  <a:pt x="1192607" y="1474819"/>
                  <a:pt x="1268506" y="1344706"/>
                </a:cubicBezTo>
                <a:cubicBezTo>
                  <a:pt x="1294102" y="1300826"/>
                  <a:pt x="1319990" y="1256833"/>
                  <a:pt x="1340223" y="1210236"/>
                </a:cubicBezTo>
                <a:cubicBezTo>
                  <a:pt x="1418385" y="1030225"/>
                  <a:pt x="1399137" y="1050624"/>
                  <a:pt x="1443318" y="914400"/>
                </a:cubicBezTo>
                <a:cubicBezTo>
                  <a:pt x="1451628" y="888778"/>
                  <a:pt x="1461694" y="863753"/>
                  <a:pt x="1470212" y="838200"/>
                </a:cubicBezTo>
                <a:cubicBezTo>
                  <a:pt x="1489350" y="780784"/>
                  <a:pt x="1496919" y="758083"/>
                  <a:pt x="1506071" y="699247"/>
                </a:cubicBezTo>
                <a:cubicBezTo>
                  <a:pt x="1513022" y="654564"/>
                  <a:pt x="1524000" y="564777"/>
                  <a:pt x="1524000" y="564777"/>
                </a:cubicBezTo>
                <a:cubicBezTo>
                  <a:pt x="1522457" y="376518"/>
                  <a:pt x="1519518" y="188265"/>
                  <a:pt x="1519518"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24072F8-0476-5A82-2350-57151440D380}"/>
              </a:ext>
            </a:extLst>
          </p:cNvPr>
          <p:cNvSpPr txBox="1"/>
          <p:nvPr/>
        </p:nvSpPr>
        <p:spPr>
          <a:xfrm>
            <a:off x="4159624" y="4541513"/>
            <a:ext cx="1447800" cy="369332"/>
          </a:xfrm>
          <a:prstGeom prst="rect">
            <a:avLst/>
          </a:prstGeom>
          <a:noFill/>
        </p:spPr>
        <p:txBody>
          <a:bodyPr wrap="square" rtlCol="0">
            <a:spAutoFit/>
          </a:bodyPr>
          <a:lstStyle/>
          <a:p>
            <a:r>
              <a:rPr lang="en-US"/>
              <a:t>$15000</a:t>
            </a:r>
          </a:p>
        </p:txBody>
      </p:sp>
      <p:sp>
        <p:nvSpPr>
          <p:cNvPr id="8" name="TextBox 7">
            <a:extLst>
              <a:ext uri="{FF2B5EF4-FFF2-40B4-BE49-F238E27FC236}">
                <a16:creationId xmlns:a16="http://schemas.microsoft.com/office/drawing/2014/main" id="{D906D9D0-7D81-1CAC-A033-43DC50572912}"/>
              </a:ext>
            </a:extLst>
          </p:cNvPr>
          <p:cNvSpPr txBox="1"/>
          <p:nvPr/>
        </p:nvSpPr>
        <p:spPr>
          <a:xfrm>
            <a:off x="6705601" y="5016642"/>
            <a:ext cx="1447800" cy="369332"/>
          </a:xfrm>
          <a:prstGeom prst="rect">
            <a:avLst/>
          </a:prstGeom>
          <a:noFill/>
        </p:spPr>
        <p:txBody>
          <a:bodyPr wrap="square" rtlCol="0">
            <a:spAutoFit/>
          </a:bodyPr>
          <a:lstStyle/>
          <a:p>
            <a:r>
              <a:rPr lang="en-US"/>
              <a:t>$0</a:t>
            </a:r>
          </a:p>
        </p:txBody>
      </p:sp>
    </p:spTree>
    <p:extLst>
      <p:ext uri="{BB962C8B-B14F-4D97-AF65-F5344CB8AC3E}">
        <p14:creationId xmlns:p14="http://schemas.microsoft.com/office/powerpoint/2010/main" val="18009383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2F3D096-0C35-384C-39E5-B3C53C1A9D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A8064D-1145-4C4E-5C0E-380786BD9A5D}"/>
              </a:ext>
            </a:extLst>
          </p:cNvPr>
          <p:cNvSpPr>
            <a:spLocks noGrp="1"/>
          </p:cNvSpPr>
          <p:nvPr>
            <p:ph type="title"/>
          </p:nvPr>
        </p:nvSpPr>
        <p:spPr/>
        <p:txBody>
          <a:bodyPr/>
          <a:lstStyle/>
          <a:p>
            <a:r>
              <a:rPr lang="en-US"/>
              <a:t>Thought Experiment 4</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F4E17B1-C871-EBAB-C1CE-D28D3C9B97BD}"/>
                  </a:ext>
                </a:extLst>
              </p:cNvPr>
              <p:cNvSpPr>
                <a:spLocks noGrp="1"/>
              </p:cNvSpPr>
              <p:nvPr>
                <p:ph idx="1"/>
              </p:nvPr>
            </p:nvSpPr>
            <p:spPr/>
            <p:txBody>
              <a:bodyPr/>
              <a:lstStyle/>
              <a:p>
                <a:r>
                  <a:rPr lang="en-US"/>
                  <a:t>Consider a nonnegative random variable with </a:t>
                </a:r>
                <a14:m>
                  <m:oMath xmlns:m="http://schemas.openxmlformats.org/officeDocument/2006/math">
                    <m:r>
                      <a:rPr lang="en-US" i="1">
                        <a:latin typeface="Cambria Math" panose="02040503050406030204" pitchFamily="18" charset="0"/>
                      </a:rPr>
                      <m:t>𝔼</m:t>
                    </m:r>
                    <m:d>
                      <m:dPr>
                        <m:begChr m:val="["/>
                        <m:endChr m:val="]"/>
                        <m:ctrlPr>
                          <a:rPr lang="en-US" i="1">
                            <a:latin typeface="Cambria Math" panose="02040503050406030204" pitchFamily="18" charset="0"/>
                          </a:rPr>
                        </m:ctrlPr>
                      </m:dPr>
                      <m:e>
                        <m:r>
                          <a:rPr lang="en-US" i="1">
                            <a:latin typeface="Cambria Math" panose="02040503050406030204" pitchFamily="18" charset="0"/>
                          </a:rPr>
                          <m:t>𝑋</m:t>
                        </m:r>
                      </m:e>
                    </m:d>
                    <m:r>
                      <a:rPr lang="en-US" i="1">
                        <a:latin typeface="Cambria Math" panose="02040503050406030204" pitchFamily="18" charset="0"/>
                      </a:rPr>
                      <m:t>=</m:t>
                    </m:r>
                    <m:r>
                      <a:rPr lang="en-US" b="0" i="1" smtClean="0">
                        <a:latin typeface="Cambria Math" panose="02040503050406030204" pitchFamily="18" charset="0"/>
                      </a:rPr>
                      <m:t>5000</m:t>
                    </m:r>
                  </m:oMath>
                </a14:m>
                <a:r>
                  <a:rPr lang="en-US"/>
                  <a:t>. Let </a:t>
                </a:r>
                <a14:m>
                  <m:oMath xmlns:m="http://schemas.openxmlformats.org/officeDocument/2006/math">
                    <m:r>
                      <a:rPr lang="en-US" i="1">
                        <a:latin typeface="Cambria Math" panose="02040503050406030204" pitchFamily="18" charset="0"/>
                      </a:rPr>
                      <m:t>𝑝</m:t>
                    </m:r>
                  </m:oMath>
                </a14:m>
                <a:r>
                  <a:rPr lang="en-US"/>
                  <a:t> be the probability that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≥15000</m:t>
                        </m:r>
                      </m:e>
                    </m:d>
                  </m:oMath>
                </a14:m>
                <a:r>
                  <a:rPr lang="en-US"/>
                  <a:t>.</a:t>
                </a:r>
              </a:p>
              <a:p>
                <a:endParaRPr lang="en-US"/>
              </a:p>
              <a:p>
                <a:r>
                  <a:rPr lang="en-US"/>
                  <a:t>What is the largest possible value for </a:t>
                </a:r>
                <a14:m>
                  <m:oMath xmlns:m="http://schemas.openxmlformats.org/officeDocument/2006/math">
                    <m:r>
                      <a:rPr lang="en-US" i="1">
                        <a:latin typeface="Cambria Math" panose="02040503050406030204" pitchFamily="18" charset="0"/>
                      </a:rPr>
                      <m:t>𝑝</m:t>
                    </m:r>
                  </m:oMath>
                </a14:m>
                <a:r>
                  <a:rPr lang="en-US"/>
                  <a:t>?</a:t>
                </a:r>
              </a:p>
            </p:txBody>
          </p:sp>
        </mc:Choice>
        <mc:Fallback>
          <p:sp>
            <p:nvSpPr>
              <p:cNvPr id="3" name="Content Placeholder 2">
                <a:extLst>
                  <a:ext uri="{FF2B5EF4-FFF2-40B4-BE49-F238E27FC236}">
                    <a16:creationId xmlns:a16="http://schemas.microsoft.com/office/drawing/2014/main" id="{0F4E17B1-C871-EBAB-C1CE-D28D3C9B97BD}"/>
                  </a:ext>
                </a:extLst>
              </p:cNvPr>
              <p:cNvSpPr>
                <a:spLocks noGrp="1" noRot="1" noChangeAspect="1" noMove="1" noResize="1" noEditPoints="1" noAdjustHandles="1" noChangeArrowheads="1" noChangeShapeType="1" noTextEdit="1"/>
              </p:cNvSpPr>
              <p:nvPr>
                <p:ph idx="1"/>
              </p:nvPr>
            </p:nvSpPr>
            <p:spPr>
              <a:blipFill>
                <a:blip r:embed="rId2"/>
                <a:stretch>
                  <a:fillRect l="-796" t="-541"/>
                </a:stretch>
              </a:blipFill>
            </p:spPr>
            <p:txBody>
              <a:bodyPr/>
              <a:lstStyle/>
              <a:p>
                <a:r>
                  <a:rPr lang="en-US">
                    <a:noFill/>
                  </a:rPr>
                  <a:t> </a:t>
                </a:r>
              </a:p>
            </p:txBody>
          </p:sp>
        </mc:Fallback>
      </mc:AlternateContent>
    </p:spTree>
    <p:extLst>
      <p:ext uri="{BB962C8B-B14F-4D97-AF65-F5344CB8AC3E}">
        <p14:creationId xmlns:p14="http://schemas.microsoft.com/office/powerpoint/2010/main" val="24423852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204DC-BF17-6A1C-2AE2-1595F6675E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4C2FB7-909B-A7B7-2BD9-AF754D50D8A2}"/>
              </a:ext>
            </a:extLst>
          </p:cNvPr>
          <p:cNvSpPr>
            <a:spLocks noGrp="1"/>
          </p:cNvSpPr>
          <p:nvPr>
            <p:ph type="title"/>
          </p:nvPr>
        </p:nvSpPr>
        <p:spPr/>
        <p:txBody>
          <a:bodyPr/>
          <a:lstStyle/>
          <a:p>
            <a:r>
              <a:rPr lang="en-US"/>
              <a:t>Thought Experiment 4</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C5B5325-3F2B-DD9E-E544-E13659E2EEB2}"/>
                  </a:ext>
                </a:extLst>
              </p:cNvPr>
              <p:cNvSpPr>
                <a:spLocks noGrp="1"/>
              </p:cNvSpPr>
              <p:nvPr>
                <p:ph idx="1"/>
              </p:nvPr>
            </p:nvSpPr>
            <p:spPr/>
            <p:txBody>
              <a:bodyPr/>
              <a:lstStyle/>
              <a:p>
                <a:r>
                  <a:rPr lang="en-US"/>
                  <a:t>Consider a nonnegative random variable with </a:t>
                </a:r>
                <a14:m>
                  <m:oMath xmlns:m="http://schemas.openxmlformats.org/officeDocument/2006/math">
                    <m:r>
                      <a:rPr lang="en-US" i="1">
                        <a:latin typeface="Cambria Math" panose="02040503050406030204" pitchFamily="18" charset="0"/>
                      </a:rPr>
                      <m:t>𝔼</m:t>
                    </m:r>
                    <m:d>
                      <m:dPr>
                        <m:begChr m:val="["/>
                        <m:endChr m:val="]"/>
                        <m:ctrlPr>
                          <a:rPr lang="en-US" i="1">
                            <a:latin typeface="Cambria Math" panose="02040503050406030204" pitchFamily="18" charset="0"/>
                          </a:rPr>
                        </m:ctrlPr>
                      </m:dPr>
                      <m:e>
                        <m:r>
                          <a:rPr lang="en-US" i="1">
                            <a:latin typeface="Cambria Math" panose="02040503050406030204" pitchFamily="18" charset="0"/>
                          </a:rPr>
                          <m:t>𝑋</m:t>
                        </m:r>
                      </m:e>
                    </m:d>
                    <m:r>
                      <a:rPr lang="en-US" i="1">
                        <a:latin typeface="Cambria Math" panose="02040503050406030204" pitchFamily="18" charset="0"/>
                      </a:rPr>
                      <m:t>=</m:t>
                    </m:r>
                    <m:r>
                      <a:rPr lang="en-US" b="0" i="1" smtClean="0">
                        <a:latin typeface="Cambria Math" panose="02040503050406030204" pitchFamily="18" charset="0"/>
                      </a:rPr>
                      <m:t>5000</m:t>
                    </m:r>
                  </m:oMath>
                </a14:m>
                <a:r>
                  <a:rPr lang="en-US"/>
                  <a:t>. Let </a:t>
                </a:r>
                <a14:m>
                  <m:oMath xmlns:m="http://schemas.openxmlformats.org/officeDocument/2006/math">
                    <m:r>
                      <a:rPr lang="en-US" i="1">
                        <a:latin typeface="Cambria Math" panose="02040503050406030204" pitchFamily="18" charset="0"/>
                      </a:rPr>
                      <m:t>𝑝</m:t>
                    </m:r>
                  </m:oMath>
                </a14:m>
                <a:r>
                  <a:rPr lang="en-US"/>
                  <a:t> be the probability that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≥15000</m:t>
                        </m:r>
                      </m:e>
                    </m:d>
                  </m:oMath>
                </a14:m>
                <a:r>
                  <a:rPr lang="en-US"/>
                  <a:t>.</a:t>
                </a:r>
              </a:p>
              <a:p>
                <a:endParaRPr lang="en-US"/>
              </a:p>
              <a:p>
                <a:r>
                  <a:rPr lang="en-US"/>
                  <a:t>What is the largest possible value for </a:t>
                </a:r>
                <a14:m>
                  <m:oMath xmlns:m="http://schemas.openxmlformats.org/officeDocument/2006/math">
                    <m:r>
                      <a:rPr lang="en-US" i="1">
                        <a:latin typeface="Cambria Math" panose="02040503050406030204" pitchFamily="18" charset="0"/>
                      </a:rPr>
                      <m:t>𝑝</m:t>
                    </m:r>
                  </m:oMath>
                </a14:m>
                <a:r>
                  <a:rPr lang="en-US"/>
                  <a:t>?</a:t>
                </a:r>
              </a:p>
              <a:p>
                <a:pPr marL="342900" indent="-342900">
                  <a:buFont typeface="Arial" panose="020B0604020202020204" pitchFamily="34" charset="0"/>
                  <a:buChar char="•"/>
                </a:pPr>
                <a:r>
                  <a:rPr lang="en-US"/>
                  <a:t>We know that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≤1/3</m:t>
                    </m:r>
                  </m:oMath>
                </a14:m>
                <a:r>
                  <a:rPr lang="en-US"/>
                  <a:t>.</a:t>
                </a:r>
              </a:p>
              <a:p>
                <a:pPr marL="342900" indent="-342900">
                  <a:buFont typeface="Arial" panose="020B0604020202020204" pitchFamily="34" charset="0"/>
                  <a:buChar char="•"/>
                </a:pPr>
                <a:r>
                  <a:rPr lang="en-US"/>
                  <a:t>In the most extreme case, </a:t>
                </a:r>
                <a14:m>
                  <m:oMath xmlns:m="http://schemas.openxmlformats.org/officeDocument/2006/math">
                    <m:r>
                      <a:rPr lang="en-US" b="0" i="1" smtClean="0">
                        <a:latin typeface="Cambria Math" panose="02040503050406030204" pitchFamily="18" charset="0"/>
                      </a:rPr>
                      <m:t>𝑋</m:t>
                    </m:r>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r>
                      <a:rPr lang="en-US" b="0" i="1" smtClean="0">
                        <a:latin typeface="Cambria Math" panose="02040503050406030204" pitchFamily="18" charset="0"/>
                      </a:rPr>
                      <m:t>=15000</m:t>
                    </m:r>
                  </m:oMath>
                </a14:m>
                <a:r>
                  <a:rPr lang="en-US"/>
                  <a:t> for 1/3</a:t>
                </a:r>
                <a:r>
                  <a:rPr lang="en-US" baseline="30000"/>
                  <a:t>rd</a:t>
                </a:r>
                <a:r>
                  <a:rPr lang="en-US"/>
                  <a:t> of the sample space and </a:t>
                </a:r>
                <a14:m>
                  <m:oMath xmlns:m="http://schemas.openxmlformats.org/officeDocument/2006/math">
                    <m:r>
                      <a:rPr lang="en-US" b="0" i="1" smtClean="0">
                        <a:latin typeface="Cambria Math" panose="02040503050406030204" pitchFamily="18" charset="0"/>
                      </a:rPr>
                      <m:t>𝑋</m:t>
                    </m:r>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r>
                      <a:rPr lang="en-US" b="0" i="1" smtClean="0">
                        <a:latin typeface="Cambria Math" panose="02040503050406030204" pitchFamily="18" charset="0"/>
                      </a:rPr>
                      <m:t>=0</m:t>
                    </m:r>
                  </m:oMath>
                </a14:m>
                <a:r>
                  <a:rPr lang="en-US"/>
                  <a:t> for the other 2/3rds of the sample space.</a:t>
                </a:r>
              </a:p>
            </p:txBody>
          </p:sp>
        </mc:Choice>
        <mc:Fallback>
          <p:sp>
            <p:nvSpPr>
              <p:cNvPr id="3" name="Content Placeholder 2">
                <a:extLst>
                  <a:ext uri="{FF2B5EF4-FFF2-40B4-BE49-F238E27FC236}">
                    <a16:creationId xmlns:a16="http://schemas.microsoft.com/office/drawing/2014/main" id="{9C5B5325-3F2B-DD9E-E544-E13659E2EEB2}"/>
                  </a:ext>
                </a:extLst>
              </p:cNvPr>
              <p:cNvSpPr>
                <a:spLocks noGrp="1" noRot="1" noChangeAspect="1" noMove="1" noResize="1" noEditPoints="1" noAdjustHandles="1" noChangeArrowheads="1" noChangeShapeType="1" noTextEdit="1"/>
              </p:cNvSpPr>
              <p:nvPr>
                <p:ph idx="1"/>
              </p:nvPr>
            </p:nvSpPr>
            <p:spPr>
              <a:blipFill>
                <a:blip r:embed="rId2"/>
                <a:stretch>
                  <a:fillRect l="-796" t="-541"/>
                </a:stretch>
              </a:blipFill>
            </p:spPr>
            <p:txBody>
              <a:bodyPr/>
              <a:lstStyle/>
              <a:p>
                <a:r>
                  <a:rPr lang="en-US">
                    <a:noFill/>
                  </a:rPr>
                  <a:t> </a:t>
                </a:r>
              </a:p>
            </p:txBody>
          </p:sp>
        </mc:Fallback>
      </mc:AlternateContent>
      <p:sp>
        <p:nvSpPr>
          <p:cNvPr id="5" name="Freeform: Shape 4">
            <a:extLst>
              <a:ext uri="{FF2B5EF4-FFF2-40B4-BE49-F238E27FC236}">
                <a16:creationId xmlns:a16="http://schemas.microsoft.com/office/drawing/2014/main" id="{DEAA7571-A8CC-41E5-A9A9-052CD7C79836}"/>
              </a:ext>
            </a:extLst>
          </p:cNvPr>
          <p:cNvSpPr/>
          <p:nvPr/>
        </p:nvSpPr>
        <p:spPr>
          <a:xfrm>
            <a:off x="3716529" y="3792070"/>
            <a:ext cx="5508604" cy="2868706"/>
          </a:xfrm>
          <a:custGeom>
            <a:avLst/>
            <a:gdLst>
              <a:gd name="connsiteX0" fmla="*/ 514812 w 5508604"/>
              <a:gd name="connsiteY0" fmla="*/ 546848 h 2868706"/>
              <a:gd name="connsiteX1" fmla="*/ 88989 w 5508604"/>
              <a:gd name="connsiteY1" fmla="*/ 927848 h 2868706"/>
              <a:gd name="connsiteX2" fmla="*/ 3824 w 5508604"/>
              <a:gd name="connsiteY2" fmla="*/ 1223683 h 2868706"/>
              <a:gd name="connsiteX3" fmla="*/ 241389 w 5508604"/>
              <a:gd name="connsiteY3" fmla="*/ 1855695 h 2868706"/>
              <a:gd name="connsiteX4" fmla="*/ 824094 w 5508604"/>
              <a:gd name="connsiteY4" fmla="*/ 2308412 h 2868706"/>
              <a:gd name="connsiteX5" fmla="*/ 1621953 w 5508604"/>
              <a:gd name="connsiteY5" fmla="*/ 2662518 h 2868706"/>
              <a:gd name="connsiteX6" fmla="*/ 1940200 w 5508604"/>
              <a:gd name="connsiteY6" fmla="*/ 2756648 h 2868706"/>
              <a:gd name="connsiteX7" fmla="*/ 2881494 w 5508604"/>
              <a:gd name="connsiteY7" fmla="*/ 2868706 h 2868706"/>
              <a:gd name="connsiteX8" fmla="*/ 3737624 w 5508604"/>
              <a:gd name="connsiteY8" fmla="*/ 2617695 h 2868706"/>
              <a:gd name="connsiteX9" fmla="*/ 4759600 w 5508604"/>
              <a:gd name="connsiteY9" fmla="*/ 2030506 h 2868706"/>
              <a:gd name="connsiteX10" fmla="*/ 5369200 w 5508604"/>
              <a:gd name="connsiteY10" fmla="*/ 1985683 h 2868706"/>
              <a:gd name="connsiteX11" fmla="*/ 5508153 w 5508604"/>
              <a:gd name="connsiteY11" fmla="*/ 1913965 h 2868706"/>
              <a:gd name="connsiteX12" fmla="*/ 4741671 w 5508604"/>
              <a:gd name="connsiteY12" fmla="*/ 1080248 h 2868706"/>
              <a:gd name="connsiteX13" fmla="*/ 3652459 w 5508604"/>
              <a:gd name="connsiteY13" fmla="*/ 372036 h 2868706"/>
              <a:gd name="connsiteX14" fmla="*/ 3092165 w 5508604"/>
              <a:gd name="connsiteY14" fmla="*/ 161365 h 2868706"/>
              <a:gd name="connsiteX15" fmla="*/ 2657377 w 5508604"/>
              <a:gd name="connsiteY15" fmla="*/ 0 h 2868706"/>
              <a:gd name="connsiteX16" fmla="*/ 2487047 w 5508604"/>
              <a:gd name="connsiteY16" fmla="*/ 8965 h 2868706"/>
              <a:gd name="connsiteX17" fmla="*/ 2231553 w 5508604"/>
              <a:gd name="connsiteY17" fmla="*/ 85165 h 2868706"/>
              <a:gd name="connsiteX18" fmla="*/ 1505412 w 5508604"/>
              <a:gd name="connsiteY18" fmla="*/ 367553 h 2868706"/>
              <a:gd name="connsiteX19" fmla="*/ 1411283 w 5508604"/>
              <a:gd name="connsiteY19" fmla="*/ 385483 h 2868706"/>
              <a:gd name="connsiteX20" fmla="*/ 1030283 w 5508604"/>
              <a:gd name="connsiteY20" fmla="*/ 206189 h 2868706"/>
              <a:gd name="connsiteX21" fmla="*/ 918224 w 5508604"/>
              <a:gd name="connsiteY21" fmla="*/ 197224 h 2868706"/>
              <a:gd name="connsiteX22" fmla="*/ 582047 w 5508604"/>
              <a:gd name="connsiteY22" fmla="*/ 381000 h 2868706"/>
              <a:gd name="connsiteX23" fmla="*/ 492400 w 5508604"/>
              <a:gd name="connsiteY23" fmla="*/ 457200 h 2868706"/>
              <a:gd name="connsiteX24" fmla="*/ 483436 w 5508604"/>
              <a:gd name="connsiteY24" fmla="*/ 484095 h 2868706"/>
              <a:gd name="connsiteX25" fmla="*/ 474471 w 5508604"/>
              <a:gd name="connsiteY25" fmla="*/ 497542 h 2868706"/>
              <a:gd name="connsiteX26" fmla="*/ 514812 w 5508604"/>
              <a:gd name="connsiteY26" fmla="*/ 546848 h 2868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508604" h="2868706">
                <a:moveTo>
                  <a:pt x="514812" y="546848"/>
                </a:moveTo>
                <a:cubicBezTo>
                  <a:pt x="450565" y="618566"/>
                  <a:pt x="373742" y="615714"/>
                  <a:pt x="88989" y="927848"/>
                </a:cubicBezTo>
                <a:cubicBezTo>
                  <a:pt x="60601" y="1026460"/>
                  <a:pt x="14035" y="1121576"/>
                  <a:pt x="3824" y="1223683"/>
                </a:cubicBezTo>
                <a:cubicBezTo>
                  <a:pt x="-20150" y="1463416"/>
                  <a:pt x="69723" y="1683059"/>
                  <a:pt x="241389" y="1855695"/>
                </a:cubicBezTo>
                <a:cubicBezTo>
                  <a:pt x="414823" y="2030109"/>
                  <a:pt x="647036" y="2137677"/>
                  <a:pt x="824094" y="2308412"/>
                </a:cubicBezTo>
                <a:cubicBezTo>
                  <a:pt x="1106784" y="2581007"/>
                  <a:pt x="950051" y="2463785"/>
                  <a:pt x="1621953" y="2662518"/>
                </a:cubicBezTo>
                <a:cubicBezTo>
                  <a:pt x="1728035" y="2693895"/>
                  <a:pt x="1831680" y="2735170"/>
                  <a:pt x="1940200" y="2756648"/>
                </a:cubicBezTo>
                <a:cubicBezTo>
                  <a:pt x="2256223" y="2819194"/>
                  <a:pt x="2562953" y="2840074"/>
                  <a:pt x="2881494" y="2868706"/>
                </a:cubicBezTo>
                <a:cubicBezTo>
                  <a:pt x="3302142" y="2828916"/>
                  <a:pt x="3280939" y="2864133"/>
                  <a:pt x="3737624" y="2617695"/>
                </a:cubicBezTo>
                <a:cubicBezTo>
                  <a:pt x="4205792" y="2365060"/>
                  <a:pt x="4317277" y="2186009"/>
                  <a:pt x="4759600" y="2030506"/>
                </a:cubicBezTo>
                <a:cubicBezTo>
                  <a:pt x="4910559" y="1977435"/>
                  <a:pt x="5252841" y="1988328"/>
                  <a:pt x="5369200" y="1985683"/>
                </a:cubicBezTo>
                <a:cubicBezTo>
                  <a:pt x="5415518" y="1961777"/>
                  <a:pt x="5516165" y="1965469"/>
                  <a:pt x="5508153" y="1913965"/>
                </a:cubicBezTo>
                <a:cubicBezTo>
                  <a:pt x="5463711" y="1628266"/>
                  <a:pt x="4842309" y="1159804"/>
                  <a:pt x="4741671" y="1080248"/>
                </a:cubicBezTo>
                <a:cubicBezTo>
                  <a:pt x="4633413" y="994669"/>
                  <a:pt x="3819928" y="433140"/>
                  <a:pt x="3652459" y="372036"/>
                </a:cubicBezTo>
                <a:cubicBezTo>
                  <a:pt x="3530607" y="327576"/>
                  <a:pt x="3230928" y="221224"/>
                  <a:pt x="3092165" y="161365"/>
                </a:cubicBezTo>
                <a:cubicBezTo>
                  <a:pt x="2797599" y="34297"/>
                  <a:pt x="2942957" y="86916"/>
                  <a:pt x="2657377" y="0"/>
                </a:cubicBezTo>
                <a:cubicBezTo>
                  <a:pt x="2600600" y="2988"/>
                  <a:pt x="2542798" y="-2185"/>
                  <a:pt x="2487047" y="8965"/>
                </a:cubicBezTo>
                <a:cubicBezTo>
                  <a:pt x="2399901" y="26394"/>
                  <a:pt x="2315029" y="54671"/>
                  <a:pt x="2231553" y="85165"/>
                </a:cubicBezTo>
                <a:cubicBezTo>
                  <a:pt x="1987614" y="174275"/>
                  <a:pt x="1760531" y="318957"/>
                  <a:pt x="1505412" y="367553"/>
                </a:cubicBezTo>
                <a:lnTo>
                  <a:pt x="1411283" y="385483"/>
                </a:lnTo>
                <a:cubicBezTo>
                  <a:pt x="1276744" y="311254"/>
                  <a:pt x="1188535" y="256986"/>
                  <a:pt x="1030283" y="206189"/>
                </a:cubicBezTo>
                <a:cubicBezTo>
                  <a:pt x="994604" y="194736"/>
                  <a:pt x="955577" y="200212"/>
                  <a:pt x="918224" y="197224"/>
                </a:cubicBezTo>
                <a:cubicBezTo>
                  <a:pt x="788341" y="240518"/>
                  <a:pt x="722089" y="258462"/>
                  <a:pt x="582047" y="381000"/>
                </a:cubicBezTo>
                <a:cubicBezTo>
                  <a:pt x="504708" y="448673"/>
                  <a:pt x="535743" y="424694"/>
                  <a:pt x="492400" y="457200"/>
                </a:cubicBezTo>
                <a:cubicBezTo>
                  <a:pt x="489412" y="466165"/>
                  <a:pt x="487274" y="475460"/>
                  <a:pt x="483436" y="484095"/>
                </a:cubicBezTo>
                <a:cubicBezTo>
                  <a:pt x="481248" y="489018"/>
                  <a:pt x="474471" y="492155"/>
                  <a:pt x="474471" y="497542"/>
                </a:cubicBezTo>
                <a:cubicBezTo>
                  <a:pt x="474471" y="513341"/>
                  <a:pt x="579059" y="475130"/>
                  <a:pt x="514812" y="546848"/>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26E353D0-2F83-54BC-FA56-E96742503BC9}"/>
              </a:ext>
            </a:extLst>
          </p:cNvPr>
          <p:cNvSpPr/>
          <p:nvPr/>
        </p:nvSpPr>
        <p:spPr>
          <a:xfrm>
            <a:off x="4652682" y="3809999"/>
            <a:ext cx="1524000" cy="2393577"/>
          </a:xfrm>
          <a:custGeom>
            <a:avLst/>
            <a:gdLst>
              <a:gd name="connsiteX0" fmla="*/ 0 w 1524000"/>
              <a:gd name="connsiteY0" fmla="*/ 2393577 h 2393577"/>
              <a:gd name="connsiteX1" fmla="*/ 569259 w 1524000"/>
              <a:gd name="connsiteY1" fmla="*/ 2156012 h 2393577"/>
              <a:gd name="connsiteX2" fmla="*/ 762000 w 1524000"/>
              <a:gd name="connsiteY2" fmla="*/ 1985683 h 2393577"/>
              <a:gd name="connsiteX3" fmla="*/ 1026459 w 1524000"/>
              <a:gd name="connsiteY3" fmla="*/ 1698812 h 2393577"/>
              <a:gd name="connsiteX4" fmla="*/ 1268506 w 1524000"/>
              <a:gd name="connsiteY4" fmla="*/ 1344706 h 2393577"/>
              <a:gd name="connsiteX5" fmla="*/ 1340223 w 1524000"/>
              <a:gd name="connsiteY5" fmla="*/ 1210236 h 2393577"/>
              <a:gd name="connsiteX6" fmla="*/ 1443318 w 1524000"/>
              <a:gd name="connsiteY6" fmla="*/ 914400 h 2393577"/>
              <a:gd name="connsiteX7" fmla="*/ 1470212 w 1524000"/>
              <a:gd name="connsiteY7" fmla="*/ 838200 h 2393577"/>
              <a:gd name="connsiteX8" fmla="*/ 1506071 w 1524000"/>
              <a:gd name="connsiteY8" fmla="*/ 699247 h 2393577"/>
              <a:gd name="connsiteX9" fmla="*/ 1524000 w 1524000"/>
              <a:gd name="connsiteY9" fmla="*/ 564777 h 2393577"/>
              <a:gd name="connsiteX10" fmla="*/ 1519518 w 1524000"/>
              <a:gd name="connsiteY10" fmla="*/ 0 h 239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4000" h="2393577">
                <a:moveTo>
                  <a:pt x="0" y="2393577"/>
                </a:moveTo>
                <a:cubicBezTo>
                  <a:pt x="268306" y="2320403"/>
                  <a:pt x="307690" y="2328875"/>
                  <a:pt x="569259" y="2156012"/>
                </a:cubicBezTo>
                <a:cubicBezTo>
                  <a:pt x="640789" y="2108740"/>
                  <a:pt x="701373" y="2046310"/>
                  <a:pt x="762000" y="1985683"/>
                </a:cubicBezTo>
                <a:cubicBezTo>
                  <a:pt x="853964" y="1893719"/>
                  <a:pt x="950865" y="1804644"/>
                  <a:pt x="1026459" y="1698812"/>
                </a:cubicBezTo>
                <a:cubicBezTo>
                  <a:pt x="1116838" y="1572282"/>
                  <a:pt x="1192607" y="1474819"/>
                  <a:pt x="1268506" y="1344706"/>
                </a:cubicBezTo>
                <a:cubicBezTo>
                  <a:pt x="1294102" y="1300826"/>
                  <a:pt x="1319990" y="1256833"/>
                  <a:pt x="1340223" y="1210236"/>
                </a:cubicBezTo>
                <a:cubicBezTo>
                  <a:pt x="1418385" y="1030225"/>
                  <a:pt x="1399137" y="1050624"/>
                  <a:pt x="1443318" y="914400"/>
                </a:cubicBezTo>
                <a:cubicBezTo>
                  <a:pt x="1451628" y="888778"/>
                  <a:pt x="1461694" y="863753"/>
                  <a:pt x="1470212" y="838200"/>
                </a:cubicBezTo>
                <a:cubicBezTo>
                  <a:pt x="1489350" y="780784"/>
                  <a:pt x="1496919" y="758083"/>
                  <a:pt x="1506071" y="699247"/>
                </a:cubicBezTo>
                <a:cubicBezTo>
                  <a:pt x="1513022" y="654564"/>
                  <a:pt x="1524000" y="564777"/>
                  <a:pt x="1524000" y="564777"/>
                </a:cubicBezTo>
                <a:cubicBezTo>
                  <a:pt x="1522457" y="376518"/>
                  <a:pt x="1519518" y="188265"/>
                  <a:pt x="1519518"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3A5E6C6-4A21-E636-D6C6-65B4AFB857A3}"/>
              </a:ext>
            </a:extLst>
          </p:cNvPr>
          <p:cNvSpPr/>
          <p:nvPr/>
        </p:nvSpPr>
        <p:spPr>
          <a:xfrm>
            <a:off x="7153835" y="4002741"/>
            <a:ext cx="3030071" cy="358588"/>
          </a:xfrm>
          <a:custGeom>
            <a:avLst/>
            <a:gdLst>
              <a:gd name="connsiteX0" fmla="*/ 0 w 3030071"/>
              <a:gd name="connsiteY0" fmla="*/ 358588 h 358588"/>
              <a:gd name="connsiteX1" fmla="*/ 8965 w 3030071"/>
              <a:gd name="connsiteY1" fmla="*/ 336177 h 358588"/>
              <a:gd name="connsiteX2" fmla="*/ 255494 w 3030071"/>
              <a:gd name="connsiteY2" fmla="*/ 121024 h 358588"/>
              <a:gd name="connsiteX3" fmla="*/ 672353 w 3030071"/>
              <a:gd name="connsiteY3" fmla="*/ 4483 h 358588"/>
              <a:gd name="connsiteX4" fmla="*/ 865094 w 3030071"/>
              <a:gd name="connsiteY4" fmla="*/ 0 h 358588"/>
              <a:gd name="connsiteX5" fmla="*/ 1053353 w 3030071"/>
              <a:gd name="connsiteY5" fmla="*/ 44824 h 358588"/>
              <a:gd name="connsiteX6" fmla="*/ 1317812 w 3030071"/>
              <a:gd name="connsiteY6" fmla="*/ 129988 h 358588"/>
              <a:gd name="connsiteX7" fmla="*/ 1609165 w 3030071"/>
              <a:gd name="connsiteY7" fmla="*/ 161365 h 358588"/>
              <a:gd name="connsiteX8" fmla="*/ 1846730 w 3030071"/>
              <a:gd name="connsiteY8" fmla="*/ 138953 h 358588"/>
              <a:gd name="connsiteX9" fmla="*/ 2075330 w 3030071"/>
              <a:gd name="connsiteY9" fmla="*/ 107577 h 358588"/>
              <a:gd name="connsiteX10" fmla="*/ 2294965 w 3030071"/>
              <a:gd name="connsiteY10" fmla="*/ 94130 h 358588"/>
              <a:gd name="connsiteX11" fmla="*/ 3030071 w 3030071"/>
              <a:gd name="connsiteY11" fmla="*/ 129988 h 358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30071" h="358588">
                <a:moveTo>
                  <a:pt x="0" y="358588"/>
                </a:moveTo>
                <a:cubicBezTo>
                  <a:pt x="2988" y="351118"/>
                  <a:pt x="4246" y="342694"/>
                  <a:pt x="8965" y="336177"/>
                </a:cubicBezTo>
                <a:cubicBezTo>
                  <a:pt x="93739" y="219109"/>
                  <a:pt x="113343" y="195744"/>
                  <a:pt x="255494" y="121024"/>
                </a:cubicBezTo>
                <a:cubicBezTo>
                  <a:pt x="397335" y="46467"/>
                  <a:pt x="512118" y="21529"/>
                  <a:pt x="672353" y="4483"/>
                </a:cubicBezTo>
                <a:cubicBezTo>
                  <a:pt x="736257" y="-2315"/>
                  <a:pt x="800847" y="1494"/>
                  <a:pt x="865094" y="0"/>
                </a:cubicBezTo>
                <a:cubicBezTo>
                  <a:pt x="927847" y="14941"/>
                  <a:pt x="991351" y="27021"/>
                  <a:pt x="1053353" y="44824"/>
                </a:cubicBezTo>
                <a:cubicBezTo>
                  <a:pt x="1142368" y="70383"/>
                  <a:pt x="1227172" y="110983"/>
                  <a:pt x="1317812" y="129988"/>
                </a:cubicBezTo>
                <a:cubicBezTo>
                  <a:pt x="1413412" y="150033"/>
                  <a:pt x="1512047" y="150906"/>
                  <a:pt x="1609165" y="161365"/>
                </a:cubicBezTo>
                <a:cubicBezTo>
                  <a:pt x="1688353" y="153894"/>
                  <a:pt x="1767714" y="148070"/>
                  <a:pt x="1846730" y="138953"/>
                </a:cubicBezTo>
                <a:cubicBezTo>
                  <a:pt x="1923137" y="130137"/>
                  <a:pt x="1998797" y="115230"/>
                  <a:pt x="2075330" y="107577"/>
                </a:cubicBezTo>
                <a:cubicBezTo>
                  <a:pt x="2148315" y="100279"/>
                  <a:pt x="2221753" y="98612"/>
                  <a:pt x="2294965" y="94130"/>
                </a:cubicBezTo>
                <a:lnTo>
                  <a:pt x="3030071" y="129988"/>
                </a:lnTo>
              </a:path>
            </a:pathLst>
          </a:custGeom>
          <a:noFill/>
          <a:ln>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DBE8C8-E950-2173-B8A7-FC516D68C900}"/>
              </a:ext>
            </a:extLst>
          </p:cNvPr>
          <p:cNvSpPr/>
          <p:nvPr/>
        </p:nvSpPr>
        <p:spPr>
          <a:xfrm>
            <a:off x="6665259" y="4746812"/>
            <a:ext cx="3290047" cy="542364"/>
          </a:xfrm>
          <a:custGeom>
            <a:avLst/>
            <a:gdLst>
              <a:gd name="connsiteX0" fmla="*/ 0 w 3290047"/>
              <a:gd name="connsiteY0" fmla="*/ 331694 h 542364"/>
              <a:gd name="connsiteX1" fmla="*/ 76200 w 3290047"/>
              <a:gd name="connsiteY1" fmla="*/ 251012 h 542364"/>
              <a:gd name="connsiteX2" fmla="*/ 865094 w 3290047"/>
              <a:gd name="connsiteY2" fmla="*/ 0 h 542364"/>
              <a:gd name="connsiteX3" fmla="*/ 1201270 w 3290047"/>
              <a:gd name="connsiteY3" fmla="*/ 44823 h 542364"/>
              <a:gd name="connsiteX4" fmla="*/ 1573306 w 3290047"/>
              <a:gd name="connsiteY4" fmla="*/ 165847 h 542364"/>
              <a:gd name="connsiteX5" fmla="*/ 1949823 w 3290047"/>
              <a:gd name="connsiteY5" fmla="*/ 188259 h 542364"/>
              <a:gd name="connsiteX6" fmla="*/ 2259106 w 3290047"/>
              <a:gd name="connsiteY6" fmla="*/ 138953 h 542364"/>
              <a:gd name="connsiteX7" fmla="*/ 2756647 w 3290047"/>
              <a:gd name="connsiteY7" fmla="*/ 26894 h 542364"/>
              <a:gd name="connsiteX8" fmla="*/ 2967317 w 3290047"/>
              <a:gd name="connsiteY8" fmla="*/ 129988 h 542364"/>
              <a:gd name="connsiteX9" fmla="*/ 3182470 w 3290047"/>
              <a:gd name="connsiteY9" fmla="*/ 336176 h 542364"/>
              <a:gd name="connsiteX10" fmla="*/ 3213847 w 3290047"/>
              <a:gd name="connsiteY10" fmla="*/ 358588 h 542364"/>
              <a:gd name="connsiteX11" fmla="*/ 3263153 w 3290047"/>
              <a:gd name="connsiteY11" fmla="*/ 407894 h 542364"/>
              <a:gd name="connsiteX12" fmla="*/ 3276600 w 3290047"/>
              <a:gd name="connsiteY12" fmla="*/ 484094 h 542364"/>
              <a:gd name="connsiteX13" fmla="*/ 3290047 w 3290047"/>
              <a:gd name="connsiteY13" fmla="*/ 542364 h 542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90047" h="542364">
                <a:moveTo>
                  <a:pt x="0" y="331694"/>
                </a:moveTo>
                <a:cubicBezTo>
                  <a:pt x="25400" y="304800"/>
                  <a:pt x="44423" y="269950"/>
                  <a:pt x="76200" y="251012"/>
                </a:cubicBezTo>
                <a:cubicBezTo>
                  <a:pt x="462167" y="20991"/>
                  <a:pt x="421446" y="70795"/>
                  <a:pt x="865094" y="0"/>
                </a:cubicBezTo>
                <a:cubicBezTo>
                  <a:pt x="977153" y="14941"/>
                  <a:pt x="1091198" y="19047"/>
                  <a:pt x="1201270" y="44823"/>
                </a:cubicBezTo>
                <a:cubicBezTo>
                  <a:pt x="1328244" y="74557"/>
                  <a:pt x="1445228" y="141305"/>
                  <a:pt x="1573306" y="165847"/>
                </a:cubicBezTo>
                <a:cubicBezTo>
                  <a:pt x="1696787" y="189508"/>
                  <a:pt x="1824317" y="180788"/>
                  <a:pt x="1949823" y="188259"/>
                </a:cubicBezTo>
                <a:cubicBezTo>
                  <a:pt x="2052917" y="171824"/>
                  <a:pt x="2157151" y="161396"/>
                  <a:pt x="2259106" y="138953"/>
                </a:cubicBezTo>
                <a:cubicBezTo>
                  <a:pt x="2809893" y="17710"/>
                  <a:pt x="2497091" y="39253"/>
                  <a:pt x="2756647" y="26894"/>
                </a:cubicBezTo>
                <a:cubicBezTo>
                  <a:pt x="2847785" y="57273"/>
                  <a:pt x="2886414" y="62204"/>
                  <a:pt x="2967317" y="129988"/>
                </a:cubicBezTo>
                <a:cubicBezTo>
                  <a:pt x="3043458" y="193782"/>
                  <a:pt x="3101639" y="278440"/>
                  <a:pt x="3182470" y="336176"/>
                </a:cubicBezTo>
                <a:cubicBezTo>
                  <a:pt x="3192929" y="343647"/>
                  <a:pt x="3204240" y="350049"/>
                  <a:pt x="3213847" y="358588"/>
                </a:cubicBezTo>
                <a:cubicBezTo>
                  <a:pt x="3231219" y="374030"/>
                  <a:pt x="3263153" y="407894"/>
                  <a:pt x="3263153" y="407894"/>
                </a:cubicBezTo>
                <a:cubicBezTo>
                  <a:pt x="3276079" y="446675"/>
                  <a:pt x="3259085" y="393016"/>
                  <a:pt x="3276600" y="484094"/>
                </a:cubicBezTo>
                <a:cubicBezTo>
                  <a:pt x="3290409" y="555902"/>
                  <a:pt x="3290047" y="518061"/>
                  <a:pt x="3290047" y="542364"/>
                </a:cubicBezTo>
              </a:path>
            </a:pathLst>
          </a:custGeom>
          <a:noFill/>
          <a:ln>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2A56251B-DDBC-979D-0681-8DC1D65CD968}"/>
              </a:ext>
            </a:extLst>
          </p:cNvPr>
          <p:cNvSpPr/>
          <p:nvPr/>
        </p:nvSpPr>
        <p:spPr>
          <a:xfrm>
            <a:off x="6277986" y="6113441"/>
            <a:ext cx="3191435" cy="553821"/>
          </a:xfrm>
          <a:custGeom>
            <a:avLst/>
            <a:gdLst>
              <a:gd name="connsiteX0" fmla="*/ 0 w 3191435"/>
              <a:gd name="connsiteY0" fmla="*/ 69714 h 553821"/>
              <a:gd name="connsiteX1" fmla="*/ 188258 w 3191435"/>
              <a:gd name="connsiteY1" fmla="*/ 65232 h 553821"/>
              <a:gd name="connsiteX2" fmla="*/ 905435 w 3191435"/>
              <a:gd name="connsiteY2" fmla="*/ 2479 h 553821"/>
              <a:gd name="connsiteX3" fmla="*/ 1497105 w 3191435"/>
              <a:gd name="connsiteY3" fmla="*/ 11444 h 553821"/>
              <a:gd name="connsiteX4" fmla="*/ 1631576 w 3191435"/>
              <a:gd name="connsiteY4" fmla="*/ 123502 h 553821"/>
              <a:gd name="connsiteX5" fmla="*/ 1739153 w 3191435"/>
              <a:gd name="connsiteY5" fmla="*/ 347620 h 553821"/>
              <a:gd name="connsiteX6" fmla="*/ 2124635 w 3191435"/>
              <a:gd name="connsiteY6" fmla="*/ 459679 h 553821"/>
              <a:gd name="connsiteX7" fmla="*/ 2353235 w 3191435"/>
              <a:gd name="connsiteY7" fmla="*/ 428302 h 553821"/>
              <a:gd name="connsiteX8" fmla="*/ 2774576 w 3191435"/>
              <a:gd name="connsiteY8" fmla="*/ 410373 h 553821"/>
              <a:gd name="connsiteX9" fmla="*/ 2900082 w 3191435"/>
              <a:gd name="connsiteY9" fmla="*/ 441750 h 553821"/>
              <a:gd name="connsiteX10" fmla="*/ 2967317 w 3191435"/>
              <a:gd name="connsiteY10" fmla="*/ 504502 h 553821"/>
              <a:gd name="connsiteX11" fmla="*/ 3025588 w 3191435"/>
              <a:gd name="connsiteY11" fmla="*/ 549326 h 553821"/>
              <a:gd name="connsiteX12" fmla="*/ 3043517 w 3191435"/>
              <a:gd name="connsiteY12" fmla="*/ 553808 h 553821"/>
              <a:gd name="connsiteX13" fmla="*/ 3191435 w 3191435"/>
              <a:gd name="connsiteY13" fmla="*/ 544844 h 553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1435" h="553821">
                <a:moveTo>
                  <a:pt x="0" y="69714"/>
                </a:moveTo>
                <a:cubicBezTo>
                  <a:pt x="62753" y="68220"/>
                  <a:pt x="125660" y="69880"/>
                  <a:pt x="188258" y="65232"/>
                </a:cubicBezTo>
                <a:cubicBezTo>
                  <a:pt x="427572" y="47461"/>
                  <a:pt x="665665" y="12333"/>
                  <a:pt x="905435" y="2479"/>
                </a:cubicBezTo>
                <a:cubicBezTo>
                  <a:pt x="1102515" y="-5620"/>
                  <a:pt x="1299882" y="8456"/>
                  <a:pt x="1497105" y="11444"/>
                </a:cubicBezTo>
                <a:cubicBezTo>
                  <a:pt x="1541929" y="48797"/>
                  <a:pt x="1597483" y="76151"/>
                  <a:pt x="1631576" y="123502"/>
                </a:cubicBezTo>
                <a:cubicBezTo>
                  <a:pt x="1679995" y="190751"/>
                  <a:pt x="1682702" y="286956"/>
                  <a:pt x="1739153" y="347620"/>
                </a:cubicBezTo>
                <a:cubicBezTo>
                  <a:pt x="1849118" y="465791"/>
                  <a:pt x="1984938" y="449933"/>
                  <a:pt x="2124635" y="459679"/>
                </a:cubicBezTo>
                <a:cubicBezTo>
                  <a:pt x="2200835" y="449220"/>
                  <a:pt x="2276702" y="435955"/>
                  <a:pt x="2353235" y="428302"/>
                </a:cubicBezTo>
                <a:cubicBezTo>
                  <a:pt x="2497034" y="413922"/>
                  <a:pt x="2630618" y="413572"/>
                  <a:pt x="2774576" y="410373"/>
                </a:cubicBezTo>
                <a:cubicBezTo>
                  <a:pt x="2816411" y="420832"/>
                  <a:pt x="2861333" y="422826"/>
                  <a:pt x="2900082" y="441750"/>
                </a:cubicBezTo>
                <a:cubicBezTo>
                  <a:pt x="2927629" y="455203"/>
                  <a:pt x="2944041" y="484551"/>
                  <a:pt x="2967317" y="504502"/>
                </a:cubicBezTo>
                <a:cubicBezTo>
                  <a:pt x="2985923" y="520450"/>
                  <a:pt x="3005014" y="536013"/>
                  <a:pt x="3025588" y="549326"/>
                </a:cubicBezTo>
                <a:cubicBezTo>
                  <a:pt x="3030760" y="552673"/>
                  <a:pt x="3037359" y="553974"/>
                  <a:pt x="3043517" y="553808"/>
                </a:cubicBezTo>
                <a:cubicBezTo>
                  <a:pt x="3092895" y="552474"/>
                  <a:pt x="3142129" y="547832"/>
                  <a:pt x="3191435" y="544844"/>
                </a:cubicBezTo>
              </a:path>
            </a:pathLst>
          </a:custGeom>
          <a:noFill/>
          <a:ln>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6DAFC3C1-3C43-A455-731E-7E34AC44F8A3}"/>
              </a:ext>
            </a:extLst>
          </p:cNvPr>
          <p:cNvSpPr/>
          <p:nvPr/>
        </p:nvSpPr>
        <p:spPr>
          <a:xfrm>
            <a:off x="2263588" y="4191000"/>
            <a:ext cx="2796988" cy="246529"/>
          </a:xfrm>
          <a:custGeom>
            <a:avLst/>
            <a:gdLst>
              <a:gd name="connsiteX0" fmla="*/ 2796988 w 2796988"/>
              <a:gd name="connsiteY0" fmla="*/ 246529 h 246529"/>
              <a:gd name="connsiteX1" fmla="*/ 2671483 w 2796988"/>
              <a:gd name="connsiteY1" fmla="*/ 161365 h 246529"/>
              <a:gd name="connsiteX2" fmla="*/ 1949824 w 2796988"/>
              <a:gd name="connsiteY2" fmla="*/ 0 h 246529"/>
              <a:gd name="connsiteX3" fmla="*/ 1828800 w 2796988"/>
              <a:gd name="connsiteY3" fmla="*/ 22412 h 246529"/>
              <a:gd name="connsiteX4" fmla="*/ 1524000 w 2796988"/>
              <a:gd name="connsiteY4" fmla="*/ 121024 h 246529"/>
              <a:gd name="connsiteX5" fmla="*/ 1228165 w 2796988"/>
              <a:gd name="connsiteY5" fmla="*/ 129988 h 246529"/>
              <a:gd name="connsiteX6" fmla="*/ 1107141 w 2796988"/>
              <a:gd name="connsiteY6" fmla="*/ 143435 h 246529"/>
              <a:gd name="connsiteX7" fmla="*/ 936812 w 2796988"/>
              <a:gd name="connsiteY7" fmla="*/ 134471 h 246529"/>
              <a:gd name="connsiteX8" fmla="*/ 609600 w 2796988"/>
              <a:gd name="connsiteY8" fmla="*/ 112059 h 246529"/>
              <a:gd name="connsiteX9" fmla="*/ 219636 w 2796988"/>
              <a:gd name="connsiteY9" fmla="*/ 98612 h 246529"/>
              <a:gd name="connsiteX10" fmla="*/ 143436 w 2796988"/>
              <a:gd name="connsiteY10" fmla="*/ 125506 h 246529"/>
              <a:gd name="connsiteX11" fmla="*/ 26894 w 2796988"/>
              <a:gd name="connsiteY11" fmla="*/ 156882 h 246529"/>
              <a:gd name="connsiteX12" fmla="*/ 0 w 2796988"/>
              <a:gd name="connsiteY12" fmla="*/ 161365 h 246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96988" h="246529">
                <a:moveTo>
                  <a:pt x="2796988" y="246529"/>
                </a:moveTo>
                <a:cubicBezTo>
                  <a:pt x="2755153" y="218141"/>
                  <a:pt x="2718640" y="179594"/>
                  <a:pt x="2671483" y="161365"/>
                </a:cubicBezTo>
                <a:cubicBezTo>
                  <a:pt x="2339765" y="33138"/>
                  <a:pt x="2272449" y="41480"/>
                  <a:pt x="1949824" y="0"/>
                </a:cubicBezTo>
                <a:cubicBezTo>
                  <a:pt x="1909483" y="7471"/>
                  <a:pt x="1868264" y="11196"/>
                  <a:pt x="1828800" y="22412"/>
                </a:cubicBezTo>
                <a:cubicBezTo>
                  <a:pt x="1726083" y="51605"/>
                  <a:pt x="1630684" y="116386"/>
                  <a:pt x="1524000" y="121024"/>
                </a:cubicBezTo>
                <a:cubicBezTo>
                  <a:pt x="1356702" y="128297"/>
                  <a:pt x="1455294" y="124706"/>
                  <a:pt x="1228165" y="129988"/>
                </a:cubicBezTo>
                <a:cubicBezTo>
                  <a:pt x="1187824" y="134470"/>
                  <a:pt x="1147726" y="142811"/>
                  <a:pt x="1107141" y="143435"/>
                </a:cubicBezTo>
                <a:cubicBezTo>
                  <a:pt x="1050293" y="144310"/>
                  <a:pt x="993554" y="138049"/>
                  <a:pt x="936812" y="134471"/>
                </a:cubicBezTo>
                <a:lnTo>
                  <a:pt x="609600" y="112059"/>
                </a:lnTo>
                <a:cubicBezTo>
                  <a:pt x="422340" y="84655"/>
                  <a:pt x="415664" y="70608"/>
                  <a:pt x="219636" y="98612"/>
                </a:cubicBezTo>
                <a:cubicBezTo>
                  <a:pt x="192971" y="102421"/>
                  <a:pt x="169219" y="117711"/>
                  <a:pt x="143436" y="125506"/>
                </a:cubicBezTo>
                <a:cubicBezTo>
                  <a:pt x="104927" y="137148"/>
                  <a:pt x="65923" y="147125"/>
                  <a:pt x="26894" y="156882"/>
                </a:cubicBezTo>
                <a:cubicBezTo>
                  <a:pt x="18077" y="159086"/>
                  <a:pt x="0" y="161365"/>
                  <a:pt x="0" y="161365"/>
                </a:cubicBezTo>
              </a:path>
            </a:pathLst>
          </a:custGeom>
          <a:noFill/>
          <a:ln>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42CB3639-055E-F6C1-C817-5F35B5B2281A}"/>
              </a:ext>
            </a:extLst>
          </p:cNvPr>
          <p:cNvSpPr/>
          <p:nvPr/>
        </p:nvSpPr>
        <p:spPr>
          <a:xfrm>
            <a:off x="1664060" y="5203564"/>
            <a:ext cx="3133165" cy="327212"/>
          </a:xfrm>
          <a:custGeom>
            <a:avLst/>
            <a:gdLst>
              <a:gd name="connsiteX0" fmla="*/ 3133165 w 3133165"/>
              <a:gd name="connsiteY0" fmla="*/ 282388 h 327212"/>
              <a:gd name="connsiteX1" fmla="*/ 2985247 w 3133165"/>
              <a:gd name="connsiteY1" fmla="*/ 192741 h 327212"/>
              <a:gd name="connsiteX2" fmla="*/ 2447365 w 3133165"/>
              <a:gd name="connsiteY2" fmla="*/ 76200 h 327212"/>
              <a:gd name="connsiteX3" fmla="*/ 2138082 w 3133165"/>
              <a:gd name="connsiteY3" fmla="*/ 0 h 327212"/>
              <a:gd name="connsiteX4" fmla="*/ 1770529 w 3133165"/>
              <a:gd name="connsiteY4" fmla="*/ 49306 h 327212"/>
              <a:gd name="connsiteX5" fmla="*/ 1532965 w 3133165"/>
              <a:gd name="connsiteY5" fmla="*/ 174812 h 327212"/>
              <a:gd name="connsiteX6" fmla="*/ 1420906 w 3133165"/>
              <a:gd name="connsiteY6" fmla="*/ 219636 h 327212"/>
              <a:gd name="connsiteX7" fmla="*/ 999565 w 3133165"/>
              <a:gd name="connsiteY7" fmla="*/ 327212 h 327212"/>
              <a:gd name="connsiteX8" fmla="*/ 676835 w 3133165"/>
              <a:gd name="connsiteY8" fmla="*/ 295836 h 327212"/>
              <a:gd name="connsiteX9" fmla="*/ 542365 w 3133165"/>
              <a:gd name="connsiteY9" fmla="*/ 264459 h 327212"/>
              <a:gd name="connsiteX10" fmla="*/ 398929 w 3133165"/>
              <a:gd name="connsiteY10" fmla="*/ 246530 h 327212"/>
              <a:gd name="connsiteX11" fmla="*/ 80682 w 3133165"/>
              <a:gd name="connsiteY11" fmla="*/ 273424 h 327212"/>
              <a:gd name="connsiteX12" fmla="*/ 4482 w 3133165"/>
              <a:gd name="connsiteY12" fmla="*/ 304800 h 327212"/>
              <a:gd name="connsiteX13" fmla="*/ 0 w 3133165"/>
              <a:gd name="connsiteY13" fmla="*/ 309283 h 327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33165" h="327212">
                <a:moveTo>
                  <a:pt x="3133165" y="282388"/>
                </a:moveTo>
                <a:cubicBezTo>
                  <a:pt x="3083859" y="252506"/>
                  <a:pt x="3038981" y="213638"/>
                  <a:pt x="2985247" y="192741"/>
                </a:cubicBezTo>
                <a:cubicBezTo>
                  <a:pt x="2812595" y="125599"/>
                  <a:pt x="2626352" y="114167"/>
                  <a:pt x="2447365" y="76200"/>
                </a:cubicBezTo>
                <a:cubicBezTo>
                  <a:pt x="2343499" y="54168"/>
                  <a:pt x="2138082" y="0"/>
                  <a:pt x="2138082" y="0"/>
                </a:cubicBezTo>
                <a:cubicBezTo>
                  <a:pt x="1964629" y="7080"/>
                  <a:pt x="1921310" y="-7546"/>
                  <a:pt x="1770529" y="49306"/>
                </a:cubicBezTo>
                <a:cubicBezTo>
                  <a:pt x="1672563" y="86244"/>
                  <a:pt x="1625579" y="130357"/>
                  <a:pt x="1532965" y="174812"/>
                </a:cubicBezTo>
                <a:cubicBezTo>
                  <a:pt x="1496696" y="192221"/>
                  <a:pt x="1459152" y="207156"/>
                  <a:pt x="1420906" y="219636"/>
                </a:cubicBezTo>
                <a:cubicBezTo>
                  <a:pt x="1118069" y="318456"/>
                  <a:pt x="1200419" y="302105"/>
                  <a:pt x="999565" y="327212"/>
                </a:cubicBezTo>
                <a:lnTo>
                  <a:pt x="676835" y="295836"/>
                </a:lnTo>
                <a:cubicBezTo>
                  <a:pt x="631382" y="288590"/>
                  <a:pt x="587685" y="272500"/>
                  <a:pt x="542365" y="264459"/>
                </a:cubicBezTo>
                <a:cubicBezTo>
                  <a:pt x="494922" y="256042"/>
                  <a:pt x="446741" y="252506"/>
                  <a:pt x="398929" y="246530"/>
                </a:cubicBezTo>
                <a:cubicBezTo>
                  <a:pt x="268884" y="252184"/>
                  <a:pt x="198021" y="247349"/>
                  <a:pt x="80682" y="273424"/>
                </a:cubicBezTo>
                <a:cubicBezTo>
                  <a:pt x="60920" y="277816"/>
                  <a:pt x="24687" y="293254"/>
                  <a:pt x="4482" y="304800"/>
                </a:cubicBezTo>
                <a:cubicBezTo>
                  <a:pt x="2647" y="305848"/>
                  <a:pt x="1494" y="307789"/>
                  <a:pt x="0" y="309283"/>
                </a:cubicBezTo>
              </a:path>
            </a:pathLst>
          </a:custGeom>
          <a:noFill/>
          <a:ln>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967F0100-CCC5-CAEA-4BAB-FB8620487679}"/>
                  </a:ext>
                </a:extLst>
              </p:cNvPr>
              <p:cNvSpPr txBox="1"/>
              <p:nvPr/>
            </p:nvSpPr>
            <p:spPr>
              <a:xfrm>
                <a:off x="2232661" y="3934550"/>
                <a:ext cx="191396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𝑋</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1</m:t>
                              </m:r>
                            </m:sub>
                          </m:sSub>
                        </m:e>
                      </m:d>
                      <m:r>
                        <a:rPr lang="en-US" b="0" i="1" smtClean="0">
                          <a:latin typeface="Cambria Math" panose="02040503050406030204" pitchFamily="18" charset="0"/>
                        </a:rPr>
                        <m:t>=15000</m:t>
                      </m:r>
                    </m:oMath>
                  </m:oMathPara>
                </a14:m>
                <a:endParaRPr lang="en-US"/>
              </a:p>
            </p:txBody>
          </p:sp>
        </mc:Choice>
        <mc:Fallback>
          <p:sp>
            <p:nvSpPr>
              <p:cNvPr id="16" name="TextBox 15">
                <a:extLst>
                  <a:ext uri="{FF2B5EF4-FFF2-40B4-BE49-F238E27FC236}">
                    <a16:creationId xmlns:a16="http://schemas.microsoft.com/office/drawing/2014/main" id="{967F0100-CCC5-CAEA-4BAB-FB8620487679}"/>
                  </a:ext>
                </a:extLst>
              </p:cNvPr>
              <p:cNvSpPr txBox="1">
                <a:spLocks noRot="1" noChangeAspect="1" noMove="1" noResize="1" noEditPoints="1" noAdjustHandles="1" noChangeArrowheads="1" noChangeShapeType="1" noTextEdit="1"/>
              </p:cNvSpPr>
              <p:nvPr/>
            </p:nvSpPr>
            <p:spPr>
              <a:xfrm>
                <a:off x="2232661" y="3934550"/>
                <a:ext cx="1913965"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6944E19B-06F4-1A8E-57F9-537EB1283828}"/>
                  </a:ext>
                </a:extLst>
              </p:cNvPr>
              <p:cNvSpPr txBox="1"/>
              <p:nvPr/>
            </p:nvSpPr>
            <p:spPr>
              <a:xfrm>
                <a:off x="8010416" y="3693378"/>
                <a:ext cx="191396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𝑋</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2</m:t>
                              </m:r>
                            </m:sub>
                          </m:sSub>
                        </m:e>
                      </m:d>
                      <m:r>
                        <a:rPr lang="en-US" b="0" i="1" smtClean="0">
                          <a:latin typeface="Cambria Math" panose="02040503050406030204" pitchFamily="18" charset="0"/>
                        </a:rPr>
                        <m:t>=0</m:t>
                      </m:r>
                    </m:oMath>
                  </m:oMathPara>
                </a14:m>
                <a:endParaRPr lang="en-US"/>
              </a:p>
            </p:txBody>
          </p:sp>
        </mc:Choice>
        <mc:Fallback>
          <p:sp>
            <p:nvSpPr>
              <p:cNvPr id="17" name="TextBox 16">
                <a:extLst>
                  <a:ext uri="{FF2B5EF4-FFF2-40B4-BE49-F238E27FC236}">
                    <a16:creationId xmlns:a16="http://schemas.microsoft.com/office/drawing/2014/main" id="{6944E19B-06F4-1A8E-57F9-537EB1283828}"/>
                  </a:ext>
                </a:extLst>
              </p:cNvPr>
              <p:cNvSpPr txBox="1">
                <a:spLocks noRot="1" noChangeAspect="1" noMove="1" noResize="1" noEditPoints="1" noAdjustHandles="1" noChangeArrowheads="1" noChangeShapeType="1" noTextEdit="1"/>
              </p:cNvSpPr>
              <p:nvPr/>
            </p:nvSpPr>
            <p:spPr>
              <a:xfrm>
                <a:off x="8010416" y="3693378"/>
                <a:ext cx="1913965"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441D5FA2-93A8-5C51-96A7-7594A7BD1886}"/>
                  </a:ext>
                </a:extLst>
              </p:cNvPr>
              <p:cNvSpPr txBox="1"/>
              <p:nvPr/>
            </p:nvSpPr>
            <p:spPr>
              <a:xfrm>
                <a:off x="1359260" y="5087847"/>
                <a:ext cx="191396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𝑋</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3</m:t>
                              </m:r>
                            </m:sub>
                          </m:sSub>
                        </m:e>
                      </m:d>
                      <m:r>
                        <a:rPr lang="en-US" b="0" i="1" smtClean="0">
                          <a:latin typeface="Cambria Math" panose="02040503050406030204" pitchFamily="18" charset="0"/>
                        </a:rPr>
                        <m:t>=15000</m:t>
                      </m:r>
                    </m:oMath>
                  </m:oMathPara>
                </a14:m>
                <a:endParaRPr lang="en-US"/>
              </a:p>
            </p:txBody>
          </p:sp>
        </mc:Choice>
        <mc:Fallback>
          <p:sp>
            <p:nvSpPr>
              <p:cNvPr id="18" name="TextBox 17">
                <a:extLst>
                  <a:ext uri="{FF2B5EF4-FFF2-40B4-BE49-F238E27FC236}">
                    <a16:creationId xmlns:a16="http://schemas.microsoft.com/office/drawing/2014/main" id="{441D5FA2-93A8-5C51-96A7-7594A7BD1886}"/>
                  </a:ext>
                </a:extLst>
              </p:cNvPr>
              <p:cNvSpPr txBox="1">
                <a:spLocks noRot="1" noChangeAspect="1" noMove="1" noResize="1" noEditPoints="1" noAdjustHandles="1" noChangeArrowheads="1" noChangeShapeType="1" noTextEdit="1"/>
              </p:cNvSpPr>
              <p:nvPr/>
            </p:nvSpPr>
            <p:spPr>
              <a:xfrm>
                <a:off x="1359260" y="5087847"/>
                <a:ext cx="1913965"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F5091645-E687-5FEC-2C87-EA0524145405}"/>
                  </a:ext>
                </a:extLst>
              </p:cNvPr>
              <p:cNvSpPr txBox="1"/>
              <p:nvPr/>
            </p:nvSpPr>
            <p:spPr>
              <a:xfrm>
                <a:off x="9318812" y="4528952"/>
                <a:ext cx="191396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𝑋</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4</m:t>
                              </m:r>
                            </m:sub>
                          </m:sSub>
                        </m:e>
                      </m:d>
                      <m:r>
                        <a:rPr lang="en-US" b="0" i="1" smtClean="0">
                          <a:latin typeface="Cambria Math" panose="02040503050406030204" pitchFamily="18" charset="0"/>
                        </a:rPr>
                        <m:t>=0</m:t>
                      </m:r>
                    </m:oMath>
                  </m:oMathPara>
                </a14:m>
                <a:endParaRPr lang="en-US"/>
              </a:p>
            </p:txBody>
          </p:sp>
        </mc:Choice>
        <mc:Fallback>
          <p:sp>
            <p:nvSpPr>
              <p:cNvPr id="19" name="TextBox 18">
                <a:extLst>
                  <a:ext uri="{FF2B5EF4-FFF2-40B4-BE49-F238E27FC236}">
                    <a16:creationId xmlns:a16="http://schemas.microsoft.com/office/drawing/2014/main" id="{F5091645-E687-5FEC-2C87-EA0524145405}"/>
                  </a:ext>
                </a:extLst>
              </p:cNvPr>
              <p:cNvSpPr txBox="1">
                <a:spLocks noRot="1" noChangeAspect="1" noMove="1" noResize="1" noEditPoints="1" noAdjustHandles="1" noChangeArrowheads="1" noChangeShapeType="1" noTextEdit="1"/>
              </p:cNvSpPr>
              <p:nvPr/>
            </p:nvSpPr>
            <p:spPr>
              <a:xfrm>
                <a:off x="9318812" y="4528952"/>
                <a:ext cx="1913965" cy="369332"/>
              </a:xfrm>
              <a:prstGeom prst="rect">
                <a:avLst/>
              </a:prstGeom>
              <a:blipFill>
                <a:blip r:embed="rId6"/>
                <a:stretch>
                  <a:fillRect/>
                </a:stretch>
              </a:blipFill>
            </p:spPr>
            <p:txBody>
              <a:bodyPr/>
              <a:lstStyle/>
              <a:p>
                <a:r>
                  <a:rPr lang="en-US">
                    <a:noFill/>
                  </a:rPr>
                  <a:t> </a:t>
                </a:r>
              </a:p>
            </p:txBody>
          </p:sp>
        </mc:Fallback>
      </mc:AlternateContent>
      <p:sp>
        <p:nvSpPr>
          <p:cNvPr id="20" name="Freeform: Shape 19">
            <a:extLst>
              <a:ext uri="{FF2B5EF4-FFF2-40B4-BE49-F238E27FC236}">
                <a16:creationId xmlns:a16="http://schemas.microsoft.com/office/drawing/2014/main" id="{5F912924-928E-D244-28F0-FDFB129E72A3}"/>
              </a:ext>
            </a:extLst>
          </p:cNvPr>
          <p:cNvSpPr/>
          <p:nvPr/>
        </p:nvSpPr>
        <p:spPr>
          <a:xfrm>
            <a:off x="8189259" y="5544671"/>
            <a:ext cx="2447365" cy="349809"/>
          </a:xfrm>
          <a:custGeom>
            <a:avLst/>
            <a:gdLst>
              <a:gd name="connsiteX0" fmla="*/ 0 w 2447365"/>
              <a:gd name="connsiteY0" fmla="*/ 0 h 349809"/>
              <a:gd name="connsiteX1" fmla="*/ 824753 w 2447365"/>
              <a:gd name="connsiteY1" fmla="*/ 53788 h 349809"/>
              <a:gd name="connsiteX2" fmla="*/ 1169894 w 2447365"/>
              <a:gd name="connsiteY2" fmla="*/ 242047 h 349809"/>
              <a:gd name="connsiteX3" fmla="*/ 1420906 w 2447365"/>
              <a:gd name="connsiteY3" fmla="*/ 304800 h 349809"/>
              <a:gd name="connsiteX4" fmla="*/ 1550894 w 2447365"/>
              <a:gd name="connsiteY4" fmla="*/ 300317 h 349809"/>
              <a:gd name="connsiteX5" fmla="*/ 1797423 w 2447365"/>
              <a:gd name="connsiteY5" fmla="*/ 268941 h 349809"/>
              <a:gd name="connsiteX6" fmla="*/ 1976717 w 2447365"/>
              <a:gd name="connsiteY6" fmla="*/ 291353 h 349809"/>
              <a:gd name="connsiteX7" fmla="*/ 2070847 w 2447365"/>
              <a:gd name="connsiteY7" fmla="*/ 304800 h 349809"/>
              <a:gd name="connsiteX8" fmla="*/ 2182906 w 2447365"/>
              <a:gd name="connsiteY8" fmla="*/ 318247 h 349809"/>
              <a:gd name="connsiteX9" fmla="*/ 2263588 w 2447365"/>
              <a:gd name="connsiteY9" fmla="*/ 327211 h 349809"/>
              <a:gd name="connsiteX10" fmla="*/ 2371165 w 2447365"/>
              <a:gd name="connsiteY10" fmla="*/ 349623 h 349809"/>
              <a:gd name="connsiteX11" fmla="*/ 2447365 w 2447365"/>
              <a:gd name="connsiteY11" fmla="*/ 331694 h 349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47365" h="349809">
                <a:moveTo>
                  <a:pt x="0" y="0"/>
                </a:moveTo>
                <a:cubicBezTo>
                  <a:pt x="274918" y="17929"/>
                  <a:pt x="551792" y="16460"/>
                  <a:pt x="824753" y="53788"/>
                </a:cubicBezTo>
                <a:cubicBezTo>
                  <a:pt x="1064039" y="86511"/>
                  <a:pt x="1007932" y="141925"/>
                  <a:pt x="1169894" y="242047"/>
                </a:cubicBezTo>
                <a:cubicBezTo>
                  <a:pt x="1277056" y="308293"/>
                  <a:pt x="1302428" y="296337"/>
                  <a:pt x="1420906" y="304800"/>
                </a:cubicBezTo>
                <a:cubicBezTo>
                  <a:pt x="1464235" y="303306"/>
                  <a:pt x="1507642" y="303300"/>
                  <a:pt x="1550894" y="300317"/>
                </a:cubicBezTo>
                <a:cubicBezTo>
                  <a:pt x="1651288" y="293393"/>
                  <a:pt x="1699805" y="283959"/>
                  <a:pt x="1797423" y="268941"/>
                </a:cubicBezTo>
                <a:lnTo>
                  <a:pt x="1976717" y="291353"/>
                </a:lnTo>
                <a:cubicBezTo>
                  <a:pt x="2008143" y="295474"/>
                  <a:pt x="2039418" y="300701"/>
                  <a:pt x="2070847" y="304800"/>
                </a:cubicBezTo>
                <a:cubicBezTo>
                  <a:pt x="2108152" y="309666"/>
                  <a:pt x="2145537" y="313902"/>
                  <a:pt x="2182906" y="318247"/>
                </a:cubicBezTo>
                <a:lnTo>
                  <a:pt x="2263588" y="327211"/>
                </a:lnTo>
                <a:cubicBezTo>
                  <a:pt x="2283988" y="332651"/>
                  <a:pt x="2342716" y="351899"/>
                  <a:pt x="2371165" y="349623"/>
                </a:cubicBezTo>
                <a:cubicBezTo>
                  <a:pt x="2436334" y="344409"/>
                  <a:pt x="2426431" y="352623"/>
                  <a:pt x="2447365" y="331694"/>
                </a:cubicBezTo>
              </a:path>
            </a:pathLst>
          </a:custGeom>
          <a:noFill/>
          <a:ln>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DA0E2127-2DC3-8435-332F-4733296CB39B}"/>
                  </a:ext>
                </a:extLst>
              </p:cNvPr>
              <p:cNvSpPr txBox="1"/>
              <p:nvPr/>
            </p:nvSpPr>
            <p:spPr>
              <a:xfrm>
                <a:off x="9570957" y="5430123"/>
                <a:ext cx="191396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𝑋</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5</m:t>
                              </m:r>
                            </m:sub>
                          </m:sSub>
                        </m:e>
                      </m:d>
                      <m:r>
                        <a:rPr lang="en-US" b="0" i="1" smtClean="0">
                          <a:latin typeface="Cambria Math" panose="02040503050406030204" pitchFamily="18" charset="0"/>
                        </a:rPr>
                        <m:t>=0</m:t>
                      </m:r>
                    </m:oMath>
                  </m:oMathPara>
                </a14:m>
                <a:endParaRPr lang="en-US"/>
              </a:p>
            </p:txBody>
          </p:sp>
        </mc:Choice>
        <mc:Fallback>
          <p:sp>
            <p:nvSpPr>
              <p:cNvPr id="22" name="TextBox 21">
                <a:extLst>
                  <a:ext uri="{FF2B5EF4-FFF2-40B4-BE49-F238E27FC236}">
                    <a16:creationId xmlns:a16="http://schemas.microsoft.com/office/drawing/2014/main" id="{DA0E2127-2DC3-8435-332F-4733296CB39B}"/>
                  </a:ext>
                </a:extLst>
              </p:cNvPr>
              <p:cNvSpPr txBox="1">
                <a:spLocks noRot="1" noChangeAspect="1" noMove="1" noResize="1" noEditPoints="1" noAdjustHandles="1" noChangeArrowheads="1" noChangeShapeType="1" noTextEdit="1"/>
              </p:cNvSpPr>
              <p:nvPr/>
            </p:nvSpPr>
            <p:spPr>
              <a:xfrm>
                <a:off x="9570957" y="5430123"/>
                <a:ext cx="1913965"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5E05B0C5-46A9-C8F1-9261-EC2797415533}"/>
                  </a:ext>
                </a:extLst>
              </p:cNvPr>
              <p:cNvSpPr txBox="1"/>
              <p:nvPr/>
            </p:nvSpPr>
            <p:spPr>
              <a:xfrm>
                <a:off x="7676254" y="6126292"/>
                <a:ext cx="191396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𝑋</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6</m:t>
                              </m:r>
                            </m:sub>
                          </m:sSub>
                        </m:e>
                      </m:d>
                      <m:r>
                        <a:rPr lang="en-US" b="0" i="1" smtClean="0">
                          <a:latin typeface="Cambria Math" panose="02040503050406030204" pitchFamily="18" charset="0"/>
                        </a:rPr>
                        <m:t>=0</m:t>
                      </m:r>
                    </m:oMath>
                  </m:oMathPara>
                </a14:m>
                <a:endParaRPr lang="en-US"/>
              </a:p>
            </p:txBody>
          </p:sp>
        </mc:Choice>
        <mc:Fallback>
          <p:sp>
            <p:nvSpPr>
              <p:cNvPr id="23" name="TextBox 22">
                <a:extLst>
                  <a:ext uri="{FF2B5EF4-FFF2-40B4-BE49-F238E27FC236}">
                    <a16:creationId xmlns:a16="http://schemas.microsoft.com/office/drawing/2014/main" id="{5E05B0C5-46A9-C8F1-9261-EC2797415533}"/>
                  </a:ext>
                </a:extLst>
              </p:cNvPr>
              <p:cNvSpPr txBox="1">
                <a:spLocks noRot="1" noChangeAspect="1" noMove="1" noResize="1" noEditPoints="1" noAdjustHandles="1" noChangeArrowheads="1" noChangeShapeType="1" noTextEdit="1"/>
              </p:cNvSpPr>
              <p:nvPr/>
            </p:nvSpPr>
            <p:spPr>
              <a:xfrm>
                <a:off x="7676254" y="6126292"/>
                <a:ext cx="1913965" cy="369332"/>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906595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59A9C-7C16-1B91-D7F9-639B0AA775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E225CC-3DFF-1331-D039-D185DF65EAA4}"/>
              </a:ext>
            </a:extLst>
          </p:cNvPr>
          <p:cNvSpPr>
            <a:spLocks noGrp="1"/>
          </p:cNvSpPr>
          <p:nvPr>
            <p:ph type="title"/>
          </p:nvPr>
        </p:nvSpPr>
        <p:spPr/>
        <p:txBody>
          <a:bodyPr/>
          <a:lstStyle/>
          <a:p>
            <a:r>
              <a:rPr lang="en-US"/>
              <a:t>Thought Experiment 4</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002C22E-11EE-0CAF-5310-03E132C77096}"/>
                  </a:ext>
                </a:extLst>
              </p:cNvPr>
              <p:cNvSpPr>
                <a:spLocks noGrp="1"/>
              </p:cNvSpPr>
              <p:nvPr>
                <p:ph idx="1"/>
              </p:nvPr>
            </p:nvSpPr>
            <p:spPr/>
            <p:txBody>
              <a:bodyPr/>
              <a:lstStyle/>
              <a:p>
                <a:r>
                  <a:rPr lang="en-US"/>
                  <a:t>Consider a nonnegative random variable with </a:t>
                </a:r>
                <a14:m>
                  <m:oMath xmlns:m="http://schemas.openxmlformats.org/officeDocument/2006/math">
                    <m:r>
                      <a:rPr lang="en-US" i="1">
                        <a:latin typeface="Cambria Math" panose="02040503050406030204" pitchFamily="18" charset="0"/>
                      </a:rPr>
                      <m:t>𝔼</m:t>
                    </m:r>
                    <m:d>
                      <m:dPr>
                        <m:begChr m:val="["/>
                        <m:endChr m:val="]"/>
                        <m:ctrlPr>
                          <a:rPr lang="en-US" i="1">
                            <a:latin typeface="Cambria Math" panose="02040503050406030204" pitchFamily="18" charset="0"/>
                          </a:rPr>
                        </m:ctrlPr>
                      </m:dPr>
                      <m:e>
                        <m:r>
                          <a:rPr lang="en-US" i="1">
                            <a:latin typeface="Cambria Math" panose="02040503050406030204" pitchFamily="18" charset="0"/>
                          </a:rPr>
                          <m:t>𝑋</m:t>
                        </m:r>
                      </m:e>
                    </m:d>
                    <m:r>
                      <a:rPr lang="en-US" i="1">
                        <a:latin typeface="Cambria Math" panose="02040503050406030204" pitchFamily="18" charset="0"/>
                      </a:rPr>
                      <m:t>=</m:t>
                    </m:r>
                    <m:r>
                      <a:rPr lang="en-US" b="0" i="1" smtClean="0">
                        <a:latin typeface="Cambria Math" panose="02040503050406030204" pitchFamily="18" charset="0"/>
                      </a:rPr>
                      <m:t>𝜇</m:t>
                    </m:r>
                  </m:oMath>
                </a14:m>
                <a:r>
                  <a:rPr lang="en-US"/>
                  <a:t>. Let </a:t>
                </a:r>
                <a14:m>
                  <m:oMath xmlns:m="http://schemas.openxmlformats.org/officeDocument/2006/math">
                    <m:r>
                      <a:rPr lang="en-US" i="1">
                        <a:latin typeface="Cambria Math" panose="02040503050406030204" pitchFamily="18" charset="0"/>
                      </a:rPr>
                      <m:t>𝑝</m:t>
                    </m:r>
                  </m:oMath>
                </a14:m>
                <a:r>
                  <a:rPr lang="en-US"/>
                  <a:t> be the probability that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r>
                          <a:rPr lang="en-US" b="0" i="1" smtClean="0">
                            <a:latin typeface="Cambria Math" panose="02040503050406030204" pitchFamily="18" charset="0"/>
                          </a:rPr>
                          <m:t>𝑐</m:t>
                        </m:r>
                      </m:e>
                    </m:d>
                  </m:oMath>
                </a14:m>
                <a:r>
                  <a:rPr lang="en-US"/>
                  <a:t>.</a:t>
                </a:r>
              </a:p>
              <a:p>
                <a:endParaRPr lang="en-US"/>
              </a:p>
              <a:p>
                <a:r>
                  <a:rPr lang="en-US"/>
                  <a:t>What is the largest possible value for </a:t>
                </a:r>
                <a14:m>
                  <m:oMath xmlns:m="http://schemas.openxmlformats.org/officeDocument/2006/math">
                    <m:r>
                      <a:rPr lang="en-US" i="1">
                        <a:latin typeface="Cambria Math" panose="02040503050406030204" pitchFamily="18" charset="0"/>
                      </a:rPr>
                      <m:t>𝑝</m:t>
                    </m:r>
                  </m:oMath>
                </a14:m>
                <a:r>
                  <a:rPr lang="en-US"/>
                  <a:t>?</a:t>
                </a:r>
              </a:p>
              <a:p>
                <a:pPr marL="342900" indent="-342900">
                  <a:buFont typeface="Arial" panose="020B0604020202020204" pitchFamily="34" charset="0"/>
                  <a:buChar char="•"/>
                </a:pPr>
                <a:r>
                  <a:rPr lang="en-US"/>
                  <a:t>We know that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m:t>
                    </m:r>
                    <m:r>
                      <a:rPr lang="en-US" b="0" i="1" smtClean="0">
                        <a:latin typeface="Cambria Math" panose="02040503050406030204" pitchFamily="18" charset="0"/>
                      </a:rPr>
                      <m:t>𝑐</m:t>
                    </m:r>
                  </m:oMath>
                </a14:m>
                <a:r>
                  <a:rPr lang="en-US"/>
                  <a:t>.</a:t>
                </a:r>
              </a:p>
              <a:p>
                <a:endParaRPr lang="en-US" b="0" i="1">
                  <a:latin typeface="Cambria Math" panose="02040503050406030204" pitchFamily="18" charset="0"/>
                </a:endParaRPr>
              </a:p>
              <a:p>
                <a:r>
                  <a:rPr lang="en-US"/>
                  <a:t>This is known as </a:t>
                </a:r>
                <a:r>
                  <a:rPr lang="en-US" b="1">
                    <a:solidFill>
                      <a:schemeClr val="accent3"/>
                    </a:solidFill>
                  </a:rPr>
                  <a:t>Markov’s Inequality</a:t>
                </a:r>
                <a:r>
                  <a:rPr lang="en-US"/>
                  <a:t>, usually written concisely as:</a:t>
                </a:r>
              </a:p>
              <a:p>
                <a:endParaRPr lang="en-US" b="0" i="1">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𝑐</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a:latin typeface="Cambria Math" panose="02040503050406030204" pitchFamily="18" charset="0"/>
                            </a:rPr>
                            <m:t>𝔼</m:t>
                          </m:r>
                          <m:d>
                            <m:dPr>
                              <m:begChr m:val="["/>
                              <m:endChr m:val="]"/>
                              <m:ctrlPr>
                                <a:rPr lang="en-US" i="1">
                                  <a:latin typeface="Cambria Math" panose="02040503050406030204" pitchFamily="18" charset="0"/>
                                </a:rPr>
                              </m:ctrlPr>
                            </m:dPr>
                            <m:e>
                              <m:r>
                                <a:rPr lang="en-US" i="1">
                                  <a:latin typeface="Cambria Math" panose="02040503050406030204" pitchFamily="18" charset="0"/>
                                </a:rPr>
                                <m:t>𝑋</m:t>
                              </m:r>
                            </m:e>
                          </m:d>
                        </m:num>
                        <m:den>
                          <m:r>
                            <a:rPr lang="en-US" b="0" i="1" smtClean="0">
                              <a:latin typeface="Cambria Math" panose="02040503050406030204" pitchFamily="18" charset="0"/>
                            </a:rPr>
                            <m:t>𝑐</m:t>
                          </m:r>
                        </m:den>
                      </m:f>
                    </m:oMath>
                  </m:oMathPara>
                </a14:m>
                <a:endParaRPr lang="en-US" b="0" i="1">
                  <a:latin typeface="Cambria Math" panose="02040503050406030204" pitchFamily="18" charset="0"/>
                </a:endParaRPr>
              </a:p>
              <a:p>
                <a:endParaRPr lang="en-US" b="0" i="1">
                  <a:latin typeface="Cambria Math" panose="02040503050406030204" pitchFamily="18" charset="0"/>
                </a:endParaRPr>
              </a:p>
            </p:txBody>
          </p:sp>
        </mc:Choice>
        <mc:Fallback>
          <p:sp>
            <p:nvSpPr>
              <p:cNvPr id="3" name="Content Placeholder 2">
                <a:extLst>
                  <a:ext uri="{FF2B5EF4-FFF2-40B4-BE49-F238E27FC236}">
                    <a16:creationId xmlns:a16="http://schemas.microsoft.com/office/drawing/2014/main" id="{0002C22E-11EE-0CAF-5310-03E132C77096}"/>
                  </a:ext>
                </a:extLst>
              </p:cNvPr>
              <p:cNvSpPr>
                <a:spLocks noGrp="1" noRot="1" noChangeAspect="1" noMove="1" noResize="1" noEditPoints="1" noAdjustHandles="1" noChangeArrowheads="1" noChangeShapeType="1" noTextEdit="1"/>
              </p:cNvSpPr>
              <p:nvPr>
                <p:ph idx="1"/>
              </p:nvPr>
            </p:nvSpPr>
            <p:spPr>
              <a:blipFill>
                <a:blip r:embed="rId2"/>
                <a:stretch>
                  <a:fillRect l="-796" t="-541"/>
                </a:stretch>
              </a:blipFill>
            </p:spPr>
            <p:txBody>
              <a:bodyPr/>
              <a:lstStyle/>
              <a:p>
                <a:r>
                  <a:rPr lang="en-US">
                    <a:noFill/>
                  </a:rPr>
                  <a:t> </a:t>
                </a:r>
              </a:p>
            </p:txBody>
          </p:sp>
        </mc:Fallback>
      </mc:AlternateContent>
    </p:spTree>
    <p:extLst>
      <p:ext uri="{BB962C8B-B14F-4D97-AF65-F5344CB8AC3E}">
        <p14:creationId xmlns:p14="http://schemas.microsoft.com/office/powerpoint/2010/main" val="20724095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0D097-48E0-9770-CE75-138D2B7129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3DAAD3-95F4-297E-DFF0-F98721963E65}"/>
              </a:ext>
            </a:extLst>
          </p:cNvPr>
          <p:cNvSpPr>
            <a:spLocks noGrp="1"/>
          </p:cNvSpPr>
          <p:nvPr>
            <p:ph type="title"/>
          </p:nvPr>
        </p:nvSpPr>
        <p:spPr/>
        <p:txBody>
          <a:bodyPr/>
          <a:lstStyle/>
          <a:p>
            <a:r>
              <a:rPr lang="en-US"/>
              <a:t>Markov’s Inequality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D133624-5E12-5423-B2A4-F22CC7C7B8F4}"/>
                  </a:ext>
                </a:extLst>
              </p:cNvPr>
              <p:cNvSpPr>
                <a:spLocks noGrp="1"/>
              </p:cNvSpPr>
              <p:nvPr>
                <p:ph idx="1"/>
              </p:nvPr>
            </p:nvSpPr>
            <p:spPr/>
            <p:txBody>
              <a:bodyPr/>
              <a:lstStyle/>
              <a:p>
                <a:r>
                  <a:rPr lang="en-US" b="1">
                    <a:solidFill>
                      <a:schemeClr val="accent3"/>
                    </a:solidFill>
                    <a:latin typeface="Inter" panose="02000503000000020004" pitchFamily="2" charset="0"/>
                    <a:ea typeface="Inter" panose="02000503000000020004" pitchFamily="2" charset="0"/>
                    <a:cs typeface="Inter" panose="02000503000000020004" pitchFamily="2" charset="0"/>
                  </a:rPr>
                  <a:t>Markov’s Inequality</a:t>
                </a:r>
                <a:r>
                  <a:rPr lang="en-US"/>
                  <a:t>: For a </a:t>
                </a:r>
                <a:r>
                  <a:rPr lang="en-US" b="1">
                    <a:latin typeface="Inter" panose="02000503000000020004" pitchFamily="2" charset="0"/>
                    <a:ea typeface="Inter" panose="02000503000000020004" pitchFamily="2" charset="0"/>
                    <a:cs typeface="Inter" panose="02000503000000020004" pitchFamily="2" charset="0"/>
                  </a:rPr>
                  <a:t>nonnegative</a:t>
                </a:r>
                <a:r>
                  <a:rPr lang="en-US"/>
                  <a:t> random variable </a:t>
                </a:r>
                <a14:m>
                  <m:oMath xmlns:m="http://schemas.openxmlformats.org/officeDocument/2006/math">
                    <m:r>
                      <a:rPr lang="en-US" b="0" i="1" smtClean="0">
                        <a:latin typeface="Cambria Math" panose="02040503050406030204" pitchFamily="18" charset="0"/>
                      </a:rPr>
                      <m:t>𝑋</m:t>
                    </m:r>
                  </m:oMath>
                </a14:m>
                <a:r>
                  <a:rPr lang="en-US"/>
                  <a:t> (i.e. </a:t>
                </a:r>
                <a14:m>
                  <m:oMath xmlns:m="http://schemas.openxmlformats.org/officeDocument/2006/math">
                    <m:r>
                      <a:rPr lang="en-US" b="0" i="1" smtClean="0">
                        <a:latin typeface="Cambria Math" panose="02040503050406030204" pitchFamily="18" charset="0"/>
                      </a:rPr>
                      <m:t>𝑋</m:t>
                    </m:r>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r>
                      <a:rPr lang="en-US" b="0" i="1" smtClean="0">
                        <a:latin typeface="Cambria Math" panose="02040503050406030204" pitchFamily="18" charset="0"/>
                      </a:rPr>
                      <m:t>≥0</m:t>
                    </m:r>
                  </m:oMath>
                </a14:m>
                <a:r>
                  <a:rPr lang="en-US"/>
                  <a:t> for all </a:t>
                </a:r>
                <a14:m>
                  <m:oMath xmlns:m="http://schemas.openxmlformats.org/officeDocument/2006/math">
                    <m:r>
                      <a:rPr lang="en-US" b="0" i="1" smtClean="0">
                        <a:latin typeface="Cambria Math" panose="02040503050406030204" pitchFamily="18" charset="0"/>
                      </a:rPr>
                      <m:t>𝜔</m:t>
                    </m:r>
                    <m:r>
                      <a:rPr lang="en-US" b="0" i="1" smtClean="0">
                        <a:latin typeface="Cambria Math" panose="02040503050406030204" pitchFamily="18" charset="0"/>
                      </a:rPr>
                      <m:t>∈</m:t>
                    </m:r>
                    <m:r>
                      <m:rPr>
                        <m:sty m:val="p"/>
                      </m:rPr>
                      <a:rPr lang="en-US" b="0" i="0" smtClean="0">
                        <a:latin typeface="Cambria Math" panose="02040503050406030204" pitchFamily="18" charset="0"/>
                      </a:rPr>
                      <m:t>Ω</m:t>
                    </m:r>
                  </m:oMath>
                </a14:m>
                <a:r>
                  <a:rPr lang="en-US"/>
                  <a:t>) with finite mean, we have that for any positive constant c:</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𝑐</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a:latin typeface="Cambria Math" panose="02040503050406030204" pitchFamily="18" charset="0"/>
                            </a:rPr>
                            <m:t>𝔼</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𝑋</m:t>
                              </m:r>
                            </m:e>
                          </m:d>
                        </m:num>
                        <m:den>
                          <m:r>
                            <a:rPr lang="en-US" b="0" i="1" smtClean="0">
                              <a:latin typeface="Cambria Math" panose="02040503050406030204" pitchFamily="18" charset="0"/>
                            </a:rPr>
                            <m:t>𝑐</m:t>
                          </m:r>
                        </m:den>
                      </m:f>
                    </m:oMath>
                  </m:oMathPara>
                </a14:m>
                <a:endParaRPr lang="en-US"/>
              </a:p>
              <a:p>
                <a:r>
                  <a:rPr lang="en-US"/>
                  <a:t>Proof from the notes (exact same idea that we used) using mega-verbose form of expectation:</a:t>
                </a:r>
              </a:p>
            </p:txBody>
          </p:sp>
        </mc:Choice>
        <mc:Fallback>
          <p:sp>
            <p:nvSpPr>
              <p:cNvPr id="3" name="Content Placeholder 2">
                <a:extLst>
                  <a:ext uri="{FF2B5EF4-FFF2-40B4-BE49-F238E27FC236}">
                    <a16:creationId xmlns:a16="http://schemas.microsoft.com/office/drawing/2014/main" id="{3D133624-5E12-5423-B2A4-F22CC7C7B8F4}"/>
                  </a:ext>
                </a:extLst>
              </p:cNvPr>
              <p:cNvSpPr>
                <a:spLocks noGrp="1" noRot="1" noChangeAspect="1" noMove="1" noResize="1" noEditPoints="1" noAdjustHandles="1" noChangeArrowheads="1" noChangeShapeType="1" noTextEdit="1"/>
              </p:cNvSpPr>
              <p:nvPr>
                <p:ph idx="1"/>
              </p:nvPr>
            </p:nvSpPr>
            <p:spPr>
              <a:blipFill>
                <a:blip r:embed="rId2"/>
                <a:stretch>
                  <a:fillRect l="-796" t="-54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A007C265-4308-F9AD-A05C-B61FFAC4DAC0}"/>
                  </a:ext>
                </a:extLst>
              </p:cNvPr>
              <p:cNvSpPr txBox="1"/>
              <p:nvPr/>
            </p:nvSpPr>
            <p:spPr>
              <a:xfrm>
                <a:off x="2916380" y="2766352"/>
                <a:ext cx="6146800" cy="9885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𝔼</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e>
                      </m:d>
                      <m:r>
                        <a:rPr lang="en-US" sz="2400" b="0" i="1" smtClean="0">
                          <a:latin typeface="Cambria Math" panose="02040503050406030204" pitchFamily="18" charset="0"/>
                        </a:rPr>
                        <m:t>=</m:t>
                      </m:r>
                      <m:nary>
                        <m:naryPr>
                          <m:chr m:val="∑"/>
                          <m:supHide m:val="on"/>
                          <m:ctrlPr>
                            <a:rPr lang="en-US" sz="2400" b="0" i="1" smtClean="0">
                              <a:latin typeface="Cambria Math" panose="02040503050406030204" pitchFamily="18" charset="0"/>
                            </a:rPr>
                          </m:ctrlPr>
                        </m:naryPr>
                        <m:sub>
                          <m:r>
                            <a:rPr lang="en-US" sz="2400" b="0" i="1" smtClean="0">
                              <a:latin typeface="Cambria Math" panose="02040503050406030204" pitchFamily="18" charset="0"/>
                            </a:rPr>
                            <m:t>𝜔</m:t>
                          </m:r>
                          <m:r>
                            <a:rPr lang="en-US" sz="2400" b="0" i="1" smtClean="0">
                              <a:latin typeface="Cambria Math" panose="02040503050406030204" pitchFamily="18" charset="0"/>
                            </a:rPr>
                            <m:t>∈</m:t>
                          </m:r>
                          <m:r>
                            <m:rPr>
                              <m:sty m:val="p"/>
                            </m:rPr>
                            <a:rPr lang="en-US" sz="2400" b="0" i="0" smtClean="0">
                              <a:latin typeface="Cambria Math" panose="02040503050406030204" pitchFamily="18" charset="0"/>
                            </a:rPr>
                            <m:t>Ω</m:t>
                          </m:r>
                        </m:sub>
                        <m:sup/>
                        <m:e>
                          <m:r>
                            <a:rPr lang="en-US" sz="2400" b="0" i="1" smtClean="0">
                              <a:latin typeface="Cambria Math" panose="02040503050406030204" pitchFamily="18" charset="0"/>
                            </a:rPr>
                            <m:t>𝑋</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𝜔</m:t>
                              </m:r>
                            </m:e>
                          </m:d>
                          <m:r>
                            <a:rPr lang="en-US" sz="2400" b="0" i="1" smtClean="0">
                              <a:latin typeface="Cambria Math" panose="02040503050406030204" pitchFamily="18" charset="0"/>
                            </a:rPr>
                            <m:t>×</m:t>
                          </m:r>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𝜔</m:t>
                              </m:r>
                            </m:e>
                          </m:d>
                        </m:e>
                      </m:nary>
                    </m:oMath>
                  </m:oMathPara>
                </a14:m>
                <a:endParaRPr lang="en-US" sz="2400"/>
              </a:p>
            </p:txBody>
          </p:sp>
        </mc:Choice>
        <mc:Fallback>
          <p:sp>
            <p:nvSpPr>
              <p:cNvPr id="5" name="TextBox 4">
                <a:extLst>
                  <a:ext uri="{FF2B5EF4-FFF2-40B4-BE49-F238E27FC236}">
                    <a16:creationId xmlns:a16="http://schemas.microsoft.com/office/drawing/2014/main" id="{A007C265-4308-F9AD-A05C-B61FFAC4DAC0}"/>
                  </a:ext>
                </a:extLst>
              </p:cNvPr>
              <p:cNvSpPr txBox="1">
                <a:spLocks noRot="1" noChangeAspect="1" noMove="1" noResize="1" noEditPoints="1" noAdjustHandles="1" noChangeArrowheads="1" noChangeShapeType="1" noTextEdit="1"/>
              </p:cNvSpPr>
              <p:nvPr/>
            </p:nvSpPr>
            <p:spPr>
              <a:xfrm>
                <a:off x="2916380" y="2766352"/>
                <a:ext cx="6146800" cy="98854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380D7760-1837-991C-74F3-A8879096DB53}"/>
                  </a:ext>
                </a:extLst>
              </p:cNvPr>
              <p:cNvSpPr txBox="1"/>
              <p:nvPr/>
            </p:nvSpPr>
            <p:spPr>
              <a:xfrm>
                <a:off x="3544454" y="3709733"/>
                <a:ext cx="6146800" cy="103618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m:t>
                      </m:r>
                      <m:nary>
                        <m:naryPr>
                          <m:chr m:val="∑"/>
                          <m:supHide m:val="on"/>
                          <m:ctrlPr>
                            <a:rPr lang="en-US" sz="2400" b="0" i="1" smtClean="0">
                              <a:latin typeface="Cambria Math" panose="02040503050406030204" pitchFamily="18" charset="0"/>
                            </a:rPr>
                          </m:ctrlPr>
                        </m:naryPr>
                        <m:sub>
                          <m:r>
                            <m:rPr>
                              <m:brk m:alnAt="7"/>
                            </m:rPr>
                            <a:rPr lang="en-US" sz="2400" b="0" i="1" smtClean="0">
                              <a:latin typeface="Cambria Math" panose="02040503050406030204" pitchFamily="18" charset="0"/>
                            </a:rPr>
                            <m:t>𝜔</m:t>
                          </m:r>
                          <m:r>
                            <a:rPr lang="en-US" sz="2400" b="0" i="1" smtClean="0">
                              <a:latin typeface="Cambria Math" panose="02040503050406030204" pitchFamily="18" charset="0"/>
                            </a:rPr>
                            <m:t>:</m:t>
                          </m:r>
                          <m:r>
                            <a:rPr lang="en-US" sz="2400" b="0" i="1" smtClean="0">
                              <a:latin typeface="Cambria Math" panose="02040503050406030204" pitchFamily="18" charset="0"/>
                            </a:rPr>
                            <m:t>𝑋</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𝜔</m:t>
                              </m:r>
                            </m:e>
                          </m:d>
                          <m:r>
                            <a:rPr lang="en-US" sz="2400" b="0" i="1" smtClean="0">
                              <a:latin typeface="Cambria Math" panose="02040503050406030204" pitchFamily="18" charset="0"/>
                            </a:rPr>
                            <m:t>≥</m:t>
                          </m:r>
                          <m:r>
                            <a:rPr lang="en-US" sz="2400" b="0" i="1" smtClean="0">
                              <a:latin typeface="Cambria Math" panose="02040503050406030204" pitchFamily="18" charset="0"/>
                            </a:rPr>
                            <m:t>𝑐</m:t>
                          </m:r>
                        </m:sub>
                        <m:sup/>
                        <m:e>
                          <m:r>
                            <a:rPr lang="en-US" sz="2400" b="0" i="1" smtClean="0">
                              <a:latin typeface="Cambria Math" panose="02040503050406030204" pitchFamily="18" charset="0"/>
                            </a:rPr>
                            <m:t>𝑋</m:t>
                          </m:r>
                          <m:r>
                            <a:rPr lang="en-US" sz="2400" b="0" i="1" smtClean="0">
                              <a:latin typeface="Cambria Math" panose="02040503050406030204" pitchFamily="18" charset="0"/>
                            </a:rPr>
                            <m:t>(</m:t>
                          </m:r>
                          <m:r>
                            <a:rPr lang="en-US" sz="2400" b="0" i="1" smtClean="0">
                              <a:latin typeface="Cambria Math" panose="02040503050406030204" pitchFamily="18" charset="0"/>
                            </a:rPr>
                            <m:t>𝜔</m:t>
                          </m:r>
                          <m:r>
                            <a:rPr lang="en-US" sz="2400" b="0" i="1" smtClean="0">
                              <a:latin typeface="Cambria Math" panose="02040503050406030204" pitchFamily="18" charset="0"/>
                            </a:rPr>
                            <m:t>)×</m:t>
                          </m:r>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𝜔</m:t>
                              </m:r>
                            </m:e>
                          </m:d>
                        </m:e>
                      </m:nary>
                    </m:oMath>
                  </m:oMathPara>
                </a14:m>
                <a:endParaRPr lang="en-US" sz="2400"/>
              </a:p>
            </p:txBody>
          </p:sp>
        </mc:Choice>
        <mc:Fallback>
          <p:sp>
            <p:nvSpPr>
              <p:cNvPr id="6" name="TextBox 5">
                <a:extLst>
                  <a:ext uri="{FF2B5EF4-FFF2-40B4-BE49-F238E27FC236}">
                    <a16:creationId xmlns:a16="http://schemas.microsoft.com/office/drawing/2014/main" id="{380D7760-1837-991C-74F3-A8879096DB53}"/>
                  </a:ext>
                </a:extLst>
              </p:cNvPr>
              <p:cNvSpPr txBox="1">
                <a:spLocks noRot="1" noChangeAspect="1" noMove="1" noResize="1" noEditPoints="1" noAdjustHandles="1" noChangeArrowheads="1" noChangeShapeType="1" noTextEdit="1"/>
              </p:cNvSpPr>
              <p:nvPr/>
            </p:nvSpPr>
            <p:spPr>
              <a:xfrm>
                <a:off x="3544454" y="3709733"/>
                <a:ext cx="6146800" cy="103618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69CD80BD-9A0F-B707-3969-BC455531732B}"/>
                  </a:ext>
                </a:extLst>
              </p:cNvPr>
              <p:cNvSpPr txBox="1"/>
              <p:nvPr/>
            </p:nvSpPr>
            <p:spPr>
              <a:xfrm>
                <a:off x="3238504" y="4784861"/>
                <a:ext cx="6146800" cy="103618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m:t>
                      </m:r>
                      <m:nary>
                        <m:naryPr>
                          <m:chr m:val="∑"/>
                          <m:supHide m:val="on"/>
                          <m:ctrlPr>
                            <a:rPr lang="en-US" sz="2400" b="0" i="1" smtClean="0">
                              <a:latin typeface="Cambria Math" panose="02040503050406030204" pitchFamily="18" charset="0"/>
                            </a:rPr>
                          </m:ctrlPr>
                        </m:naryPr>
                        <m:sub>
                          <m:r>
                            <m:rPr>
                              <m:brk m:alnAt="7"/>
                            </m:rPr>
                            <a:rPr lang="en-US" sz="2400" b="0" i="1" smtClean="0">
                              <a:latin typeface="Cambria Math" panose="02040503050406030204" pitchFamily="18" charset="0"/>
                            </a:rPr>
                            <m:t>𝜔</m:t>
                          </m:r>
                          <m:r>
                            <a:rPr lang="en-US" sz="2400" b="0" i="1" smtClean="0">
                              <a:latin typeface="Cambria Math" panose="02040503050406030204" pitchFamily="18" charset="0"/>
                            </a:rPr>
                            <m:t>:</m:t>
                          </m:r>
                          <m:r>
                            <a:rPr lang="en-US" sz="2400" b="0" i="1" smtClean="0">
                              <a:latin typeface="Cambria Math" panose="02040503050406030204" pitchFamily="18" charset="0"/>
                            </a:rPr>
                            <m:t>𝑋</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𝜔</m:t>
                              </m:r>
                            </m:e>
                          </m:d>
                          <m:r>
                            <a:rPr lang="en-US" sz="2400" b="0" i="1" smtClean="0">
                              <a:latin typeface="Cambria Math" panose="02040503050406030204" pitchFamily="18" charset="0"/>
                            </a:rPr>
                            <m:t>≥</m:t>
                          </m:r>
                          <m:r>
                            <a:rPr lang="en-US" sz="2400" b="0" i="1" smtClean="0">
                              <a:latin typeface="Cambria Math" panose="02040503050406030204" pitchFamily="18" charset="0"/>
                            </a:rPr>
                            <m:t>𝑐</m:t>
                          </m:r>
                        </m:sub>
                        <m:sup/>
                        <m:e>
                          <m:r>
                            <a:rPr lang="en-US" sz="2400" b="0" i="1" smtClean="0">
                              <a:latin typeface="Cambria Math" panose="02040503050406030204" pitchFamily="18" charset="0"/>
                            </a:rPr>
                            <m:t>𝑐</m:t>
                          </m:r>
                          <m:r>
                            <a:rPr lang="en-US" sz="2400" b="0" i="1" smtClean="0">
                              <a:latin typeface="Cambria Math" panose="02040503050406030204" pitchFamily="18" charset="0"/>
                            </a:rPr>
                            <m:t>×</m:t>
                          </m:r>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𝜔</m:t>
                              </m:r>
                            </m:e>
                          </m:d>
                        </m:e>
                      </m:nary>
                    </m:oMath>
                  </m:oMathPara>
                </a14:m>
                <a:endParaRPr lang="en-US" sz="2400"/>
              </a:p>
            </p:txBody>
          </p:sp>
        </mc:Choice>
        <mc:Fallback>
          <p:sp>
            <p:nvSpPr>
              <p:cNvPr id="7" name="TextBox 6">
                <a:extLst>
                  <a:ext uri="{FF2B5EF4-FFF2-40B4-BE49-F238E27FC236}">
                    <a16:creationId xmlns:a16="http://schemas.microsoft.com/office/drawing/2014/main" id="{69CD80BD-9A0F-B707-3969-BC455531732B}"/>
                  </a:ext>
                </a:extLst>
              </p:cNvPr>
              <p:cNvSpPr txBox="1">
                <a:spLocks noRot="1" noChangeAspect="1" noMove="1" noResize="1" noEditPoints="1" noAdjustHandles="1" noChangeArrowheads="1" noChangeShapeType="1" noTextEdit="1"/>
              </p:cNvSpPr>
              <p:nvPr/>
            </p:nvSpPr>
            <p:spPr>
              <a:xfrm>
                <a:off x="3238504" y="4784861"/>
                <a:ext cx="6146800" cy="103618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2CA8F2EE-301D-3226-E7F3-3800F1D38041}"/>
                  </a:ext>
                </a:extLst>
              </p:cNvPr>
              <p:cNvSpPr txBox="1"/>
              <p:nvPr/>
            </p:nvSpPr>
            <p:spPr>
              <a:xfrm>
                <a:off x="3022600" y="5829587"/>
                <a:ext cx="6146800" cy="103618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m:t>
                      </m:r>
                      <m:r>
                        <a:rPr lang="en-US" sz="2400" b="0" i="1" smtClean="0">
                          <a:latin typeface="Cambria Math" panose="02040503050406030204" pitchFamily="18" charset="0"/>
                        </a:rPr>
                        <m:t>𝑐</m:t>
                      </m:r>
                      <m:nary>
                        <m:naryPr>
                          <m:chr m:val="∑"/>
                          <m:supHide m:val="on"/>
                          <m:ctrlPr>
                            <a:rPr lang="en-US" sz="2400" b="0" i="1" smtClean="0">
                              <a:latin typeface="Cambria Math" panose="02040503050406030204" pitchFamily="18" charset="0"/>
                            </a:rPr>
                          </m:ctrlPr>
                        </m:naryPr>
                        <m:sub>
                          <m:r>
                            <m:rPr>
                              <m:brk m:alnAt="7"/>
                            </m:rPr>
                            <a:rPr lang="en-US" sz="2400" b="0" i="1" smtClean="0">
                              <a:latin typeface="Cambria Math" panose="02040503050406030204" pitchFamily="18" charset="0"/>
                            </a:rPr>
                            <m:t>𝜔</m:t>
                          </m:r>
                          <m:r>
                            <a:rPr lang="en-US" sz="2400" b="0" i="1" smtClean="0">
                              <a:latin typeface="Cambria Math" panose="02040503050406030204" pitchFamily="18" charset="0"/>
                            </a:rPr>
                            <m:t>:</m:t>
                          </m:r>
                          <m:r>
                            <a:rPr lang="en-US" sz="2400" b="0" i="1" smtClean="0">
                              <a:latin typeface="Cambria Math" panose="02040503050406030204" pitchFamily="18" charset="0"/>
                            </a:rPr>
                            <m:t>𝑋</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𝜔</m:t>
                              </m:r>
                            </m:e>
                          </m:d>
                          <m:r>
                            <a:rPr lang="en-US" sz="2400" b="0" i="1" smtClean="0">
                              <a:latin typeface="Cambria Math" panose="02040503050406030204" pitchFamily="18" charset="0"/>
                            </a:rPr>
                            <m:t>≥</m:t>
                          </m:r>
                          <m:r>
                            <a:rPr lang="en-US" sz="2400" b="0" i="1" smtClean="0">
                              <a:latin typeface="Cambria Math" panose="02040503050406030204" pitchFamily="18" charset="0"/>
                            </a:rPr>
                            <m:t>𝑐</m:t>
                          </m:r>
                        </m:sub>
                        <m:sup/>
                        <m:e>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𝜔</m:t>
                              </m:r>
                            </m:e>
                          </m:d>
                        </m:e>
                      </m:nary>
                    </m:oMath>
                  </m:oMathPara>
                </a14:m>
                <a:endParaRPr lang="en-US" sz="2400"/>
              </a:p>
            </p:txBody>
          </p:sp>
        </mc:Choice>
        <mc:Fallback>
          <p:sp>
            <p:nvSpPr>
              <p:cNvPr id="8" name="TextBox 7">
                <a:extLst>
                  <a:ext uri="{FF2B5EF4-FFF2-40B4-BE49-F238E27FC236}">
                    <a16:creationId xmlns:a16="http://schemas.microsoft.com/office/drawing/2014/main" id="{2CA8F2EE-301D-3226-E7F3-3800F1D38041}"/>
                  </a:ext>
                </a:extLst>
              </p:cNvPr>
              <p:cNvSpPr txBox="1">
                <a:spLocks noRot="1" noChangeAspect="1" noMove="1" noResize="1" noEditPoints="1" noAdjustHandles="1" noChangeArrowheads="1" noChangeShapeType="1" noTextEdit="1"/>
              </p:cNvSpPr>
              <p:nvPr/>
            </p:nvSpPr>
            <p:spPr>
              <a:xfrm>
                <a:off x="3022600" y="5829587"/>
                <a:ext cx="6146800" cy="1036181"/>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1F6C6634-E1DA-55F8-072C-677B6CE5368A}"/>
                  </a:ext>
                </a:extLst>
              </p:cNvPr>
              <p:cNvSpPr txBox="1"/>
              <p:nvPr/>
            </p:nvSpPr>
            <p:spPr>
              <a:xfrm>
                <a:off x="5103093" y="6057284"/>
                <a:ext cx="61468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m:t>
                      </m:r>
                      <m:r>
                        <a:rPr lang="en-US" sz="2400" b="0" i="1" smtClean="0">
                          <a:latin typeface="Cambria Math" panose="02040503050406030204" pitchFamily="18" charset="0"/>
                        </a:rPr>
                        <m:t>𝑐𝑃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r>
                            <a:rPr lang="en-US" sz="2400" b="0" i="1" smtClean="0">
                              <a:latin typeface="Cambria Math" panose="02040503050406030204" pitchFamily="18" charset="0"/>
                            </a:rPr>
                            <m:t>𝑐</m:t>
                          </m:r>
                        </m:e>
                      </m:d>
                    </m:oMath>
                  </m:oMathPara>
                </a14:m>
                <a:endParaRPr lang="en-US" sz="2400"/>
              </a:p>
            </p:txBody>
          </p:sp>
        </mc:Choice>
        <mc:Fallback>
          <p:sp>
            <p:nvSpPr>
              <p:cNvPr id="9" name="TextBox 8">
                <a:extLst>
                  <a:ext uri="{FF2B5EF4-FFF2-40B4-BE49-F238E27FC236}">
                    <a16:creationId xmlns:a16="http://schemas.microsoft.com/office/drawing/2014/main" id="{1F6C6634-E1DA-55F8-072C-677B6CE5368A}"/>
                  </a:ext>
                </a:extLst>
              </p:cNvPr>
              <p:cNvSpPr txBox="1">
                <a:spLocks noRot="1" noChangeAspect="1" noMove="1" noResize="1" noEditPoints="1" noAdjustHandles="1" noChangeArrowheads="1" noChangeShapeType="1" noTextEdit="1"/>
              </p:cNvSpPr>
              <p:nvPr/>
            </p:nvSpPr>
            <p:spPr>
              <a:xfrm>
                <a:off x="5103093" y="6057284"/>
                <a:ext cx="6146800" cy="461665"/>
              </a:xfrm>
              <a:prstGeom prst="rect">
                <a:avLst/>
              </a:prstGeom>
              <a:blipFill>
                <a:blip r:embed="rId7"/>
                <a:stretch>
                  <a:fillRect/>
                </a:stretch>
              </a:blipFill>
            </p:spPr>
            <p:txBody>
              <a:bodyPr/>
              <a:lstStyle/>
              <a:p>
                <a:r>
                  <a:rPr lang="en-US">
                    <a:noFill/>
                  </a:rPr>
                  <a:t> </a:t>
                </a:r>
              </a:p>
            </p:txBody>
          </p:sp>
        </mc:Fallback>
      </mc:AlternateContent>
      <p:grpSp>
        <p:nvGrpSpPr>
          <p:cNvPr id="12" name="Group 11">
            <a:extLst>
              <a:ext uri="{FF2B5EF4-FFF2-40B4-BE49-F238E27FC236}">
                <a16:creationId xmlns:a16="http://schemas.microsoft.com/office/drawing/2014/main" id="{EDE2E1F9-D549-C1C8-7B96-FEA7A3635169}"/>
              </a:ext>
            </a:extLst>
          </p:cNvPr>
          <p:cNvGrpSpPr/>
          <p:nvPr/>
        </p:nvGrpSpPr>
        <p:grpSpPr>
          <a:xfrm>
            <a:off x="367146" y="4979785"/>
            <a:ext cx="4075545" cy="646331"/>
            <a:chOff x="367146" y="4979785"/>
            <a:chExt cx="4075545" cy="646331"/>
          </a:xfrm>
        </p:grpSpPr>
        <p:sp>
          <p:nvSpPr>
            <p:cNvPr id="11" name="TextBox 10">
              <a:extLst>
                <a:ext uri="{FF2B5EF4-FFF2-40B4-BE49-F238E27FC236}">
                  <a16:creationId xmlns:a16="http://schemas.microsoft.com/office/drawing/2014/main" id="{DEBCD3BB-C7D0-4500-789D-FCBCCCC664DE}"/>
                </a:ext>
              </a:extLst>
            </p:cNvPr>
            <p:cNvSpPr txBox="1"/>
            <p:nvPr/>
          </p:nvSpPr>
          <p:spPr>
            <a:xfrm>
              <a:off x="367146" y="4979785"/>
              <a:ext cx="2655454" cy="646331"/>
            </a:xfrm>
            <a:prstGeom prst="rect">
              <a:avLst/>
            </a:prstGeom>
            <a:noFill/>
          </p:spPr>
          <p:txBody>
            <a:bodyPr wrap="square" rtlCol="0">
              <a:spAutoFit/>
            </a:bodyPr>
            <a:lstStyle/>
            <a:p>
              <a:r>
                <a:rPr lang="en-US">
                  <a:latin typeface="Inter Light" panose="02000403000000020004" pitchFamily="2" charset="0"/>
                  <a:ea typeface="Inter Light" panose="02000403000000020004" pitchFamily="2" charset="0"/>
                  <a:cs typeface="Inter Light" panose="02000403000000020004" pitchFamily="2" charset="0"/>
                </a:rPr>
                <a:t>Assigning all “large” outcomes to c.</a:t>
              </a:r>
            </a:p>
          </p:txBody>
        </p:sp>
        <p:cxnSp>
          <p:nvCxnSpPr>
            <p:cNvPr id="16" name="Straight Arrow Connector 15">
              <a:extLst>
                <a:ext uri="{FF2B5EF4-FFF2-40B4-BE49-F238E27FC236}">
                  <a16:creationId xmlns:a16="http://schemas.microsoft.com/office/drawing/2014/main" id="{C9D36FD9-D2EA-59B2-E353-9D558D02D631}"/>
                </a:ext>
              </a:extLst>
            </p:cNvPr>
            <p:cNvCxnSpPr>
              <a:cxnSpLocks/>
            </p:cNvCxnSpPr>
            <p:nvPr/>
          </p:nvCxnSpPr>
          <p:spPr>
            <a:xfrm>
              <a:off x="2954346" y="5296683"/>
              <a:ext cx="148834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4" name="Group 3">
            <a:extLst>
              <a:ext uri="{FF2B5EF4-FFF2-40B4-BE49-F238E27FC236}">
                <a16:creationId xmlns:a16="http://schemas.microsoft.com/office/drawing/2014/main" id="{EC771479-0763-5C5E-324B-C22C3E15C042}"/>
              </a:ext>
            </a:extLst>
          </p:cNvPr>
          <p:cNvGrpSpPr/>
          <p:nvPr/>
        </p:nvGrpSpPr>
        <p:grpSpPr>
          <a:xfrm>
            <a:off x="265546" y="3904657"/>
            <a:ext cx="4245399" cy="646331"/>
            <a:chOff x="265546" y="3904657"/>
            <a:chExt cx="4245399" cy="646331"/>
          </a:xfrm>
        </p:grpSpPr>
        <p:sp>
          <p:nvSpPr>
            <p:cNvPr id="10" name="TextBox 9">
              <a:extLst>
                <a:ext uri="{FF2B5EF4-FFF2-40B4-BE49-F238E27FC236}">
                  <a16:creationId xmlns:a16="http://schemas.microsoft.com/office/drawing/2014/main" id="{F8E46970-1117-9AB2-1A64-B3FEFF8450BF}"/>
                </a:ext>
              </a:extLst>
            </p:cNvPr>
            <p:cNvSpPr txBox="1"/>
            <p:nvPr/>
          </p:nvSpPr>
          <p:spPr>
            <a:xfrm>
              <a:off x="265546" y="3904657"/>
              <a:ext cx="2972958" cy="646331"/>
            </a:xfrm>
            <a:prstGeom prst="rect">
              <a:avLst/>
            </a:prstGeom>
            <a:noFill/>
          </p:spPr>
          <p:txBody>
            <a:bodyPr wrap="square" rtlCol="0">
              <a:spAutoFit/>
            </a:bodyPr>
            <a:lstStyle/>
            <a:p>
              <a:r>
                <a:rPr lang="en-US">
                  <a:latin typeface="Inter Light" panose="02000403000000020004" pitchFamily="2" charset="0"/>
                  <a:ea typeface="Inter Light" panose="02000403000000020004" pitchFamily="2" charset="0"/>
                  <a:cs typeface="Inter Light" panose="02000403000000020004" pitchFamily="2" charset="0"/>
                </a:rPr>
                <a:t>Assigning all “small” outcomes to zero.</a:t>
              </a:r>
            </a:p>
          </p:txBody>
        </p:sp>
        <p:cxnSp>
          <p:nvCxnSpPr>
            <p:cNvPr id="22" name="Straight Arrow Connector 21">
              <a:extLst>
                <a:ext uri="{FF2B5EF4-FFF2-40B4-BE49-F238E27FC236}">
                  <a16:creationId xmlns:a16="http://schemas.microsoft.com/office/drawing/2014/main" id="{5E45A7F6-7F78-4C9A-B66C-910D9CD7B6F1}"/>
                </a:ext>
              </a:extLst>
            </p:cNvPr>
            <p:cNvCxnSpPr>
              <a:cxnSpLocks/>
            </p:cNvCxnSpPr>
            <p:nvPr/>
          </p:nvCxnSpPr>
          <p:spPr>
            <a:xfrm>
              <a:off x="3022600" y="4218214"/>
              <a:ext cx="148834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3727773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7976848-83A7-DF4E-6A7F-5DC5D36BFE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7B5B3E-15F3-7464-C3BA-51B7AEC72249}"/>
              </a:ext>
            </a:extLst>
          </p:cNvPr>
          <p:cNvSpPr>
            <a:spLocks noGrp="1"/>
          </p:cNvSpPr>
          <p:nvPr>
            <p:ph type="title"/>
          </p:nvPr>
        </p:nvSpPr>
        <p:spPr/>
        <p:txBody>
          <a:bodyPr/>
          <a:lstStyle/>
          <a:p>
            <a:r>
              <a:rPr lang="en-US"/>
              <a:t>Example Using Markov’s Inequality: Coin Toss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FC277B2-058C-E260-D5C1-6C7A7E44FDFC}"/>
                  </a:ext>
                </a:extLst>
              </p:cNvPr>
              <p:cNvSpPr>
                <a:spLocks noGrp="1"/>
              </p:cNvSpPr>
              <p:nvPr>
                <p:ph idx="1"/>
              </p:nvPr>
            </p:nvSpPr>
            <p:spPr/>
            <p:txBody>
              <a:bodyPr/>
              <a:lstStyle/>
              <a:p>
                <a:r>
                  <a:rPr lang="en-US" b="1">
                    <a:solidFill>
                      <a:schemeClr val="accent3"/>
                    </a:solidFill>
                    <a:latin typeface="Inter" panose="02000503000000020004" pitchFamily="2" charset="0"/>
                    <a:ea typeface="Inter" panose="02000503000000020004" pitchFamily="2" charset="0"/>
                    <a:cs typeface="Inter" panose="02000503000000020004" pitchFamily="2" charset="0"/>
                  </a:rPr>
                  <a:t>Markov’s Inequality</a:t>
                </a:r>
                <a:r>
                  <a:rPr lang="en-US"/>
                  <a:t>: For a </a:t>
                </a:r>
                <a:r>
                  <a:rPr lang="en-US" b="1">
                    <a:latin typeface="Inter" panose="02000503000000020004" pitchFamily="2" charset="0"/>
                    <a:ea typeface="Inter" panose="02000503000000020004" pitchFamily="2" charset="0"/>
                    <a:cs typeface="Inter" panose="02000503000000020004" pitchFamily="2" charset="0"/>
                  </a:rPr>
                  <a:t>nonnegative</a:t>
                </a:r>
                <a:r>
                  <a:rPr lang="en-US"/>
                  <a:t> random variable </a:t>
                </a:r>
                <a14:m>
                  <m:oMath xmlns:m="http://schemas.openxmlformats.org/officeDocument/2006/math">
                    <m:r>
                      <a:rPr lang="en-US" i="1">
                        <a:latin typeface="Cambria Math" panose="02040503050406030204" pitchFamily="18" charset="0"/>
                      </a:rPr>
                      <m:t>𝑋</m:t>
                    </m:r>
                  </m:oMath>
                </a14:m>
                <a:r>
                  <a:rPr lang="en-US"/>
                  <a:t> (i.e. </a:t>
                </a:r>
                <a14:m>
                  <m:oMath xmlns:m="http://schemas.openxmlformats.org/officeDocument/2006/math">
                    <m:r>
                      <a:rPr lang="en-US" i="1">
                        <a:latin typeface="Cambria Math" panose="02040503050406030204" pitchFamily="18" charset="0"/>
                      </a:rPr>
                      <m:t>𝑋</m:t>
                    </m:r>
                    <m:d>
                      <m:dPr>
                        <m:ctrlPr>
                          <a:rPr lang="en-US" i="1">
                            <a:latin typeface="Cambria Math" panose="02040503050406030204" pitchFamily="18" charset="0"/>
                          </a:rPr>
                        </m:ctrlPr>
                      </m:dPr>
                      <m:e>
                        <m:r>
                          <a:rPr lang="en-US" i="1">
                            <a:latin typeface="Cambria Math" panose="02040503050406030204" pitchFamily="18" charset="0"/>
                          </a:rPr>
                          <m:t>𝜔</m:t>
                        </m:r>
                      </m:e>
                    </m:d>
                    <m:r>
                      <a:rPr lang="en-US" i="1">
                        <a:latin typeface="Cambria Math" panose="02040503050406030204" pitchFamily="18" charset="0"/>
                      </a:rPr>
                      <m:t>≥0</m:t>
                    </m:r>
                  </m:oMath>
                </a14:m>
                <a:r>
                  <a:rPr lang="en-US"/>
                  <a:t> for all </a:t>
                </a:r>
                <a14:m>
                  <m:oMath xmlns:m="http://schemas.openxmlformats.org/officeDocument/2006/math">
                    <m:r>
                      <a:rPr lang="en-US" i="1">
                        <a:latin typeface="Cambria Math" panose="02040503050406030204" pitchFamily="18" charset="0"/>
                      </a:rPr>
                      <m:t>𝜔</m:t>
                    </m:r>
                    <m:r>
                      <a:rPr lang="en-US" i="1">
                        <a:latin typeface="Cambria Math" panose="02040503050406030204" pitchFamily="18" charset="0"/>
                      </a:rPr>
                      <m:t>∈</m:t>
                    </m:r>
                    <m:r>
                      <m:rPr>
                        <m:sty m:val="p"/>
                      </m:rPr>
                      <a:rPr lang="en-US">
                        <a:latin typeface="Cambria Math" panose="02040503050406030204" pitchFamily="18" charset="0"/>
                      </a:rPr>
                      <m:t>Ω</m:t>
                    </m:r>
                  </m:oMath>
                </a14:m>
                <a:r>
                  <a:rPr lang="en-US"/>
                  <a:t>) with finite mean, we have that for any positive constant c:</a:t>
                </a:r>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𝑐</m:t>
                          </m:r>
                        </m:e>
                      </m:d>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𝔼</m:t>
                          </m:r>
                          <m:d>
                            <m:dPr>
                              <m:begChr m:val="["/>
                              <m:endChr m:val="]"/>
                              <m:ctrlPr>
                                <a:rPr lang="en-US" i="1">
                                  <a:latin typeface="Cambria Math" panose="02040503050406030204" pitchFamily="18" charset="0"/>
                                </a:rPr>
                              </m:ctrlPr>
                            </m:dPr>
                            <m:e>
                              <m:r>
                                <a:rPr lang="en-US" i="1">
                                  <a:latin typeface="Cambria Math" panose="02040503050406030204" pitchFamily="18" charset="0"/>
                                </a:rPr>
                                <m:t>𝑋</m:t>
                              </m:r>
                            </m:e>
                          </m:d>
                        </m:num>
                        <m:den>
                          <m:r>
                            <a:rPr lang="en-US" i="1">
                              <a:latin typeface="Cambria Math" panose="02040503050406030204" pitchFamily="18" charset="0"/>
                            </a:rPr>
                            <m:t>𝑐</m:t>
                          </m:r>
                        </m:den>
                      </m:f>
                    </m:oMath>
                  </m:oMathPara>
                </a14:m>
                <a:endParaRPr lang="en-US"/>
              </a:p>
              <a:p>
                <a:endParaRPr lang="en-US"/>
              </a:p>
              <a:p>
                <a:r>
                  <a:rPr lang="en-US"/>
                  <a:t>You toss a fair coin </a:t>
                </a:r>
                <a14:m>
                  <m:oMath xmlns:m="http://schemas.openxmlformats.org/officeDocument/2006/math">
                    <m:r>
                      <a:rPr lang="en-US" i="1" dirty="0" smtClean="0">
                        <a:latin typeface="Cambria Math" panose="02040503050406030204" pitchFamily="18" charset="0"/>
                      </a:rPr>
                      <m:t>𝑛</m:t>
                    </m:r>
                  </m:oMath>
                </a14:m>
                <a:r>
                  <a:rPr lang="en-US"/>
                  <a:t> times. Let </a:t>
                </a:r>
                <a14:m>
                  <m:oMath xmlns:m="http://schemas.openxmlformats.org/officeDocument/2006/math">
                    <m:r>
                      <a:rPr lang="en-US" b="0" i="1" smtClean="0">
                        <a:latin typeface="Cambria Math" panose="02040503050406030204" pitchFamily="18" charset="0"/>
                      </a:rPr>
                      <m:t>𝑋</m:t>
                    </m:r>
                  </m:oMath>
                </a14:m>
                <a:r>
                  <a:rPr lang="en-US"/>
                  <a:t> be the number of heads. What does Markov’s Inequality tell us about the probability that </a:t>
                </a:r>
                <a14:m>
                  <m:oMath xmlns:m="http://schemas.openxmlformats.org/officeDocument/2006/math">
                    <m:r>
                      <a:rPr lang="en-US" i="1">
                        <a:latin typeface="Cambria Math" panose="02040503050406030204" pitchFamily="18" charset="0"/>
                      </a:rPr>
                      <m:t>𝑋</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r>
                      <a:rPr lang="en-US" b="0" i="1" smtClean="0">
                        <a:latin typeface="Cambria Math" panose="02040503050406030204" pitchFamily="18" charset="0"/>
                      </a:rPr>
                      <m:t>𝑛</m:t>
                    </m:r>
                  </m:oMath>
                </a14:m>
                <a:r>
                  <a:rPr lang="en-US"/>
                  <a:t>?</a:t>
                </a:r>
              </a:p>
              <a:p>
                <a:pPr marL="342900" indent="-342900">
                  <a:buFont typeface="Arial" panose="020B0604020202020204" pitchFamily="34" charset="0"/>
                  <a:buChar char="•"/>
                </a:pPr>
                <a:r>
                  <a:rPr lang="en-US"/>
                  <a:t>joshh.ug/D</a:t>
                </a:r>
              </a:p>
              <a:p>
                <a:endParaRPr lang="en-US"/>
              </a:p>
              <a:p>
                <a:r>
                  <a:rPr lang="en-US"/>
                  <a:t>Hint: What is </a:t>
                </a:r>
                <a14:m>
                  <m:oMath xmlns:m="http://schemas.openxmlformats.org/officeDocument/2006/math">
                    <m:r>
                      <a:rPr lang="en-US" sz="2400" i="1" smtClean="0">
                        <a:latin typeface="Cambria Math" panose="02040503050406030204" pitchFamily="18" charset="0"/>
                      </a:rPr>
                      <m:t>𝔼</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𝑋</m:t>
                        </m:r>
                      </m:e>
                    </m:d>
                  </m:oMath>
                </a14:m>
                <a:r>
                  <a:rPr lang="en-US"/>
                  <a:t>, i.e. expected number of heads for n coin flips? </a:t>
                </a:r>
              </a:p>
            </p:txBody>
          </p:sp>
        </mc:Choice>
        <mc:Fallback>
          <p:sp>
            <p:nvSpPr>
              <p:cNvPr id="3" name="Content Placeholder 2">
                <a:extLst>
                  <a:ext uri="{FF2B5EF4-FFF2-40B4-BE49-F238E27FC236}">
                    <a16:creationId xmlns:a16="http://schemas.microsoft.com/office/drawing/2014/main" id="{AFC277B2-058C-E260-D5C1-6C7A7E44FDFC}"/>
                  </a:ext>
                </a:extLst>
              </p:cNvPr>
              <p:cNvSpPr>
                <a:spLocks noGrp="1" noRot="1" noChangeAspect="1" noMove="1" noResize="1" noEditPoints="1" noAdjustHandles="1" noChangeArrowheads="1" noChangeShapeType="1" noTextEdit="1"/>
              </p:cNvSpPr>
              <p:nvPr>
                <p:ph idx="1"/>
              </p:nvPr>
            </p:nvSpPr>
            <p:spPr>
              <a:blipFill>
                <a:blip r:embed="rId2"/>
                <a:stretch>
                  <a:fillRect l="-796" t="-541"/>
                </a:stretch>
              </a:blipFill>
            </p:spPr>
            <p:txBody>
              <a:bodyPr/>
              <a:lstStyle/>
              <a:p>
                <a:r>
                  <a:rPr lang="en-US">
                    <a:noFill/>
                  </a:rPr>
                  <a:t> </a:t>
                </a:r>
              </a:p>
            </p:txBody>
          </p:sp>
        </mc:Fallback>
      </mc:AlternateContent>
      <p:pic>
        <p:nvPicPr>
          <p:cNvPr id="5" name="Picture 4" descr="A qr code on a white background&#10;&#10;Description automatically generated">
            <a:extLst>
              <a:ext uri="{FF2B5EF4-FFF2-40B4-BE49-F238E27FC236}">
                <a16:creationId xmlns:a16="http://schemas.microsoft.com/office/drawing/2014/main" id="{A2733526-D579-26D8-3779-89898E1698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5500" y="4317997"/>
            <a:ext cx="2501900" cy="2540000"/>
          </a:xfrm>
          <a:prstGeom prst="rect">
            <a:avLst/>
          </a:prstGeom>
        </p:spPr>
      </p:pic>
    </p:spTree>
    <p:extLst>
      <p:ext uri="{BB962C8B-B14F-4D97-AF65-F5344CB8AC3E}">
        <p14:creationId xmlns:p14="http://schemas.microsoft.com/office/powerpoint/2010/main" val="38719570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5DB1D-DF3A-43EE-956B-E422CB0CCE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6134DE-2838-AC83-9C36-938414CF1140}"/>
              </a:ext>
            </a:extLst>
          </p:cNvPr>
          <p:cNvSpPr>
            <a:spLocks noGrp="1"/>
          </p:cNvSpPr>
          <p:nvPr>
            <p:ph type="title"/>
          </p:nvPr>
        </p:nvSpPr>
        <p:spPr/>
        <p:txBody>
          <a:bodyPr/>
          <a:lstStyle/>
          <a:p>
            <a:r>
              <a:rPr lang="en-US"/>
              <a:t>Example Using Markov’s Inequality: Coin Toss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B7A1B38-39FC-B28C-3477-A619B4ACB040}"/>
                  </a:ext>
                </a:extLst>
              </p:cNvPr>
              <p:cNvSpPr>
                <a:spLocks noGrp="1"/>
              </p:cNvSpPr>
              <p:nvPr>
                <p:ph idx="1"/>
              </p:nvPr>
            </p:nvSpPr>
            <p:spPr/>
            <p:txBody>
              <a:bodyPr/>
              <a:lstStyle/>
              <a:p>
                <a:r>
                  <a:rPr lang="en-US" b="1">
                    <a:solidFill>
                      <a:schemeClr val="accent3"/>
                    </a:solidFill>
                    <a:latin typeface="Inter" panose="02000503000000020004" pitchFamily="2" charset="0"/>
                    <a:ea typeface="Inter" panose="02000503000000020004" pitchFamily="2" charset="0"/>
                    <a:cs typeface="Inter" panose="02000503000000020004" pitchFamily="2" charset="0"/>
                  </a:rPr>
                  <a:t>Markov’s Inequality</a:t>
                </a:r>
                <a:r>
                  <a:rPr lang="en-US"/>
                  <a:t>: For a </a:t>
                </a:r>
                <a:r>
                  <a:rPr lang="en-US" b="1">
                    <a:latin typeface="Inter" panose="02000503000000020004" pitchFamily="2" charset="0"/>
                    <a:ea typeface="Inter" panose="02000503000000020004" pitchFamily="2" charset="0"/>
                    <a:cs typeface="Inter" panose="02000503000000020004" pitchFamily="2" charset="0"/>
                  </a:rPr>
                  <a:t>nonnegative</a:t>
                </a:r>
                <a:r>
                  <a:rPr lang="en-US"/>
                  <a:t> random variable </a:t>
                </a:r>
                <a14:m>
                  <m:oMath xmlns:m="http://schemas.openxmlformats.org/officeDocument/2006/math">
                    <m:r>
                      <a:rPr lang="en-US" i="1">
                        <a:latin typeface="Cambria Math" panose="02040503050406030204" pitchFamily="18" charset="0"/>
                      </a:rPr>
                      <m:t>𝑋</m:t>
                    </m:r>
                  </m:oMath>
                </a14:m>
                <a:r>
                  <a:rPr lang="en-US"/>
                  <a:t> (i.e. </a:t>
                </a:r>
                <a14:m>
                  <m:oMath xmlns:m="http://schemas.openxmlformats.org/officeDocument/2006/math">
                    <m:r>
                      <a:rPr lang="en-US" i="1">
                        <a:latin typeface="Cambria Math" panose="02040503050406030204" pitchFamily="18" charset="0"/>
                      </a:rPr>
                      <m:t>𝑋</m:t>
                    </m:r>
                    <m:d>
                      <m:dPr>
                        <m:ctrlPr>
                          <a:rPr lang="en-US" i="1">
                            <a:latin typeface="Cambria Math" panose="02040503050406030204" pitchFamily="18" charset="0"/>
                          </a:rPr>
                        </m:ctrlPr>
                      </m:dPr>
                      <m:e>
                        <m:r>
                          <a:rPr lang="en-US" i="1">
                            <a:latin typeface="Cambria Math" panose="02040503050406030204" pitchFamily="18" charset="0"/>
                          </a:rPr>
                          <m:t>𝜔</m:t>
                        </m:r>
                      </m:e>
                    </m:d>
                    <m:r>
                      <a:rPr lang="en-US" i="1">
                        <a:latin typeface="Cambria Math" panose="02040503050406030204" pitchFamily="18" charset="0"/>
                      </a:rPr>
                      <m:t>≥0</m:t>
                    </m:r>
                  </m:oMath>
                </a14:m>
                <a:r>
                  <a:rPr lang="en-US"/>
                  <a:t> for all </a:t>
                </a:r>
                <a14:m>
                  <m:oMath xmlns:m="http://schemas.openxmlformats.org/officeDocument/2006/math">
                    <m:r>
                      <a:rPr lang="en-US" i="1">
                        <a:latin typeface="Cambria Math" panose="02040503050406030204" pitchFamily="18" charset="0"/>
                      </a:rPr>
                      <m:t>𝜔</m:t>
                    </m:r>
                    <m:r>
                      <a:rPr lang="en-US" i="1">
                        <a:latin typeface="Cambria Math" panose="02040503050406030204" pitchFamily="18" charset="0"/>
                      </a:rPr>
                      <m:t>∈</m:t>
                    </m:r>
                    <m:r>
                      <m:rPr>
                        <m:sty m:val="p"/>
                      </m:rPr>
                      <a:rPr lang="en-US">
                        <a:latin typeface="Cambria Math" panose="02040503050406030204" pitchFamily="18" charset="0"/>
                      </a:rPr>
                      <m:t>Ω</m:t>
                    </m:r>
                  </m:oMath>
                </a14:m>
                <a:r>
                  <a:rPr lang="en-US"/>
                  <a:t>) with finite mean, we have that for any positive constant c:</a:t>
                </a:r>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𝑐</m:t>
                          </m:r>
                        </m:e>
                      </m:d>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𝔼</m:t>
                          </m:r>
                          <m:d>
                            <m:dPr>
                              <m:begChr m:val="["/>
                              <m:endChr m:val="]"/>
                              <m:ctrlPr>
                                <a:rPr lang="en-US" i="1">
                                  <a:latin typeface="Cambria Math" panose="02040503050406030204" pitchFamily="18" charset="0"/>
                                </a:rPr>
                              </m:ctrlPr>
                            </m:dPr>
                            <m:e>
                              <m:r>
                                <a:rPr lang="en-US" i="1">
                                  <a:latin typeface="Cambria Math" panose="02040503050406030204" pitchFamily="18" charset="0"/>
                                </a:rPr>
                                <m:t>𝑋</m:t>
                              </m:r>
                            </m:e>
                          </m:d>
                        </m:num>
                        <m:den>
                          <m:r>
                            <a:rPr lang="en-US" i="1">
                              <a:latin typeface="Cambria Math" panose="02040503050406030204" pitchFamily="18" charset="0"/>
                            </a:rPr>
                            <m:t>𝑐</m:t>
                          </m:r>
                        </m:den>
                      </m:f>
                    </m:oMath>
                  </m:oMathPara>
                </a14:m>
                <a:endParaRPr lang="en-US"/>
              </a:p>
              <a:p>
                <a:endParaRPr lang="en-US"/>
              </a:p>
              <a:p>
                <a:r>
                  <a:rPr lang="en-US"/>
                  <a:t>You toss a fair coin </a:t>
                </a:r>
                <a14:m>
                  <m:oMath xmlns:m="http://schemas.openxmlformats.org/officeDocument/2006/math">
                    <m:r>
                      <a:rPr lang="en-US" i="1" dirty="0" smtClean="0">
                        <a:latin typeface="Cambria Math" panose="02040503050406030204" pitchFamily="18" charset="0"/>
                      </a:rPr>
                      <m:t>𝑛</m:t>
                    </m:r>
                  </m:oMath>
                </a14:m>
                <a:r>
                  <a:rPr lang="en-US"/>
                  <a:t> times. Let </a:t>
                </a:r>
                <a14:m>
                  <m:oMath xmlns:m="http://schemas.openxmlformats.org/officeDocument/2006/math">
                    <m:r>
                      <a:rPr lang="en-US" b="0" i="1" smtClean="0">
                        <a:latin typeface="Cambria Math" panose="02040503050406030204" pitchFamily="18" charset="0"/>
                      </a:rPr>
                      <m:t>𝑋</m:t>
                    </m:r>
                  </m:oMath>
                </a14:m>
                <a:r>
                  <a:rPr lang="en-US"/>
                  <a:t> be the number of heads. What does Markov’s Inequality tell us about the probability that </a:t>
                </a:r>
                <a14:m>
                  <m:oMath xmlns:m="http://schemas.openxmlformats.org/officeDocument/2006/math">
                    <m:r>
                      <a:rPr lang="en-US" i="1" dirty="0" smtClean="0">
                        <a:latin typeface="Cambria Math" panose="02040503050406030204" pitchFamily="18" charset="0"/>
                      </a:rPr>
                      <m:t>𝑋</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r>
                      <a:rPr lang="en-US" b="0" i="1" smtClean="0">
                        <a:latin typeface="Cambria Math" panose="02040503050406030204" pitchFamily="18" charset="0"/>
                      </a:rPr>
                      <m:t>𝑛</m:t>
                    </m:r>
                  </m:oMath>
                </a14:m>
                <a:r>
                  <a:rPr lang="en-US"/>
                  <a:t>?</a:t>
                </a:r>
              </a:p>
              <a:p>
                <a:endParaRPr lang="en-US"/>
              </a:p>
            </p:txBody>
          </p:sp>
        </mc:Choice>
        <mc:Fallback>
          <p:sp>
            <p:nvSpPr>
              <p:cNvPr id="3" name="Content Placeholder 2">
                <a:extLst>
                  <a:ext uri="{FF2B5EF4-FFF2-40B4-BE49-F238E27FC236}">
                    <a16:creationId xmlns:a16="http://schemas.microsoft.com/office/drawing/2014/main" id="{FB7A1B38-39FC-B28C-3477-A619B4ACB040}"/>
                  </a:ext>
                </a:extLst>
              </p:cNvPr>
              <p:cNvSpPr>
                <a:spLocks noGrp="1" noRot="1" noChangeAspect="1" noMove="1" noResize="1" noEditPoints="1" noAdjustHandles="1" noChangeArrowheads="1" noChangeShapeType="1" noTextEdit="1"/>
              </p:cNvSpPr>
              <p:nvPr>
                <p:ph idx="1"/>
              </p:nvPr>
            </p:nvSpPr>
            <p:spPr>
              <a:blipFill>
                <a:blip r:embed="rId2"/>
                <a:stretch>
                  <a:fillRect l="-796" t="-54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74D78EE7-B9FA-B7C2-1966-2C40612E379E}"/>
                  </a:ext>
                </a:extLst>
              </p:cNvPr>
              <p:cNvSpPr txBox="1"/>
              <p:nvPr/>
            </p:nvSpPr>
            <p:spPr>
              <a:xfrm>
                <a:off x="4551216" y="4110182"/>
                <a:ext cx="3992419" cy="9221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3</m:t>
                              </m:r>
                            </m:num>
                            <m:den>
                              <m:r>
                                <a:rPr lang="en-US" sz="2400" b="0" i="1" smtClean="0">
                                  <a:latin typeface="Cambria Math" panose="02040503050406030204" pitchFamily="18" charset="0"/>
                                </a:rPr>
                                <m:t>4</m:t>
                              </m:r>
                            </m:den>
                          </m:f>
                          <m:r>
                            <a:rPr lang="en-US" sz="2400" b="0" i="1" smtClean="0">
                              <a:latin typeface="Cambria Math" panose="02040503050406030204" pitchFamily="18" charset="0"/>
                            </a:rPr>
                            <m:t>𝑛</m:t>
                          </m:r>
                        </m:e>
                      </m:d>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0.5</m:t>
                          </m:r>
                          <m:r>
                            <a:rPr lang="en-US" sz="2400" i="1">
                              <a:latin typeface="Cambria Math" panose="02040503050406030204" pitchFamily="18" charset="0"/>
                            </a:rPr>
                            <m:t>𝑛</m:t>
                          </m:r>
                        </m:num>
                        <m:den>
                          <m:r>
                            <a:rPr lang="en-US" sz="2400" i="1">
                              <a:latin typeface="Cambria Math" panose="02040503050406030204" pitchFamily="18" charset="0"/>
                            </a:rPr>
                            <m:t>3/4</m:t>
                          </m:r>
                          <m:r>
                            <a:rPr lang="en-US" sz="2400" i="1">
                              <a:latin typeface="Cambria Math" panose="02040503050406030204" pitchFamily="18" charset="0"/>
                            </a:rPr>
                            <m:t>𝑛</m:t>
                          </m:r>
                        </m:den>
                      </m:f>
                    </m:oMath>
                  </m:oMathPara>
                </a14:m>
                <a:endParaRPr lang="en-US" sz="2400"/>
              </a:p>
            </p:txBody>
          </p:sp>
        </mc:Choice>
        <mc:Fallback>
          <p:sp>
            <p:nvSpPr>
              <p:cNvPr id="5" name="TextBox 4">
                <a:extLst>
                  <a:ext uri="{FF2B5EF4-FFF2-40B4-BE49-F238E27FC236}">
                    <a16:creationId xmlns:a16="http://schemas.microsoft.com/office/drawing/2014/main" id="{74D78EE7-B9FA-B7C2-1966-2C40612E379E}"/>
                  </a:ext>
                </a:extLst>
              </p:cNvPr>
              <p:cNvSpPr txBox="1">
                <a:spLocks noRot="1" noChangeAspect="1" noMove="1" noResize="1" noEditPoints="1" noAdjustHandles="1" noChangeArrowheads="1" noChangeShapeType="1" noTextEdit="1"/>
              </p:cNvSpPr>
              <p:nvPr/>
            </p:nvSpPr>
            <p:spPr>
              <a:xfrm>
                <a:off x="4551216" y="4110182"/>
                <a:ext cx="3992419" cy="92217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0AD3AFAB-B755-467C-B2D3-C3A8A7C953CC}"/>
                  </a:ext>
                </a:extLst>
              </p:cNvPr>
              <p:cNvSpPr txBox="1"/>
              <p:nvPr/>
            </p:nvSpPr>
            <p:spPr>
              <a:xfrm>
                <a:off x="1849582" y="4340437"/>
                <a:ext cx="189576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𝔼</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𝑋</m:t>
                          </m:r>
                        </m:e>
                      </m:d>
                      <m:r>
                        <a:rPr lang="en-US" sz="2400" b="0" i="1" smtClean="0">
                          <a:latin typeface="Cambria Math" panose="02040503050406030204" pitchFamily="18" charset="0"/>
                        </a:rPr>
                        <m:t>=0.5</m:t>
                      </m:r>
                      <m:r>
                        <a:rPr lang="en-US" sz="2400" b="0" i="1" smtClean="0">
                          <a:latin typeface="Cambria Math" panose="02040503050406030204" pitchFamily="18" charset="0"/>
                        </a:rPr>
                        <m:t>𝑛</m:t>
                      </m:r>
                    </m:oMath>
                  </m:oMathPara>
                </a14:m>
                <a:endParaRPr lang="en-US" sz="2400"/>
              </a:p>
            </p:txBody>
          </p:sp>
        </mc:Choice>
        <mc:Fallback>
          <p:sp>
            <p:nvSpPr>
              <p:cNvPr id="6" name="TextBox 5">
                <a:extLst>
                  <a:ext uri="{FF2B5EF4-FFF2-40B4-BE49-F238E27FC236}">
                    <a16:creationId xmlns:a16="http://schemas.microsoft.com/office/drawing/2014/main" id="{0AD3AFAB-B755-467C-B2D3-C3A8A7C953CC}"/>
                  </a:ext>
                </a:extLst>
              </p:cNvPr>
              <p:cNvSpPr txBox="1">
                <a:spLocks noRot="1" noChangeAspect="1" noMove="1" noResize="1" noEditPoints="1" noAdjustHandles="1" noChangeArrowheads="1" noChangeShapeType="1" noTextEdit="1"/>
              </p:cNvSpPr>
              <p:nvPr/>
            </p:nvSpPr>
            <p:spPr>
              <a:xfrm>
                <a:off x="1849582" y="4340437"/>
                <a:ext cx="1895764"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A8583312-148D-0B65-68AA-B9FD36AD4EF7}"/>
                  </a:ext>
                </a:extLst>
              </p:cNvPr>
              <p:cNvSpPr txBox="1"/>
              <p:nvPr/>
            </p:nvSpPr>
            <p:spPr>
              <a:xfrm>
                <a:off x="3224643" y="5402424"/>
                <a:ext cx="6146800" cy="9221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3</m:t>
                              </m:r>
                            </m:num>
                            <m:den>
                              <m:r>
                                <a:rPr lang="en-US" sz="2400" b="0" i="1" smtClean="0">
                                  <a:latin typeface="Cambria Math" panose="02040503050406030204" pitchFamily="18" charset="0"/>
                                </a:rPr>
                                <m:t>4</m:t>
                              </m:r>
                            </m:den>
                          </m:f>
                          <m:r>
                            <a:rPr lang="en-US" sz="2400" b="0" i="1" smtClean="0">
                              <a:latin typeface="Cambria Math" panose="02040503050406030204" pitchFamily="18" charset="0"/>
                            </a:rPr>
                            <m:t>𝑛</m:t>
                          </m:r>
                        </m:e>
                      </m:d>
                      <m:r>
                        <a:rPr lang="en-US" sz="2400" i="1">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2</m:t>
                          </m:r>
                        </m:num>
                        <m:den>
                          <m:r>
                            <a:rPr lang="en-US" sz="2400" b="0" i="1" smtClean="0">
                              <a:latin typeface="Cambria Math" panose="02040503050406030204" pitchFamily="18" charset="0"/>
                            </a:rPr>
                            <m:t>3</m:t>
                          </m:r>
                        </m:den>
                      </m:f>
                    </m:oMath>
                  </m:oMathPara>
                </a14:m>
                <a:endParaRPr lang="en-US" sz="2400"/>
              </a:p>
            </p:txBody>
          </p:sp>
        </mc:Choice>
        <mc:Fallback>
          <p:sp>
            <p:nvSpPr>
              <p:cNvPr id="11" name="TextBox 10">
                <a:extLst>
                  <a:ext uri="{FF2B5EF4-FFF2-40B4-BE49-F238E27FC236}">
                    <a16:creationId xmlns:a16="http://schemas.microsoft.com/office/drawing/2014/main" id="{A8583312-148D-0B65-68AA-B9FD36AD4EF7}"/>
                  </a:ext>
                </a:extLst>
              </p:cNvPr>
              <p:cNvSpPr txBox="1">
                <a:spLocks noRot="1" noChangeAspect="1" noMove="1" noResize="1" noEditPoints="1" noAdjustHandles="1" noChangeArrowheads="1" noChangeShapeType="1" noTextEdit="1"/>
              </p:cNvSpPr>
              <p:nvPr/>
            </p:nvSpPr>
            <p:spPr>
              <a:xfrm>
                <a:off x="3224643" y="5402424"/>
                <a:ext cx="6146800" cy="922176"/>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80618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1"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C0E380C-F597-95D6-8D30-E5EEEA5B70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2FB7CA-7743-6505-5A9A-55A94C4F18FC}"/>
              </a:ext>
            </a:extLst>
          </p:cNvPr>
          <p:cNvSpPr>
            <a:spLocks noGrp="1"/>
          </p:cNvSpPr>
          <p:nvPr>
            <p:ph type="title"/>
          </p:nvPr>
        </p:nvSpPr>
        <p:spPr/>
        <p:txBody>
          <a:bodyPr/>
          <a:lstStyle/>
          <a:p>
            <a:r>
              <a:rPr lang="en-US"/>
              <a:t>Example Using Markov’s Inequality: Coin Toss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574BE04-F64E-EFE0-5336-E1F567A37E78}"/>
                  </a:ext>
                </a:extLst>
              </p:cNvPr>
              <p:cNvSpPr>
                <a:spLocks noGrp="1"/>
              </p:cNvSpPr>
              <p:nvPr>
                <p:ph idx="1"/>
              </p:nvPr>
            </p:nvSpPr>
            <p:spPr/>
            <p:txBody>
              <a:bodyPr/>
              <a:lstStyle/>
              <a:p>
                <a:r>
                  <a:rPr lang="en-US" b="1">
                    <a:solidFill>
                      <a:schemeClr val="accent3"/>
                    </a:solidFill>
                    <a:latin typeface="Inter" panose="02000503000000020004" pitchFamily="2" charset="0"/>
                    <a:ea typeface="Inter" panose="02000503000000020004" pitchFamily="2" charset="0"/>
                    <a:cs typeface="Inter" panose="02000503000000020004" pitchFamily="2" charset="0"/>
                  </a:rPr>
                  <a:t>Markov’s Inequality</a:t>
                </a:r>
                <a:r>
                  <a:rPr lang="en-US"/>
                  <a:t>: For a </a:t>
                </a:r>
                <a:r>
                  <a:rPr lang="en-US" b="1">
                    <a:latin typeface="Inter" panose="02000503000000020004" pitchFamily="2" charset="0"/>
                    <a:ea typeface="Inter" panose="02000503000000020004" pitchFamily="2" charset="0"/>
                    <a:cs typeface="Inter" panose="02000503000000020004" pitchFamily="2" charset="0"/>
                  </a:rPr>
                  <a:t>nonnegative</a:t>
                </a:r>
                <a:r>
                  <a:rPr lang="en-US"/>
                  <a:t> random variable </a:t>
                </a:r>
                <a14:m>
                  <m:oMath xmlns:m="http://schemas.openxmlformats.org/officeDocument/2006/math">
                    <m:r>
                      <a:rPr lang="en-US" i="1">
                        <a:latin typeface="Cambria Math" panose="02040503050406030204" pitchFamily="18" charset="0"/>
                      </a:rPr>
                      <m:t>𝑋</m:t>
                    </m:r>
                  </m:oMath>
                </a14:m>
                <a:r>
                  <a:rPr lang="en-US"/>
                  <a:t> (i.e. </a:t>
                </a:r>
                <a14:m>
                  <m:oMath xmlns:m="http://schemas.openxmlformats.org/officeDocument/2006/math">
                    <m:r>
                      <a:rPr lang="en-US" i="1">
                        <a:latin typeface="Cambria Math" panose="02040503050406030204" pitchFamily="18" charset="0"/>
                      </a:rPr>
                      <m:t>𝑋</m:t>
                    </m:r>
                    <m:d>
                      <m:dPr>
                        <m:ctrlPr>
                          <a:rPr lang="en-US" i="1">
                            <a:latin typeface="Cambria Math" panose="02040503050406030204" pitchFamily="18" charset="0"/>
                          </a:rPr>
                        </m:ctrlPr>
                      </m:dPr>
                      <m:e>
                        <m:r>
                          <a:rPr lang="en-US" i="1">
                            <a:latin typeface="Cambria Math" panose="02040503050406030204" pitchFamily="18" charset="0"/>
                          </a:rPr>
                          <m:t>𝜔</m:t>
                        </m:r>
                      </m:e>
                    </m:d>
                    <m:r>
                      <a:rPr lang="en-US" i="1">
                        <a:latin typeface="Cambria Math" panose="02040503050406030204" pitchFamily="18" charset="0"/>
                      </a:rPr>
                      <m:t>≥0</m:t>
                    </m:r>
                  </m:oMath>
                </a14:m>
                <a:r>
                  <a:rPr lang="en-US"/>
                  <a:t> for all </a:t>
                </a:r>
                <a14:m>
                  <m:oMath xmlns:m="http://schemas.openxmlformats.org/officeDocument/2006/math">
                    <m:r>
                      <a:rPr lang="en-US" i="1">
                        <a:latin typeface="Cambria Math" panose="02040503050406030204" pitchFamily="18" charset="0"/>
                      </a:rPr>
                      <m:t>𝜔</m:t>
                    </m:r>
                    <m:r>
                      <a:rPr lang="en-US" i="1">
                        <a:latin typeface="Cambria Math" panose="02040503050406030204" pitchFamily="18" charset="0"/>
                      </a:rPr>
                      <m:t>∈</m:t>
                    </m:r>
                    <m:r>
                      <m:rPr>
                        <m:sty m:val="p"/>
                      </m:rPr>
                      <a:rPr lang="en-US">
                        <a:latin typeface="Cambria Math" panose="02040503050406030204" pitchFamily="18" charset="0"/>
                      </a:rPr>
                      <m:t>Ω</m:t>
                    </m:r>
                  </m:oMath>
                </a14:m>
                <a:r>
                  <a:rPr lang="en-US"/>
                  <a:t>) with finite mean, we have that for any positive constant c:</a:t>
                </a:r>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𝑐</m:t>
                          </m:r>
                        </m:e>
                      </m:d>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𝔼</m:t>
                          </m:r>
                          <m:d>
                            <m:dPr>
                              <m:begChr m:val="["/>
                              <m:endChr m:val="]"/>
                              <m:ctrlPr>
                                <a:rPr lang="en-US" i="1">
                                  <a:latin typeface="Cambria Math" panose="02040503050406030204" pitchFamily="18" charset="0"/>
                                </a:rPr>
                              </m:ctrlPr>
                            </m:dPr>
                            <m:e>
                              <m:r>
                                <a:rPr lang="en-US" i="1">
                                  <a:latin typeface="Cambria Math" panose="02040503050406030204" pitchFamily="18" charset="0"/>
                                </a:rPr>
                                <m:t>𝑋</m:t>
                              </m:r>
                            </m:e>
                          </m:d>
                        </m:num>
                        <m:den>
                          <m:r>
                            <a:rPr lang="en-US" i="1">
                              <a:latin typeface="Cambria Math" panose="02040503050406030204" pitchFamily="18" charset="0"/>
                            </a:rPr>
                            <m:t>𝑐</m:t>
                          </m:r>
                        </m:den>
                      </m:f>
                    </m:oMath>
                  </m:oMathPara>
                </a14:m>
                <a:endParaRPr lang="en-US"/>
              </a:p>
              <a:p>
                <a:endParaRPr lang="en-US"/>
              </a:p>
              <a:p>
                <a:r>
                  <a:rPr lang="en-US"/>
                  <a:t>You toss a fair coin </a:t>
                </a:r>
                <a14:m>
                  <m:oMath xmlns:m="http://schemas.openxmlformats.org/officeDocument/2006/math">
                    <m:r>
                      <a:rPr lang="en-US" i="1" dirty="0" smtClean="0">
                        <a:latin typeface="Cambria Math" panose="02040503050406030204" pitchFamily="18" charset="0"/>
                      </a:rPr>
                      <m:t>𝑛</m:t>
                    </m:r>
                  </m:oMath>
                </a14:m>
                <a:r>
                  <a:rPr lang="en-US"/>
                  <a:t> times. Let </a:t>
                </a:r>
                <a14:m>
                  <m:oMath xmlns:m="http://schemas.openxmlformats.org/officeDocument/2006/math">
                    <m:r>
                      <a:rPr lang="en-US" b="0" i="1" smtClean="0">
                        <a:latin typeface="Cambria Math" panose="02040503050406030204" pitchFamily="18" charset="0"/>
                      </a:rPr>
                      <m:t>𝑋</m:t>
                    </m:r>
                  </m:oMath>
                </a14:m>
                <a:r>
                  <a:rPr lang="en-US"/>
                  <a:t> be the number of heads. What does Markov’s Inequality tell us about the probability that </a:t>
                </a: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r>
                      <a:rPr lang="en-US" b="0" i="1" smtClean="0">
                        <a:latin typeface="Cambria Math" panose="02040503050406030204" pitchFamily="18" charset="0"/>
                      </a:rPr>
                      <m:t>𝑛</m:t>
                    </m:r>
                  </m:oMath>
                </a14:m>
                <a:r>
                  <a:rPr lang="en-US"/>
                  <a:t>?</a:t>
                </a:r>
              </a:p>
              <a:p>
                <a:endParaRPr lang="en-US"/>
              </a:p>
              <a:p>
                <a:endParaRPr lang="en-US"/>
              </a:p>
              <a:p>
                <a:endParaRPr lang="en-US"/>
              </a:p>
              <a:p>
                <a:r>
                  <a:rPr lang="en-US"/>
                  <a:t>For this example, is this bound “good” or perhaps “tight”?</a:t>
                </a:r>
              </a:p>
              <a:p>
                <a:pPr marL="342900" indent="-342900">
                  <a:buFont typeface="Arial" panose="020B0604020202020204" pitchFamily="34" charset="0"/>
                  <a:buChar char="•"/>
                </a:pPr>
                <a:r>
                  <a:rPr lang="en-US"/>
                  <a:t>joshh.ug/E</a:t>
                </a:r>
              </a:p>
              <a:p>
                <a:endParaRPr lang="en-US"/>
              </a:p>
            </p:txBody>
          </p:sp>
        </mc:Choice>
        <mc:Fallback>
          <p:sp>
            <p:nvSpPr>
              <p:cNvPr id="3" name="Content Placeholder 2">
                <a:extLst>
                  <a:ext uri="{FF2B5EF4-FFF2-40B4-BE49-F238E27FC236}">
                    <a16:creationId xmlns:a16="http://schemas.microsoft.com/office/drawing/2014/main" id="{8574BE04-F64E-EFE0-5336-E1F567A37E78}"/>
                  </a:ext>
                </a:extLst>
              </p:cNvPr>
              <p:cNvSpPr>
                <a:spLocks noGrp="1" noRot="1" noChangeAspect="1" noMove="1" noResize="1" noEditPoints="1" noAdjustHandles="1" noChangeArrowheads="1" noChangeShapeType="1" noTextEdit="1"/>
              </p:cNvSpPr>
              <p:nvPr>
                <p:ph idx="1"/>
              </p:nvPr>
            </p:nvSpPr>
            <p:spPr>
              <a:blipFill>
                <a:blip r:embed="rId2"/>
                <a:stretch>
                  <a:fillRect l="-796" t="-541" b="-768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4F5EAA4B-61D3-259A-F84F-7A73FF831D88}"/>
                  </a:ext>
                </a:extLst>
              </p:cNvPr>
              <p:cNvSpPr txBox="1"/>
              <p:nvPr/>
            </p:nvSpPr>
            <p:spPr>
              <a:xfrm>
                <a:off x="3224643" y="4137042"/>
                <a:ext cx="6146800" cy="9221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3</m:t>
                              </m:r>
                            </m:num>
                            <m:den>
                              <m:r>
                                <a:rPr lang="en-US" sz="2400" b="0" i="1" smtClean="0">
                                  <a:latin typeface="Cambria Math" panose="02040503050406030204" pitchFamily="18" charset="0"/>
                                </a:rPr>
                                <m:t>4</m:t>
                              </m:r>
                            </m:den>
                          </m:f>
                          <m:r>
                            <a:rPr lang="en-US" sz="2400" b="0" i="1" smtClean="0">
                              <a:latin typeface="Cambria Math" panose="02040503050406030204" pitchFamily="18" charset="0"/>
                            </a:rPr>
                            <m:t>𝑛</m:t>
                          </m:r>
                        </m:e>
                      </m:d>
                      <m:r>
                        <a:rPr lang="en-US" sz="2400" i="1">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2</m:t>
                          </m:r>
                        </m:num>
                        <m:den>
                          <m:r>
                            <a:rPr lang="en-US" sz="2400" b="0" i="1" smtClean="0">
                              <a:latin typeface="Cambria Math" panose="02040503050406030204" pitchFamily="18" charset="0"/>
                            </a:rPr>
                            <m:t>3</m:t>
                          </m:r>
                        </m:den>
                      </m:f>
                    </m:oMath>
                  </m:oMathPara>
                </a14:m>
                <a:endParaRPr lang="en-US" sz="2400"/>
              </a:p>
            </p:txBody>
          </p:sp>
        </mc:Choice>
        <mc:Fallback>
          <p:sp>
            <p:nvSpPr>
              <p:cNvPr id="11" name="TextBox 10">
                <a:extLst>
                  <a:ext uri="{FF2B5EF4-FFF2-40B4-BE49-F238E27FC236}">
                    <a16:creationId xmlns:a16="http://schemas.microsoft.com/office/drawing/2014/main" id="{4F5EAA4B-61D3-259A-F84F-7A73FF831D88}"/>
                  </a:ext>
                </a:extLst>
              </p:cNvPr>
              <p:cNvSpPr txBox="1">
                <a:spLocks noRot="1" noChangeAspect="1" noMove="1" noResize="1" noEditPoints="1" noAdjustHandles="1" noChangeArrowheads="1" noChangeShapeType="1" noTextEdit="1"/>
              </p:cNvSpPr>
              <p:nvPr/>
            </p:nvSpPr>
            <p:spPr>
              <a:xfrm>
                <a:off x="3224643" y="4137042"/>
                <a:ext cx="6146800" cy="922176"/>
              </a:xfrm>
              <a:prstGeom prst="rect">
                <a:avLst/>
              </a:prstGeom>
              <a:blipFill>
                <a:blip r:embed="rId3"/>
                <a:stretch>
                  <a:fillRect/>
                </a:stretch>
              </a:blipFill>
            </p:spPr>
            <p:txBody>
              <a:bodyPr/>
              <a:lstStyle/>
              <a:p>
                <a:r>
                  <a:rPr lang="en-US">
                    <a:noFill/>
                  </a:rPr>
                  <a:t> </a:t>
                </a:r>
              </a:p>
            </p:txBody>
          </p:sp>
        </mc:Fallback>
      </mc:AlternateContent>
      <p:pic>
        <p:nvPicPr>
          <p:cNvPr id="5" name="Picture 4" descr="A qr code on a white background&#10;&#10;Description automatically generated">
            <a:extLst>
              <a:ext uri="{FF2B5EF4-FFF2-40B4-BE49-F238E27FC236}">
                <a16:creationId xmlns:a16="http://schemas.microsoft.com/office/drawing/2014/main" id="{F17C8260-871F-2390-7BD3-6AACF1D964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77400" y="4292600"/>
            <a:ext cx="2514600" cy="2565400"/>
          </a:xfrm>
          <a:prstGeom prst="rect">
            <a:avLst/>
          </a:prstGeom>
        </p:spPr>
      </p:pic>
    </p:spTree>
    <p:extLst>
      <p:ext uri="{BB962C8B-B14F-4D97-AF65-F5344CB8AC3E}">
        <p14:creationId xmlns:p14="http://schemas.microsoft.com/office/powerpoint/2010/main" val="18144395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04DFF-E0A2-9F4E-DB92-2F541496CD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A5D3D6-95ED-9934-C9F8-42E138A229CA}"/>
              </a:ext>
            </a:extLst>
          </p:cNvPr>
          <p:cNvSpPr>
            <a:spLocks noGrp="1"/>
          </p:cNvSpPr>
          <p:nvPr>
            <p:ph type="title"/>
          </p:nvPr>
        </p:nvSpPr>
        <p:spPr/>
        <p:txBody>
          <a:bodyPr/>
          <a:lstStyle/>
          <a:p>
            <a:r>
              <a:rPr lang="en-US"/>
              <a:t>Example Using Markov’s Inequality: Coin Toss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EB5C835-241B-CF20-47C5-5E4AC880DE61}"/>
                  </a:ext>
                </a:extLst>
              </p:cNvPr>
              <p:cNvSpPr>
                <a:spLocks noGrp="1"/>
              </p:cNvSpPr>
              <p:nvPr>
                <p:ph idx="1"/>
              </p:nvPr>
            </p:nvSpPr>
            <p:spPr/>
            <p:txBody>
              <a:bodyPr/>
              <a:lstStyle/>
              <a:p>
                <a:r>
                  <a:rPr lang="en-US" b="1">
                    <a:solidFill>
                      <a:schemeClr val="accent3"/>
                    </a:solidFill>
                    <a:latin typeface="Inter" panose="02000503000000020004" pitchFamily="2" charset="0"/>
                    <a:ea typeface="Inter" panose="02000503000000020004" pitchFamily="2" charset="0"/>
                    <a:cs typeface="Inter" panose="02000503000000020004" pitchFamily="2" charset="0"/>
                  </a:rPr>
                  <a:t>Markov’s Inequality</a:t>
                </a:r>
                <a:r>
                  <a:rPr lang="en-US"/>
                  <a:t>: For a </a:t>
                </a:r>
                <a:r>
                  <a:rPr lang="en-US" b="1">
                    <a:latin typeface="Inter" panose="02000503000000020004" pitchFamily="2" charset="0"/>
                    <a:ea typeface="Inter" panose="02000503000000020004" pitchFamily="2" charset="0"/>
                    <a:cs typeface="Inter" panose="02000503000000020004" pitchFamily="2" charset="0"/>
                  </a:rPr>
                  <a:t>nonnegative</a:t>
                </a:r>
                <a:r>
                  <a:rPr lang="en-US"/>
                  <a:t> random variable </a:t>
                </a:r>
                <a14:m>
                  <m:oMath xmlns:m="http://schemas.openxmlformats.org/officeDocument/2006/math">
                    <m:r>
                      <a:rPr lang="en-US" i="1">
                        <a:latin typeface="Cambria Math" panose="02040503050406030204" pitchFamily="18" charset="0"/>
                      </a:rPr>
                      <m:t>𝑋</m:t>
                    </m:r>
                  </m:oMath>
                </a14:m>
                <a:r>
                  <a:rPr lang="en-US"/>
                  <a:t> (i.e. </a:t>
                </a:r>
                <a14:m>
                  <m:oMath xmlns:m="http://schemas.openxmlformats.org/officeDocument/2006/math">
                    <m:r>
                      <a:rPr lang="en-US" i="1">
                        <a:latin typeface="Cambria Math" panose="02040503050406030204" pitchFamily="18" charset="0"/>
                      </a:rPr>
                      <m:t>𝑋</m:t>
                    </m:r>
                    <m:d>
                      <m:dPr>
                        <m:ctrlPr>
                          <a:rPr lang="en-US" i="1">
                            <a:latin typeface="Cambria Math" panose="02040503050406030204" pitchFamily="18" charset="0"/>
                          </a:rPr>
                        </m:ctrlPr>
                      </m:dPr>
                      <m:e>
                        <m:r>
                          <a:rPr lang="en-US" i="1">
                            <a:latin typeface="Cambria Math" panose="02040503050406030204" pitchFamily="18" charset="0"/>
                          </a:rPr>
                          <m:t>𝜔</m:t>
                        </m:r>
                      </m:e>
                    </m:d>
                    <m:r>
                      <a:rPr lang="en-US" i="1">
                        <a:latin typeface="Cambria Math" panose="02040503050406030204" pitchFamily="18" charset="0"/>
                      </a:rPr>
                      <m:t>≥0</m:t>
                    </m:r>
                  </m:oMath>
                </a14:m>
                <a:r>
                  <a:rPr lang="en-US"/>
                  <a:t> for all </a:t>
                </a:r>
                <a14:m>
                  <m:oMath xmlns:m="http://schemas.openxmlformats.org/officeDocument/2006/math">
                    <m:r>
                      <a:rPr lang="en-US" i="1">
                        <a:latin typeface="Cambria Math" panose="02040503050406030204" pitchFamily="18" charset="0"/>
                      </a:rPr>
                      <m:t>𝜔</m:t>
                    </m:r>
                    <m:r>
                      <a:rPr lang="en-US" i="1">
                        <a:latin typeface="Cambria Math" panose="02040503050406030204" pitchFamily="18" charset="0"/>
                      </a:rPr>
                      <m:t>∈</m:t>
                    </m:r>
                    <m:r>
                      <m:rPr>
                        <m:sty m:val="p"/>
                      </m:rPr>
                      <a:rPr lang="en-US">
                        <a:latin typeface="Cambria Math" panose="02040503050406030204" pitchFamily="18" charset="0"/>
                      </a:rPr>
                      <m:t>Ω</m:t>
                    </m:r>
                  </m:oMath>
                </a14:m>
                <a:r>
                  <a:rPr lang="en-US"/>
                  <a:t>) with finite mean, we have that for any positive constant c:</a:t>
                </a:r>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𝑐</m:t>
                          </m:r>
                        </m:e>
                      </m:d>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𝔼</m:t>
                          </m:r>
                          <m:d>
                            <m:dPr>
                              <m:begChr m:val="["/>
                              <m:endChr m:val="]"/>
                              <m:ctrlPr>
                                <a:rPr lang="en-US" i="1">
                                  <a:latin typeface="Cambria Math" panose="02040503050406030204" pitchFamily="18" charset="0"/>
                                </a:rPr>
                              </m:ctrlPr>
                            </m:dPr>
                            <m:e>
                              <m:r>
                                <a:rPr lang="en-US" i="1">
                                  <a:latin typeface="Cambria Math" panose="02040503050406030204" pitchFamily="18" charset="0"/>
                                </a:rPr>
                                <m:t>𝑋</m:t>
                              </m:r>
                            </m:e>
                          </m:d>
                        </m:num>
                        <m:den>
                          <m:r>
                            <a:rPr lang="en-US" i="1">
                              <a:latin typeface="Cambria Math" panose="02040503050406030204" pitchFamily="18" charset="0"/>
                            </a:rPr>
                            <m:t>𝑐</m:t>
                          </m:r>
                        </m:den>
                      </m:f>
                    </m:oMath>
                  </m:oMathPara>
                </a14:m>
                <a:endParaRPr lang="en-US"/>
              </a:p>
              <a:p>
                <a:endParaRPr lang="en-US"/>
              </a:p>
              <a:p>
                <a:r>
                  <a:rPr lang="en-US"/>
                  <a:t>You toss a fair coin </a:t>
                </a:r>
                <a14:m>
                  <m:oMath xmlns:m="http://schemas.openxmlformats.org/officeDocument/2006/math">
                    <m:r>
                      <a:rPr lang="en-US" i="1" dirty="0" smtClean="0">
                        <a:latin typeface="Cambria Math" panose="02040503050406030204" pitchFamily="18" charset="0"/>
                      </a:rPr>
                      <m:t>𝑛</m:t>
                    </m:r>
                  </m:oMath>
                </a14:m>
                <a:r>
                  <a:rPr lang="en-US"/>
                  <a:t> times. Let </a:t>
                </a:r>
                <a14:m>
                  <m:oMath xmlns:m="http://schemas.openxmlformats.org/officeDocument/2006/math">
                    <m:r>
                      <a:rPr lang="en-US" b="0" i="1" smtClean="0">
                        <a:latin typeface="Cambria Math" panose="02040503050406030204" pitchFamily="18" charset="0"/>
                      </a:rPr>
                      <m:t>𝑋</m:t>
                    </m:r>
                  </m:oMath>
                </a14:m>
                <a:r>
                  <a:rPr lang="en-US"/>
                  <a:t> be the number of heads. What does Markov’s Inequality tell us about the probability that </a:t>
                </a: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r>
                      <a:rPr lang="en-US" b="0" i="1" smtClean="0">
                        <a:latin typeface="Cambria Math" panose="02040503050406030204" pitchFamily="18" charset="0"/>
                      </a:rPr>
                      <m:t>𝑛</m:t>
                    </m:r>
                  </m:oMath>
                </a14:m>
                <a:r>
                  <a:rPr lang="en-US"/>
                  <a:t>?</a:t>
                </a:r>
              </a:p>
              <a:p>
                <a:endParaRPr lang="en-US"/>
              </a:p>
              <a:p>
                <a:endParaRPr lang="en-US"/>
              </a:p>
              <a:p>
                <a:endParaRPr lang="en-US"/>
              </a:p>
              <a:p>
                <a:r>
                  <a:rPr lang="en-US"/>
                  <a:t>For this example, is this bound “good” or perhaps “tight”?</a:t>
                </a:r>
              </a:p>
              <a:p>
                <a:pPr marL="342900" indent="-342900">
                  <a:buFont typeface="Arial" panose="020B0604020202020204" pitchFamily="34" charset="0"/>
                  <a:buChar char="•"/>
                </a:pPr>
                <a:r>
                  <a:rPr lang="en-US"/>
                  <a:t>No, it says if you flip a coin 1,000 times, chance of getting 750 heads is less than 2/3rds. Actual chance is </a:t>
                </a:r>
                <a:r>
                  <a:rPr lang="en-US" b="1">
                    <a:latin typeface="Inter" panose="02000503000000020004" pitchFamily="2" charset="0"/>
                    <a:ea typeface="Inter" panose="02000503000000020004" pitchFamily="2" charset="0"/>
                    <a:cs typeface="Inter" panose="02000503000000020004" pitchFamily="2" charset="0"/>
                  </a:rPr>
                  <a:t>far</a:t>
                </a:r>
                <a:r>
                  <a:rPr lang="en-US" b="1"/>
                  <a:t> </a:t>
                </a:r>
                <a:r>
                  <a:rPr lang="en-US"/>
                  <a:t>lower (around </a:t>
                </a:r>
                <a14:m>
                  <m:oMath xmlns:m="http://schemas.openxmlformats.org/officeDocument/2006/math">
                    <m:r>
                      <a:rPr lang="en-US" b="0" i="1" smtClean="0">
                        <a:latin typeface="Cambria Math" panose="02040503050406030204" pitchFamily="18" charset="0"/>
                      </a:rPr>
                      <m:t>6.74×</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−57</m:t>
                        </m:r>
                      </m:sup>
                    </m:sSup>
                  </m:oMath>
                </a14:m>
                <a:r>
                  <a:rPr lang="en-US"/>
                  <a:t> % chance). </a:t>
                </a:r>
              </a:p>
              <a:p>
                <a:endParaRPr lang="en-US"/>
              </a:p>
            </p:txBody>
          </p:sp>
        </mc:Choice>
        <mc:Fallback>
          <p:sp>
            <p:nvSpPr>
              <p:cNvPr id="3" name="Content Placeholder 2">
                <a:extLst>
                  <a:ext uri="{FF2B5EF4-FFF2-40B4-BE49-F238E27FC236}">
                    <a16:creationId xmlns:a16="http://schemas.microsoft.com/office/drawing/2014/main" id="{0EB5C835-241B-CF20-47C5-5E4AC880DE61}"/>
                  </a:ext>
                </a:extLst>
              </p:cNvPr>
              <p:cNvSpPr>
                <a:spLocks noGrp="1" noRot="1" noChangeAspect="1" noMove="1" noResize="1" noEditPoints="1" noAdjustHandles="1" noChangeArrowheads="1" noChangeShapeType="1" noTextEdit="1"/>
              </p:cNvSpPr>
              <p:nvPr>
                <p:ph idx="1"/>
              </p:nvPr>
            </p:nvSpPr>
            <p:spPr>
              <a:blipFill>
                <a:blip r:embed="rId2"/>
                <a:stretch>
                  <a:fillRect l="-796" t="-541" b="-1482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C76CAF88-2712-03FC-D2E8-AF40C72A5CB8}"/>
                  </a:ext>
                </a:extLst>
              </p:cNvPr>
              <p:cNvSpPr txBox="1"/>
              <p:nvPr/>
            </p:nvSpPr>
            <p:spPr>
              <a:xfrm>
                <a:off x="3224643" y="4137042"/>
                <a:ext cx="6146800" cy="9221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3</m:t>
                              </m:r>
                            </m:num>
                            <m:den>
                              <m:r>
                                <a:rPr lang="en-US" sz="2400" b="0" i="1" smtClean="0">
                                  <a:latin typeface="Cambria Math" panose="02040503050406030204" pitchFamily="18" charset="0"/>
                                </a:rPr>
                                <m:t>4</m:t>
                              </m:r>
                            </m:den>
                          </m:f>
                          <m:r>
                            <a:rPr lang="en-US" sz="2400" b="0" i="1" smtClean="0">
                              <a:latin typeface="Cambria Math" panose="02040503050406030204" pitchFamily="18" charset="0"/>
                            </a:rPr>
                            <m:t>𝑛</m:t>
                          </m:r>
                        </m:e>
                      </m:d>
                      <m:r>
                        <a:rPr lang="en-US" sz="2400" i="1">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2</m:t>
                          </m:r>
                        </m:num>
                        <m:den>
                          <m:r>
                            <a:rPr lang="en-US" sz="2400" b="0" i="1" smtClean="0">
                              <a:latin typeface="Cambria Math" panose="02040503050406030204" pitchFamily="18" charset="0"/>
                            </a:rPr>
                            <m:t>3</m:t>
                          </m:r>
                        </m:den>
                      </m:f>
                    </m:oMath>
                  </m:oMathPara>
                </a14:m>
                <a:endParaRPr lang="en-US" sz="2400"/>
              </a:p>
            </p:txBody>
          </p:sp>
        </mc:Choice>
        <mc:Fallback>
          <p:sp>
            <p:nvSpPr>
              <p:cNvPr id="11" name="TextBox 10">
                <a:extLst>
                  <a:ext uri="{FF2B5EF4-FFF2-40B4-BE49-F238E27FC236}">
                    <a16:creationId xmlns:a16="http://schemas.microsoft.com/office/drawing/2014/main" id="{C76CAF88-2712-03FC-D2E8-AF40C72A5CB8}"/>
                  </a:ext>
                </a:extLst>
              </p:cNvPr>
              <p:cNvSpPr txBox="1">
                <a:spLocks noRot="1" noChangeAspect="1" noMove="1" noResize="1" noEditPoints="1" noAdjustHandles="1" noChangeArrowheads="1" noChangeShapeType="1" noTextEdit="1"/>
              </p:cNvSpPr>
              <p:nvPr/>
            </p:nvSpPr>
            <p:spPr>
              <a:xfrm>
                <a:off x="3224643" y="4137042"/>
                <a:ext cx="6146800" cy="922176"/>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87840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CB87B-A280-8BF3-34A8-FEEE1BAD4E22}"/>
              </a:ext>
            </a:extLst>
          </p:cNvPr>
          <p:cNvSpPr>
            <a:spLocks noGrp="1"/>
          </p:cNvSpPr>
          <p:nvPr>
            <p:ph type="title"/>
          </p:nvPr>
        </p:nvSpPr>
        <p:spPr/>
        <p:txBody>
          <a:bodyPr/>
          <a:lstStyle/>
          <a:p>
            <a:r>
              <a:rPr lang="en-US"/>
              <a:t>Concentration Inequalities and Bound Tightness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E71DE05-C899-C11E-9F8B-DB804D192BA7}"/>
                  </a:ext>
                </a:extLst>
              </p:cNvPr>
              <p:cNvSpPr>
                <a:spLocks noGrp="1"/>
              </p:cNvSpPr>
              <p:nvPr>
                <p:ph idx="1"/>
              </p:nvPr>
            </p:nvSpPr>
            <p:spPr/>
            <p:txBody>
              <a:bodyPr/>
              <a:lstStyle/>
              <a:p>
                <a:r>
                  <a:rPr lang="en-US"/>
                  <a:t>Concentration inequalities are not tight bounds!</a:t>
                </a:r>
              </a:p>
              <a:p>
                <a:pPr marL="342900" indent="-342900">
                  <a:buFont typeface="Arial" panose="020B0604020202020204" pitchFamily="34" charset="0"/>
                  <a:buChar char="•"/>
                </a:pPr>
                <a:r>
                  <a:rPr lang="en-US"/>
                  <a:t>Just like the union bound, they are bounds on a probability.</a:t>
                </a:r>
              </a:p>
              <a:p>
                <a:pPr marL="342900" indent="-342900">
                  <a:buFont typeface="Arial" panose="020B0604020202020204" pitchFamily="34" charset="0"/>
                  <a:buChar char="•"/>
                </a:pPr>
                <a:endParaRPr lang="en-US"/>
              </a:p>
              <a:p>
                <a:r>
                  <a:rPr lang="en-US"/>
                  <a:t>In the case of a binomial random variable, Markov’s Inequality is basically useless. </a:t>
                </a:r>
              </a:p>
              <a:p>
                <a:pPr marL="342900" indent="-342900">
                  <a:buFont typeface="Arial" panose="020B0604020202020204" pitchFamily="34" charset="0"/>
                  <a:buChar char="•"/>
                </a:pPr>
                <a:r>
                  <a:rPr lang="en-US"/>
                  <a:t>Markov Inequality tells us that the probability of getting 3/4s heads on a fair coin is less than 66.66%.</a:t>
                </a:r>
              </a:p>
              <a:p>
                <a:pPr marL="342900" indent="-342900">
                  <a:buFont typeface="Arial" panose="020B0604020202020204" pitchFamily="34" charset="0"/>
                  <a:buChar char="•"/>
                </a:pPr>
                <a:r>
                  <a:rPr lang="en-US"/>
                  <a:t>But this bound is absurdly loose. Actual probability is around </a:t>
                </a:r>
                <a14:m>
                  <m:oMath xmlns:m="http://schemas.openxmlformats.org/officeDocument/2006/math">
                    <m:r>
                      <a:rPr lang="en-US" i="1">
                        <a:latin typeface="Cambria Math" panose="02040503050406030204" pitchFamily="18" charset="0"/>
                      </a:rPr>
                      <m:t>6.74×</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−5</m:t>
                        </m:r>
                        <m:r>
                          <a:rPr lang="en-US" b="0" i="1" smtClean="0">
                            <a:latin typeface="Cambria Math" panose="02040503050406030204" pitchFamily="18" charset="0"/>
                          </a:rPr>
                          <m:t>7</m:t>
                        </m:r>
                      </m:sup>
                    </m:sSup>
                  </m:oMath>
                </a14:m>
                <a:r>
                  <a:rPr lang="en-US"/>
                  <a:t> % chance.</a:t>
                </a:r>
              </a:p>
              <a:p>
                <a:pPr marL="342900" indent="-342900">
                  <a:buFont typeface="Arial" panose="020B0604020202020204" pitchFamily="34" charset="0"/>
                  <a:buChar char="•"/>
                </a:pPr>
                <a:endParaRPr lang="en-US"/>
              </a:p>
              <a:p>
                <a:r>
                  <a:rPr lang="en-US"/>
                  <a:t>Note: Markov’s Inequality can be a tight bound.</a:t>
                </a:r>
              </a:p>
              <a:p>
                <a:pPr marL="342900" indent="-342900">
                  <a:buFont typeface="Arial" panose="020B0604020202020204" pitchFamily="34" charset="0"/>
                  <a:buChar char="•"/>
                </a:pPr>
                <a:r>
                  <a:rPr lang="en-US"/>
                  <a:t>Example: Scaled Bernoulli RV where </a:t>
                </a: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=10</m:t>
                    </m:r>
                    <m:r>
                      <a:rPr lang="en-US" b="0" i="1" smtClean="0">
                        <a:latin typeface="Cambria Math" panose="02040503050406030204" pitchFamily="18" charset="0"/>
                      </a:rPr>
                      <m:t>𝜇</m:t>
                    </m:r>
                  </m:oMath>
                </a14:m>
                <a:r>
                  <a:rPr lang="en-US"/>
                  <a:t> with probability </a:t>
                </a:r>
                <a14:m>
                  <m:oMath xmlns:m="http://schemas.openxmlformats.org/officeDocument/2006/math">
                    <m:r>
                      <a:rPr lang="en-US" b="0" i="1" smtClean="0">
                        <a:latin typeface="Cambria Math" panose="02040503050406030204" pitchFamily="18" charset="0"/>
                      </a:rPr>
                      <m:t>1/10</m:t>
                    </m:r>
                  </m:oMath>
                </a14:m>
                <a:r>
                  <a:rPr lang="en-US"/>
                  <a:t> and 0 otherwise.</a:t>
                </a:r>
              </a:p>
            </p:txBody>
          </p:sp>
        </mc:Choice>
        <mc:Fallback>
          <p:sp>
            <p:nvSpPr>
              <p:cNvPr id="3" name="Content Placeholder 2">
                <a:extLst>
                  <a:ext uri="{FF2B5EF4-FFF2-40B4-BE49-F238E27FC236}">
                    <a16:creationId xmlns:a16="http://schemas.microsoft.com/office/drawing/2014/main" id="{AE71DE05-C899-C11E-9F8B-DB804D192BA7}"/>
                  </a:ext>
                </a:extLst>
              </p:cNvPr>
              <p:cNvSpPr>
                <a:spLocks noGrp="1" noRot="1" noChangeAspect="1" noMove="1" noResize="1" noEditPoints="1" noAdjustHandles="1" noChangeArrowheads="1" noChangeShapeType="1" noTextEdit="1"/>
              </p:cNvSpPr>
              <p:nvPr>
                <p:ph idx="1"/>
              </p:nvPr>
            </p:nvSpPr>
            <p:spPr>
              <a:blipFill>
                <a:blip r:embed="rId2"/>
                <a:stretch>
                  <a:fillRect l="-796" t="-541"/>
                </a:stretch>
              </a:blipFill>
            </p:spPr>
            <p:txBody>
              <a:bodyPr/>
              <a:lstStyle/>
              <a:p>
                <a:r>
                  <a:rPr lang="en-US">
                    <a:noFill/>
                  </a:rPr>
                  <a:t> </a:t>
                </a:r>
              </a:p>
            </p:txBody>
          </p:sp>
        </mc:Fallback>
      </mc:AlternateContent>
    </p:spTree>
    <p:extLst>
      <p:ext uri="{BB962C8B-B14F-4D97-AF65-F5344CB8AC3E}">
        <p14:creationId xmlns:p14="http://schemas.microsoft.com/office/powerpoint/2010/main" val="8621731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44507-EA7F-C6DF-681E-A0A3B0E7C1DF}"/>
              </a:ext>
            </a:extLst>
          </p:cNvPr>
          <p:cNvSpPr>
            <a:spLocks noGrp="1"/>
          </p:cNvSpPr>
          <p:nvPr>
            <p:ph type="title"/>
          </p:nvPr>
        </p:nvSpPr>
        <p:spPr/>
        <p:txBody>
          <a:bodyPr/>
          <a:lstStyle/>
          <a:p>
            <a:r>
              <a:rPr lang="en-US"/>
              <a:t>Markov’s Inequality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8BA92A0-B581-ED46-7D00-13B2A842AFA2}"/>
                  </a:ext>
                </a:extLst>
              </p:cNvPr>
              <p:cNvSpPr>
                <a:spLocks noGrp="1"/>
              </p:cNvSpPr>
              <p:nvPr>
                <p:ph idx="1"/>
              </p:nvPr>
            </p:nvSpPr>
            <p:spPr/>
            <p:txBody>
              <a:bodyPr/>
              <a:lstStyle/>
              <a:p>
                <a:r>
                  <a:rPr lang="en-US" b="1">
                    <a:solidFill>
                      <a:schemeClr val="accent3"/>
                    </a:solidFill>
                    <a:latin typeface="Inter" panose="02000503000000020004" pitchFamily="2" charset="0"/>
                    <a:ea typeface="Inter" panose="02000503000000020004" pitchFamily="2" charset="0"/>
                    <a:cs typeface="Inter" panose="02000503000000020004" pitchFamily="2" charset="0"/>
                  </a:rPr>
                  <a:t>Markov’s Inequality</a:t>
                </a:r>
                <a:r>
                  <a:rPr lang="en-US"/>
                  <a:t>: For a </a:t>
                </a:r>
                <a:r>
                  <a:rPr lang="en-US" b="1">
                    <a:latin typeface="Inter" panose="02000503000000020004" pitchFamily="2" charset="0"/>
                    <a:ea typeface="Inter" panose="02000503000000020004" pitchFamily="2" charset="0"/>
                    <a:cs typeface="Inter" panose="02000503000000020004" pitchFamily="2" charset="0"/>
                  </a:rPr>
                  <a:t>nonnegative</a:t>
                </a:r>
                <a:r>
                  <a:rPr lang="en-US"/>
                  <a:t> random variable </a:t>
                </a:r>
                <a14:m>
                  <m:oMath xmlns:m="http://schemas.openxmlformats.org/officeDocument/2006/math">
                    <m:r>
                      <a:rPr lang="en-US" i="1">
                        <a:latin typeface="Cambria Math" panose="02040503050406030204" pitchFamily="18" charset="0"/>
                      </a:rPr>
                      <m:t>𝑋</m:t>
                    </m:r>
                  </m:oMath>
                </a14:m>
                <a:r>
                  <a:rPr lang="en-US"/>
                  <a:t> (i.e. </a:t>
                </a:r>
                <a14:m>
                  <m:oMath xmlns:m="http://schemas.openxmlformats.org/officeDocument/2006/math">
                    <m:r>
                      <a:rPr lang="en-US" i="1">
                        <a:latin typeface="Cambria Math" panose="02040503050406030204" pitchFamily="18" charset="0"/>
                      </a:rPr>
                      <m:t>𝑋</m:t>
                    </m:r>
                    <m:d>
                      <m:dPr>
                        <m:ctrlPr>
                          <a:rPr lang="en-US" i="1">
                            <a:latin typeface="Cambria Math" panose="02040503050406030204" pitchFamily="18" charset="0"/>
                          </a:rPr>
                        </m:ctrlPr>
                      </m:dPr>
                      <m:e>
                        <m:r>
                          <a:rPr lang="en-US" i="1">
                            <a:latin typeface="Cambria Math" panose="02040503050406030204" pitchFamily="18" charset="0"/>
                          </a:rPr>
                          <m:t>𝜔</m:t>
                        </m:r>
                      </m:e>
                    </m:d>
                    <m:r>
                      <a:rPr lang="en-US" i="1">
                        <a:latin typeface="Cambria Math" panose="02040503050406030204" pitchFamily="18" charset="0"/>
                      </a:rPr>
                      <m:t>≥0</m:t>
                    </m:r>
                  </m:oMath>
                </a14:m>
                <a:r>
                  <a:rPr lang="en-US"/>
                  <a:t> for all </a:t>
                </a:r>
                <a14:m>
                  <m:oMath xmlns:m="http://schemas.openxmlformats.org/officeDocument/2006/math">
                    <m:r>
                      <a:rPr lang="en-US" i="1">
                        <a:latin typeface="Cambria Math" panose="02040503050406030204" pitchFamily="18" charset="0"/>
                      </a:rPr>
                      <m:t>𝜔</m:t>
                    </m:r>
                    <m:r>
                      <a:rPr lang="en-US" i="1">
                        <a:latin typeface="Cambria Math" panose="02040503050406030204" pitchFamily="18" charset="0"/>
                      </a:rPr>
                      <m:t>∈</m:t>
                    </m:r>
                    <m:r>
                      <m:rPr>
                        <m:sty m:val="p"/>
                      </m:rPr>
                      <a:rPr lang="en-US">
                        <a:latin typeface="Cambria Math" panose="02040503050406030204" pitchFamily="18" charset="0"/>
                      </a:rPr>
                      <m:t>Ω</m:t>
                    </m:r>
                  </m:oMath>
                </a14:m>
                <a:r>
                  <a:rPr lang="en-US"/>
                  <a:t>) with finite mean, we have that for any positive constant c:</a:t>
                </a:r>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𝑐</m:t>
                          </m:r>
                        </m:e>
                      </m:d>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𝔼</m:t>
                          </m:r>
                          <m:d>
                            <m:dPr>
                              <m:begChr m:val="["/>
                              <m:endChr m:val="]"/>
                              <m:ctrlPr>
                                <a:rPr lang="en-US" i="1">
                                  <a:latin typeface="Cambria Math" panose="02040503050406030204" pitchFamily="18" charset="0"/>
                                </a:rPr>
                              </m:ctrlPr>
                            </m:dPr>
                            <m:e>
                              <m:r>
                                <a:rPr lang="en-US" i="1">
                                  <a:latin typeface="Cambria Math" panose="02040503050406030204" pitchFamily="18" charset="0"/>
                                </a:rPr>
                                <m:t>𝑋</m:t>
                              </m:r>
                            </m:e>
                          </m:d>
                        </m:num>
                        <m:den>
                          <m:r>
                            <a:rPr lang="en-US" i="1">
                              <a:latin typeface="Cambria Math" panose="02040503050406030204" pitchFamily="18" charset="0"/>
                            </a:rPr>
                            <m:t>𝑐</m:t>
                          </m:r>
                        </m:den>
                      </m:f>
                    </m:oMath>
                  </m:oMathPara>
                </a14:m>
                <a:endParaRPr lang="en-US"/>
              </a:p>
              <a:p>
                <a:endParaRPr lang="en-US"/>
              </a:p>
              <a:p>
                <a:r>
                  <a:rPr lang="en-US"/>
                  <a:t>What happens if we drop non-negativity?</a:t>
                </a:r>
              </a:p>
              <a:p>
                <a:pPr marL="342900" indent="-342900">
                  <a:buFont typeface="Arial" panose="020B0604020202020204" pitchFamily="34" charset="0"/>
                  <a:buChar char="•"/>
                </a:pPr>
                <a:r>
                  <a:rPr lang="en-US"/>
                  <a:t>Naturally, Markov’s Inequality as stated above is no longer true. Trivial example: one student gets -1,000,000 points on a midterm, then everyone else will do way better than twice the mean.</a:t>
                </a:r>
              </a:p>
              <a:p>
                <a:pPr marL="342900" indent="-342900">
                  <a:buFont typeface="Arial" panose="020B0604020202020204" pitchFamily="34" charset="0"/>
                  <a:buChar char="•"/>
                </a:pPr>
                <a:endParaRPr lang="en-US"/>
              </a:p>
              <a:p>
                <a:r>
                  <a:rPr lang="en-US"/>
                  <a:t>The notes provide a generalized version of Markov’s Inequality that works even if </a:t>
                </a:r>
                <a14:m>
                  <m:oMath xmlns:m="http://schemas.openxmlformats.org/officeDocument/2006/math">
                    <m:r>
                      <a:rPr lang="en-US" i="1" smtClean="0">
                        <a:latin typeface="Cambria Math" panose="02040503050406030204" pitchFamily="18" charset="0"/>
                      </a:rPr>
                      <m:t>𝑋</m:t>
                    </m:r>
                  </m:oMath>
                </a14:m>
                <a:r>
                  <a:rPr lang="en-US"/>
                  <a:t> can be negative. Won’t cover in lecture.</a:t>
                </a:r>
              </a:p>
            </p:txBody>
          </p:sp>
        </mc:Choice>
        <mc:Fallback>
          <p:sp>
            <p:nvSpPr>
              <p:cNvPr id="3" name="Content Placeholder 2">
                <a:extLst>
                  <a:ext uri="{FF2B5EF4-FFF2-40B4-BE49-F238E27FC236}">
                    <a16:creationId xmlns:a16="http://schemas.microsoft.com/office/drawing/2014/main" id="{E8BA92A0-B581-ED46-7D00-13B2A842AFA2}"/>
                  </a:ext>
                </a:extLst>
              </p:cNvPr>
              <p:cNvSpPr>
                <a:spLocks noGrp="1" noRot="1" noChangeAspect="1" noMove="1" noResize="1" noEditPoints="1" noAdjustHandles="1" noChangeArrowheads="1" noChangeShapeType="1" noTextEdit="1"/>
              </p:cNvSpPr>
              <p:nvPr>
                <p:ph idx="1"/>
              </p:nvPr>
            </p:nvSpPr>
            <p:spPr>
              <a:blipFill>
                <a:blip r:embed="rId2"/>
                <a:stretch>
                  <a:fillRect l="-796" t="-541" r="-1061" b="-216"/>
                </a:stretch>
              </a:blipFill>
            </p:spPr>
            <p:txBody>
              <a:bodyPr/>
              <a:lstStyle/>
              <a:p>
                <a:r>
                  <a:rPr lang="en-US">
                    <a:noFill/>
                  </a:rPr>
                  <a:t> </a:t>
                </a:r>
              </a:p>
            </p:txBody>
          </p:sp>
        </mc:Fallback>
      </mc:AlternateContent>
    </p:spTree>
    <p:extLst>
      <p:ext uri="{BB962C8B-B14F-4D97-AF65-F5344CB8AC3E}">
        <p14:creationId xmlns:p14="http://schemas.microsoft.com/office/powerpoint/2010/main" val="2286193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24B4E-7019-FCF1-259F-70C1FB709B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5E1868-E595-788A-EE12-EB97CDD24814}"/>
              </a:ext>
            </a:extLst>
          </p:cNvPr>
          <p:cNvSpPr>
            <a:spLocks noGrp="1"/>
          </p:cNvSpPr>
          <p:nvPr>
            <p:ph type="ctrTitle"/>
          </p:nvPr>
        </p:nvSpPr>
        <p:spPr/>
        <p:txBody>
          <a:bodyPr>
            <a:normAutofit/>
          </a:bodyPr>
          <a:lstStyle/>
          <a:p>
            <a:r>
              <a:rPr lang="en-US"/>
              <a:t>Chebyshev’s Inequality</a:t>
            </a:r>
          </a:p>
        </p:txBody>
      </p:sp>
      <p:sp>
        <p:nvSpPr>
          <p:cNvPr id="3" name="Subtitle 2">
            <a:extLst>
              <a:ext uri="{FF2B5EF4-FFF2-40B4-BE49-F238E27FC236}">
                <a16:creationId xmlns:a16="http://schemas.microsoft.com/office/drawing/2014/main" id="{0B08478F-E62D-FC37-D766-2BC21BF3896E}"/>
              </a:ext>
            </a:extLst>
          </p:cNvPr>
          <p:cNvSpPr>
            <a:spLocks noGrp="1"/>
          </p:cNvSpPr>
          <p:nvPr>
            <p:ph type="subTitle" idx="1"/>
          </p:nvPr>
        </p:nvSpPr>
        <p:spPr/>
        <p:txBody>
          <a:bodyPr/>
          <a:lstStyle/>
          <a:p>
            <a:r>
              <a:rPr lang="en-US"/>
              <a:t>Lecture 22, CS70 Fall 2025</a:t>
            </a:r>
          </a:p>
        </p:txBody>
      </p:sp>
      <p:sp>
        <p:nvSpPr>
          <p:cNvPr id="6" name="Content Placeholder 5">
            <a:extLst>
              <a:ext uri="{FF2B5EF4-FFF2-40B4-BE49-F238E27FC236}">
                <a16:creationId xmlns:a16="http://schemas.microsoft.com/office/drawing/2014/main" id="{F8DC80B9-8BDE-876B-64BA-22228CFBBA79}"/>
              </a:ext>
            </a:extLst>
          </p:cNvPr>
          <p:cNvSpPr>
            <a:spLocks noGrp="1"/>
          </p:cNvSpPr>
          <p:nvPr>
            <p:ph sz="quarter" idx="10"/>
          </p:nvPr>
        </p:nvSpPr>
        <p:spPr/>
        <p:txBody>
          <a:bodyPr/>
          <a:lstStyle/>
          <a:p>
            <a:endParaRPr lang="en-US">
              <a:solidFill>
                <a:schemeClr val="bg1">
                  <a:lumMod val="65000"/>
                </a:schemeClr>
              </a:solidFill>
            </a:endParaRPr>
          </a:p>
          <a:p>
            <a:endParaRPr lang="en-US" b="1">
              <a:solidFill>
                <a:schemeClr val="accent3"/>
              </a:solidFill>
              <a:latin typeface="Inter" panose="02000503000000020004" pitchFamily="2" charset="0"/>
              <a:ea typeface="Inter" panose="02000503000000020004" pitchFamily="2" charset="0"/>
              <a:cs typeface="Inter" panose="02000503000000020004" pitchFamily="2" charset="0"/>
            </a:endParaRPr>
          </a:p>
        </p:txBody>
      </p:sp>
      <p:sp>
        <p:nvSpPr>
          <p:cNvPr id="4" name="Content Placeholder 5">
            <a:extLst>
              <a:ext uri="{FF2B5EF4-FFF2-40B4-BE49-F238E27FC236}">
                <a16:creationId xmlns:a16="http://schemas.microsoft.com/office/drawing/2014/main" id="{665E86C2-8249-5F59-EB14-AD9FDAD61FA8}"/>
              </a:ext>
            </a:extLst>
          </p:cNvPr>
          <p:cNvSpPr txBox="1">
            <a:spLocks/>
          </p:cNvSpPr>
          <p:nvPr/>
        </p:nvSpPr>
        <p:spPr>
          <a:xfrm>
            <a:off x="6248400" y="217487"/>
            <a:ext cx="6096000" cy="6716713"/>
          </a:xfrm>
          <a:prstGeom prst="rect">
            <a:avLst/>
          </a:prstGeom>
        </p:spPr>
        <p:txBody>
          <a:bodyPr anchor="ctr">
            <a:normAutofit/>
          </a:bodyPr>
          <a:lstStyle>
            <a:lvl1pPr marL="0" indent="0" algn="l" defTabSz="914377" rtl="0" eaLnBrk="1" latinLnBrk="0" hangingPunct="1">
              <a:lnSpc>
                <a:spcPct val="110000"/>
              </a:lnSpc>
              <a:spcBef>
                <a:spcPts val="1000"/>
              </a:spcBef>
              <a:buFont typeface="Arial" panose="020B0604020202020204" pitchFamily="34" charset="0"/>
              <a:buNone/>
              <a:defRPr sz="2400" b="0" i="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1pPr>
            <a:lvl2pPr marL="685783" indent="-228594" algn="l" defTabSz="914377" rtl="0" eaLnBrk="1" latinLnBrk="0" hangingPunct="1">
              <a:lnSpc>
                <a:spcPct val="90000"/>
              </a:lnSpc>
              <a:spcBef>
                <a:spcPts val="500"/>
              </a:spcBef>
              <a:buSzPct val="125000"/>
              <a:buFont typeface="Arial" panose="020B0604020202020204" pitchFamily="34" charset="0"/>
              <a:buChar char="•"/>
              <a:defRPr sz="2400" b="0" i="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2pPr>
            <a:lvl3pPr marL="1142971" indent="-228594" algn="l" defTabSz="914377" rtl="0" eaLnBrk="1" latinLnBrk="0" hangingPunct="1">
              <a:lnSpc>
                <a:spcPct val="90000"/>
              </a:lnSpc>
              <a:spcBef>
                <a:spcPts val="500"/>
              </a:spcBef>
              <a:buFont typeface="Courier New" panose="02070309020205020404" pitchFamily="49" charset="0"/>
              <a:buChar char="o"/>
              <a:defRPr sz="2400" b="0" i="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3pPr>
            <a:lvl4pPr marL="1600160" indent="-228594" algn="l" defTabSz="914377" rtl="0" eaLnBrk="1" latinLnBrk="0" hangingPunct="1">
              <a:lnSpc>
                <a:spcPct val="90000"/>
              </a:lnSpc>
              <a:spcBef>
                <a:spcPts val="500"/>
              </a:spcBef>
              <a:buFont typeface="Wingdings" pitchFamily="2" charset="2"/>
              <a:buChar char="§"/>
              <a:defRPr sz="2400" b="0" i="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4pPr>
            <a:lvl5pPr marL="2057349" indent="-228594" algn="l" defTabSz="914377" rtl="0" eaLnBrk="1" latinLnBrk="0" hangingPunct="1">
              <a:lnSpc>
                <a:spcPct val="90000"/>
              </a:lnSpc>
              <a:spcBef>
                <a:spcPts val="500"/>
              </a:spcBef>
              <a:buFont typeface="Arial" panose="020B0604020202020204" pitchFamily="34" charset="0"/>
              <a:buChar char="•"/>
              <a:defRPr sz="2400" b="0" i="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chemeClr val="bg1">
                    <a:lumMod val="65000"/>
                  </a:schemeClr>
                </a:solidFill>
              </a:rPr>
              <a:t>Estimating p for </a:t>
            </a:r>
            <a:r>
              <a:rPr lang="en-US" err="1">
                <a:solidFill>
                  <a:schemeClr val="bg1">
                    <a:lumMod val="65000"/>
                  </a:schemeClr>
                </a:solidFill>
              </a:rPr>
              <a:t>X~Bernoulli</a:t>
            </a:r>
            <a:r>
              <a:rPr lang="en-US">
                <a:solidFill>
                  <a:schemeClr val="bg1">
                    <a:lumMod val="65000"/>
                  </a:schemeClr>
                </a:solidFill>
              </a:rPr>
              <a:t>(p)</a:t>
            </a:r>
          </a:p>
          <a:p>
            <a:r>
              <a:rPr lang="en-US">
                <a:solidFill>
                  <a:schemeClr val="bg1">
                    <a:lumMod val="65000"/>
                  </a:schemeClr>
                </a:solidFill>
              </a:rPr>
              <a:t>Markov’s Inequality</a:t>
            </a:r>
          </a:p>
          <a:p>
            <a:r>
              <a:rPr lang="en-US" b="1">
                <a:solidFill>
                  <a:schemeClr val="accent3"/>
                </a:solidFill>
                <a:latin typeface="Inter" panose="02000503000000020004" pitchFamily="2" charset="0"/>
                <a:ea typeface="Inter" panose="02000503000000020004" pitchFamily="2" charset="0"/>
                <a:cs typeface="Inter" panose="02000503000000020004" pitchFamily="2" charset="0"/>
              </a:rPr>
              <a:t>Chebyshev’s Inequality</a:t>
            </a:r>
          </a:p>
          <a:p>
            <a:r>
              <a:rPr lang="en-US">
                <a:solidFill>
                  <a:schemeClr val="bg1">
                    <a:lumMod val="65000"/>
                  </a:schemeClr>
                </a:solidFill>
              </a:rPr>
              <a:t>The Chebyshev Bound for Number of Heads</a:t>
            </a:r>
          </a:p>
          <a:p>
            <a:r>
              <a:rPr lang="en-US">
                <a:solidFill>
                  <a:schemeClr val="tx2"/>
                </a:solidFill>
              </a:rPr>
              <a:t>The Chebyshev Bound for Estimating the Fairness of a Coin</a:t>
            </a:r>
            <a:endParaRPr lang="en-US">
              <a:solidFill>
                <a:schemeClr val="bg1">
                  <a:lumMod val="65000"/>
                </a:schemeClr>
              </a:solidFill>
            </a:endParaRPr>
          </a:p>
          <a:p>
            <a:r>
              <a:rPr lang="en-US">
                <a:solidFill>
                  <a:schemeClr val="bg1">
                    <a:lumMod val="65000"/>
                  </a:schemeClr>
                </a:solidFill>
              </a:rPr>
              <a:t>Weak Law of Large Numbers</a:t>
            </a:r>
          </a:p>
          <a:p>
            <a:r>
              <a:rPr lang="en-US">
                <a:solidFill>
                  <a:schemeClr val="bg1">
                    <a:lumMod val="65000"/>
                  </a:schemeClr>
                </a:solidFill>
              </a:rPr>
              <a:t>Bounds Beyond CS70</a:t>
            </a:r>
          </a:p>
        </p:txBody>
      </p:sp>
    </p:spTree>
    <p:extLst>
      <p:ext uri="{BB962C8B-B14F-4D97-AF65-F5344CB8AC3E}">
        <p14:creationId xmlns:p14="http://schemas.microsoft.com/office/powerpoint/2010/main" val="42523304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FC60B-1697-F4CE-17B0-0F1D7A414F8F}"/>
              </a:ext>
            </a:extLst>
          </p:cNvPr>
          <p:cNvSpPr>
            <a:spLocks noGrp="1"/>
          </p:cNvSpPr>
          <p:nvPr>
            <p:ph type="title"/>
          </p:nvPr>
        </p:nvSpPr>
        <p:spPr/>
        <p:txBody>
          <a:bodyPr/>
          <a:lstStyle/>
          <a:p>
            <a:r>
              <a:rPr lang="en-US"/>
              <a:t>Expectations and Distributions (Visually)</a:t>
            </a:r>
          </a:p>
        </p:txBody>
      </p:sp>
      <p:sp>
        <p:nvSpPr>
          <p:cNvPr id="3" name="Content Placeholder 2">
            <a:extLst>
              <a:ext uri="{FF2B5EF4-FFF2-40B4-BE49-F238E27FC236}">
                <a16:creationId xmlns:a16="http://schemas.microsoft.com/office/drawing/2014/main" id="{B234E46D-B105-A229-8F19-CDB385119F72}"/>
              </a:ext>
            </a:extLst>
          </p:cNvPr>
          <p:cNvSpPr>
            <a:spLocks noGrp="1"/>
          </p:cNvSpPr>
          <p:nvPr>
            <p:ph idx="1"/>
          </p:nvPr>
        </p:nvSpPr>
        <p:spPr/>
        <p:txBody>
          <a:bodyPr/>
          <a:lstStyle/>
          <a:p>
            <a:r>
              <a:rPr lang="en-US"/>
              <a:t>Consider the distribution below.</a:t>
            </a:r>
          </a:p>
          <a:p>
            <a:pPr marL="342900" indent="-342900">
              <a:buFont typeface="Arial" panose="020B0604020202020204" pitchFamily="34" charset="0"/>
              <a:buChar char="•"/>
            </a:pPr>
            <a:r>
              <a:rPr lang="en-US"/>
              <a:t>We can think of the expectation as the “center of mass” of the distribution. </a:t>
            </a:r>
          </a:p>
          <a:p>
            <a:pPr marL="342900" indent="-342900">
              <a:buFont typeface="Arial" panose="020B0604020202020204" pitchFamily="34" charset="0"/>
              <a:buChar char="•"/>
            </a:pPr>
            <a:r>
              <a:rPr lang="en-US"/>
              <a:t>Each value has mass equal to the height of the respective bar.</a:t>
            </a:r>
          </a:p>
        </p:txBody>
      </p:sp>
      <p:pic>
        <p:nvPicPr>
          <p:cNvPr id="4" name="Picture 3">
            <a:extLst>
              <a:ext uri="{FF2B5EF4-FFF2-40B4-BE49-F238E27FC236}">
                <a16:creationId xmlns:a16="http://schemas.microsoft.com/office/drawing/2014/main" id="{11CAAB40-9440-9B34-5E5C-D99195CF7351}"/>
              </a:ext>
            </a:extLst>
          </p:cNvPr>
          <p:cNvPicPr>
            <a:picLocks noChangeAspect="1"/>
          </p:cNvPicPr>
          <p:nvPr/>
        </p:nvPicPr>
        <p:blipFill>
          <a:blip r:embed="rId2"/>
          <a:stretch>
            <a:fillRect/>
          </a:stretch>
        </p:blipFill>
        <p:spPr>
          <a:xfrm>
            <a:off x="2471245" y="2429621"/>
            <a:ext cx="7249509" cy="4239189"/>
          </a:xfrm>
          <a:prstGeom prst="rect">
            <a:avLst/>
          </a:prstGeom>
        </p:spPr>
      </p:pic>
    </p:spTree>
    <p:extLst>
      <p:ext uri="{BB962C8B-B14F-4D97-AF65-F5344CB8AC3E}">
        <p14:creationId xmlns:p14="http://schemas.microsoft.com/office/powerpoint/2010/main" val="32511941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17DDD-D8AC-5C58-E4D9-DA9605A702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9632E8-774F-E693-053C-CF286F5233CF}"/>
              </a:ext>
            </a:extLst>
          </p:cNvPr>
          <p:cNvSpPr>
            <a:spLocks noGrp="1"/>
          </p:cNvSpPr>
          <p:nvPr>
            <p:ph type="title"/>
          </p:nvPr>
        </p:nvSpPr>
        <p:spPr/>
        <p:txBody>
          <a:bodyPr/>
          <a:lstStyle/>
          <a:p>
            <a:r>
              <a:rPr lang="en-US"/>
              <a:t>Markov’s Inequality Visually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0A90DF6-B727-13E2-2D02-93ABDFCD269B}"/>
                  </a:ext>
                </a:extLst>
              </p:cNvPr>
              <p:cNvSpPr>
                <a:spLocks noGrp="1"/>
              </p:cNvSpPr>
              <p:nvPr>
                <p:ph idx="1"/>
              </p:nvPr>
            </p:nvSpPr>
            <p:spPr/>
            <p:txBody>
              <a:bodyPr/>
              <a:lstStyle/>
              <a:p>
                <a:r>
                  <a:rPr lang="en-US"/>
                  <a:t>Markov’s inequality gives us a bound on how much mass there can be above some constant </a:t>
                </a:r>
                <a14:m>
                  <m:oMath xmlns:m="http://schemas.openxmlformats.org/officeDocument/2006/math">
                    <m:r>
                      <a:rPr lang="en-US" i="1" dirty="0" smtClean="0">
                        <a:latin typeface="Cambria Math" panose="02040503050406030204" pitchFamily="18" charset="0"/>
                      </a:rPr>
                      <m:t>𝑐</m:t>
                    </m:r>
                  </m:oMath>
                </a14:m>
                <a:r>
                  <a:rPr lang="en-US"/>
                  <a:t>. Example if </a:t>
                </a:r>
                <a14:m>
                  <m:oMath xmlns:m="http://schemas.openxmlformats.org/officeDocument/2006/math">
                    <m:r>
                      <a:rPr lang="en-US" b="0" i="1" smtClean="0">
                        <a:solidFill>
                          <a:schemeClr val="accent4"/>
                        </a:solidFill>
                        <a:latin typeface="Cambria Math" panose="02040503050406030204" pitchFamily="18" charset="0"/>
                      </a:rPr>
                      <m:t>𝑐</m:t>
                    </m:r>
                    <m:r>
                      <a:rPr lang="en-US" b="0" i="1" smtClean="0">
                        <a:solidFill>
                          <a:schemeClr val="accent4"/>
                        </a:solidFill>
                        <a:latin typeface="Cambria Math" panose="02040503050406030204" pitchFamily="18" charset="0"/>
                      </a:rPr>
                      <m:t>=2</m:t>
                    </m:r>
                    <m:r>
                      <a:rPr lang="en-US" i="1">
                        <a:solidFill>
                          <a:schemeClr val="accent4"/>
                        </a:solidFill>
                        <a:latin typeface="Cambria Math" panose="02040503050406030204" pitchFamily="18" charset="0"/>
                      </a:rPr>
                      <m:t>𝔼</m:t>
                    </m:r>
                    <m:d>
                      <m:dPr>
                        <m:begChr m:val="["/>
                        <m:endChr m:val="]"/>
                        <m:ctrlPr>
                          <a:rPr lang="en-US" i="1">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𝑋</m:t>
                        </m:r>
                      </m:e>
                    </m:d>
                  </m:oMath>
                </a14:m>
                <a:r>
                  <a:rPr lang="en-US"/>
                  <a:t> shown below.</a:t>
                </a:r>
              </a:p>
              <a:p>
                <a:endParaRPr lang="en-US"/>
              </a:p>
              <a:p>
                <a:endParaRPr lang="en-US"/>
              </a:p>
              <a:p>
                <a:endParaRPr lang="en-US"/>
              </a:p>
              <a:p>
                <a:endParaRPr lang="en-US"/>
              </a:p>
              <a:p>
                <a:endParaRPr lang="en-US"/>
              </a:p>
              <a:p>
                <a:endParaRPr lang="en-US"/>
              </a:p>
              <a:p>
                <a:endParaRPr lang="en-US"/>
              </a:p>
              <a:p>
                <a:endParaRPr lang="en-US"/>
              </a:p>
            </p:txBody>
          </p:sp>
        </mc:Choice>
        <mc:Fallback>
          <p:sp>
            <p:nvSpPr>
              <p:cNvPr id="3" name="Content Placeholder 2">
                <a:extLst>
                  <a:ext uri="{FF2B5EF4-FFF2-40B4-BE49-F238E27FC236}">
                    <a16:creationId xmlns:a16="http://schemas.microsoft.com/office/drawing/2014/main" id="{A0A90DF6-B727-13E2-2D02-93ABDFCD269B}"/>
                  </a:ext>
                </a:extLst>
              </p:cNvPr>
              <p:cNvSpPr>
                <a:spLocks noGrp="1" noRot="1" noChangeAspect="1" noMove="1" noResize="1" noEditPoints="1" noAdjustHandles="1" noChangeArrowheads="1" noChangeShapeType="1" noTextEdit="1"/>
              </p:cNvSpPr>
              <p:nvPr>
                <p:ph idx="1"/>
              </p:nvPr>
            </p:nvSpPr>
            <p:spPr>
              <a:blipFill>
                <a:blip r:embed="rId2"/>
                <a:stretch>
                  <a:fillRect l="-796" t="-541"/>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F2A6CF26-2C12-08A7-E66E-9BBE7A6B6E77}"/>
              </a:ext>
            </a:extLst>
          </p:cNvPr>
          <p:cNvPicPr>
            <a:picLocks noChangeAspect="1"/>
          </p:cNvPicPr>
          <p:nvPr/>
        </p:nvPicPr>
        <p:blipFill>
          <a:blip r:embed="rId3"/>
          <a:stretch>
            <a:fillRect/>
          </a:stretch>
        </p:blipFill>
        <p:spPr>
          <a:xfrm>
            <a:off x="2471245" y="2429621"/>
            <a:ext cx="7249509" cy="4239189"/>
          </a:xfrm>
          <a:prstGeom prst="rect">
            <a:avLst/>
          </a:prstGeom>
        </p:spPr>
      </p:pic>
      <p:cxnSp>
        <p:nvCxnSpPr>
          <p:cNvPr id="7" name="Straight Connector 6">
            <a:extLst>
              <a:ext uri="{FF2B5EF4-FFF2-40B4-BE49-F238E27FC236}">
                <a16:creationId xmlns:a16="http://schemas.microsoft.com/office/drawing/2014/main" id="{E5D3AF4F-B5FD-C0A1-18DE-270F8F6BCE64}"/>
              </a:ext>
            </a:extLst>
          </p:cNvPr>
          <p:cNvCxnSpPr>
            <a:cxnSpLocks/>
          </p:cNvCxnSpPr>
          <p:nvPr/>
        </p:nvCxnSpPr>
        <p:spPr>
          <a:xfrm flipV="1">
            <a:off x="8732346" y="2429621"/>
            <a:ext cx="0" cy="3650613"/>
          </a:xfrm>
          <a:prstGeom prst="line">
            <a:avLst/>
          </a:prstGeom>
          <a:ln w="31750">
            <a:solidFill>
              <a:schemeClr val="accent4"/>
            </a:solidFill>
            <a:prstDash val="dash"/>
          </a:ln>
        </p:spPr>
        <p:style>
          <a:lnRef idx="2">
            <a:schemeClr val="accent1"/>
          </a:lnRef>
          <a:fillRef idx="0">
            <a:schemeClr val="accent1"/>
          </a:fillRef>
          <a:effectRef idx="1">
            <a:schemeClr val="accent1"/>
          </a:effectRef>
          <a:fontRef idx="minor">
            <a:schemeClr val="tx1"/>
          </a:fontRef>
        </p:style>
      </p:cxnSp>
      <p:sp>
        <p:nvSpPr>
          <p:cNvPr id="11" name="Freeform 10">
            <a:extLst>
              <a:ext uri="{FF2B5EF4-FFF2-40B4-BE49-F238E27FC236}">
                <a16:creationId xmlns:a16="http://schemas.microsoft.com/office/drawing/2014/main" id="{551813EE-D5C3-9E10-F4E0-AC6800BD0FF5}"/>
              </a:ext>
            </a:extLst>
          </p:cNvPr>
          <p:cNvSpPr/>
          <p:nvPr/>
        </p:nvSpPr>
        <p:spPr>
          <a:xfrm>
            <a:off x="8898051" y="4748578"/>
            <a:ext cx="765120" cy="1499751"/>
          </a:xfrm>
          <a:custGeom>
            <a:avLst/>
            <a:gdLst>
              <a:gd name="connsiteX0" fmla="*/ 79229 w 765120"/>
              <a:gd name="connsiteY0" fmla="*/ 0 h 1499751"/>
              <a:gd name="connsiteX1" fmla="*/ 91929 w 765120"/>
              <a:gd name="connsiteY1" fmla="*/ 88900 h 1499751"/>
              <a:gd name="connsiteX2" fmla="*/ 104629 w 765120"/>
              <a:gd name="connsiteY2" fmla="*/ 838200 h 1499751"/>
              <a:gd name="connsiteX3" fmla="*/ 130029 w 765120"/>
              <a:gd name="connsiteY3" fmla="*/ 774700 h 1499751"/>
              <a:gd name="connsiteX4" fmla="*/ 180829 w 765120"/>
              <a:gd name="connsiteY4" fmla="*/ 609600 h 1499751"/>
              <a:gd name="connsiteX5" fmla="*/ 358629 w 765120"/>
              <a:gd name="connsiteY5" fmla="*/ 292100 h 1499751"/>
              <a:gd name="connsiteX6" fmla="*/ 460229 w 765120"/>
              <a:gd name="connsiteY6" fmla="*/ 152400 h 1499751"/>
              <a:gd name="connsiteX7" fmla="*/ 498329 w 765120"/>
              <a:gd name="connsiteY7" fmla="*/ 88900 h 1499751"/>
              <a:gd name="connsiteX8" fmla="*/ 599929 w 765120"/>
              <a:gd name="connsiteY8" fmla="*/ 25400 h 1499751"/>
              <a:gd name="connsiteX9" fmla="*/ 638029 w 765120"/>
              <a:gd name="connsiteY9" fmla="*/ 50800 h 1499751"/>
              <a:gd name="connsiteX10" fmla="*/ 574529 w 765120"/>
              <a:gd name="connsiteY10" fmla="*/ 393700 h 1499751"/>
              <a:gd name="connsiteX11" fmla="*/ 549129 w 765120"/>
              <a:gd name="connsiteY11" fmla="*/ 482600 h 1499751"/>
              <a:gd name="connsiteX12" fmla="*/ 498329 w 765120"/>
              <a:gd name="connsiteY12" fmla="*/ 558800 h 1499751"/>
              <a:gd name="connsiteX13" fmla="*/ 422129 w 765120"/>
              <a:gd name="connsiteY13" fmla="*/ 685800 h 1499751"/>
              <a:gd name="connsiteX14" fmla="*/ 409429 w 765120"/>
              <a:gd name="connsiteY14" fmla="*/ 368300 h 1499751"/>
              <a:gd name="connsiteX15" fmla="*/ 434829 w 765120"/>
              <a:gd name="connsiteY15" fmla="*/ 266700 h 1499751"/>
              <a:gd name="connsiteX16" fmla="*/ 396729 w 765120"/>
              <a:gd name="connsiteY16" fmla="*/ 393700 h 1499751"/>
              <a:gd name="connsiteX17" fmla="*/ 307829 w 765120"/>
              <a:gd name="connsiteY17" fmla="*/ 546100 h 1499751"/>
              <a:gd name="connsiteX18" fmla="*/ 206229 w 765120"/>
              <a:gd name="connsiteY18" fmla="*/ 673100 h 1499751"/>
              <a:gd name="connsiteX19" fmla="*/ 104629 w 765120"/>
              <a:gd name="connsiteY19" fmla="*/ 812800 h 1499751"/>
              <a:gd name="connsiteX20" fmla="*/ 66529 w 765120"/>
              <a:gd name="connsiteY20" fmla="*/ 850900 h 1499751"/>
              <a:gd name="connsiteX21" fmla="*/ 53829 w 765120"/>
              <a:gd name="connsiteY21" fmla="*/ 787400 h 1499751"/>
              <a:gd name="connsiteX22" fmla="*/ 231629 w 765120"/>
              <a:gd name="connsiteY22" fmla="*/ 406400 h 1499751"/>
              <a:gd name="connsiteX23" fmla="*/ 295129 w 765120"/>
              <a:gd name="connsiteY23" fmla="*/ 355600 h 1499751"/>
              <a:gd name="connsiteX24" fmla="*/ 371329 w 765120"/>
              <a:gd name="connsiteY24" fmla="*/ 292100 h 1499751"/>
              <a:gd name="connsiteX25" fmla="*/ 447529 w 765120"/>
              <a:gd name="connsiteY25" fmla="*/ 304800 h 1499751"/>
              <a:gd name="connsiteX26" fmla="*/ 409429 w 765120"/>
              <a:gd name="connsiteY26" fmla="*/ 431800 h 1499751"/>
              <a:gd name="connsiteX27" fmla="*/ 371329 w 765120"/>
              <a:gd name="connsiteY27" fmla="*/ 444500 h 1499751"/>
              <a:gd name="connsiteX28" fmla="*/ 345929 w 765120"/>
              <a:gd name="connsiteY28" fmla="*/ 406400 h 1499751"/>
              <a:gd name="connsiteX29" fmla="*/ 345929 w 765120"/>
              <a:gd name="connsiteY29" fmla="*/ 228600 h 1499751"/>
              <a:gd name="connsiteX30" fmla="*/ 434829 w 765120"/>
              <a:gd name="connsiteY30" fmla="*/ 241300 h 1499751"/>
              <a:gd name="connsiteX31" fmla="*/ 485629 w 765120"/>
              <a:gd name="connsiteY31" fmla="*/ 304800 h 1499751"/>
              <a:gd name="connsiteX32" fmla="*/ 523729 w 765120"/>
              <a:gd name="connsiteY32" fmla="*/ 406400 h 1499751"/>
              <a:gd name="connsiteX33" fmla="*/ 574529 w 765120"/>
              <a:gd name="connsiteY33" fmla="*/ 596900 h 1499751"/>
              <a:gd name="connsiteX34" fmla="*/ 587229 w 765120"/>
              <a:gd name="connsiteY34" fmla="*/ 1282700 h 1499751"/>
              <a:gd name="connsiteX35" fmla="*/ 549129 w 765120"/>
              <a:gd name="connsiteY35" fmla="*/ 977900 h 1499751"/>
              <a:gd name="connsiteX36" fmla="*/ 536429 w 765120"/>
              <a:gd name="connsiteY36" fmla="*/ 825500 h 1499751"/>
              <a:gd name="connsiteX37" fmla="*/ 574529 w 765120"/>
              <a:gd name="connsiteY37" fmla="*/ 355600 h 1499751"/>
              <a:gd name="connsiteX38" fmla="*/ 612629 w 765120"/>
              <a:gd name="connsiteY38" fmla="*/ 279400 h 1499751"/>
              <a:gd name="connsiteX39" fmla="*/ 688829 w 765120"/>
              <a:gd name="connsiteY39" fmla="*/ 215900 h 1499751"/>
              <a:gd name="connsiteX40" fmla="*/ 765029 w 765120"/>
              <a:gd name="connsiteY40" fmla="*/ 292100 h 1499751"/>
              <a:gd name="connsiteX41" fmla="*/ 752329 w 765120"/>
              <a:gd name="connsiteY41" fmla="*/ 508000 h 1499751"/>
              <a:gd name="connsiteX42" fmla="*/ 612629 w 765120"/>
              <a:gd name="connsiteY42" fmla="*/ 711200 h 1499751"/>
              <a:gd name="connsiteX43" fmla="*/ 485629 w 765120"/>
              <a:gd name="connsiteY43" fmla="*/ 825500 h 1499751"/>
              <a:gd name="connsiteX44" fmla="*/ 384029 w 765120"/>
              <a:gd name="connsiteY44" fmla="*/ 850900 h 1499751"/>
              <a:gd name="connsiteX45" fmla="*/ 257029 w 765120"/>
              <a:gd name="connsiteY45" fmla="*/ 838200 h 1499751"/>
              <a:gd name="connsiteX46" fmla="*/ 193529 w 765120"/>
              <a:gd name="connsiteY46" fmla="*/ 647700 h 1499751"/>
              <a:gd name="connsiteX47" fmla="*/ 231629 w 765120"/>
              <a:gd name="connsiteY47" fmla="*/ 266700 h 1499751"/>
              <a:gd name="connsiteX48" fmla="*/ 269729 w 765120"/>
              <a:gd name="connsiteY48" fmla="*/ 215900 h 1499751"/>
              <a:gd name="connsiteX49" fmla="*/ 358629 w 765120"/>
              <a:gd name="connsiteY49" fmla="*/ 139700 h 1499751"/>
              <a:gd name="connsiteX50" fmla="*/ 472929 w 765120"/>
              <a:gd name="connsiteY50" fmla="*/ 165100 h 1499751"/>
              <a:gd name="connsiteX51" fmla="*/ 498329 w 765120"/>
              <a:gd name="connsiteY51" fmla="*/ 241300 h 1499751"/>
              <a:gd name="connsiteX52" fmla="*/ 472929 w 765120"/>
              <a:gd name="connsiteY52" fmla="*/ 584200 h 1499751"/>
              <a:gd name="connsiteX53" fmla="*/ 447529 w 765120"/>
              <a:gd name="connsiteY53" fmla="*/ 660400 h 1499751"/>
              <a:gd name="connsiteX54" fmla="*/ 422129 w 765120"/>
              <a:gd name="connsiteY54" fmla="*/ 698500 h 1499751"/>
              <a:gd name="connsiteX55" fmla="*/ 384029 w 765120"/>
              <a:gd name="connsiteY55" fmla="*/ 723900 h 1499751"/>
              <a:gd name="connsiteX56" fmla="*/ 384029 w 765120"/>
              <a:gd name="connsiteY56" fmla="*/ 330200 h 1499751"/>
              <a:gd name="connsiteX57" fmla="*/ 422129 w 765120"/>
              <a:gd name="connsiteY57" fmla="*/ 292100 h 1499751"/>
              <a:gd name="connsiteX58" fmla="*/ 511029 w 765120"/>
              <a:gd name="connsiteY58" fmla="*/ 406400 h 1499751"/>
              <a:gd name="connsiteX59" fmla="*/ 498329 w 765120"/>
              <a:gd name="connsiteY59" fmla="*/ 762000 h 1499751"/>
              <a:gd name="connsiteX60" fmla="*/ 295129 w 765120"/>
              <a:gd name="connsiteY60" fmla="*/ 1219200 h 1499751"/>
              <a:gd name="connsiteX61" fmla="*/ 231629 w 765120"/>
              <a:gd name="connsiteY61" fmla="*/ 1320800 h 1499751"/>
              <a:gd name="connsiteX62" fmla="*/ 117329 w 765120"/>
              <a:gd name="connsiteY62" fmla="*/ 1498600 h 1499751"/>
              <a:gd name="connsiteX63" fmla="*/ 15729 w 765120"/>
              <a:gd name="connsiteY63" fmla="*/ 1485900 h 1499751"/>
              <a:gd name="connsiteX64" fmla="*/ 3029 w 765120"/>
              <a:gd name="connsiteY64" fmla="*/ 1384300 h 1499751"/>
              <a:gd name="connsiteX65" fmla="*/ 66529 w 765120"/>
              <a:gd name="connsiteY65" fmla="*/ 876300 h 1499751"/>
              <a:gd name="connsiteX66" fmla="*/ 168129 w 765120"/>
              <a:gd name="connsiteY66" fmla="*/ 749300 h 1499751"/>
              <a:gd name="connsiteX67" fmla="*/ 218929 w 765120"/>
              <a:gd name="connsiteY67" fmla="*/ 711200 h 1499751"/>
              <a:gd name="connsiteX68" fmla="*/ 295129 w 765120"/>
              <a:gd name="connsiteY68" fmla="*/ 685800 h 1499751"/>
              <a:gd name="connsiteX69" fmla="*/ 409429 w 765120"/>
              <a:gd name="connsiteY69" fmla="*/ 698500 h 1499751"/>
              <a:gd name="connsiteX70" fmla="*/ 447529 w 765120"/>
              <a:gd name="connsiteY70" fmla="*/ 825500 h 1499751"/>
              <a:gd name="connsiteX71" fmla="*/ 422129 w 765120"/>
              <a:gd name="connsiteY71" fmla="*/ 901700 h 1499751"/>
              <a:gd name="connsiteX72" fmla="*/ 320529 w 765120"/>
              <a:gd name="connsiteY72" fmla="*/ 965200 h 1499751"/>
              <a:gd name="connsiteX73" fmla="*/ 257029 w 765120"/>
              <a:gd name="connsiteY73" fmla="*/ 939800 h 1499751"/>
              <a:gd name="connsiteX74" fmla="*/ 244329 w 765120"/>
              <a:gd name="connsiteY74" fmla="*/ 876300 h 1499751"/>
              <a:gd name="connsiteX75" fmla="*/ 218929 w 765120"/>
              <a:gd name="connsiteY75" fmla="*/ 787400 h 1499751"/>
              <a:gd name="connsiteX76" fmla="*/ 282429 w 765120"/>
              <a:gd name="connsiteY76" fmla="*/ 381000 h 1499751"/>
              <a:gd name="connsiteX77" fmla="*/ 333229 w 765120"/>
              <a:gd name="connsiteY77" fmla="*/ 330200 h 1499751"/>
              <a:gd name="connsiteX78" fmla="*/ 371329 w 765120"/>
              <a:gd name="connsiteY78" fmla="*/ 304800 h 1499751"/>
              <a:gd name="connsiteX79" fmla="*/ 498329 w 765120"/>
              <a:gd name="connsiteY79" fmla="*/ 330200 h 1499751"/>
              <a:gd name="connsiteX80" fmla="*/ 511029 w 765120"/>
              <a:gd name="connsiteY80" fmla="*/ 381000 h 1499751"/>
              <a:gd name="connsiteX81" fmla="*/ 523729 w 765120"/>
              <a:gd name="connsiteY81" fmla="*/ 444500 h 1499751"/>
              <a:gd name="connsiteX82" fmla="*/ 460229 w 765120"/>
              <a:gd name="connsiteY82" fmla="*/ 850900 h 1499751"/>
              <a:gd name="connsiteX83" fmla="*/ 396729 w 765120"/>
              <a:gd name="connsiteY83" fmla="*/ 939800 h 1499751"/>
              <a:gd name="connsiteX84" fmla="*/ 371329 w 765120"/>
              <a:gd name="connsiteY84" fmla="*/ 977900 h 1499751"/>
              <a:gd name="connsiteX85" fmla="*/ 295129 w 765120"/>
              <a:gd name="connsiteY85" fmla="*/ 1003300 h 1499751"/>
              <a:gd name="connsiteX86" fmla="*/ 231629 w 765120"/>
              <a:gd name="connsiteY86" fmla="*/ 952500 h 1499751"/>
              <a:gd name="connsiteX87" fmla="*/ 218929 w 765120"/>
              <a:gd name="connsiteY87" fmla="*/ 863600 h 1499751"/>
              <a:gd name="connsiteX88" fmla="*/ 206229 w 765120"/>
              <a:gd name="connsiteY88" fmla="*/ 749300 h 1499751"/>
              <a:gd name="connsiteX89" fmla="*/ 231629 w 765120"/>
              <a:gd name="connsiteY89" fmla="*/ 457200 h 1499751"/>
              <a:gd name="connsiteX90" fmla="*/ 269729 w 765120"/>
              <a:gd name="connsiteY90" fmla="*/ 381000 h 1499751"/>
              <a:gd name="connsiteX91" fmla="*/ 333229 w 765120"/>
              <a:gd name="connsiteY91" fmla="*/ 317500 h 1499751"/>
              <a:gd name="connsiteX92" fmla="*/ 447529 w 765120"/>
              <a:gd name="connsiteY92" fmla="*/ 241300 h 1499751"/>
              <a:gd name="connsiteX93" fmla="*/ 625329 w 765120"/>
              <a:gd name="connsiteY93" fmla="*/ 279400 h 1499751"/>
              <a:gd name="connsiteX94" fmla="*/ 650729 w 765120"/>
              <a:gd name="connsiteY94" fmla="*/ 330200 h 1499751"/>
              <a:gd name="connsiteX95" fmla="*/ 676129 w 765120"/>
              <a:gd name="connsiteY95" fmla="*/ 520700 h 1499751"/>
              <a:gd name="connsiteX96" fmla="*/ 650729 w 765120"/>
              <a:gd name="connsiteY96" fmla="*/ 736600 h 1499751"/>
              <a:gd name="connsiteX97" fmla="*/ 612629 w 765120"/>
              <a:gd name="connsiteY97" fmla="*/ 812800 h 1499751"/>
              <a:gd name="connsiteX98" fmla="*/ 498329 w 765120"/>
              <a:gd name="connsiteY98" fmla="*/ 927100 h 1499751"/>
              <a:gd name="connsiteX99" fmla="*/ 460229 w 765120"/>
              <a:gd name="connsiteY99" fmla="*/ 939800 h 1499751"/>
              <a:gd name="connsiteX100" fmla="*/ 384029 w 765120"/>
              <a:gd name="connsiteY100" fmla="*/ 914400 h 1499751"/>
              <a:gd name="connsiteX101" fmla="*/ 345929 w 765120"/>
              <a:gd name="connsiteY101" fmla="*/ 749300 h 1499751"/>
              <a:gd name="connsiteX102" fmla="*/ 358629 w 765120"/>
              <a:gd name="connsiteY102" fmla="*/ 533400 h 1499751"/>
              <a:gd name="connsiteX103" fmla="*/ 396729 w 765120"/>
              <a:gd name="connsiteY103" fmla="*/ 469900 h 1499751"/>
              <a:gd name="connsiteX104" fmla="*/ 472929 w 765120"/>
              <a:gd name="connsiteY104" fmla="*/ 406400 h 1499751"/>
              <a:gd name="connsiteX105" fmla="*/ 599929 w 765120"/>
              <a:gd name="connsiteY105" fmla="*/ 444500 h 1499751"/>
              <a:gd name="connsiteX106" fmla="*/ 612629 w 765120"/>
              <a:gd name="connsiteY106" fmla="*/ 495300 h 1499751"/>
              <a:gd name="connsiteX107" fmla="*/ 625329 w 765120"/>
              <a:gd name="connsiteY107" fmla="*/ 558800 h 1499751"/>
              <a:gd name="connsiteX108" fmla="*/ 612629 w 765120"/>
              <a:gd name="connsiteY108" fmla="*/ 863600 h 1499751"/>
              <a:gd name="connsiteX109" fmla="*/ 561829 w 765120"/>
              <a:gd name="connsiteY109" fmla="*/ 939800 h 1499751"/>
              <a:gd name="connsiteX110" fmla="*/ 472929 w 765120"/>
              <a:gd name="connsiteY110" fmla="*/ 1079500 h 1499751"/>
              <a:gd name="connsiteX111" fmla="*/ 434829 w 765120"/>
              <a:gd name="connsiteY111" fmla="*/ 1130300 h 1499751"/>
              <a:gd name="connsiteX112" fmla="*/ 282429 w 765120"/>
              <a:gd name="connsiteY112" fmla="*/ 1193800 h 1499751"/>
              <a:gd name="connsiteX113" fmla="*/ 295129 w 765120"/>
              <a:gd name="connsiteY113" fmla="*/ 1041400 h 1499751"/>
              <a:gd name="connsiteX114" fmla="*/ 396729 w 765120"/>
              <a:gd name="connsiteY114" fmla="*/ 990600 h 1499751"/>
              <a:gd name="connsiteX115" fmla="*/ 523729 w 765120"/>
              <a:gd name="connsiteY115" fmla="*/ 1003300 h 1499751"/>
              <a:gd name="connsiteX116" fmla="*/ 523729 w 765120"/>
              <a:gd name="connsiteY116" fmla="*/ 1092200 h 1499751"/>
              <a:gd name="connsiteX117" fmla="*/ 485629 w 765120"/>
              <a:gd name="connsiteY117" fmla="*/ 1117600 h 1499751"/>
              <a:gd name="connsiteX118" fmla="*/ 587229 w 765120"/>
              <a:gd name="connsiteY118" fmla="*/ 1092200 h 1499751"/>
              <a:gd name="connsiteX119" fmla="*/ 676129 w 765120"/>
              <a:gd name="connsiteY119" fmla="*/ 1092200 h 149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765120" h="1499751">
                <a:moveTo>
                  <a:pt x="79229" y="0"/>
                </a:moveTo>
                <a:cubicBezTo>
                  <a:pt x="83462" y="29633"/>
                  <a:pt x="91022" y="58980"/>
                  <a:pt x="91929" y="88900"/>
                </a:cubicBezTo>
                <a:cubicBezTo>
                  <a:pt x="99495" y="338588"/>
                  <a:pt x="90772" y="588782"/>
                  <a:pt x="104629" y="838200"/>
                </a:cubicBezTo>
                <a:cubicBezTo>
                  <a:pt x="105894" y="860962"/>
                  <a:pt x="122820" y="796327"/>
                  <a:pt x="130029" y="774700"/>
                </a:cubicBezTo>
                <a:cubicBezTo>
                  <a:pt x="148237" y="720075"/>
                  <a:pt x="160331" y="663407"/>
                  <a:pt x="180829" y="609600"/>
                </a:cubicBezTo>
                <a:cubicBezTo>
                  <a:pt x="209667" y="533900"/>
                  <a:pt x="343198" y="318847"/>
                  <a:pt x="358629" y="292100"/>
                </a:cubicBezTo>
                <a:cubicBezTo>
                  <a:pt x="433974" y="161503"/>
                  <a:pt x="384312" y="203011"/>
                  <a:pt x="460229" y="152400"/>
                </a:cubicBezTo>
                <a:cubicBezTo>
                  <a:pt x="472929" y="131233"/>
                  <a:pt x="481930" y="107349"/>
                  <a:pt x="498329" y="88900"/>
                </a:cubicBezTo>
                <a:cubicBezTo>
                  <a:pt x="541923" y="39857"/>
                  <a:pt x="551107" y="41674"/>
                  <a:pt x="599929" y="25400"/>
                </a:cubicBezTo>
                <a:cubicBezTo>
                  <a:pt x="612629" y="33867"/>
                  <a:pt x="638029" y="35536"/>
                  <a:pt x="638029" y="50800"/>
                </a:cubicBezTo>
                <a:cubicBezTo>
                  <a:pt x="638029" y="310756"/>
                  <a:pt x="650763" y="279349"/>
                  <a:pt x="574529" y="393700"/>
                </a:cubicBezTo>
                <a:cubicBezTo>
                  <a:pt x="566062" y="423333"/>
                  <a:pt x="562044" y="454617"/>
                  <a:pt x="549129" y="482600"/>
                </a:cubicBezTo>
                <a:cubicBezTo>
                  <a:pt x="536336" y="510317"/>
                  <a:pt x="513711" y="532431"/>
                  <a:pt x="498329" y="558800"/>
                </a:cubicBezTo>
                <a:cubicBezTo>
                  <a:pt x="415088" y="701498"/>
                  <a:pt x="503858" y="576828"/>
                  <a:pt x="422129" y="685800"/>
                </a:cubicBezTo>
                <a:cubicBezTo>
                  <a:pt x="380227" y="539142"/>
                  <a:pt x="383966" y="588983"/>
                  <a:pt x="409429" y="368300"/>
                </a:cubicBezTo>
                <a:cubicBezTo>
                  <a:pt x="413430" y="333621"/>
                  <a:pt x="444860" y="233263"/>
                  <a:pt x="434829" y="266700"/>
                </a:cubicBezTo>
                <a:cubicBezTo>
                  <a:pt x="422129" y="309033"/>
                  <a:pt x="415018" y="353464"/>
                  <a:pt x="396729" y="393700"/>
                </a:cubicBezTo>
                <a:cubicBezTo>
                  <a:pt x="372393" y="447240"/>
                  <a:pt x="345479" y="500920"/>
                  <a:pt x="307829" y="546100"/>
                </a:cubicBezTo>
                <a:cubicBezTo>
                  <a:pt x="260946" y="602360"/>
                  <a:pt x="244854" y="619025"/>
                  <a:pt x="206229" y="673100"/>
                </a:cubicBezTo>
                <a:cubicBezTo>
                  <a:pt x="170773" y="722738"/>
                  <a:pt x="152749" y="764680"/>
                  <a:pt x="104629" y="812800"/>
                </a:cubicBezTo>
                <a:lnTo>
                  <a:pt x="66529" y="850900"/>
                </a:lnTo>
                <a:cubicBezTo>
                  <a:pt x="62296" y="829733"/>
                  <a:pt x="48975" y="808433"/>
                  <a:pt x="53829" y="787400"/>
                </a:cubicBezTo>
                <a:cubicBezTo>
                  <a:pt x="130475" y="455266"/>
                  <a:pt x="99371" y="604787"/>
                  <a:pt x="231629" y="406400"/>
                </a:cubicBezTo>
                <a:cubicBezTo>
                  <a:pt x="264455" y="357161"/>
                  <a:pt x="242549" y="373127"/>
                  <a:pt x="295129" y="355600"/>
                </a:cubicBezTo>
                <a:cubicBezTo>
                  <a:pt x="305011" y="345718"/>
                  <a:pt x="351437" y="294310"/>
                  <a:pt x="371329" y="292100"/>
                </a:cubicBezTo>
                <a:cubicBezTo>
                  <a:pt x="396922" y="289256"/>
                  <a:pt x="422129" y="300567"/>
                  <a:pt x="447529" y="304800"/>
                </a:cubicBezTo>
                <a:cubicBezTo>
                  <a:pt x="441971" y="343705"/>
                  <a:pt x="446691" y="401990"/>
                  <a:pt x="409429" y="431800"/>
                </a:cubicBezTo>
                <a:cubicBezTo>
                  <a:pt x="398976" y="440163"/>
                  <a:pt x="384029" y="440267"/>
                  <a:pt x="371329" y="444500"/>
                </a:cubicBezTo>
                <a:cubicBezTo>
                  <a:pt x="362862" y="431800"/>
                  <a:pt x="351942" y="420429"/>
                  <a:pt x="345929" y="406400"/>
                </a:cubicBezTo>
                <a:cubicBezTo>
                  <a:pt x="319800" y="345432"/>
                  <a:pt x="339074" y="297148"/>
                  <a:pt x="345929" y="228600"/>
                </a:cubicBezTo>
                <a:cubicBezTo>
                  <a:pt x="375562" y="232833"/>
                  <a:pt x="408550" y="226966"/>
                  <a:pt x="434829" y="241300"/>
                </a:cubicBezTo>
                <a:cubicBezTo>
                  <a:pt x="458626" y="254280"/>
                  <a:pt x="472778" y="280933"/>
                  <a:pt x="485629" y="304800"/>
                </a:cubicBezTo>
                <a:cubicBezTo>
                  <a:pt x="502777" y="336646"/>
                  <a:pt x="511564" y="372338"/>
                  <a:pt x="523729" y="406400"/>
                </a:cubicBezTo>
                <a:cubicBezTo>
                  <a:pt x="557031" y="499645"/>
                  <a:pt x="549794" y="485591"/>
                  <a:pt x="574529" y="596900"/>
                </a:cubicBezTo>
                <a:cubicBezTo>
                  <a:pt x="615446" y="985613"/>
                  <a:pt x="602239" y="757355"/>
                  <a:pt x="587229" y="1282700"/>
                </a:cubicBezTo>
                <a:cubicBezTo>
                  <a:pt x="523047" y="1154336"/>
                  <a:pt x="566673" y="1258606"/>
                  <a:pt x="549129" y="977900"/>
                </a:cubicBezTo>
                <a:cubicBezTo>
                  <a:pt x="545949" y="927023"/>
                  <a:pt x="540662" y="876300"/>
                  <a:pt x="536429" y="825500"/>
                </a:cubicBezTo>
                <a:cubicBezTo>
                  <a:pt x="549129" y="668867"/>
                  <a:pt x="552812" y="511240"/>
                  <a:pt x="574529" y="355600"/>
                </a:cubicBezTo>
                <a:cubicBezTo>
                  <a:pt x="578453" y="327474"/>
                  <a:pt x="594646" y="301379"/>
                  <a:pt x="612629" y="279400"/>
                </a:cubicBezTo>
                <a:cubicBezTo>
                  <a:pt x="633566" y="253810"/>
                  <a:pt x="663429" y="237067"/>
                  <a:pt x="688829" y="215900"/>
                </a:cubicBezTo>
                <a:cubicBezTo>
                  <a:pt x="756562" y="229447"/>
                  <a:pt x="765029" y="210820"/>
                  <a:pt x="765029" y="292100"/>
                </a:cubicBezTo>
                <a:cubicBezTo>
                  <a:pt x="765029" y="364191"/>
                  <a:pt x="767032" y="437424"/>
                  <a:pt x="752329" y="508000"/>
                </a:cubicBezTo>
                <a:cubicBezTo>
                  <a:pt x="743417" y="550779"/>
                  <a:pt x="629378" y="694451"/>
                  <a:pt x="612629" y="711200"/>
                </a:cubicBezTo>
                <a:cubicBezTo>
                  <a:pt x="590265" y="733564"/>
                  <a:pt x="517897" y="810607"/>
                  <a:pt x="485629" y="825500"/>
                </a:cubicBezTo>
                <a:cubicBezTo>
                  <a:pt x="453933" y="840129"/>
                  <a:pt x="384029" y="850900"/>
                  <a:pt x="384029" y="850900"/>
                </a:cubicBezTo>
                <a:lnTo>
                  <a:pt x="257029" y="838200"/>
                </a:lnTo>
                <a:cubicBezTo>
                  <a:pt x="231496" y="822487"/>
                  <a:pt x="198251" y="666589"/>
                  <a:pt x="193529" y="647700"/>
                </a:cubicBezTo>
                <a:cubicBezTo>
                  <a:pt x="174114" y="472965"/>
                  <a:pt x="165915" y="501391"/>
                  <a:pt x="231629" y="266700"/>
                </a:cubicBezTo>
                <a:cubicBezTo>
                  <a:pt x="237336" y="246317"/>
                  <a:pt x="255791" y="231830"/>
                  <a:pt x="269729" y="215900"/>
                </a:cubicBezTo>
                <a:cubicBezTo>
                  <a:pt x="312844" y="166626"/>
                  <a:pt x="312381" y="170532"/>
                  <a:pt x="358629" y="139700"/>
                </a:cubicBezTo>
                <a:cubicBezTo>
                  <a:pt x="396729" y="148167"/>
                  <a:pt x="441365" y="142144"/>
                  <a:pt x="472929" y="165100"/>
                </a:cubicBezTo>
                <a:cubicBezTo>
                  <a:pt x="494582" y="180848"/>
                  <a:pt x="498329" y="241300"/>
                  <a:pt x="498329" y="241300"/>
                </a:cubicBezTo>
                <a:cubicBezTo>
                  <a:pt x="489862" y="355600"/>
                  <a:pt x="486721" y="470420"/>
                  <a:pt x="472929" y="584200"/>
                </a:cubicBezTo>
                <a:cubicBezTo>
                  <a:pt x="469707" y="610779"/>
                  <a:pt x="462381" y="638123"/>
                  <a:pt x="447529" y="660400"/>
                </a:cubicBezTo>
                <a:cubicBezTo>
                  <a:pt x="439062" y="673100"/>
                  <a:pt x="432922" y="687707"/>
                  <a:pt x="422129" y="698500"/>
                </a:cubicBezTo>
                <a:cubicBezTo>
                  <a:pt x="411336" y="709293"/>
                  <a:pt x="396729" y="715433"/>
                  <a:pt x="384029" y="723900"/>
                </a:cubicBezTo>
                <a:cubicBezTo>
                  <a:pt x="353785" y="572682"/>
                  <a:pt x="349791" y="578427"/>
                  <a:pt x="384029" y="330200"/>
                </a:cubicBezTo>
                <a:cubicBezTo>
                  <a:pt x="386483" y="312408"/>
                  <a:pt x="409429" y="304800"/>
                  <a:pt x="422129" y="292100"/>
                </a:cubicBezTo>
                <a:cubicBezTo>
                  <a:pt x="502206" y="332139"/>
                  <a:pt x="511029" y="310873"/>
                  <a:pt x="511029" y="406400"/>
                </a:cubicBezTo>
                <a:cubicBezTo>
                  <a:pt x="511029" y="525009"/>
                  <a:pt x="513041" y="644307"/>
                  <a:pt x="498329" y="762000"/>
                </a:cubicBezTo>
                <a:cubicBezTo>
                  <a:pt x="482888" y="885529"/>
                  <a:pt x="320269" y="1156351"/>
                  <a:pt x="295129" y="1219200"/>
                </a:cubicBezTo>
                <a:cubicBezTo>
                  <a:pt x="236589" y="1365550"/>
                  <a:pt x="306703" y="1214445"/>
                  <a:pt x="231629" y="1320800"/>
                </a:cubicBezTo>
                <a:cubicBezTo>
                  <a:pt x="190998" y="1378361"/>
                  <a:pt x="117329" y="1498600"/>
                  <a:pt x="117329" y="1498600"/>
                </a:cubicBezTo>
                <a:cubicBezTo>
                  <a:pt x="83462" y="1494367"/>
                  <a:pt x="39863" y="1510034"/>
                  <a:pt x="15729" y="1485900"/>
                </a:cubicBezTo>
                <a:cubicBezTo>
                  <a:pt x="-8405" y="1461766"/>
                  <a:pt x="2197" y="1418420"/>
                  <a:pt x="3029" y="1384300"/>
                </a:cubicBezTo>
                <a:cubicBezTo>
                  <a:pt x="8337" y="1166681"/>
                  <a:pt x="-21625" y="1040014"/>
                  <a:pt x="66529" y="876300"/>
                </a:cubicBezTo>
                <a:cubicBezTo>
                  <a:pt x="95565" y="822375"/>
                  <a:pt x="123236" y="788581"/>
                  <a:pt x="168129" y="749300"/>
                </a:cubicBezTo>
                <a:cubicBezTo>
                  <a:pt x="184059" y="735362"/>
                  <a:pt x="199997" y="720666"/>
                  <a:pt x="218929" y="711200"/>
                </a:cubicBezTo>
                <a:cubicBezTo>
                  <a:pt x="242876" y="699226"/>
                  <a:pt x="295129" y="685800"/>
                  <a:pt x="295129" y="685800"/>
                </a:cubicBezTo>
                <a:cubicBezTo>
                  <a:pt x="333229" y="690033"/>
                  <a:pt x="375775" y="680143"/>
                  <a:pt x="409429" y="698500"/>
                </a:cubicBezTo>
                <a:cubicBezTo>
                  <a:pt x="428183" y="708730"/>
                  <a:pt x="444241" y="809062"/>
                  <a:pt x="447529" y="825500"/>
                </a:cubicBezTo>
                <a:cubicBezTo>
                  <a:pt x="439062" y="850900"/>
                  <a:pt x="435132" y="878295"/>
                  <a:pt x="422129" y="901700"/>
                </a:cubicBezTo>
                <a:cubicBezTo>
                  <a:pt x="398892" y="943527"/>
                  <a:pt x="361378" y="948860"/>
                  <a:pt x="320529" y="965200"/>
                </a:cubicBezTo>
                <a:cubicBezTo>
                  <a:pt x="299362" y="956733"/>
                  <a:pt x="271865" y="957109"/>
                  <a:pt x="257029" y="939800"/>
                </a:cubicBezTo>
                <a:cubicBezTo>
                  <a:pt x="242981" y="923411"/>
                  <a:pt x="249564" y="897241"/>
                  <a:pt x="244329" y="876300"/>
                </a:cubicBezTo>
                <a:cubicBezTo>
                  <a:pt x="236854" y="846401"/>
                  <a:pt x="227396" y="817033"/>
                  <a:pt x="218929" y="787400"/>
                </a:cubicBezTo>
                <a:cubicBezTo>
                  <a:pt x="232096" y="609652"/>
                  <a:pt x="188388" y="501909"/>
                  <a:pt x="282429" y="381000"/>
                </a:cubicBezTo>
                <a:cubicBezTo>
                  <a:pt x="297131" y="362097"/>
                  <a:pt x="315047" y="345785"/>
                  <a:pt x="333229" y="330200"/>
                </a:cubicBezTo>
                <a:cubicBezTo>
                  <a:pt x="344818" y="320267"/>
                  <a:pt x="358629" y="313267"/>
                  <a:pt x="371329" y="304800"/>
                </a:cubicBezTo>
                <a:cubicBezTo>
                  <a:pt x="413662" y="313267"/>
                  <a:pt x="460429" y="309527"/>
                  <a:pt x="498329" y="330200"/>
                </a:cubicBezTo>
                <a:cubicBezTo>
                  <a:pt x="513652" y="338558"/>
                  <a:pt x="507243" y="363961"/>
                  <a:pt x="511029" y="381000"/>
                </a:cubicBezTo>
                <a:cubicBezTo>
                  <a:pt x="515712" y="402072"/>
                  <a:pt x="519496" y="423333"/>
                  <a:pt x="523729" y="444500"/>
                </a:cubicBezTo>
                <a:cubicBezTo>
                  <a:pt x="511793" y="547947"/>
                  <a:pt x="513602" y="730811"/>
                  <a:pt x="460229" y="850900"/>
                </a:cubicBezTo>
                <a:cubicBezTo>
                  <a:pt x="453187" y="866745"/>
                  <a:pt x="402248" y="932074"/>
                  <a:pt x="396729" y="939800"/>
                </a:cubicBezTo>
                <a:cubicBezTo>
                  <a:pt x="387857" y="952220"/>
                  <a:pt x="384272" y="969810"/>
                  <a:pt x="371329" y="977900"/>
                </a:cubicBezTo>
                <a:cubicBezTo>
                  <a:pt x="348625" y="992090"/>
                  <a:pt x="320529" y="994833"/>
                  <a:pt x="295129" y="1003300"/>
                </a:cubicBezTo>
                <a:cubicBezTo>
                  <a:pt x="273962" y="986367"/>
                  <a:pt x="244609" y="976297"/>
                  <a:pt x="231629" y="952500"/>
                </a:cubicBezTo>
                <a:cubicBezTo>
                  <a:pt x="217295" y="926221"/>
                  <a:pt x="222642" y="893303"/>
                  <a:pt x="218929" y="863600"/>
                </a:cubicBezTo>
                <a:cubicBezTo>
                  <a:pt x="214174" y="825562"/>
                  <a:pt x="210462" y="787400"/>
                  <a:pt x="206229" y="749300"/>
                </a:cubicBezTo>
                <a:cubicBezTo>
                  <a:pt x="214696" y="651933"/>
                  <a:pt x="215023" y="553513"/>
                  <a:pt x="231629" y="457200"/>
                </a:cubicBezTo>
                <a:cubicBezTo>
                  <a:pt x="236454" y="429215"/>
                  <a:pt x="253026" y="403967"/>
                  <a:pt x="269729" y="381000"/>
                </a:cubicBezTo>
                <a:cubicBezTo>
                  <a:pt x="287335" y="356791"/>
                  <a:pt x="310979" y="337525"/>
                  <a:pt x="333229" y="317500"/>
                </a:cubicBezTo>
                <a:cubicBezTo>
                  <a:pt x="391942" y="264659"/>
                  <a:pt x="386153" y="271988"/>
                  <a:pt x="447529" y="241300"/>
                </a:cubicBezTo>
                <a:cubicBezTo>
                  <a:pt x="488991" y="245069"/>
                  <a:pt x="585353" y="231429"/>
                  <a:pt x="625329" y="279400"/>
                </a:cubicBezTo>
                <a:cubicBezTo>
                  <a:pt x="637449" y="293944"/>
                  <a:pt x="642262" y="313267"/>
                  <a:pt x="650729" y="330200"/>
                </a:cubicBezTo>
                <a:cubicBezTo>
                  <a:pt x="663062" y="391866"/>
                  <a:pt x="678449" y="458061"/>
                  <a:pt x="676129" y="520700"/>
                </a:cubicBezTo>
                <a:cubicBezTo>
                  <a:pt x="673447" y="593113"/>
                  <a:pt x="666122" y="665791"/>
                  <a:pt x="650729" y="736600"/>
                </a:cubicBezTo>
                <a:cubicBezTo>
                  <a:pt x="644696" y="764350"/>
                  <a:pt x="627240" y="788449"/>
                  <a:pt x="612629" y="812800"/>
                </a:cubicBezTo>
                <a:cubicBezTo>
                  <a:pt x="583869" y="860733"/>
                  <a:pt x="545212" y="895845"/>
                  <a:pt x="498329" y="927100"/>
                </a:cubicBezTo>
                <a:cubicBezTo>
                  <a:pt x="487190" y="934526"/>
                  <a:pt x="472929" y="935567"/>
                  <a:pt x="460229" y="939800"/>
                </a:cubicBezTo>
                <a:cubicBezTo>
                  <a:pt x="434829" y="931333"/>
                  <a:pt x="404178" y="932031"/>
                  <a:pt x="384029" y="914400"/>
                </a:cubicBezTo>
                <a:cubicBezTo>
                  <a:pt x="354637" y="888682"/>
                  <a:pt x="348456" y="769514"/>
                  <a:pt x="345929" y="749300"/>
                </a:cubicBezTo>
                <a:cubicBezTo>
                  <a:pt x="350162" y="677333"/>
                  <a:pt x="345733" y="604328"/>
                  <a:pt x="358629" y="533400"/>
                </a:cubicBezTo>
                <a:cubicBezTo>
                  <a:pt x="363045" y="509114"/>
                  <a:pt x="381918" y="489647"/>
                  <a:pt x="396729" y="469900"/>
                </a:cubicBezTo>
                <a:cubicBezTo>
                  <a:pt x="421175" y="437305"/>
                  <a:pt x="440660" y="427912"/>
                  <a:pt x="472929" y="406400"/>
                </a:cubicBezTo>
                <a:cubicBezTo>
                  <a:pt x="515262" y="419100"/>
                  <a:pt x="562641" y="420772"/>
                  <a:pt x="599929" y="444500"/>
                </a:cubicBezTo>
                <a:cubicBezTo>
                  <a:pt x="614655" y="453871"/>
                  <a:pt x="608843" y="478261"/>
                  <a:pt x="612629" y="495300"/>
                </a:cubicBezTo>
                <a:cubicBezTo>
                  <a:pt x="617312" y="516372"/>
                  <a:pt x="621096" y="537633"/>
                  <a:pt x="625329" y="558800"/>
                </a:cubicBezTo>
                <a:cubicBezTo>
                  <a:pt x="621096" y="660400"/>
                  <a:pt x="629346" y="763295"/>
                  <a:pt x="612629" y="863600"/>
                </a:cubicBezTo>
                <a:cubicBezTo>
                  <a:pt x="607610" y="893712"/>
                  <a:pt x="578218" y="914046"/>
                  <a:pt x="561829" y="939800"/>
                </a:cubicBezTo>
                <a:cubicBezTo>
                  <a:pt x="498227" y="1039746"/>
                  <a:pt x="549536" y="970061"/>
                  <a:pt x="472929" y="1079500"/>
                </a:cubicBezTo>
                <a:cubicBezTo>
                  <a:pt x="460791" y="1096840"/>
                  <a:pt x="451947" y="1117850"/>
                  <a:pt x="434829" y="1130300"/>
                </a:cubicBezTo>
                <a:cubicBezTo>
                  <a:pt x="373432" y="1174952"/>
                  <a:pt x="344233" y="1178349"/>
                  <a:pt x="282429" y="1193800"/>
                </a:cubicBezTo>
                <a:cubicBezTo>
                  <a:pt x="245813" y="1138875"/>
                  <a:pt x="223099" y="1126526"/>
                  <a:pt x="295129" y="1041400"/>
                </a:cubicBezTo>
                <a:cubicBezTo>
                  <a:pt x="319587" y="1012495"/>
                  <a:pt x="396729" y="990600"/>
                  <a:pt x="396729" y="990600"/>
                </a:cubicBezTo>
                <a:cubicBezTo>
                  <a:pt x="439062" y="994833"/>
                  <a:pt x="483746" y="988761"/>
                  <a:pt x="523729" y="1003300"/>
                </a:cubicBezTo>
                <a:cubicBezTo>
                  <a:pt x="551316" y="1013332"/>
                  <a:pt x="527463" y="1086600"/>
                  <a:pt x="523729" y="1092200"/>
                </a:cubicBezTo>
                <a:cubicBezTo>
                  <a:pt x="515262" y="1104900"/>
                  <a:pt x="470365" y="1117600"/>
                  <a:pt x="485629" y="1117600"/>
                </a:cubicBezTo>
                <a:cubicBezTo>
                  <a:pt x="520538" y="1117600"/>
                  <a:pt x="552320" y="1092200"/>
                  <a:pt x="587229" y="1092200"/>
                </a:cubicBezTo>
                <a:lnTo>
                  <a:pt x="676129" y="109220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EDBAAFEC-CC4B-E6ED-8EA9-71CFD511D609}"/>
                  </a:ext>
                </a:extLst>
              </p:cNvPr>
              <p:cNvSpPr txBox="1"/>
              <p:nvPr/>
            </p:nvSpPr>
            <p:spPr>
              <a:xfrm>
                <a:off x="6845300" y="4198121"/>
                <a:ext cx="61468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4"/>
                          </a:solidFill>
                          <a:latin typeface="Cambria Math" panose="02040503050406030204" pitchFamily="18" charset="0"/>
                        </a:rPr>
                        <m:t>𝑃</m:t>
                      </m:r>
                      <m:d>
                        <m:dPr>
                          <m:ctrlPr>
                            <a:rPr lang="en-US" i="1" smtClean="0">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𝑋</m:t>
                          </m:r>
                          <m:r>
                            <a:rPr lang="en-US" i="1">
                              <a:solidFill>
                                <a:schemeClr val="accent4"/>
                              </a:solidFill>
                              <a:latin typeface="Cambria Math" panose="02040503050406030204" pitchFamily="18" charset="0"/>
                            </a:rPr>
                            <m:t>≥2</m:t>
                          </m:r>
                          <m:r>
                            <a:rPr lang="en-US" i="1">
                              <a:solidFill>
                                <a:schemeClr val="accent4"/>
                              </a:solidFill>
                              <a:latin typeface="Cambria Math" panose="02040503050406030204" pitchFamily="18" charset="0"/>
                            </a:rPr>
                            <m:t>𝔼</m:t>
                          </m:r>
                          <m:d>
                            <m:dPr>
                              <m:begChr m:val="["/>
                              <m:endChr m:val="]"/>
                              <m:ctrlPr>
                                <a:rPr lang="en-US" i="1">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𝑋</m:t>
                              </m:r>
                            </m:e>
                          </m:d>
                        </m:e>
                      </m:d>
                      <m:r>
                        <a:rPr lang="en-US" i="1">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1/2</m:t>
                      </m:r>
                    </m:oMath>
                  </m:oMathPara>
                </a14:m>
                <a:endParaRPr lang="en-US">
                  <a:solidFill>
                    <a:schemeClr val="accent4"/>
                  </a:solidFill>
                </a:endParaRPr>
              </a:p>
            </p:txBody>
          </p:sp>
        </mc:Choice>
        <mc:Fallback>
          <p:sp>
            <p:nvSpPr>
              <p:cNvPr id="14" name="TextBox 13">
                <a:extLst>
                  <a:ext uri="{FF2B5EF4-FFF2-40B4-BE49-F238E27FC236}">
                    <a16:creationId xmlns:a16="http://schemas.microsoft.com/office/drawing/2014/main" id="{EDBAAFEC-CC4B-E6ED-8EA9-71CFD511D609}"/>
                  </a:ext>
                </a:extLst>
              </p:cNvPr>
              <p:cNvSpPr txBox="1">
                <a:spLocks noRot="1" noChangeAspect="1" noMove="1" noResize="1" noEditPoints="1" noAdjustHandles="1" noChangeArrowheads="1" noChangeShapeType="1" noTextEdit="1"/>
              </p:cNvSpPr>
              <p:nvPr/>
            </p:nvSpPr>
            <p:spPr>
              <a:xfrm>
                <a:off x="6845300" y="4198121"/>
                <a:ext cx="6146800" cy="369332"/>
              </a:xfrm>
              <a:prstGeom prst="rect">
                <a:avLst/>
              </a:prstGeom>
              <a:blipFill>
                <a:blip r:embed="rId4"/>
                <a:stretch>
                  <a:fillRect b="-13333"/>
                </a:stretch>
              </a:blipFill>
            </p:spPr>
            <p:txBody>
              <a:bodyPr/>
              <a:lstStyle/>
              <a:p>
                <a:r>
                  <a:rPr lang="en-US">
                    <a:noFill/>
                  </a:rPr>
                  <a:t> </a:t>
                </a:r>
              </a:p>
            </p:txBody>
          </p:sp>
        </mc:Fallback>
      </mc:AlternateContent>
    </p:spTree>
    <p:extLst>
      <p:ext uri="{BB962C8B-B14F-4D97-AF65-F5344CB8AC3E}">
        <p14:creationId xmlns:p14="http://schemas.microsoft.com/office/powerpoint/2010/main" val="33729509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986D0-DC65-A61D-977C-6781EE0A92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B7171F-9D9F-7AAA-B045-DE2B24E20DD4}"/>
              </a:ext>
            </a:extLst>
          </p:cNvPr>
          <p:cNvSpPr>
            <a:spLocks noGrp="1"/>
          </p:cNvSpPr>
          <p:nvPr>
            <p:ph type="title"/>
          </p:nvPr>
        </p:nvSpPr>
        <p:spPr/>
        <p:txBody>
          <a:bodyPr/>
          <a:lstStyle/>
          <a:p>
            <a:r>
              <a:rPr lang="en-US"/>
              <a:t>Chebyshev’s Inequality Visually</a:t>
            </a:r>
          </a:p>
        </p:txBody>
      </p:sp>
      <p:sp>
        <p:nvSpPr>
          <p:cNvPr id="3" name="Content Placeholder 2">
            <a:extLst>
              <a:ext uri="{FF2B5EF4-FFF2-40B4-BE49-F238E27FC236}">
                <a16:creationId xmlns:a16="http://schemas.microsoft.com/office/drawing/2014/main" id="{4B820E77-9829-6E76-9550-22E830140E38}"/>
              </a:ext>
            </a:extLst>
          </p:cNvPr>
          <p:cNvSpPr>
            <a:spLocks noGrp="1"/>
          </p:cNvSpPr>
          <p:nvPr>
            <p:ph idx="1"/>
          </p:nvPr>
        </p:nvSpPr>
        <p:spPr/>
        <p:txBody>
          <a:bodyPr/>
          <a:lstStyle/>
          <a:p>
            <a:r>
              <a:rPr lang="en-US"/>
              <a:t>Observation: It might be more useful to have an inequality that bounds the amount of mass that is far from the mean (in either direction).</a:t>
            </a:r>
          </a:p>
        </p:txBody>
      </p:sp>
      <p:pic>
        <p:nvPicPr>
          <p:cNvPr id="8" name="Picture 7">
            <a:extLst>
              <a:ext uri="{FF2B5EF4-FFF2-40B4-BE49-F238E27FC236}">
                <a16:creationId xmlns:a16="http://schemas.microsoft.com/office/drawing/2014/main" id="{89BF3811-007A-5675-25EE-B9322CD8D331}"/>
              </a:ext>
            </a:extLst>
          </p:cNvPr>
          <p:cNvPicPr>
            <a:picLocks noChangeAspect="1"/>
          </p:cNvPicPr>
          <p:nvPr/>
        </p:nvPicPr>
        <p:blipFill>
          <a:blip r:embed="rId2"/>
          <a:stretch>
            <a:fillRect/>
          </a:stretch>
        </p:blipFill>
        <p:spPr>
          <a:xfrm>
            <a:off x="2471245" y="2429621"/>
            <a:ext cx="7249509" cy="4239189"/>
          </a:xfrm>
          <a:prstGeom prst="rect">
            <a:avLst/>
          </a:prstGeom>
        </p:spPr>
      </p:pic>
      <p:cxnSp>
        <p:nvCxnSpPr>
          <p:cNvPr id="5" name="Straight Connector 4">
            <a:extLst>
              <a:ext uri="{FF2B5EF4-FFF2-40B4-BE49-F238E27FC236}">
                <a16:creationId xmlns:a16="http://schemas.microsoft.com/office/drawing/2014/main" id="{0F93E8C5-9997-961D-9FAF-A021569C8412}"/>
              </a:ext>
            </a:extLst>
          </p:cNvPr>
          <p:cNvCxnSpPr>
            <a:cxnSpLocks/>
          </p:cNvCxnSpPr>
          <p:nvPr/>
        </p:nvCxnSpPr>
        <p:spPr>
          <a:xfrm flipV="1">
            <a:off x="7449646" y="2247900"/>
            <a:ext cx="0" cy="3857734"/>
          </a:xfrm>
          <a:prstGeom prst="line">
            <a:avLst/>
          </a:prstGeom>
          <a:ln w="31750">
            <a:solidFill>
              <a:schemeClr val="accent4"/>
            </a:solidFill>
            <a:prstDash val="dash"/>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3058FA74-44C7-BEDF-C91E-121807249F8F}"/>
              </a:ext>
            </a:extLst>
          </p:cNvPr>
          <p:cNvCxnSpPr>
            <a:cxnSpLocks/>
          </p:cNvCxnSpPr>
          <p:nvPr/>
        </p:nvCxnSpPr>
        <p:spPr>
          <a:xfrm flipV="1">
            <a:off x="4249246" y="2247900"/>
            <a:ext cx="0" cy="3857734"/>
          </a:xfrm>
          <a:prstGeom prst="line">
            <a:avLst/>
          </a:prstGeom>
          <a:ln w="31750">
            <a:solidFill>
              <a:schemeClr val="accent4"/>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656A40DA-BCB3-259A-B9A4-B09D258CAEEE}"/>
                  </a:ext>
                </a:extLst>
              </p:cNvPr>
              <p:cNvSpPr txBox="1"/>
              <p:nvPr/>
            </p:nvSpPr>
            <p:spPr>
              <a:xfrm>
                <a:off x="2764629" y="1655804"/>
                <a:ext cx="61468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4"/>
                          </a:solidFill>
                          <a:latin typeface="Cambria Math" panose="02040503050406030204" pitchFamily="18" charset="0"/>
                        </a:rPr>
                        <m:t>𝑃</m:t>
                      </m:r>
                      <m:d>
                        <m:dPr>
                          <m:ctrlPr>
                            <a:rPr lang="en-US" i="1" smtClean="0">
                              <a:solidFill>
                                <a:schemeClr val="accent4"/>
                              </a:solidFill>
                              <a:latin typeface="Cambria Math" panose="02040503050406030204" pitchFamily="18" charset="0"/>
                            </a:rPr>
                          </m:ctrlPr>
                        </m:dPr>
                        <m:e>
                          <m:d>
                            <m:dPr>
                              <m:begChr m:val="|"/>
                              <m:endChr m:val="|"/>
                              <m:ctrlPr>
                                <a:rPr lang="en-US" b="0" i="1" smtClean="0">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𝑋</m:t>
                              </m:r>
                              <m:r>
                                <a:rPr lang="en-US" b="0" i="1" smtClean="0">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𝜇</m:t>
                              </m:r>
                            </m:e>
                          </m:d>
                          <m:r>
                            <a:rPr lang="en-US" b="0" i="1" smtClean="0">
                              <a:solidFill>
                                <a:schemeClr val="accent4"/>
                              </a:solidFill>
                              <a:latin typeface="Cambria Math" panose="02040503050406030204" pitchFamily="18" charset="0"/>
                            </a:rPr>
                            <m:t>≥</m:t>
                          </m:r>
                          <m:r>
                            <a:rPr lang="en-US" b="0" i="1" smtClean="0">
                              <a:solidFill>
                                <a:schemeClr val="accent4"/>
                              </a:solidFill>
                              <a:latin typeface="Cambria Math" panose="02040503050406030204" pitchFamily="18" charset="0"/>
                            </a:rPr>
                            <m:t>𝑐</m:t>
                          </m:r>
                        </m:e>
                      </m:d>
                      <m:r>
                        <a:rPr lang="en-US" b="0" i="1" smtClean="0">
                          <a:solidFill>
                            <a:schemeClr val="accent4"/>
                          </a:solidFill>
                          <a:latin typeface="Cambria Math" panose="02040503050406030204" pitchFamily="18" charset="0"/>
                        </a:rPr>
                        <m:t>≤ ??</m:t>
                      </m:r>
                    </m:oMath>
                  </m:oMathPara>
                </a14:m>
                <a:endParaRPr lang="en-US">
                  <a:solidFill>
                    <a:schemeClr val="accent4"/>
                  </a:solidFill>
                </a:endParaRPr>
              </a:p>
            </p:txBody>
          </p:sp>
        </mc:Choice>
        <mc:Fallback>
          <p:sp>
            <p:nvSpPr>
              <p:cNvPr id="10" name="TextBox 9">
                <a:extLst>
                  <a:ext uri="{FF2B5EF4-FFF2-40B4-BE49-F238E27FC236}">
                    <a16:creationId xmlns:a16="http://schemas.microsoft.com/office/drawing/2014/main" id="{656A40DA-BCB3-259A-B9A4-B09D258CAEEE}"/>
                  </a:ext>
                </a:extLst>
              </p:cNvPr>
              <p:cNvSpPr txBox="1">
                <a:spLocks noRot="1" noChangeAspect="1" noMove="1" noResize="1" noEditPoints="1" noAdjustHandles="1" noChangeArrowheads="1" noChangeShapeType="1" noTextEdit="1"/>
              </p:cNvSpPr>
              <p:nvPr/>
            </p:nvSpPr>
            <p:spPr>
              <a:xfrm>
                <a:off x="2764629" y="1655804"/>
                <a:ext cx="6146800" cy="369332"/>
              </a:xfrm>
              <a:prstGeom prst="rect">
                <a:avLst/>
              </a:prstGeom>
              <a:blipFill>
                <a:blip r:embed="rId3"/>
                <a:stretch>
                  <a:fillRect b="-5000"/>
                </a:stretch>
              </a:blipFill>
            </p:spPr>
            <p:txBody>
              <a:bodyPr/>
              <a:lstStyle/>
              <a:p>
                <a:r>
                  <a:rPr lang="en-US">
                    <a:noFill/>
                  </a:rPr>
                  <a:t> </a:t>
                </a:r>
              </a:p>
            </p:txBody>
          </p:sp>
        </mc:Fallback>
      </mc:AlternateContent>
      <p:sp>
        <p:nvSpPr>
          <p:cNvPr id="11" name="Freeform 10">
            <a:extLst>
              <a:ext uri="{FF2B5EF4-FFF2-40B4-BE49-F238E27FC236}">
                <a16:creationId xmlns:a16="http://schemas.microsoft.com/office/drawing/2014/main" id="{A6A352F7-E889-B68B-1182-8C714F7C7E29}"/>
              </a:ext>
            </a:extLst>
          </p:cNvPr>
          <p:cNvSpPr/>
          <p:nvPr/>
        </p:nvSpPr>
        <p:spPr>
          <a:xfrm>
            <a:off x="2917259" y="3687580"/>
            <a:ext cx="1258913" cy="2458387"/>
          </a:xfrm>
          <a:custGeom>
            <a:avLst/>
            <a:gdLst>
              <a:gd name="connsiteX0" fmla="*/ 635410 w 1258913"/>
              <a:gd name="connsiteY0" fmla="*/ 419725 h 2458387"/>
              <a:gd name="connsiteX1" fmla="*/ 395567 w 1258913"/>
              <a:gd name="connsiteY1" fmla="*/ 689548 h 2458387"/>
              <a:gd name="connsiteX2" fmla="*/ 230675 w 1258913"/>
              <a:gd name="connsiteY2" fmla="*/ 869430 h 2458387"/>
              <a:gd name="connsiteX3" fmla="*/ 200695 w 1258913"/>
              <a:gd name="connsiteY3" fmla="*/ 914400 h 2458387"/>
              <a:gd name="connsiteX4" fmla="*/ 65784 w 1258913"/>
              <a:gd name="connsiteY4" fmla="*/ 1079292 h 2458387"/>
              <a:gd name="connsiteX5" fmla="*/ 35803 w 1258913"/>
              <a:gd name="connsiteY5" fmla="*/ 1169233 h 2458387"/>
              <a:gd name="connsiteX6" fmla="*/ 5823 w 1258913"/>
              <a:gd name="connsiteY6" fmla="*/ 1229194 h 2458387"/>
              <a:gd name="connsiteX7" fmla="*/ 140734 w 1258913"/>
              <a:gd name="connsiteY7" fmla="*/ 1139253 h 2458387"/>
              <a:gd name="connsiteX8" fmla="*/ 320616 w 1258913"/>
              <a:gd name="connsiteY8" fmla="*/ 1034322 h 2458387"/>
              <a:gd name="connsiteX9" fmla="*/ 425548 w 1258913"/>
              <a:gd name="connsiteY9" fmla="*/ 974361 h 2458387"/>
              <a:gd name="connsiteX10" fmla="*/ 530479 w 1258913"/>
              <a:gd name="connsiteY10" fmla="*/ 944381 h 2458387"/>
              <a:gd name="connsiteX11" fmla="*/ 575449 w 1258913"/>
              <a:gd name="connsiteY11" fmla="*/ 914400 h 2458387"/>
              <a:gd name="connsiteX12" fmla="*/ 620420 w 1258913"/>
              <a:gd name="connsiteY12" fmla="*/ 1139253 h 2458387"/>
              <a:gd name="connsiteX13" fmla="*/ 545469 w 1258913"/>
              <a:gd name="connsiteY13" fmla="*/ 1289154 h 2458387"/>
              <a:gd name="connsiteX14" fmla="*/ 485508 w 1258913"/>
              <a:gd name="connsiteY14" fmla="*/ 1394086 h 2458387"/>
              <a:gd name="connsiteX15" fmla="*/ 380577 w 1258913"/>
              <a:gd name="connsiteY15" fmla="*/ 1603948 h 2458387"/>
              <a:gd name="connsiteX16" fmla="*/ 335607 w 1258913"/>
              <a:gd name="connsiteY16" fmla="*/ 1693889 h 2458387"/>
              <a:gd name="connsiteX17" fmla="*/ 305626 w 1258913"/>
              <a:gd name="connsiteY17" fmla="*/ 1753850 h 2458387"/>
              <a:gd name="connsiteX18" fmla="*/ 365587 w 1258913"/>
              <a:gd name="connsiteY18" fmla="*/ 1768840 h 2458387"/>
              <a:gd name="connsiteX19" fmla="*/ 410557 w 1258913"/>
              <a:gd name="connsiteY19" fmla="*/ 1753850 h 2458387"/>
              <a:gd name="connsiteX20" fmla="*/ 530479 w 1258913"/>
              <a:gd name="connsiteY20" fmla="*/ 1723869 h 2458387"/>
              <a:gd name="connsiteX21" fmla="*/ 680380 w 1258913"/>
              <a:gd name="connsiteY21" fmla="*/ 1753850 h 2458387"/>
              <a:gd name="connsiteX22" fmla="*/ 695371 w 1258913"/>
              <a:gd name="connsiteY22" fmla="*/ 1798820 h 2458387"/>
              <a:gd name="connsiteX23" fmla="*/ 725351 w 1258913"/>
              <a:gd name="connsiteY23" fmla="*/ 1978702 h 2458387"/>
              <a:gd name="connsiteX24" fmla="*/ 830282 w 1258913"/>
              <a:gd name="connsiteY24" fmla="*/ 1933731 h 2458387"/>
              <a:gd name="connsiteX25" fmla="*/ 875252 w 1258913"/>
              <a:gd name="connsiteY25" fmla="*/ 1948722 h 2458387"/>
              <a:gd name="connsiteX26" fmla="*/ 740341 w 1258913"/>
              <a:gd name="connsiteY26" fmla="*/ 2143594 h 2458387"/>
              <a:gd name="connsiteX27" fmla="*/ 695371 w 1258913"/>
              <a:gd name="connsiteY27" fmla="*/ 2173574 h 2458387"/>
              <a:gd name="connsiteX28" fmla="*/ 755331 w 1258913"/>
              <a:gd name="connsiteY28" fmla="*/ 2113613 h 2458387"/>
              <a:gd name="connsiteX29" fmla="*/ 1100105 w 1258913"/>
              <a:gd name="connsiteY29" fmla="*/ 2038663 h 2458387"/>
              <a:gd name="connsiteX30" fmla="*/ 1085115 w 1258913"/>
              <a:gd name="connsiteY30" fmla="*/ 1873771 h 2458387"/>
              <a:gd name="connsiteX31" fmla="*/ 950203 w 1258913"/>
              <a:gd name="connsiteY31" fmla="*/ 1319135 h 2458387"/>
              <a:gd name="connsiteX32" fmla="*/ 860262 w 1258913"/>
              <a:gd name="connsiteY32" fmla="*/ 794479 h 2458387"/>
              <a:gd name="connsiteX33" fmla="*/ 860262 w 1258913"/>
              <a:gd name="connsiteY33" fmla="*/ 119922 h 2458387"/>
              <a:gd name="connsiteX34" fmla="*/ 890243 w 1258913"/>
              <a:gd name="connsiteY34" fmla="*/ 179882 h 2458387"/>
              <a:gd name="connsiteX35" fmla="*/ 935213 w 1258913"/>
              <a:gd name="connsiteY35" fmla="*/ 284813 h 2458387"/>
              <a:gd name="connsiteX36" fmla="*/ 1010164 w 1258913"/>
              <a:gd name="connsiteY36" fmla="*/ 464695 h 2458387"/>
              <a:gd name="connsiteX37" fmla="*/ 1040144 w 1258913"/>
              <a:gd name="connsiteY37" fmla="*/ 719528 h 2458387"/>
              <a:gd name="connsiteX38" fmla="*/ 1025154 w 1258913"/>
              <a:gd name="connsiteY38" fmla="*/ 1034322 h 2458387"/>
              <a:gd name="connsiteX39" fmla="*/ 890243 w 1258913"/>
              <a:gd name="connsiteY39" fmla="*/ 1154243 h 2458387"/>
              <a:gd name="connsiteX40" fmla="*/ 860262 w 1258913"/>
              <a:gd name="connsiteY40" fmla="*/ 1124263 h 2458387"/>
              <a:gd name="connsiteX41" fmla="*/ 740341 w 1258913"/>
              <a:gd name="connsiteY41" fmla="*/ 899410 h 2458387"/>
              <a:gd name="connsiteX42" fmla="*/ 725351 w 1258913"/>
              <a:gd name="connsiteY42" fmla="*/ 824459 h 2458387"/>
              <a:gd name="connsiteX43" fmla="*/ 695371 w 1258913"/>
              <a:gd name="connsiteY43" fmla="*/ 689548 h 2458387"/>
              <a:gd name="connsiteX44" fmla="*/ 680380 w 1258913"/>
              <a:gd name="connsiteY44" fmla="*/ 569627 h 2458387"/>
              <a:gd name="connsiteX45" fmla="*/ 665390 w 1258913"/>
              <a:gd name="connsiteY45" fmla="*/ 464695 h 2458387"/>
              <a:gd name="connsiteX46" fmla="*/ 680380 w 1258913"/>
              <a:gd name="connsiteY46" fmla="*/ 239843 h 2458387"/>
              <a:gd name="connsiteX47" fmla="*/ 770321 w 1258913"/>
              <a:gd name="connsiteY47" fmla="*/ 284813 h 2458387"/>
              <a:gd name="connsiteX48" fmla="*/ 800302 w 1258913"/>
              <a:gd name="connsiteY48" fmla="*/ 344774 h 2458387"/>
              <a:gd name="connsiteX49" fmla="*/ 845272 w 1258913"/>
              <a:gd name="connsiteY49" fmla="*/ 449705 h 2458387"/>
              <a:gd name="connsiteX50" fmla="*/ 830282 w 1258913"/>
              <a:gd name="connsiteY50" fmla="*/ 1034322 h 2458387"/>
              <a:gd name="connsiteX51" fmla="*/ 785311 w 1258913"/>
              <a:gd name="connsiteY51" fmla="*/ 1139253 h 2458387"/>
              <a:gd name="connsiteX52" fmla="*/ 695371 w 1258913"/>
              <a:gd name="connsiteY52" fmla="*/ 1289154 h 2458387"/>
              <a:gd name="connsiteX53" fmla="*/ 635410 w 1258913"/>
              <a:gd name="connsiteY53" fmla="*/ 1304145 h 2458387"/>
              <a:gd name="connsiteX54" fmla="*/ 530479 w 1258913"/>
              <a:gd name="connsiteY54" fmla="*/ 1319135 h 2458387"/>
              <a:gd name="connsiteX55" fmla="*/ 410557 w 1258913"/>
              <a:gd name="connsiteY55" fmla="*/ 1124263 h 2458387"/>
              <a:gd name="connsiteX56" fmla="*/ 350597 w 1258913"/>
              <a:gd name="connsiteY56" fmla="*/ 794479 h 2458387"/>
              <a:gd name="connsiteX57" fmla="*/ 380577 w 1258913"/>
              <a:gd name="connsiteY57" fmla="*/ 329784 h 2458387"/>
              <a:gd name="connsiteX58" fmla="*/ 470518 w 1258913"/>
              <a:gd name="connsiteY58" fmla="*/ 209863 h 2458387"/>
              <a:gd name="connsiteX59" fmla="*/ 620420 w 1258913"/>
              <a:gd name="connsiteY59" fmla="*/ 74951 h 2458387"/>
              <a:gd name="connsiteX60" fmla="*/ 800302 w 1258913"/>
              <a:gd name="connsiteY60" fmla="*/ 0 h 2458387"/>
              <a:gd name="connsiteX61" fmla="*/ 1115095 w 1258913"/>
              <a:gd name="connsiteY61" fmla="*/ 104931 h 2458387"/>
              <a:gd name="connsiteX62" fmla="*/ 1130085 w 1258913"/>
              <a:gd name="connsiteY62" fmla="*/ 179882 h 2458387"/>
              <a:gd name="connsiteX63" fmla="*/ 1100105 w 1258913"/>
              <a:gd name="connsiteY63" fmla="*/ 539646 h 2458387"/>
              <a:gd name="connsiteX64" fmla="*/ 1010164 w 1258913"/>
              <a:gd name="connsiteY64" fmla="*/ 674558 h 2458387"/>
              <a:gd name="connsiteX65" fmla="*/ 755331 w 1258913"/>
              <a:gd name="connsiteY65" fmla="*/ 959371 h 2458387"/>
              <a:gd name="connsiteX66" fmla="*/ 605430 w 1258913"/>
              <a:gd name="connsiteY66" fmla="*/ 1049312 h 2458387"/>
              <a:gd name="connsiteX67" fmla="*/ 530479 w 1258913"/>
              <a:gd name="connsiteY67" fmla="*/ 1064302 h 2458387"/>
              <a:gd name="connsiteX68" fmla="*/ 410557 w 1258913"/>
              <a:gd name="connsiteY68" fmla="*/ 1019331 h 2458387"/>
              <a:gd name="connsiteX69" fmla="*/ 350597 w 1258913"/>
              <a:gd name="connsiteY69" fmla="*/ 794479 h 2458387"/>
              <a:gd name="connsiteX70" fmla="*/ 395567 w 1258913"/>
              <a:gd name="connsiteY70" fmla="*/ 299804 h 2458387"/>
              <a:gd name="connsiteX71" fmla="*/ 455528 w 1258913"/>
              <a:gd name="connsiteY71" fmla="*/ 239843 h 2458387"/>
              <a:gd name="connsiteX72" fmla="*/ 635410 w 1258913"/>
              <a:gd name="connsiteY72" fmla="*/ 269823 h 2458387"/>
              <a:gd name="connsiteX73" fmla="*/ 665390 w 1258913"/>
              <a:gd name="connsiteY73" fmla="*/ 314794 h 2458387"/>
              <a:gd name="connsiteX74" fmla="*/ 725351 w 1258913"/>
              <a:gd name="connsiteY74" fmla="*/ 419725 h 2458387"/>
              <a:gd name="connsiteX75" fmla="*/ 740341 w 1258913"/>
              <a:gd name="connsiteY75" fmla="*/ 494676 h 2458387"/>
              <a:gd name="connsiteX76" fmla="*/ 770321 w 1258913"/>
              <a:gd name="connsiteY76" fmla="*/ 569627 h 2458387"/>
              <a:gd name="connsiteX77" fmla="*/ 785311 w 1258913"/>
              <a:gd name="connsiteY77" fmla="*/ 734518 h 2458387"/>
              <a:gd name="connsiteX78" fmla="*/ 770321 w 1258913"/>
              <a:gd name="connsiteY78" fmla="*/ 959371 h 2458387"/>
              <a:gd name="connsiteX79" fmla="*/ 755331 w 1258913"/>
              <a:gd name="connsiteY79" fmla="*/ 1004341 h 2458387"/>
              <a:gd name="connsiteX80" fmla="*/ 680380 w 1258913"/>
              <a:gd name="connsiteY80" fmla="*/ 869430 h 2458387"/>
              <a:gd name="connsiteX81" fmla="*/ 695371 w 1258913"/>
              <a:gd name="connsiteY81" fmla="*/ 629587 h 2458387"/>
              <a:gd name="connsiteX82" fmla="*/ 845272 w 1258913"/>
              <a:gd name="connsiteY82" fmla="*/ 704538 h 2458387"/>
              <a:gd name="connsiteX83" fmla="*/ 1025154 w 1258913"/>
              <a:gd name="connsiteY83" fmla="*/ 959371 h 2458387"/>
              <a:gd name="connsiteX84" fmla="*/ 1115095 w 1258913"/>
              <a:gd name="connsiteY84" fmla="*/ 1124263 h 2458387"/>
              <a:gd name="connsiteX85" fmla="*/ 1220026 w 1258913"/>
              <a:gd name="connsiteY85" fmla="*/ 1454046 h 2458387"/>
              <a:gd name="connsiteX86" fmla="*/ 1250007 w 1258913"/>
              <a:gd name="connsiteY86" fmla="*/ 1618938 h 2458387"/>
              <a:gd name="connsiteX87" fmla="*/ 1190046 w 1258913"/>
              <a:gd name="connsiteY87" fmla="*/ 2248525 h 2458387"/>
              <a:gd name="connsiteX88" fmla="*/ 1130085 w 1258913"/>
              <a:gd name="connsiteY88" fmla="*/ 2338466 h 2458387"/>
              <a:gd name="connsiteX89" fmla="*/ 1085115 w 1258913"/>
              <a:gd name="connsiteY89" fmla="*/ 2398427 h 2458387"/>
              <a:gd name="connsiteX90" fmla="*/ 1010164 w 1258913"/>
              <a:gd name="connsiteY90" fmla="*/ 2428407 h 2458387"/>
              <a:gd name="connsiteX91" fmla="*/ 950203 w 1258913"/>
              <a:gd name="connsiteY91" fmla="*/ 2458387 h 2458387"/>
              <a:gd name="connsiteX92" fmla="*/ 620420 w 1258913"/>
              <a:gd name="connsiteY92" fmla="*/ 2413417 h 2458387"/>
              <a:gd name="connsiteX93" fmla="*/ 485508 w 1258913"/>
              <a:gd name="connsiteY93" fmla="*/ 2263515 h 2458387"/>
              <a:gd name="connsiteX94" fmla="*/ 395567 w 1258913"/>
              <a:gd name="connsiteY94" fmla="*/ 2128604 h 2458387"/>
              <a:gd name="connsiteX95" fmla="*/ 395567 w 1258913"/>
              <a:gd name="connsiteY95" fmla="*/ 1993692 h 2458387"/>
              <a:gd name="connsiteX96" fmla="*/ 515489 w 1258913"/>
              <a:gd name="connsiteY96" fmla="*/ 1963712 h 2458387"/>
              <a:gd name="connsiteX97" fmla="*/ 815292 w 1258913"/>
              <a:gd name="connsiteY97" fmla="*/ 1978702 h 2458387"/>
              <a:gd name="connsiteX98" fmla="*/ 830282 w 1258913"/>
              <a:gd name="connsiteY98" fmla="*/ 2023672 h 2458387"/>
              <a:gd name="connsiteX99" fmla="*/ 755331 w 1258913"/>
              <a:gd name="connsiteY99" fmla="*/ 2143594 h 2458387"/>
              <a:gd name="connsiteX100" fmla="*/ 590439 w 1258913"/>
              <a:gd name="connsiteY100" fmla="*/ 2248525 h 2458387"/>
              <a:gd name="connsiteX101" fmla="*/ 530479 w 1258913"/>
              <a:gd name="connsiteY101" fmla="*/ 2278505 h 2458387"/>
              <a:gd name="connsiteX102" fmla="*/ 350597 w 1258913"/>
              <a:gd name="connsiteY102" fmla="*/ 2218545 h 2458387"/>
              <a:gd name="connsiteX103" fmla="*/ 410557 w 1258913"/>
              <a:gd name="connsiteY103" fmla="*/ 2113613 h 2458387"/>
              <a:gd name="connsiteX104" fmla="*/ 485508 w 1258913"/>
              <a:gd name="connsiteY104" fmla="*/ 2083633 h 2458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1258913" h="2458387">
                <a:moveTo>
                  <a:pt x="635410" y="419725"/>
                </a:moveTo>
                <a:cubicBezTo>
                  <a:pt x="555462" y="509666"/>
                  <a:pt x="476707" y="600681"/>
                  <a:pt x="395567" y="689548"/>
                </a:cubicBezTo>
                <a:cubicBezTo>
                  <a:pt x="268513" y="828703"/>
                  <a:pt x="369072" y="696434"/>
                  <a:pt x="230675" y="869430"/>
                </a:cubicBezTo>
                <a:cubicBezTo>
                  <a:pt x="219421" y="883498"/>
                  <a:pt x="211825" y="900234"/>
                  <a:pt x="200695" y="914400"/>
                </a:cubicBezTo>
                <a:cubicBezTo>
                  <a:pt x="156819" y="970242"/>
                  <a:pt x="65784" y="1079292"/>
                  <a:pt x="65784" y="1079292"/>
                </a:cubicBezTo>
                <a:cubicBezTo>
                  <a:pt x="55790" y="1109272"/>
                  <a:pt x="47540" y="1139891"/>
                  <a:pt x="35803" y="1169233"/>
                </a:cubicBezTo>
                <a:cubicBezTo>
                  <a:pt x="27504" y="1189981"/>
                  <a:pt x="-15376" y="1222128"/>
                  <a:pt x="5823" y="1229194"/>
                </a:cubicBezTo>
                <a:cubicBezTo>
                  <a:pt x="20340" y="1234033"/>
                  <a:pt x="127656" y="1147972"/>
                  <a:pt x="140734" y="1139253"/>
                </a:cubicBezTo>
                <a:cubicBezTo>
                  <a:pt x="312654" y="1024640"/>
                  <a:pt x="202827" y="1098570"/>
                  <a:pt x="320616" y="1034322"/>
                </a:cubicBezTo>
                <a:cubicBezTo>
                  <a:pt x="355982" y="1015031"/>
                  <a:pt x="389516" y="992377"/>
                  <a:pt x="425548" y="974361"/>
                </a:cubicBezTo>
                <a:cubicBezTo>
                  <a:pt x="447054" y="963608"/>
                  <a:pt x="511267" y="949184"/>
                  <a:pt x="530479" y="944381"/>
                </a:cubicBezTo>
                <a:cubicBezTo>
                  <a:pt x="545469" y="934387"/>
                  <a:pt x="557543" y="916390"/>
                  <a:pt x="575449" y="914400"/>
                </a:cubicBezTo>
                <a:cubicBezTo>
                  <a:pt x="741607" y="895937"/>
                  <a:pt x="658464" y="1006098"/>
                  <a:pt x="620420" y="1139253"/>
                </a:cubicBezTo>
                <a:cubicBezTo>
                  <a:pt x="591677" y="1239854"/>
                  <a:pt x="585515" y="1222410"/>
                  <a:pt x="545469" y="1289154"/>
                </a:cubicBezTo>
                <a:cubicBezTo>
                  <a:pt x="524742" y="1323698"/>
                  <a:pt x="504201" y="1358400"/>
                  <a:pt x="485508" y="1394086"/>
                </a:cubicBezTo>
                <a:cubicBezTo>
                  <a:pt x="449218" y="1463368"/>
                  <a:pt x="415554" y="1533994"/>
                  <a:pt x="380577" y="1603948"/>
                </a:cubicBezTo>
                <a:lnTo>
                  <a:pt x="335607" y="1693889"/>
                </a:lnTo>
                <a:lnTo>
                  <a:pt x="305626" y="1753850"/>
                </a:lnTo>
                <a:cubicBezTo>
                  <a:pt x="325613" y="1758847"/>
                  <a:pt x="344985" y="1768840"/>
                  <a:pt x="365587" y="1768840"/>
                </a:cubicBezTo>
                <a:cubicBezTo>
                  <a:pt x="381388" y="1768840"/>
                  <a:pt x="395228" y="1757682"/>
                  <a:pt x="410557" y="1753850"/>
                </a:cubicBezTo>
                <a:lnTo>
                  <a:pt x="530479" y="1723869"/>
                </a:lnTo>
                <a:cubicBezTo>
                  <a:pt x="580446" y="1733863"/>
                  <a:pt x="633991" y="1732764"/>
                  <a:pt x="680380" y="1753850"/>
                </a:cubicBezTo>
                <a:cubicBezTo>
                  <a:pt x="694765" y="1760388"/>
                  <a:pt x="692272" y="1783326"/>
                  <a:pt x="695371" y="1798820"/>
                </a:cubicBezTo>
                <a:cubicBezTo>
                  <a:pt x="707293" y="1858427"/>
                  <a:pt x="715358" y="1918741"/>
                  <a:pt x="725351" y="1978702"/>
                </a:cubicBezTo>
                <a:cubicBezTo>
                  <a:pt x="762068" y="1954224"/>
                  <a:pt x="781884" y="1933731"/>
                  <a:pt x="830282" y="1933731"/>
                </a:cubicBezTo>
                <a:cubicBezTo>
                  <a:pt x="846083" y="1933731"/>
                  <a:pt x="860262" y="1943725"/>
                  <a:pt x="875252" y="1948722"/>
                </a:cubicBezTo>
                <a:cubicBezTo>
                  <a:pt x="841246" y="2050741"/>
                  <a:pt x="849436" y="2070864"/>
                  <a:pt x="740341" y="2143594"/>
                </a:cubicBezTo>
                <a:cubicBezTo>
                  <a:pt x="725351" y="2153587"/>
                  <a:pt x="687314" y="2189688"/>
                  <a:pt x="695371" y="2173574"/>
                </a:cubicBezTo>
                <a:cubicBezTo>
                  <a:pt x="708011" y="2148292"/>
                  <a:pt x="731813" y="2129292"/>
                  <a:pt x="755331" y="2113613"/>
                </a:cubicBezTo>
                <a:cubicBezTo>
                  <a:pt x="890463" y="2023525"/>
                  <a:pt x="918020" y="2050802"/>
                  <a:pt x="1100105" y="2038663"/>
                </a:cubicBezTo>
                <a:cubicBezTo>
                  <a:pt x="1095108" y="1983699"/>
                  <a:pt x="1093835" y="1928268"/>
                  <a:pt x="1085115" y="1873771"/>
                </a:cubicBezTo>
                <a:cubicBezTo>
                  <a:pt x="1047415" y="1638147"/>
                  <a:pt x="1004817" y="1583103"/>
                  <a:pt x="950203" y="1319135"/>
                </a:cubicBezTo>
                <a:cubicBezTo>
                  <a:pt x="914253" y="1145378"/>
                  <a:pt x="860262" y="794479"/>
                  <a:pt x="860262" y="794479"/>
                </a:cubicBezTo>
                <a:cubicBezTo>
                  <a:pt x="843192" y="538433"/>
                  <a:pt x="827001" y="408178"/>
                  <a:pt x="860262" y="119922"/>
                </a:cubicBezTo>
                <a:cubicBezTo>
                  <a:pt x="862823" y="97723"/>
                  <a:pt x="880996" y="159539"/>
                  <a:pt x="890243" y="179882"/>
                </a:cubicBezTo>
                <a:cubicBezTo>
                  <a:pt x="905990" y="214525"/>
                  <a:pt x="919266" y="250262"/>
                  <a:pt x="935213" y="284813"/>
                </a:cubicBezTo>
                <a:cubicBezTo>
                  <a:pt x="1006139" y="438485"/>
                  <a:pt x="958439" y="309518"/>
                  <a:pt x="1010164" y="464695"/>
                </a:cubicBezTo>
                <a:cubicBezTo>
                  <a:pt x="1013459" y="491057"/>
                  <a:pt x="1040144" y="700091"/>
                  <a:pt x="1040144" y="719528"/>
                </a:cubicBezTo>
                <a:cubicBezTo>
                  <a:pt x="1040144" y="824578"/>
                  <a:pt x="1043621" y="930908"/>
                  <a:pt x="1025154" y="1034322"/>
                </a:cubicBezTo>
                <a:cubicBezTo>
                  <a:pt x="1004315" y="1151022"/>
                  <a:pt x="971958" y="1137900"/>
                  <a:pt x="890243" y="1154243"/>
                </a:cubicBezTo>
                <a:cubicBezTo>
                  <a:pt x="880249" y="1144250"/>
                  <a:pt x="868102" y="1136022"/>
                  <a:pt x="860262" y="1124263"/>
                </a:cubicBezTo>
                <a:cubicBezTo>
                  <a:pt x="819202" y="1062673"/>
                  <a:pt x="772752" y="964231"/>
                  <a:pt x="740341" y="899410"/>
                </a:cubicBezTo>
                <a:cubicBezTo>
                  <a:pt x="735344" y="874426"/>
                  <a:pt x="730689" y="849372"/>
                  <a:pt x="725351" y="824459"/>
                </a:cubicBezTo>
                <a:cubicBezTo>
                  <a:pt x="715699" y="779414"/>
                  <a:pt x="703377" y="734914"/>
                  <a:pt x="695371" y="689548"/>
                </a:cubicBezTo>
                <a:cubicBezTo>
                  <a:pt x="688370" y="649876"/>
                  <a:pt x="685704" y="609558"/>
                  <a:pt x="680380" y="569627"/>
                </a:cubicBezTo>
                <a:cubicBezTo>
                  <a:pt x="675710" y="534605"/>
                  <a:pt x="670387" y="499672"/>
                  <a:pt x="665390" y="464695"/>
                </a:cubicBezTo>
                <a:cubicBezTo>
                  <a:pt x="670387" y="389744"/>
                  <a:pt x="642531" y="304728"/>
                  <a:pt x="680380" y="239843"/>
                </a:cubicBezTo>
                <a:cubicBezTo>
                  <a:pt x="697269" y="210890"/>
                  <a:pt x="745095" y="262741"/>
                  <a:pt x="770321" y="284813"/>
                </a:cubicBezTo>
                <a:cubicBezTo>
                  <a:pt x="787138" y="299528"/>
                  <a:pt x="791055" y="324431"/>
                  <a:pt x="800302" y="344774"/>
                </a:cubicBezTo>
                <a:cubicBezTo>
                  <a:pt x="816049" y="379417"/>
                  <a:pt x="830282" y="414728"/>
                  <a:pt x="845272" y="449705"/>
                </a:cubicBezTo>
                <a:cubicBezTo>
                  <a:pt x="875233" y="689398"/>
                  <a:pt x="879352" y="661395"/>
                  <a:pt x="830282" y="1034322"/>
                </a:cubicBezTo>
                <a:cubicBezTo>
                  <a:pt x="825318" y="1072051"/>
                  <a:pt x="801258" y="1104702"/>
                  <a:pt x="785311" y="1139253"/>
                </a:cubicBezTo>
                <a:cubicBezTo>
                  <a:pt x="772827" y="1166302"/>
                  <a:pt x="727911" y="1265911"/>
                  <a:pt x="695371" y="1289154"/>
                </a:cubicBezTo>
                <a:cubicBezTo>
                  <a:pt x="678606" y="1301129"/>
                  <a:pt x="655680" y="1300459"/>
                  <a:pt x="635410" y="1304145"/>
                </a:cubicBezTo>
                <a:cubicBezTo>
                  <a:pt x="600648" y="1310466"/>
                  <a:pt x="565456" y="1314138"/>
                  <a:pt x="530479" y="1319135"/>
                </a:cubicBezTo>
                <a:cubicBezTo>
                  <a:pt x="450897" y="1226289"/>
                  <a:pt x="433891" y="1233157"/>
                  <a:pt x="410557" y="1124263"/>
                </a:cubicBezTo>
                <a:cubicBezTo>
                  <a:pt x="387146" y="1015013"/>
                  <a:pt x="350597" y="794479"/>
                  <a:pt x="350597" y="794479"/>
                </a:cubicBezTo>
                <a:cubicBezTo>
                  <a:pt x="360590" y="639581"/>
                  <a:pt x="349386" y="481838"/>
                  <a:pt x="380577" y="329784"/>
                </a:cubicBezTo>
                <a:cubicBezTo>
                  <a:pt x="390618" y="280836"/>
                  <a:pt x="438530" y="248249"/>
                  <a:pt x="470518" y="209863"/>
                </a:cubicBezTo>
                <a:cubicBezTo>
                  <a:pt x="499968" y="174523"/>
                  <a:pt x="588989" y="95905"/>
                  <a:pt x="620420" y="74951"/>
                </a:cubicBezTo>
                <a:cubicBezTo>
                  <a:pt x="679520" y="35551"/>
                  <a:pt x="734288" y="22005"/>
                  <a:pt x="800302" y="0"/>
                </a:cubicBezTo>
                <a:cubicBezTo>
                  <a:pt x="934695" y="22399"/>
                  <a:pt x="1059275" y="-20664"/>
                  <a:pt x="1115095" y="104931"/>
                </a:cubicBezTo>
                <a:cubicBezTo>
                  <a:pt x="1125443" y="128214"/>
                  <a:pt x="1125088" y="154898"/>
                  <a:pt x="1130085" y="179882"/>
                </a:cubicBezTo>
                <a:cubicBezTo>
                  <a:pt x="1120092" y="299803"/>
                  <a:pt x="1128456" y="422696"/>
                  <a:pt x="1100105" y="539646"/>
                </a:cubicBezTo>
                <a:cubicBezTo>
                  <a:pt x="1087371" y="592173"/>
                  <a:pt x="1041809" y="630742"/>
                  <a:pt x="1010164" y="674558"/>
                </a:cubicBezTo>
                <a:cubicBezTo>
                  <a:pt x="953472" y="753055"/>
                  <a:pt x="831873" y="908343"/>
                  <a:pt x="755331" y="959371"/>
                </a:cubicBezTo>
                <a:cubicBezTo>
                  <a:pt x="721129" y="982172"/>
                  <a:pt x="651519" y="1033949"/>
                  <a:pt x="605430" y="1049312"/>
                </a:cubicBezTo>
                <a:cubicBezTo>
                  <a:pt x="581259" y="1057369"/>
                  <a:pt x="555463" y="1059305"/>
                  <a:pt x="530479" y="1064302"/>
                </a:cubicBezTo>
                <a:cubicBezTo>
                  <a:pt x="490505" y="1049312"/>
                  <a:pt x="442147" y="1048049"/>
                  <a:pt x="410557" y="1019331"/>
                </a:cubicBezTo>
                <a:cubicBezTo>
                  <a:pt x="361938" y="975132"/>
                  <a:pt x="357371" y="848669"/>
                  <a:pt x="350597" y="794479"/>
                </a:cubicBezTo>
                <a:cubicBezTo>
                  <a:pt x="355295" y="653552"/>
                  <a:pt x="283699" y="430317"/>
                  <a:pt x="395567" y="299804"/>
                </a:cubicBezTo>
                <a:cubicBezTo>
                  <a:pt x="413962" y="278343"/>
                  <a:pt x="435541" y="259830"/>
                  <a:pt x="455528" y="239843"/>
                </a:cubicBezTo>
                <a:cubicBezTo>
                  <a:pt x="515489" y="249836"/>
                  <a:pt x="578164" y="249378"/>
                  <a:pt x="635410" y="269823"/>
                </a:cubicBezTo>
                <a:cubicBezTo>
                  <a:pt x="652376" y="275882"/>
                  <a:pt x="656452" y="299152"/>
                  <a:pt x="665390" y="314794"/>
                </a:cubicBezTo>
                <a:cubicBezTo>
                  <a:pt x="741465" y="447925"/>
                  <a:pt x="652309" y="310160"/>
                  <a:pt x="725351" y="419725"/>
                </a:cubicBezTo>
                <a:cubicBezTo>
                  <a:pt x="730348" y="444709"/>
                  <a:pt x="733020" y="470272"/>
                  <a:pt x="740341" y="494676"/>
                </a:cubicBezTo>
                <a:cubicBezTo>
                  <a:pt x="748073" y="520449"/>
                  <a:pt x="765362" y="543180"/>
                  <a:pt x="770321" y="569627"/>
                </a:cubicBezTo>
                <a:cubicBezTo>
                  <a:pt x="780492" y="623872"/>
                  <a:pt x="780314" y="679554"/>
                  <a:pt x="785311" y="734518"/>
                </a:cubicBezTo>
                <a:cubicBezTo>
                  <a:pt x="780314" y="809469"/>
                  <a:pt x="778616" y="884713"/>
                  <a:pt x="770321" y="959371"/>
                </a:cubicBezTo>
                <a:cubicBezTo>
                  <a:pt x="768576" y="975075"/>
                  <a:pt x="766504" y="1015514"/>
                  <a:pt x="755331" y="1004341"/>
                </a:cubicBezTo>
                <a:cubicBezTo>
                  <a:pt x="718954" y="967964"/>
                  <a:pt x="705364" y="914400"/>
                  <a:pt x="680380" y="869430"/>
                </a:cubicBezTo>
                <a:cubicBezTo>
                  <a:pt x="675280" y="833727"/>
                  <a:pt x="636336" y="649265"/>
                  <a:pt x="695371" y="629587"/>
                </a:cubicBezTo>
                <a:cubicBezTo>
                  <a:pt x="748369" y="611921"/>
                  <a:pt x="795305" y="679554"/>
                  <a:pt x="845272" y="704538"/>
                </a:cubicBezTo>
                <a:cubicBezTo>
                  <a:pt x="913257" y="795184"/>
                  <a:pt x="966323" y="861319"/>
                  <a:pt x="1025154" y="959371"/>
                </a:cubicBezTo>
                <a:cubicBezTo>
                  <a:pt x="1057366" y="1013058"/>
                  <a:pt x="1085115" y="1069299"/>
                  <a:pt x="1115095" y="1124263"/>
                </a:cubicBezTo>
                <a:cubicBezTo>
                  <a:pt x="1160123" y="1349402"/>
                  <a:pt x="1077865" y="956483"/>
                  <a:pt x="1220026" y="1454046"/>
                </a:cubicBezTo>
                <a:cubicBezTo>
                  <a:pt x="1235373" y="1507762"/>
                  <a:pt x="1240013" y="1563974"/>
                  <a:pt x="1250007" y="1618938"/>
                </a:cubicBezTo>
                <a:cubicBezTo>
                  <a:pt x="1241453" y="1918308"/>
                  <a:pt x="1302298" y="2040057"/>
                  <a:pt x="1190046" y="2248525"/>
                </a:cubicBezTo>
                <a:cubicBezTo>
                  <a:pt x="1172963" y="2280250"/>
                  <a:pt x="1150748" y="2308947"/>
                  <a:pt x="1130085" y="2338466"/>
                </a:cubicBezTo>
                <a:cubicBezTo>
                  <a:pt x="1115758" y="2358933"/>
                  <a:pt x="1105102" y="2383437"/>
                  <a:pt x="1085115" y="2398427"/>
                </a:cubicBezTo>
                <a:cubicBezTo>
                  <a:pt x="1063588" y="2414572"/>
                  <a:pt x="1034753" y="2417479"/>
                  <a:pt x="1010164" y="2428407"/>
                </a:cubicBezTo>
                <a:cubicBezTo>
                  <a:pt x="989744" y="2437482"/>
                  <a:pt x="970190" y="2448394"/>
                  <a:pt x="950203" y="2458387"/>
                </a:cubicBezTo>
                <a:cubicBezTo>
                  <a:pt x="840275" y="2443397"/>
                  <a:pt x="726380" y="2446301"/>
                  <a:pt x="620420" y="2413417"/>
                </a:cubicBezTo>
                <a:cubicBezTo>
                  <a:pt x="519480" y="2382091"/>
                  <a:pt x="525925" y="2329193"/>
                  <a:pt x="485508" y="2263515"/>
                </a:cubicBezTo>
                <a:cubicBezTo>
                  <a:pt x="457182" y="2217485"/>
                  <a:pt x="425547" y="2173574"/>
                  <a:pt x="395567" y="2128604"/>
                </a:cubicBezTo>
                <a:cubicBezTo>
                  <a:pt x="382983" y="2090851"/>
                  <a:pt x="354864" y="2029872"/>
                  <a:pt x="395567" y="1993692"/>
                </a:cubicBezTo>
                <a:cubicBezTo>
                  <a:pt x="426364" y="1966318"/>
                  <a:pt x="515489" y="1963712"/>
                  <a:pt x="515489" y="1963712"/>
                </a:cubicBezTo>
                <a:cubicBezTo>
                  <a:pt x="615423" y="1968709"/>
                  <a:pt x="717000" y="1959980"/>
                  <a:pt x="815292" y="1978702"/>
                </a:cubicBezTo>
                <a:cubicBezTo>
                  <a:pt x="830814" y="1981659"/>
                  <a:pt x="835682" y="2008822"/>
                  <a:pt x="830282" y="2023672"/>
                </a:cubicBezTo>
                <a:cubicBezTo>
                  <a:pt x="814172" y="2067973"/>
                  <a:pt x="787407" y="2109051"/>
                  <a:pt x="755331" y="2143594"/>
                </a:cubicBezTo>
                <a:cubicBezTo>
                  <a:pt x="646702" y="2260580"/>
                  <a:pt x="675245" y="2212180"/>
                  <a:pt x="590439" y="2248525"/>
                </a:cubicBezTo>
                <a:cubicBezTo>
                  <a:pt x="569900" y="2257327"/>
                  <a:pt x="550466" y="2268512"/>
                  <a:pt x="530479" y="2278505"/>
                </a:cubicBezTo>
                <a:cubicBezTo>
                  <a:pt x="463170" y="2272386"/>
                  <a:pt x="350597" y="2312924"/>
                  <a:pt x="350597" y="2218545"/>
                </a:cubicBezTo>
                <a:cubicBezTo>
                  <a:pt x="350597" y="2172299"/>
                  <a:pt x="371734" y="2137877"/>
                  <a:pt x="410557" y="2113613"/>
                </a:cubicBezTo>
                <a:cubicBezTo>
                  <a:pt x="433375" y="2099352"/>
                  <a:pt x="485508" y="2083633"/>
                  <a:pt x="485508" y="2083633"/>
                </a:cubicBez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EDAB7B34-6F98-F011-494A-601DBDE08092}"/>
              </a:ext>
            </a:extLst>
          </p:cNvPr>
          <p:cNvSpPr/>
          <p:nvPr/>
        </p:nvSpPr>
        <p:spPr>
          <a:xfrm>
            <a:off x="3069659" y="3839980"/>
            <a:ext cx="1258913" cy="2458387"/>
          </a:xfrm>
          <a:custGeom>
            <a:avLst/>
            <a:gdLst>
              <a:gd name="connsiteX0" fmla="*/ 635410 w 1258913"/>
              <a:gd name="connsiteY0" fmla="*/ 419725 h 2458387"/>
              <a:gd name="connsiteX1" fmla="*/ 395567 w 1258913"/>
              <a:gd name="connsiteY1" fmla="*/ 689548 h 2458387"/>
              <a:gd name="connsiteX2" fmla="*/ 230675 w 1258913"/>
              <a:gd name="connsiteY2" fmla="*/ 869430 h 2458387"/>
              <a:gd name="connsiteX3" fmla="*/ 200695 w 1258913"/>
              <a:gd name="connsiteY3" fmla="*/ 914400 h 2458387"/>
              <a:gd name="connsiteX4" fmla="*/ 65784 w 1258913"/>
              <a:gd name="connsiteY4" fmla="*/ 1079292 h 2458387"/>
              <a:gd name="connsiteX5" fmla="*/ 35803 w 1258913"/>
              <a:gd name="connsiteY5" fmla="*/ 1169233 h 2458387"/>
              <a:gd name="connsiteX6" fmla="*/ 5823 w 1258913"/>
              <a:gd name="connsiteY6" fmla="*/ 1229194 h 2458387"/>
              <a:gd name="connsiteX7" fmla="*/ 140734 w 1258913"/>
              <a:gd name="connsiteY7" fmla="*/ 1139253 h 2458387"/>
              <a:gd name="connsiteX8" fmla="*/ 320616 w 1258913"/>
              <a:gd name="connsiteY8" fmla="*/ 1034322 h 2458387"/>
              <a:gd name="connsiteX9" fmla="*/ 425548 w 1258913"/>
              <a:gd name="connsiteY9" fmla="*/ 974361 h 2458387"/>
              <a:gd name="connsiteX10" fmla="*/ 530479 w 1258913"/>
              <a:gd name="connsiteY10" fmla="*/ 944381 h 2458387"/>
              <a:gd name="connsiteX11" fmla="*/ 575449 w 1258913"/>
              <a:gd name="connsiteY11" fmla="*/ 914400 h 2458387"/>
              <a:gd name="connsiteX12" fmla="*/ 620420 w 1258913"/>
              <a:gd name="connsiteY12" fmla="*/ 1139253 h 2458387"/>
              <a:gd name="connsiteX13" fmla="*/ 545469 w 1258913"/>
              <a:gd name="connsiteY13" fmla="*/ 1289154 h 2458387"/>
              <a:gd name="connsiteX14" fmla="*/ 485508 w 1258913"/>
              <a:gd name="connsiteY14" fmla="*/ 1394086 h 2458387"/>
              <a:gd name="connsiteX15" fmla="*/ 380577 w 1258913"/>
              <a:gd name="connsiteY15" fmla="*/ 1603948 h 2458387"/>
              <a:gd name="connsiteX16" fmla="*/ 335607 w 1258913"/>
              <a:gd name="connsiteY16" fmla="*/ 1693889 h 2458387"/>
              <a:gd name="connsiteX17" fmla="*/ 305626 w 1258913"/>
              <a:gd name="connsiteY17" fmla="*/ 1753850 h 2458387"/>
              <a:gd name="connsiteX18" fmla="*/ 365587 w 1258913"/>
              <a:gd name="connsiteY18" fmla="*/ 1768840 h 2458387"/>
              <a:gd name="connsiteX19" fmla="*/ 410557 w 1258913"/>
              <a:gd name="connsiteY19" fmla="*/ 1753850 h 2458387"/>
              <a:gd name="connsiteX20" fmla="*/ 530479 w 1258913"/>
              <a:gd name="connsiteY20" fmla="*/ 1723869 h 2458387"/>
              <a:gd name="connsiteX21" fmla="*/ 680380 w 1258913"/>
              <a:gd name="connsiteY21" fmla="*/ 1753850 h 2458387"/>
              <a:gd name="connsiteX22" fmla="*/ 695371 w 1258913"/>
              <a:gd name="connsiteY22" fmla="*/ 1798820 h 2458387"/>
              <a:gd name="connsiteX23" fmla="*/ 725351 w 1258913"/>
              <a:gd name="connsiteY23" fmla="*/ 1978702 h 2458387"/>
              <a:gd name="connsiteX24" fmla="*/ 830282 w 1258913"/>
              <a:gd name="connsiteY24" fmla="*/ 1933731 h 2458387"/>
              <a:gd name="connsiteX25" fmla="*/ 875252 w 1258913"/>
              <a:gd name="connsiteY25" fmla="*/ 1948722 h 2458387"/>
              <a:gd name="connsiteX26" fmla="*/ 740341 w 1258913"/>
              <a:gd name="connsiteY26" fmla="*/ 2143594 h 2458387"/>
              <a:gd name="connsiteX27" fmla="*/ 695371 w 1258913"/>
              <a:gd name="connsiteY27" fmla="*/ 2173574 h 2458387"/>
              <a:gd name="connsiteX28" fmla="*/ 755331 w 1258913"/>
              <a:gd name="connsiteY28" fmla="*/ 2113613 h 2458387"/>
              <a:gd name="connsiteX29" fmla="*/ 1100105 w 1258913"/>
              <a:gd name="connsiteY29" fmla="*/ 2038663 h 2458387"/>
              <a:gd name="connsiteX30" fmla="*/ 1085115 w 1258913"/>
              <a:gd name="connsiteY30" fmla="*/ 1873771 h 2458387"/>
              <a:gd name="connsiteX31" fmla="*/ 950203 w 1258913"/>
              <a:gd name="connsiteY31" fmla="*/ 1319135 h 2458387"/>
              <a:gd name="connsiteX32" fmla="*/ 860262 w 1258913"/>
              <a:gd name="connsiteY32" fmla="*/ 794479 h 2458387"/>
              <a:gd name="connsiteX33" fmla="*/ 860262 w 1258913"/>
              <a:gd name="connsiteY33" fmla="*/ 119922 h 2458387"/>
              <a:gd name="connsiteX34" fmla="*/ 890243 w 1258913"/>
              <a:gd name="connsiteY34" fmla="*/ 179882 h 2458387"/>
              <a:gd name="connsiteX35" fmla="*/ 935213 w 1258913"/>
              <a:gd name="connsiteY35" fmla="*/ 284813 h 2458387"/>
              <a:gd name="connsiteX36" fmla="*/ 1010164 w 1258913"/>
              <a:gd name="connsiteY36" fmla="*/ 464695 h 2458387"/>
              <a:gd name="connsiteX37" fmla="*/ 1040144 w 1258913"/>
              <a:gd name="connsiteY37" fmla="*/ 719528 h 2458387"/>
              <a:gd name="connsiteX38" fmla="*/ 1025154 w 1258913"/>
              <a:gd name="connsiteY38" fmla="*/ 1034322 h 2458387"/>
              <a:gd name="connsiteX39" fmla="*/ 890243 w 1258913"/>
              <a:gd name="connsiteY39" fmla="*/ 1154243 h 2458387"/>
              <a:gd name="connsiteX40" fmla="*/ 860262 w 1258913"/>
              <a:gd name="connsiteY40" fmla="*/ 1124263 h 2458387"/>
              <a:gd name="connsiteX41" fmla="*/ 740341 w 1258913"/>
              <a:gd name="connsiteY41" fmla="*/ 899410 h 2458387"/>
              <a:gd name="connsiteX42" fmla="*/ 725351 w 1258913"/>
              <a:gd name="connsiteY42" fmla="*/ 824459 h 2458387"/>
              <a:gd name="connsiteX43" fmla="*/ 695371 w 1258913"/>
              <a:gd name="connsiteY43" fmla="*/ 689548 h 2458387"/>
              <a:gd name="connsiteX44" fmla="*/ 680380 w 1258913"/>
              <a:gd name="connsiteY44" fmla="*/ 569627 h 2458387"/>
              <a:gd name="connsiteX45" fmla="*/ 665390 w 1258913"/>
              <a:gd name="connsiteY45" fmla="*/ 464695 h 2458387"/>
              <a:gd name="connsiteX46" fmla="*/ 680380 w 1258913"/>
              <a:gd name="connsiteY46" fmla="*/ 239843 h 2458387"/>
              <a:gd name="connsiteX47" fmla="*/ 770321 w 1258913"/>
              <a:gd name="connsiteY47" fmla="*/ 284813 h 2458387"/>
              <a:gd name="connsiteX48" fmla="*/ 800302 w 1258913"/>
              <a:gd name="connsiteY48" fmla="*/ 344774 h 2458387"/>
              <a:gd name="connsiteX49" fmla="*/ 845272 w 1258913"/>
              <a:gd name="connsiteY49" fmla="*/ 449705 h 2458387"/>
              <a:gd name="connsiteX50" fmla="*/ 830282 w 1258913"/>
              <a:gd name="connsiteY50" fmla="*/ 1034322 h 2458387"/>
              <a:gd name="connsiteX51" fmla="*/ 785311 w 1258913"/>
              <a:gd name="connsiteY51" fmla="*/ 1139253 h 2458387"/>
              <a:gd name="connsiteX52" fmla="*/ 695371 w 1258913"/>
              <a:gd name="connsiteY52" fmla="*/ 1289154 h 2458387"/>
              <a:gd name="connsiteX53" fmla="*/ 635410 w 1258913"/>
              <a:gd name="connsiteY53" fmla="*/ 1304145 h 2458387"/>
              <a:gd name="connsiteX54" fmla="*/ 530479 w 1258913"/>
              <a:gd name="connsiteY54" fmla="*/ 1319135 h 2458387"/>
              <a:gd name="connsiteX55" fmla="*/ 410557 w 1258913"/>
              <a:gd name="connsiteY55" fmla="*/ 1124263 h 2458387"/>
              <a:gd name="connsiteX56" fmla="*/ 350597 w 1258913"/>
              <a:gd name="connsiteY56" fmla="*/ 794479 h 2458387"/>
              <a:gd name="connsiteX57" fmla="*/ 380577 w 1258913"/>
              <a:gd name="connsiteY57" fmla="*/ 329784 h 2458387"/>
              <a:gd name="connsiteX58" fmla="*/ 470518 w 1258913"/>
              <a:gd name="connsiteY58" fmla="*/ 209863 h 2458387"/>
              <a:gd name="connsiteX59" fmla="*/ 620420 w 1258913"/>
              <a:gd name="connsiteY59" fmla="*/ 74951 h 2458387"/>
              <a:gd name="connsiteX60" fmla="*/ 800302 w 1258913"/>
              <a:gd name="connsiteY60" fmla="*/ 0 h 2458387"/>
              <a:gd name="connsiteX61" fmla="*/ 1115095 w 1258913"/>
              <a:gd name="connsiteY61" fmla="*/ 104931 h 2458387"/>
              <a:gd name="connsiteX62" fmla="*/ 1130085 w 1258913"/>
              <a:gd name="connsiteY62" fmla="*/ 179882 h 2458387"/>
              <a:gd name="connsiteX63" fmla="*/ 1100105 w 1258913"/>
              <a:gd name="connsiteY63" fmla="*/ 539646 h 2458387"/>
              <a:gd name="connsiteX64" fmla="*/ 1010164 w 1258913"/>
              <a:gd name="connsiteY64" fmla="*/ 674558 h 2458387"/>
              <a:gd name="connsiteX65" fmla="*/ 755331 w 1258913"/>
              <a:gd name="connsiteY65" fmla="*/ 959371 h 2458387"/>
              <a:gd name="connsiteX66" fmla="*/ 605430 w 1258913"/>
              <a:gd name="connsiteY66" fmla="*/ 1049312 h 2458387"/>
              <a:gd name="connsiteX67" fmla="*/ 530479 w 1258913"/>
              <a:gd name="connsiteY67" fmla="*/ 1064302 h 2458387"/>
              <a:gd name="connsiteX68" fmla="*/ 410557 w 1258913"/>
              <a:gd name="connsiteY68" fmla="*/ 1019331 h 2458387"/>
              <a:gd name="connsiteX69" fmla="*/ 350597 w 1258913"/>
              <a:gd name="connsiteY69" fmla="*/ 794479 h 2458387"/>
              <a:gd name="connsiteX70" fmla="*/ 395567 w 1258913"/>
              <a:gd name="connsiteY70" fmla="*/ 299804 h 2458387"/>
              <a:gd name="connsiteX71" fmla="*/ 455528 w 1258913"/>
              <a:gd name="connsiteY71" fmla="*/ 239843 h 2458387"/>
              <a:gd name="connsiteX72" fmla="*/ 635410 w 1258913"/>
              <a:gd name="connsiteY72" fmla="*/ 269823 h 2458387"/>
              <a:gd name="connsiteX73" fmla="*/ 665390 w 1258913"/>
              <a:gd name="connsiteY73" fmla="*/ 314794 h 2458387"/>
              <a:gd name="connsiteX74" fmla="*/ 725351 w 1258913"/>
              <a:gd name="connsiteY74" fmla="*/ 419725 h 2458387"/>
              <a:gd name="connsiteX75" fmla="*/ 740341 w 1258913"/>
              <a:gd name="connsiteY75" fmla="*/ 494676 h 2458387"/>
              <a:gd name="connsiteX76" fmla="*/ 770321 w 1258913"/>
              <a:gd name="connsiteY76" fmla="*/ 569627 h 2458387"/>
              <a:gd name="connsiteX77" fmla="*/ 785311 w 1258913"/>
              <a:gd name="connsiteY77" fmla="*/ 734518 h 2458387"/>
              <a:gd name="connsiteX78" fmla="*/ 770321 w 1258913"/>
              <a:gd name="connsiteY78" fmla="*/ 959371 h 2458387"/>
              <a:gd name="connsiteX79" fmla="*/ 755331 w 1258913"/>
              <a:gd name="connsiteY79" fmla="*/ 1004341 h 2458387"/>
              <a:gd name="connsiteX80" fmla="*/ 680380 w 1258913"/>
              <a:gd name="connsiteY80" fmla="*/ 869430 h 2458387"/>
              <a:gd name="connsiteX81" fmla="*/ 695371 w 1258913"/>
              <a:gd name="connsiteY81" fmla="*/ 629587 h 2458387"/>
              <a:gd name="connsiteX82" fmla="*/ 845272 w 1258913"/>
              <a:gd name="connsiteY82" fmla="*/ 704538 h 2458387"/>
              <a:gd name="connsiteX83" fmla="*/ 1025154 w 1258913"/>
              <a:gd name="connsiteY83" fmla="*/ 959371 h 2458387"/>
              <a:gd name="connsiteX84" fmla="*/ 1115095 w 1258913"/>
              <a:gd name="connsiteY84" fmla="*/ 1124263 h 2458387"/>
              <a:gd name="connsiteX85" fmla="*/ 1220026 w 1258913"/>
              <a:gd name="connsiteY85" fmla="*/ 1454046 h 2458387"/>
              <a:gd name="connsiteX86" fmla="*/ 1250007 w 1258913"/>
              <a:gd name="connsiteY86" fmla="*/ 1618938 h 2458387"/>
              <a:gd name="connsiteX87" fmla="*/ 1190046 w 1258913"/>
              <a:gd name="connsiteY87" fmla="*/ 2248525 h 2458387"/>
              <a:gd name="connsiteX88" fmla="*/ 1130085 w 1258913"/>
              <a:gd name="connsiteY88" fmla="*/ 2338466 h 2458387"/>
              <a:gd name="connsiteX89" fmla="*/ 1085115 w 1258913"/>
              <a:gd name="connsiteY89" fmla="*/ 2398427 h 2458387"/>
              <a:gd name="connsiteX90" fmla="*/ 1010164 w 1258913"/>
              <a:gd name="connsiteY90" fmla="*/ 2428407 h 2458387"/>
              <a:gd name="connsiteX91" fmla="*/ 950203 w 1258913"/>
              <a:gd name="connsiteY91" fmla="*/ 2458387 h 2458387"/>
              <a:gd name="connsiteX92" fmla="*/ 620420 w 1258913"/>
              <a:gd name="connsiteY92" fmla="*/ 2413417 h 2458387"/>
              <a:gd name="connsiteX93" fmla="*/ 485508 w 1258913"/>
              <a:gd name="connsiteY93" fmla="*/ 2263515 h 2458387"/>
              <a:gd name="connsiteX94" fmla="*/ 395567 w 1258913"/>
              <a:gd name="connsiteY94" fmla="*/ 2128604 h 2458387"/>
              <a:gd name="connsiteX95" fmla="*/ 395567 w 1258913"/>
              <a:gd name="connsiteY95" fmla="*/ 1993692 h 2458387"/>
              <a:gd name="connsiteX96" fmla="*/ 515489 w 1258913"/>
              <a:gd name="connsiteY96" fmla="*/ 1963712 h 2458387"/>
              <a:gd name="connsiteX97" fmla="*/ 815292 w 1258913"/>
              <a:gd name="connsiteY97" fmla="*/ 1978702 h 2458387"/>
              <a:gd name="connsiteX98" fmla="*/ 830282 w 1258913"/>
              <a:gd name="connsiteY98" fmla="*/ 2023672 h 2458387"/>
              <a:gd name="connsiteX99" fmla="*/ 755331 w 1258913"/>
              <a:gd name="connsiteY99" fmla="*/ 2143594 h 2458387"/>
              <a:gd name="connsiteX100" fmla="*/ 590439 w 1258913"/>
              <a:gd name="connsiteY100" fmla="*/ 2248525 h 2458387"/>
              <a:gd name="connsiteX101" fmla="*/ 530479 w 1258913"/>
              <a:gd name="connsiteY101" fmla="*/ 2278505 h 2458387"/>
              <a:gd name="connsiteX102" fmla="*/ 350597 w 1258913"/>
              <a:gd name="connsiteY102" fmla="*/ 2218545 h 2458387"/>
              <a:gd name="connsiteX103" fmla="*/ 410557 w 1258913"/>
              <a:gd name="connsiteY103" fmla="*/ 2113613 h 2458387"/>
              <a:gd name="connsiteX104" fmla="*/ 485508 w 1258913"/>
              <a:gd name="connsiteY104" fmla="*/ 2083633 h 2458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1258913" h="2458387">
                <a:moveTo>
                  <a:pt x="635410" y="419725"/>
                </a:moveTo>
                <a:cubicBezTo>
                  <a:pt x="555462" y="509666"/>
                  <a:pt x="476707" y="600681"/>
                  <a:pt x="395567" y="689548"/>
                </a:cubicBezTo>
                <a:cubicBezTo>
                  <a:pt x="268513" y="828703"/>
                  <a:pt x="369072" y="696434"/>
                  <a:pt x="230675" y="869430"/>
                </a:cubicBezTo>
                <a:cubicBezTo>
                  <a:pt x="219421" y="883498"/>
                  <a:pt x="211825" y="900234"/>
                  <a:pt x="200695" y="914400"/>
                </a:cubicBezTo>
                <a:cubicBezTo>
                  <a:pt x="156819" y="970242"/>
                  <a:pt x="65784" y="1079292"/>
                  <a:pt x="65784" y="1079292"/>
                </a:cubicBezTo>
                <a:cubicBezTo>
                  <a:pt x="55790" y="1109272"/>
                  <a:pt x="47540" y="1139891"/>
                  <a:pt x="35803" y="1169233"/>
                </a:cubicBezTo>
                <a:cubicBezTo>
                  <a:pt x="27504" y="1189981"/>
                  <a:pt x="-15376" y="1222128"/>
                  <a:pt x="5823" y="1229194"/>
                </a:cubicBezTo>
                <a:cubicBezTo>
                  <a:pt x="20340" y="1234033"/>
                  <a:pt x="127656" y="1147972"/>
                  <a:pt x="140734" y="1139253"/>
                </a:cubicBezTo>
                <a:cubicBezTo>
                  <a:pt x="312654" y="1024640"/>
                  <a:pt x="202827" y="1098570"/>
                  <a:pt x="320616" y="1034322"/>
                </a:cubicBezTo>
                <a:cubicBezTo>
                  <a:pt x="355982" y="1015031"/>
                  <a:pt x="389516" y="992377"/>
                  <a:pt x="425548" y="974361"/>
                </a:cubicBezTo>
                <a:cubicBezTo>
                  <a:pt x="447054" y="963608"/>
                  <a:pt x="511267" y="949184"/>
                  <a:pt x="530479" y="944381"/>
                </a:cubicBezTo>
                <a:cubicBezTo>
                  <a:pt x="545469" y="934387"/>
                  <a:pt x="557543" y="916390"/>
                  <a:pt x="575449" y="914400"/>
                </a:cubicBezTo>
                <a:cubicBezTo>
                  <a:pt x="741607" y="895937"/>
                  <a:pt x="658464" y="1006098"/>
                  <a:pt x="620420" y="1139253"/>
                </a:cubicBezTo>
                <a:cubicBezTo>
                  <a:pt x="591677" y="1239854"/>
                  <a:pt x="585515" y="1222410"/>
                  <a:pt x="545469" y="1289154"/>
                </a:cubicBezTo>
                <a:cubicBezTo>
                  <a:pt x="524742" y="1323698"/>
                  <a:pt x="504201" y="1358400"/>
                  <a:pt x="485508" y="1394086"/>
                </a:cubicBezTo>
                <a:cubicBezTo>
                  <a:pt x="449218" y="1463368"/>
                  <a:pt x="415554" y="1533994"/>
                  <a:pt x="380577" y="1603948"/>
                </a:cubicBezTo>
                <a:lnTo>
                  <a:pt x="335607" y="1693889"/>
                </a:lnTo>
                <a:lnTo>
                  <a:pt x="305626" y="1753850"/>
                </a:lnTo>
                <a:cubicBezTo>
                  <a:pt x="325613" y="1758847"/>
                  <a:pt x="344985" y="1768840"/>
                  <a:pt x="365587" y="1768840"/>
                </a:cubicBezTo>
                <a:cubicBezTo>
                  <a:pt x="381388" y="1768840"/>
                  <a:pt x="395228" y="1757682"/>
                  <a:pt x="410557" y="1753850"/>
                </a:cubicBezTo>
                <a:lnTo>
                  <a:pt x="530479" y="1723869"/>
                </a:lnTo>
                <a:cubicBezTo>
                  <a:pt x="580446" y="1733863"/>
                  <a:pt x="633991" y="1732764"/>
                  <a:pt x="680380" y="1753850"/>
                </a:cubicBezTo>
                <a:cubicBezTo>
                  <a:pt x="694765" y="1760388"/>
                  <a:pt x="692272" y="1783326"/>
                  <a:pt x="695371" y="1798820"/>
                </a:cubicBezTo>
                <a:cubicBezTo>
                  <a:pt x="707293" y="1858427"/>
                  <a:pt x="715358" y="1918741"/>
                  <a:pt x="725351" y="1978702"/>
                </a:cubicBezTo>
                <a:cubicBezTo>
                  <a:pt x="762068" y="1954224"/>
                  <a:pt x="781884" y="1933731"/>
                  <a:pt x="830282" y="1933731"/>
                </a:cubicBezTo>
                <a:cubicBezTo>
                  <a:pt x="846083" y="1933731"/>
                  <a:pt x="860262" y="1943725"/>
                  <a:pt x="875252" y="1948722"/>
                </a:cubicBezTo>
                <a:cubicBezTo>
                  <a:pt x="841246" y="2050741"/>
                  <a:pt x="849436" y="2070864"/>
                  <a:pt x="740341" y="2143594"/>
                </a:cubicBezTo>
                <a:cubicBezTo>
                  <a:pt x="725351" y="2153587"/>
                  <a:pt x="687314" y="2189688"/>
                  <a:pt x="695371" y="2173574"/>
                </a:cubicBezTo>
                <a:cubicBezTo>
                  <a:pt x="708011" y="2148292"/>
                  <a:pt x="731813" y="2129292"/>
                  <a:pt x="755331" y="2113613"/>
                </a:cubicBezTo>
                <a:cubicBezTo>
                  <a:pt x="890463" y="2023525"/>
                  <a:pt x="918020" y="2050802"/>
                  <a:pt x="1100105" y="2038663"/>
                </a:cubicBezTo>
                <a:cubicBezTo>
                  <a:pt x="1095108" y="1983699"/>
                  <a:pt x="1093835" y="1928268"/>
                  <a:pt x="1085115" y="1873771"/>
                </a:cubicBezTo>
                <a:cubicBezTo>
                  <a:pt x="1047415" y="1638147"/>
                  <a:pt x="1004817" y="1583103"/>
                  <a:pt x="950203" y="1319135"/>
                </a:cubicBezTo>
                <a:cubicBezTo>
                  <a:pt x="914253" y="1145378"/>
                  <a:pt x="860262" y="794479"/>
                  <a:pt x="860262" y="794479"/>
                </a:cubicBezTo>
                <a:cubicBezTo>
                  <a:pt x="843192" y="538433"/>
                  <a:pt x="827001" y="408178"/>
                  <a:pt x="860262" y="119922"/>
                </a:cubicBezTo>
                <a:cubicBezTo>
                  <a:pt x="862823" y="97723"/>
                  <a:pt x="880996" y="159539"/>
                  <a:pt x="890243" y="179882"/>
                </a:cubicBezTo>
                <a:cubicBezTo>
                  <a:pt x="905990" y="214525"/>
                  <a:pt x="919266" y="250262"/>
                  <a:pt x="935213" y="284813"/>
                </a:cubicBezTo>
                <a:cubicBezTo>
                  <a:pt x="1006139" y="438485"/>
                  <a:pt x="958439" y="309518"/>
                  <a:pt x="1010164" y="464695"/>
                </a:cubicBezTo>
                <a:cubicBezTo>
                  <a:pt x="1013459" y="491057"/>
                  <a:pt x="1040144" y="700091"/>
                  <a:pt x="1040144" y="719528"/>
                </a:cubicBezTo>
                <a:cubicBezTo>
                  <a:pt x="1040144" y="824578"/>
                  <a:pt x="1043621" y="930908"/>
                  <a:pt x="1025154" y="1034322"/>
                </a:cubicBezTo>
                <a:cubicBezTo>
                  <a:pt x="1004315" y="1151022"/>
                  <a:pt x="971958" y="1137900"/>
                  <a:pt x="890243" y="1154243"/>
                </a:cubicBezTo>
                <a:cubicBezTo>
                  <a:pt x="880249" y="1144250"/>
                  <a:pt x="868102" y="1136022"/>
                  <a:pt x="860262" y="1124263"/>
                </a:cubicBezTo>
                <a:cubicBezTo>
                  <a:pt x="819202" y="1062673"/>
                  <a:pt x="772752" y="964231"/>
                  <a:pt x="740341" y="899410"/>
                </a:cubicBezTo>
                <a:cubicBezTo>
                  <a:pt x="735344" y="874426"/>
                  <a:pt x="730689" y="849372"/>
                  <a:pt x="725351" y="824459"/>
                </a:cubicBezTo>
                <a:cubicBezTo>
                  <a:pt x="715699" y="779414"/>
                  <a:pt x="703377" y="734914"/>
                  <a:pt x="695371" y="689548"/>
                </a:cubicBezTo>
                <a:cubicBezTo>
                  <a:pt x="688370" y="649876"/>
                  <a:pt x="685704" y="609558"/>
                  <a:pt x="680380" y="569627"/>
                </a:cubicBezTo>
                <a:cubicBezTo>
                  <a:pt x="675710" y="534605"/>
                  <a:pt x="670387" y="499672"/>
                  <a:pt x="665390" y="464695"/>
                </a:cubicBezTo>
                <a:cubicBezTo>
                  <a:pt x="670387" y="389744"/>
                  <a:pt x="642531" y="304728"/>
                  <a:pt x="680380" y="239843"/>
                </a:cubicBezTo>
                <a:cubicBezTo>
                  <a:pt x="697269" y="210890"/>
                  <a:pt x="745095" y="262741"/>
                  <a:pt x="770321" y="284813"/>
                </a:cubicBezTo>
                <a:cubicBezTo>
                  <a:pt x="787138" y="299528"/>
                  <a:pt x="791055" y="324431"/>
                  <a:pt x="800302" y="344774"/>
                </a:cubicBezTo>
                <a:cubicBezTo>
                  <a:pt x="816049" y="379417"/>
                  <a:pt x="830282" y="414728"/>
                  <a:pt x="845272" y="449705"/>
                </a:cubicBezTo>
                <a:cubicBezTo>
                  <a:pt x="875233" y="689398"/>
                  <a:pt x="879352" y="661395"/>
                  <a:pt x="830282" y="1034322"/>
                </a:cubicBezTo>
                <a:cubicBezTo>
                  <a:pt x="825318" y="1072051"/>
                  <a:pt x="801258" y="1104702"/>
                  <a:pt x="785311" y="1139253"/>
                </a:cubicBezTo>
                <a:cubicBezTo>
                  <a:pt x="772827" y="1166302"/>
                  <a:pt x="727911" y="1265911"/>
                  <a:pt x="695371" y="1289154"/>
                </a:cubicBezTo>
                <a:cubicBezTo>
                  <a:pt x="678606" y="1301129"/>
                  <a:pt x="655680" y="1300459"/>
                  <a:pt x="635410" y="1304145"/>
                </a:cubicBezTo>
                <a:cubicBezTo>
                  <a:pt x="600648" y="1310466"/>
                  <a:pt x="565456" y="1314138"/>
                  <a:pt x="530479" y="1319135"/>
                </a:cubicBezTo>
                <a:cubicBezTo>
                  <a:pt x="450897" y="1226289"/>
                  <a:pt x="433891" y="1233157"/>
                  <a:pt x="410557" y="1124263"/>
                </a:cubicBezTo>
                <a:cubicBezTo>
                  <a:pt x="387146" y="1015013"/>
                  <a:pt x="350597" y="794479"/>
                  <a:pt x="350597" y="794479"/>
                </a:cubicBezTo>
                <a:cubicBezTo>
                  <a:pt x="360590" y="639581"/>
                  <a:pt x="349386" y="481838"/>
                  <a:pt x="380577" y="329784"/>
                </a:cubicBezTo>
                <a:cubicBezTo>
                  <a:pt x="390618" y="280836"/>
                  <a:pt x="438530" y="248249"/>
                  <a:pt x="470518" y="209863"/>
                </a:cubicBezTo>
                <a:cubicBezTo>
                  <a:pt x="499968" y="174523"/>
                  <a:pt x="588989" y="95905"/>
                  <a:pt x="620420" y="74951"/>
                </a:cubicBezTo>
                <a:cubicBezTo>
                  <a:pt x="679520" y="35551"/>
                  <a:pt x="734288" y="22005"/>
                  <a:pt x="800302" y="0"/>
                </a:cubicBezTo>
                <a:cubicBezTo>
                  <a:pt x="934695" y="22399"/>
                  <a:pt x="1059275" y="-20664"/>
                  <a:pt x="1115095" y="104931"/>
                </a:cubicBezTo>
                <a:cubicBezTo>
                  <a:pt x="1125443" y="128214"/>
                  <a:pt x="1125088" y="154898"/>
                  <a:pt x="1130085" y="179882"/>
                </a:cubicBezTo>
                <a:cubicBezTo>
                  <a:pt x="1120092" y="299803"/>
                  <a:pt x="1128456" y="422696"/>
                  <a:pt x="1100105" y="539646"/>
                </a:cubicBezTo>
                <a:cubicBezTo>
                  <a:pt x="1087371" y="592173"/>
                  <a:pt x="1041809" y="630742"/>
                  <a:pt x="1010164" y="674558"/>
                </a:cubicBezTo>
                <a:cubicBezTo>
                  <a:pt x="953472" y="753055"/>
                  <a:pt x="831873" y="908343"/>
                  <a:pt x="755331" y="959371"/>
                </a:cubicBezTo>
                <a:cubicBezTo>
                  <a:pt x="721129" y="982172"/>
                  <a:pt x="651519" y="1033949"/>
                  <a:pt x="605430" y="1049312"/>
                </a:cubicBezTo>
                <a:cubicBezTo>
                  <a:pt x="581259" y="1057369"/>
                  <a:pt x="555463" y="1059305"/>
                  <a:pt x="530479" y="1064302"/>
                </a:cubicBezTo>
                <a:cubicBezTo>
                  <a:pt x="490505" y="1049312"/>
                  <a:pt x="442147" y="1048049"/>
                  <a:pt x="410557" y="1019331"/>
                </a:cubicBezTo>
                <a:cubicBezTo>
                  <a:pt x="361938" y="975132"/>
                  <a:pt x="357371" y="848669"/>
                  <a:pt x="350597" y="794479"/>
                </a:cubicBezTo>
                <a:cubicBezTo>
                  <a:pt x="355295" y="653552"/>
                  <a:pt x="283699" y="430317"/>
                  <a:pt x="395567" y="299804"/>
                </a:cubicBezTo>
                <a:cubicBezTo>
                  <a:pt x="413962" y="278343"/>
                  <a:pt x="435541" y="259830"/>
                  <a:pt x="455528" y="239843"/>
                </a:cubicBezTo>
                <a:cubicBezTo>
                  <a:pt x="515489" y="249836"/>
                  <a:pt x="578164" y="249378"/>
                  <a:pt x="635410" y="269823"/>
                </a:cubicBezTo>
                <a:cubicBezTo>
                  <a:pt x="652376" y="275882"/>
                  <a:pt x="656452" y="299152"/>
                  <a:pt x="665390" y="314794"/>
                </a:cubicBezTo>
                <a:cubicBezTo>
                  <a:pt x="741465" y="447925"/>
                  <a:pt x="652309" y="310160"/>
                  <a:pt x="725351" y="419725"/>
                </a:cubicBezTo>
                <a:cubicBezTo>
                  <a:pt x="730348" y="444709"/>
                  <a:pt x="733020" y="470272"/>
                  <a:pt x="740341" y="494676"/>
                </a:cubicBezTo>
                <a:cubicBezTo>
                  <a:pt x="748073" y="520449"/>
                  <a:pt x="765362" y="543180"/>
                  <a:pt x="770321" y="569627"/>
                </a:cubicBezTo>
                <a:cubicBezTo>
                  <a:pt x="780492" y="623872"/>
                  <a:pt x="780314" y="679554"/>
                  <a:pt x="785311" y="734518"/>
                </a:cubicBezTo>
                <a:cubicBezTo>
                  <a:pt x="780314" y="809469"/>
                  <a:pt x="778616" y="884713"/>
                  <a:pt x="770321" y="959371"/>
                </a:cubicBezTo>
                <a:cubicBezTo>
                  <a:pt x="768576" y="975075"/>
                  <a:pt x="766504" y="1015514"/>
                  <a:pt x="755331" y="1004341"/>
                </a:cubicBezTo>
                <a:cubicBezTo>
                  <a:pt x="718954" y="967964"/>
                  <a:pt x="705364" y="914400"/>
                  <a:pt x="680380" y="869430"/>
                </a:cubicBezTo>
                <a:cubicBezTo>
                  <a:pt x="675280" y="833727"/>
                  <a:pt x="636336" y="649265"/>
                  <a:pt x="695371" y="629587"/>
                </a:cubicBezTo>
                <a:cubicBezTo>
                  <a:pt x="748369" y="611921"/>
                  <a:pt x="795305" y="679554"/>
                  <a:pt x="845272" y="704538"/>
                </a:cubicBezTo>
                <a:cubicBezTo>
                  <a:pt x="913257" y="795184"/>
                  <a:pt x="966323" y="861319"/>
                  <a:pt x="1025154" y="959371"/>
                </a:cubicBezTo>
                <a:cubicBezTo>
                  <a:pt x="1057366" y="1013058"/>
                  <a:pt x="1085115" y="1069299"/>
                  <a:pt x="1115095" y="1124263"/>
                </a:cubicBezTo>
                <a:cubicBezTo>
                  <a:pt x="1160123" y="1349402"/>
                  <a:pt x="1077865" y="956483"/>
                  <a:pt x="1220026" y="1454046"/>
                </a:cubicBezTo>
                <a:cubicBezTo>
                  <a:pt x="1235373" y="1507762"/>
                  <a:pt x="1240013" y="1563974"/>
                  <a:pt x="1250007" y="1618938"/>
                </a:cubicBezTo>
                <a:cubicBezTo>
                  <a:pt x="1241453" y="1918308"/>
                  <a:pt x="1302298" y="2040057"/>
                  <a:pt x="1190046" y="2248525"/>
                </a:cubicBezTo>
                <a:cubicBezTo>
                  <a:pt x="1172963" y="2280250"/>
                  <a:pt x="1150748" y="2308947"/>
                  <a:pt x="1130085" y="2338466"/>
                </a:cubicBezTo>
                <a:cubicBezTo>
                  <a:pt x="1115758" y="2358933"/>
                  <a:pt x="1105102" y="2383437"/>
                  <a:pt x="1085115" y="2398427"/>
                </a:cubicBezTo>
                <a:cubicBezTo>
                  <a:pt x="1063588" y="2414572"/>
                  <a:pt x="1034753" y="2417479"/>
                  <a:pt x="1010164" y="2428407"/>
                </a:cubicBezTo>
                <a:cubicBezTo>
                  <a:pt x="989744" y="2437482"/>
                  <a:pt x="970190" y="2448394"/>
                  <a:pt x="950203" y="2458387"/>
                </a:cubicBezTo>
                <a:cubicBezTo>
                  <a:pt x="840275" y="2443397"/>
                  <a:pt x="726380" y="2446301"/>
                  <a:pt x="620420" y="2413417"/>
                </a:cubicBezTo>
                <a:cubicBezTo>
                  <a:pt x="519480" y="2382091"/>
                  <a:pt x="525925" y="2329193"/>
                  <a:pt x="485508" y="2263515"/>
                </a:cubicBezTo>
                <a:cubicBezTo>
                  <a:pt x="457182" y="2217485"/>
                  <a:pt x="425547" y="2173574"/>
                  <a:pt x="395567" y="2128604"/>
                </a:cubicBezTo>
                <a:cubicBezTo>
                  <a:pt x="382983" y="2090851"/>
                  <a:pt x="354864" y="2029872"/>
                  <a:pt x="395567" y="1993692"/>
                </a:cubicBezTo>
                <a:cubicBezTo>
                  <a:pt x="426364" y="1966318"/>
                  <a:pt x="515489" y="1963712"/>
                  <a:pt x="515489" y="1963712"/>
                </a:cubicBezTo>
                <a:cubicBezTo>
                  <a:pt x="615423" y="1968709"/>
                  <a:pt x="717000" y="1959980"/>
                  <a:pt x="815292" y="1978702"/>
                </a:cubicBezTo>
                <a:cubicBezTo>
                  <a:pt x="830814" y="1981659"/>
                  <a:pt x="835682" y="2008822"/>
                  <a:pt x="830282" y="2023672"/>
                </a:cubicBezTo>
                <a:cubicBezTo>
                  <a:pt x="814172" y="2067973"/>
                  <a:pt x="787407" y="2109051"/>
                  <a:pt x="755331" y="2143594"/>
                </a:cubicBezTo>
                <a:cubicBezTo>
                  <a:pt x="646702" y="2260580"/>
                  <a:pt x="675245" y="2212180"/>
                  <a:pt x="590439" y="2248525"/>
                </a:cubicBezTo>
                <a:cubicBezTo>
                  <a:pt x="569900" y="2257327"/>
                  <a:pt x="550466" y="2268512"/>
                  <a:pt x="530479" y="2278505"/>
                </a:cubicBezTo>
                <a:cubicBezTo>
                  <a:pt x="463170" y="2272386"/>
                  <a:pt x="350597" y="2312924"/>
                  <a:pt x="350597" y="2218545"/>
                </a:cubicBezTo>
                <a:cubicBezTo>
                  <a:pt x="350597" y="2172299"/>
                  <a:pt x="371734" y="2137877"/>
                  <a:pt x="410557" y="2113613"/>
                </a:cubicBezTo>
                <a:cubicBezTo>
                  <a:pt x="433375" y="2099352"/>
                  <a:pt x="485508" y="2083633"/>
                  <a:pt x="485508" y="2083633"/>
                </a:cubicBez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12">
            <a:extLst>
              <a:ext uri="{FF2B5EF4-FFF2-40B4-BE49-F238E27FC236}">
                <a16:creationId xmlns:a16="http://schemas.microsoft.com/office/drawing/2014/main" id="{D0485B81-4717-9A50-A035-EFC0B22B8CF5}"/>
              </a:ext>
            </a:extLst>
          </p:cNvPr>
          <p:cNvSpPr/>
          <p:nvPr/>
        </p:nvSpPr>
        <p:spPr>
          <a:xfrm>
            <a:off x="7420131" y="3867462"/>
            <a:ext cx="2129626" cy="2803161"/>
          </a:xfrm>
          <a:custGeom>
            <a:avLst/>
            <a:gdLst>
              <a:gd name="connsiteX0" fmla="*/ 689548 w 2129626"/>
              <a:gd name="connsiteY0" fmla="*/ 0 h 2803161"/>
              <a:gd name="connsiteX1" fmla="*/ 599607 w 2129626"/>
              <a:gd name="connsiteY1" fmla="*/ 74951 h 2803161"/>
              <a:gd name="connsiteX2" fmla="*/ 569626 w 2129626"/>
              <a:gd name="connsiteY2" fmla="*/ 119922 h 2803161"/>
              <a:gd name="connsiteX3" fmla="*/ 509666 w 2129626"/>
              <a:gd name="connsiteY3" fmla="*/ 164892 h 2803161"/>
              <a:gd name="connsiteX4" fmla="*/ 464695 w 2129626"/>
              <a:gd name="connsiteY4" fmla="*/ 224853 h 2803161"/>
              <a:gd name="connsiteX5" fmla="*/ 344774 w 2129626"/>
              <a:gd name="connsiteY5" fmla="*/ 359764 h 2803161"/>
              <a:gd name="connsiteX6" fmla="*/ 299803 w 2129626"/>
              <a:gd name="connsiteY6" fmla="*/ 434715 h 2803161"/>
              <a:gd name="connsiteX7" fmla="*/ 239843 w 2129626"/>
              <a:gd name="connsiteY7" fmla="*/ 509666 h 2803161"/>
              <a:gd name="connsiteX8" fmla="*/ 209862 w 2129626"/>
              <a:gd name="connsiteY8" fmla="*/ 584617 h 2803161"/>
              <a:gd name="connsiteX9" fmla="*/ 164892 w 2129626"/>
              <a:gd name="connsiteY9" fmla="*/ 659568 h 2803161"/>
              <a:gd name="connsiteX10" fmla="*/ 134912 w 2129626"/>
              <a:gd name="connsiteY10" fmla="*/ 749508 h 2803161"/>
              <a:gd name="connsiteX11" fmla="*/ 89941 w 2129626"/>
              <a:gd name="connsiteY11" fmla="*/ 839449 h 2803161"/>
              <a:gd name="connsiteX12" fmla="*/ 59961 w 2129626"/>
              <a:gd name="connsiteY12" fmla="*/ 914400 h 2803161"/>
              <a:gd name="connsiteX13" fmla="*/ 14990 w 2129626"/>
              <a:gd name="connsiteY13" fmla="*/ 1079292 h 2803161"/>
              <a:gd name="connsiteX14" fmla="*/ 0 w 2129626"/>
              <a:gd name="connsiteY14" fmla="*/ 1169233 h 2803161"/>
              <a:gd name="connsiteX15" fmla="*/ 29980 w 2129626"/>
              <a:gd name="connsiteY15" fmla="*/ 1304145 h 2803161"/>
              <a:gd name="connsiteX16" fmla="*/ 194872 w 2129626"/>
              <a:gd name="connsiteY16" fmla="*/ 1289154 h 2803161"/>
              <a:gd name="connsiteX17" fmla="*/ 269823 w 2129626"/>
              <a:gd name="connsiteY17" fmla="*/ 1319135 h 2803161"/>
              <a:gd name="connsiteX18" fmla="*/ 254833 w 2129626"/>
              <a:gd name="connsiteY18" fmla="*/ 1364105 h 2803161"/>
              <a:gd name="connsiteX19" fmla="*/ 179882 w 2129626"/>
              <a:gd name="connsiteY19" fmla="*/ 1439056 h 2803161"/>
              <a:gd name="connsiteX20" fmla="*/ 119921 w 2129626"/>
              <a:gd name="connsiteY20" fmla="*/ 1543987 h 2803161"/>
              <a:gd name="connsiteX21" fmla="*/ 89941 w 2129626"/>
              <a:gd name="connsiteY21" fmla="*/ 1573968 h 2803161"/>
              <a:gd name="connsiteX22" fmla="*/ 134912 w 2129626"/>
              <a:gd name="connsiteY22" fmla="*/ 1588958 h 2803161"/>
              <a:gd name="connsiteX23" fmla="*/ 179882 w 2129626"/>
              <a:gd name="connsiteY23" fmla="*/ 1573968 h 2803161"/>
              <a:gd name="connsiteX24" fmla="*/ 209862 w 2129626"/>
              <a:gd name="connsiteY24" fmla="*/ 1618938 h 2803161"/>
              <a:gd name="connsiteX25" fmla="*/ 194872 w 2129626"/>
              <a:gd name="connsiteY25" fmla="*/ 1813810 h 2803161"/>
              <a:gd name="connsiteX26" fmla="*/ 164892 w 2129626"/>
              <a:gd name="connsiteY26" fmla="*/ 1933731 h 2803161"/>
              <a:gd name="connsiteX27" fmla="*/ 149902 w 2129626"/>
              <a:gd name="connsiteY27" fmla="*/ 1978702 h 2803161"/>
              <a:gd name="connsiteX28" fmla="*/ 254833 w 2129626"/>
              <a:gd name="connsiteY28" fmla="*/ 1948722 h 2803161"/>
              <a:gd name="connsiteX29" fmla="*/ 359764 w 2129626"/>
              <a:gd name="connsiteY29" fmla="*/ 1963712 h 2803161"/>
              <a:gd name="connsiteX30" fmla="*/ 464695 w 2129626"/>
              <a:gd name="connsiteY30" fmla="*/ 2143594 h 2803161"/>
              <a:gd name="connsiteX31" fmla="*/ 599607 w 2129626"/>
              <a:gd name="connsiteY31" fmla="*/ 2068643 h 2803161"/>
              <a:gd name="connsiteX32" fmla="*/ 764499 w 2129626"/>
              <a:gd name="connsiteY32" fmla="*/ 2008682 h 2803161"/>
              <a:gd name="connsiteX33" fmla="*/ 959371 w 2129626"/>
              <a:gd name="connsiteY33" fmla="*/ 2023672 h 2803161"/>
              <a:gd name="connsiteX34" fmla="*/ 1004341 w 2129626"/>
              <a:gd name="connsiteY34" fmla="*/ 2053653 h 2803161"/>
              <a:gd name="connsiteX35" fmla="*/ 1214203 w 2129626"/>
              <a:gd name="connsiteY35" fmla="*/ 2038663 h 2803161"/>
              <a:gd name="connsiteX36" fmla="*/ 1499017 w 2129626"/>
              <a:gd name="connsiteY36" fmla="*/ 1963712 h 2803161"/>
              <a:gd name="connsiteX37" fmla="*/ 1588958 w 2129626"/>
              <a:gd name="connsiteY37" fmla="*/ 1933731 h 2803161"/>
              <a:gd name="connsiteX38" fmla="*/ 1738859 w 2129626"/>
              <a:gd name="connsiteY38" fmla="*/ 1918741 h 2803161"/>
              <a:gd name="connsiteX39" fmla="*/ 1858780 w 2129626"/>
              <a:gd name="connsiteY39" fmla="*/ 1903751 h 2803161"/>
              <a:gd name="connsiteX40" fmla="*/ 2113613 w 2129626"/>
              <a:gd name="connsiteY40" fmla="*/ 1933731 h 2803161"/>
              <a:gd name="connsiteX41" fmla="*/ 2128603 w 2129626"/>
              <a:gd name="connsiteY41" fmla="*/ 1978702 h 2803161"/>
              <a:gd name="connsiteX42" fmla="*/ 2083633 w 2129626"/>
              <a:gd name="connsiteY42" fmla="*/ 2143594 h 2803161"/>
              <a:gd name="connsiteX43" fmla="*/ 2023672 w 2129626"/>
              <a:gd name="connsiteY43" fmla="*/ 2173574 h 2803161"/>
              <a:gd name="connsiteX44" fmla="*/ 1738859 w 2129626"/>
              <a:gd name="connsiteY44" fmla="*/ 2128604 h 2803161"/>
              <a:gd name="connsiteX45" fmla="*/ 1558977 w 2129626"/>
              <a:gd name="connsiteY45" fmla="*/ 1993692 h 2803161"/>
              <a:gd name="connsiteX46" fmla="*/ 1334125 w 2129626"/>
              <a:gd name="connsiteY46" fmla="*/ 1588958 h 2803161"/>
              <a:gd name="connsiteX47" fmla="*/ 1289154 w 2129626"/>
              <a:gd name="connsiteY47" fmla="*/ 1424066 h 2803161"/>
              <a:gd name="connsiteX48" fmla="*/ 1304144 w 2129626"/>
              <a:gd name="connsiteY48" fmla="*/ 1004341 h 2803161"/>
              <a:gd name="connsiteX49" fmla="*/ 1349115 w 2129626"/>
              <a:gd name="connsiteY49" fmla="*/ 989351 h 2803161"/>
              <a:gd name="connsiteX50" fmla="*/ 1394085 w 2129626"/>
              <a:gd name="connsiteY50" fmla="*/ 1019331 h 2803161"/>
              <a:gd name="connsiteX51" fmla="*/ 1409076 w 2129626"/>
              <a:gd name="connsiteY51" fmla="*/ 1064302 h 2803161"/>
              <a:gd name="connsiteX52" fmla="*/ 1424066 w 2129626"/>
              <a:gd name="connsiteY52" fmla="*/ 1169233 h 2803161"/>
              <a:gd name="connsiteX53" fmla="*/ 1379095 w 2129626"/>
              <a:gd name="connsiteY53" fmla="*/ 1409076 h 2803161"/>
              <a:gd name="connsiteX54" fmla="*/ 1124262 w 2129626"/>
              <a:gd name="connsiteY54" fmla="*/ 1708879 h 2803161"/>
              <a:gd name="connsiteX55" fmla="*/ 1004341 w 2129626"/>
              <a:gd name="connsiteY55" fmla="*/ 1768840 h 2803161"/>
              <a:gd name="connsiteX56" fmla="*/ 749508 w 2129626"/>
              <a:gd name="connsiteY56" fmla="*/ 1843790 h 2803161"/>
              <a:gd name="connsiteX57" fmla="*/ 314794 w 2129626"/>
              <a:gd name="connsiteY57" fmla="*/ 1783830 h 2803161"/>
              <a:gd name="connsiteX58" fmla="*/ 89941 w 2129626"/>
              <a:gd name="connsiteY58" fmla="*/ 1558977 h 2803161"/>
              <a:gd name="connsiteX59" fmla="*/ 29980 w 2129626"/>
              <a:gd name="connsiteY59" fmla="*/ 1289154 h 2803161"/>
              <a:gd name="connsiteX60" fmla="*/ 104931 w 2129626"/>
              <a:gd name="connsiteY60" fmla="*/ 959371 h 2803161"/>
              <a:gd name="connsiteX61" fmla="*/ 194872 w 2129626"/>
              <a:gd name="connsiteY61" fmla="*/ 854440 h 2803161"/>
              <a:gd name="connsiteX62" fmla="*/ 584617 w 2129626"/>
              <a:gd name="connsiteY62" fmla="*/ 674558 h 2803161"/>
              <a:gd name="connsiteX63" fmla="*/ 839449 w 2129626"/>
              <a:gd name="connsiteY63" fmla="*/ 719528 h 2803161"/>
              <a:gd name="connsiteX64" fmla="*/ 929390 w 2129626"/>
              <a:gd name="connsiteY64" fmla="*/ 794479 h 2803161"/>
              <a:gd name="connsiteX65" fmla="*/ 1079292 w 2129626"/>
              <a:gd name="connsiteY65" fmla="*/ 1004341 h 2803161"/>
              <a:gd name="connsiteX66" fmla="*/ 1079292 w 2129626"/>
              <a:gd name="connsiteY66" fmla="*/ 1528997 h 2803161"/>
              <a:gd name="connsiteX67" fmla="*/ 974361 w 2129626"/>
              <a:gd name="connsiteY67" fmla="*/ 1693889 h 2803161"/>
              <a:gd name="connsiteX68" fmla="*/ 899410 w 2129626"/>
              <a:gd name="connsiteY68" fmla="*/ 1708879 h 2803161"/>
              <a:gd name="connsiteX69" fmla="*/ 779489 w 2129626"/>
              <a:gd name="connsiteY69" fmla="*/ 1633928 h 2803161"/>
              <a:gd name="connsiteX70" fmla="*/ 719528 w 2129626"/>
              <a:gd name="connsiteY70" fmla="*/ 1528997 h 2803161"/>
              <a:gd name="connsiteX71" fmla="*/ 629587 w 2129626"/>
              <a:gd name="connsiteY71" fmla="*/ 1319135 h 2803161"/>
              <a:gd name="connsiteX72" fmla="*/ 599607 w 2129626"/>
              <a:gd name="connsiteY72" fmla="*/ 1199213 h 2803161"/>
              <a:gd name="connsiteX73" fmla="*/ 584617 w 2129626"/>
              <a:gd name="connsiteY73" fmla="*/ 974361 h 2803161"/>
              <a:gd name="connsiteX74" fmla="*/ 599607 w 2129626"/>
              <a:gd name="connsiteY74" fmla="*/ 884420 h 2803161"/>
              <a:gd name="connsiteX75" fmla="*/ 749508 w 2129626"/>
              <a:gd name="connsiteY75" fmla="*/ 944381 h 2803161"/>
              <a:gd name="connsiteX76" fmla="*/ 839449 w 2129626"/>
              <a:gd name="connsiteY76" fmla="*/ 1109272 h 2803161"/>
              <a:gd name="connsiteX77" fmla="*/ 869430 w 2129626"/>
              <a:gd name="connsiteY77" fmla="*/ 1334125 h 2803161"/>
              <a:gd name="connsiteX78" fmla="*/ 854439 w 2129626"/>
              <a:gd name="connsiteY78" fmla="*/ 1738859 h 2803161"/>
              <a:gd name="connsiteX79" fmla="*/ 824459 w 2129626"/>
              <a:gd name="connsiteY79" fmla="*/ 1798820 h 2803161"/>
              <a:gd name="connsiteX80" fmla="*/ 734518 w 2129626"/>
              <a:gd name="connsiteY80" fmla="*/ 1933731 h 2803161"/>
              <a:gd name="connsiteX81" fmla="*/ 704538 w 2129626"/>
              <a:gd name="connsiteY81" fmla="*/ 2008682 h 2803161"/>
              <a:gd name="connsiteX82" fmla="*/ 659567 w 2129626"/>
              <a:gd name="connsiteY82" fmla="*/ 2038663 h 2803161"/>
              <a:gd name="connsiteX83" fmla="*/ 599607 w 2129626"/>
              <a:gd name="connsiteY83" fmla="*/ 2083633 h 2803161"/>
              <a:gd name="connsiteX84" fmla="*/ 494676 w 2129626"/>
              <a:gd name="connsiteY84" fmla="*/ 1993692 h 2803161"/>
              <a:gd name="connsiteX85" fmla="*/ 434715 w 2129626"/>
              <a:gd name="connsiteY85" fmla="*/ 1858781 h 2803161"/>
              <a:gd name="connsiteX86" fmla="*/ 359764 w 2129626"/>
              <a:gd name="connsiteY86" fmla="*/ 1514007 h 2803161"/>
              <a:gd name="connsiteX87" fmla="*/ 554636 w 2129626"/>
              <a:gd name="connsiteY87" fmla="*/ 899410 h 2803161"/>
              <a:gd name="connsiteX88" fmla="*/ 794479 w 2129626"/>
              <a:gd name="connsiteY88" fmla="*/ 869430 h 2803161"/>
              <a:gd name="connsiteX89" fmla="*/ 1124262 w 2129626"/>
              <a:gd name="connsiteY89" fmla="*/ 899410 h 2803161"/>
              <a:gd name="connsiteX90" fmla="*/ 1364105 w 2129626"/>
              <a:gd name="connsiteY90" fmla="*/ 1064302 h 2803161"/>
              <a:gd name="connsiteX91" fmla="*/ 1439056 w 2129626"/>
              <a:gd name="connsiteY91" fmla="*/ 1184223 h 2803161"/>
              <a:gd name="connsiteX92" fmla="*/ 1394085 w 2129626"/>
              <a:gd name="connsiteY92" fmla="*/ 1454046 h 2803161"/>
              <a:gd name="connsiteX93" fmla="*/ 1319135 w 2129626"/>
              <a:gd name="connsiteY93" fmla="*/ 1514007 h 2803161"/>
              <a:gd name="connsiteX94" fmla="*/ 1214203 w 2129626"/>
              <a:gd name="connsiteY94" fmla="*/ 1528997 h 2803161"/>
              <a:gd name="connsiteX95" fmla="*/ 1109272 w 2129626"/>
              <a:gd name="connsiteY95" fmla="*/ 1424066 h 2803161"/>
              <a:gd name="connsiteX96" fmla="*/ 1049312 w 2129626"/>
              <a:gd name="connsiteY96" fmla="*/ 1319135 h 2803161"/>
              <a:gd name="connsiteX97" fmla="*/ 989351 w 2129626"/>
              <a:gd name="connsiteY97" fmla="*/ 1184223 h 2803161"/>
              <a:gd name="connsiteX98" fmla="*/ 959371 w 2129626"/>
              <a:gd name="connsiteY98" fmla="*/ 1124263 h 2803161"/>
              <a:gd name="connsiteX99" fmla="*/ 899410 w 2129626"/>
              <a:gd name="connsiteY99" fmla="*/ 899410 h 2803161"/>
              <a:gd name="connsiteX100" fmla="*/ 1004341 w 2129626"/>
              <a:gd name="connsiteY100" fmla="*/ 539646 h 2803161"/>
              <a:gd name="connsiteX101" fmla="*/ 1109272 w 2129626"/>
              <a:gd name="connsiteY101" fmla="*/ 584617 h 2803161"/>
              <a:gd name="connsiteX102" fmla="*/ 1169233 w 2129626"/>
              <a:gd name="connsiteY102" fmla="*/ 659568 h 2803161"/>
              <a:gd name="connsiteX103" fmla="*/ 1214203 w 2129626"/>
              <a:gd name="connsiteY103" fmla="*/ 869430 h 2803161"/>
              <a:gd name="connsiteX104" fmla="*/ 1229194 w 2129626"/>
              <a:gd name="connsiteY104" fmla="*/ 929390 h 2803161"/>
              <a:gd name="connsiteX105" fmla="*/ 1214203 w 2129626"/>
              <a:gd name="connsiteY105" fmla="*/ 1259174 h 2803161"/>
              <a:gd name="connsiteX106" fmla="*/ 1184223 w 2129626"/>
              <a:gd name="connsiteY106" fmla="*/ 1349115 h 2803161"/>
              <a:gd name="connsiteX107" fmla="*/ 1094282 w 2129626"/>
              <a:gd name="connsiteY107" fmla="*/ 1439056 h 2803161"/>
              <a:gd name="connsiteX108" fmla="*/ 1034321 w 2129626"/>
              <a:gd name="connsiteY108" fmla="*/ 1454046 h 2803161"/>
              <a:gd name="connsiteX109" fmla="*/ 944380 w 2129626"/>
              <a:gd name="connsiteY109" fmla="*/ 1469036 h 2803161"/>
              <a:gd name="connsiteX110" fmla="*/ 779489 w 2129626"/>
              <a:gd name="connsiteY110" fmla="*/ 1409076 h 2803161"/>
              <a:gd name="connsiteX111" fmla="*/ 689548 w 2129626"/>
              <a:gd name="connsiteY111" fmla="*/ 1304145 h 2803161"/>
              <a:gd name="connsiteX112" fmla="*/ 494676 w 2129626"/>
              <a:gd name="connsiteY112" fmla="*/ 989351 h 2803161"/>
              <a:gd name="connsiteX113" fmla="*/ 464695 w 2129626"/>
              <a:gd name="connsiteY113" fmla="*/ 884420 h 2803161"/>
              <a:gd name="connsiteX114" fmla="*/ 449705 w 2129626"/>
              <a:gd name="connsiteY114" fmla="*/ 794479 h 2803161"/>
              <a:gd name="connsiteX115" fmla="*/ 434715 w 2129626"/>
              <a:gd name="connsiteY115" fmla="*/ 719528 h 2803161"/>
              <a:gd name="connsiteX116" fmla="*/ 464695 w 2129626"/>
              <a:gd name="connsiteY116" fmla="*/ 584617 h 2803161"/>
              <a:gd name="connsiteX117" fmla="*/ 509666 w 2129626"/>
              <a:gd name="connsiteY117" fmla="*/ 569627 h 2803161"/>
              <a:gd name="connsiteX118" fmla="*/ 614597 w 2129626"/>
              <a:gd name="connsiteY118" fmla="*/ 539646 h 2803161"/>
              <a:gd name="connsiteX119" fmla="*/ 1064302 w 2129626"/>
              <a:gd name="connsiteY119" fmla="*/ 584617 h 2803161"/>
              <a:gd name="connsiteX120" fmla="*/ 1214203 w 2129626"/>
              <a:gd name="connsiteY120" fmla="*/ 659568 h 2803161"/>
              <a:gd name="connsiteX121" fmla="*/ 1349115 w 2129626"/>
              <a:gd name="connsiteY121" fmla="*/ 749508 h 2803161"/>
              <a:gd name="connsiteX122" fmla="*/ 1409076 w 2129626"/>
              <a:gd name="connsiteY122" fmla="*/ 824459 h 2803161"/>
              <a:gd name="connsiteX123" fmla="*/ 1573967 w 2129626"/>
              <a:gd name="connsiteY123" fmla="*/ 1004341 h 2803161"/>
              <a:gd name="connsiteX124" fmla="*/ 1618938 w 2129626"/>
              <a:gd name="connsiteY124" fmla="*/ 1334125 h 2803161"/>
              <a:gd name="connsiteX125" fmla="*/ 1484026 w 2129626"/>
              <a:gd name="connsiteY125" fmla="*/ 1394086 h 2803161"/>
              <a:gd name="connsiteX126" fmla="*/ 944380 w 2129626"/>
              <a:gd name="connsiteY126" fmla="*/ 1034322 h 2803161"/>
              <a:gd name="connsiteX127" fmla="*/ 884420 w 2129626"/>
              <a:gd name="connsiteY127" fmla="*/ 959371 h 2803161"/>
              <a:gd name="connsiteX128" fmla="*/ 719528 w 2129626"/>
              <a:gd name="connsiteY128" fmla="*/ 689548 h 2803161"/>
              <a:gd name="connsiteX129" fmla="*/ 674558 w 2129626"/>
              <a:gd name="connsiteY129" fmla="*/ 464695 h 2803161"/>
              <a:gd name="connsiteX130" fmla="*/ 704538 w 2129626"/>
              <a:gd name="connsiteY130" fmla="*/ 419725 h 2803161"/>
              <a:gd name="connsiteX131" fmla="*/ 929390 w 2129626"/>
              <a:gd name="connsiteY131" fmla="*/ 434715 h 2803161"/>
              <a:gd name="connsiteX132" fmla="*/ 1034321 w 2129626"/>
              <a:gd name="connsiteY132" fmla="*/ 494676 h 2803161"/>
              <a:gd name="connsiteX133" fmla="*/ 1334125 w 2129626"/>
              <a:gd name="connsiteY133" fmla="*/ 824459 h 2803161"/>
              <a:gd name="connsiteX134" fmla="*/ 1409076 w 2129626"/>
              <a:gd name="connsiteY134" fmla="*/ 989351 h 2803161"/>
              <a:gd name="connsiteX135" fmla="*/ 1528997 w 2129626"/>
              <a:gd name="connsiteY135" fmla="*/ 1484027 h 2803161"/>
              <a:gd name="connsiteX136" fmla="*/ 1499017 w 2129626"/>
              <a:gd name="connsiteY136" fmla="*/ 2023672 h 2803161"/>
              <a:gd name="connsiteX137" fmla="*/ 1289154 w 2129626"/>
              <a:gd name="connsiteY137" fmla="*/ 2428407 h 2803161"/>
              <a:gd name="connsiteX138" fmla="*/ 1079292 w 2129626"/>
              <a:gd name="connsiteY138" fmla="*/ 2683240 h 2803161"/>
              <a:gd name="connsiteX139" fmla="*/ 1019331 w 2129626"/>
              <a:gd name="connsiteY139" fmla="*/ 2743200 h 2803161"/>
              <a:gd name="connsiteX140" fmla="*/ 869430 w 2129626"/>
              <a:gd name="connsiteY140" fmla="*/ 2803161 h 2803161"/>
              <a:gd name="connsiteX141" fmla="*/ 779489 w 2129626"/>
              <a:gd name="connsiteY141" fmla="*/ 2713220 h 2803161"/>
              <a:gd name="connsiteX142" fmla="*/ 719528 w 2129626"/>
              <a:gd name="connsiteY142" fmla="*/ 2548328 h 2803161"/>
              <a:gd name="connsiteX143" fmla="*/ 689548 w 2129626"/>
              <a:gd name="connsiteY143" fmla="*/ 2443397 h 2803161"/>
              <a:gd name="connsiteX144" fmla="*/ 749508 w 2129626"/>
              <a:gd name="connsiteY144" fmla="*/ 2113613 h 2803161"/>
              <a:gd name="connsiteX145" fmla="*/ 824459 w 2129626"/>
              <a:gd name="connsiteY145" fmla="*/ 2068643 h 2803161"/>
              <a:gd name="connsiteX146" fmla="*/ 869430 w 2129626"/>
              <a:gd name="connsiteY146" fmla="*/ 2053653 h 2803161"/>
              <a:gd name="connsiteX147" fmla="*/ 1169233 w 2129626"/>
              <a:gd name="connsiteY147" fmla="*/ 2008682 h 2803161"/>
              <a:gd name="connsiteX148" fmla="*/ 1558977 w 2129626"/>
              <a:gd name="connsiteY148" fmla="*/ 2083633 h 2803161"/>
              <a:gd name="connsiteX149" fmla="*/ 1603948 w 2129626"/>
              <a:gd name="connsiteY149" fmla="*/ 2143594 h 2803161"/>
              <a:gd name="connsiteX150" fmla="*/ 1618938 w 2129626"/>
              <a:gd name="connsiteY150" fmla="*/ 2188564 h 2803161"/>
              <a:gd name="connsiteX151" fmla="*/ 1648918 w 2129626"/>
              <a:gd name="connsiteY151" fmla="*/ 2233535 h 2803161"/>
              <a:gd name="connsiteX152" fmla="*/ 1588958 w 2129626"/>
              <a:gd name="connsiteY152" fmla="*/ 2458387 h 2803161"/>
              <a:gd name="connsiteX153" fmla="*/ 1469036 w 2129626"/>
              <a:gd name="connsiteY153" fmla="*/ 2413417 h 2803161"/>
              <a:gd name="connsiteX154" fmla="*/ 1424066 w 2129626"/>
              <a:gd name="connsiteY154" fmla="*/ 2323476 h 2803161"/>
              <a:gd name="connsiteX155" fmla="*/ 1409076 w 2129626"/>
              <a:gd name="connsiteY155" fmla="*/ 2248525 h 2803161"/>
              <a:gd name="connsiteX156" fmla="*/ 1379095 w 2129626"/>
              <a:gd name="connsiteY156" fmla="*/ 2083633 h 2803161"/>
              <a:gd name="connsiteX157" fmla="*/ 1424066 w 2129626"/>
              <a:gd name="connsiteY157" fmla="*/ 1888761 h 2803161"/>
              <a:gd name="connsiteX158" fmla="*/ 1753849 w 2129626"/>
              <a:gd name="connsiteY158" fmla="*/ 1843790 h 2803161"/>
              <a:gd name="connsiteX159" fmla="*/ 1738859 w 2129626"/>
              <a:gd name="connsiteY159" fmla="*/ 1903751 h 2803161"/>
              <a:gd name="connsiteX160" fmla="*/ 1484026 w 2129626"/>
              <a:gd name="connsiteY160" fmla="*/ 1873771 h 2803161"/>
              <a:gd name="connsiteX161" fmla="*/ 1379095 w 2129626"/>
              <a:gd name="connsiteY161" fmla="*/ 1813810 h 2803161"/>
              <a:gd name="connsiteX162" fmla="*/ 1079292 w 2129626"/>
              <a:gd name="connsiteY162" fmla="*/ 1588958 h 2803161"/>
              <a:gd name="connsiteX163" fmla="*/ 929390 w 2129626"/>
              <a:gd name="connsiteY163" fmla="*/ 1454046 h 2803161"/>
              <a:gd name="connsiteX164" fmla="*/ 884420 w 2129626"/>
              <a:gd name="connsiteY164" fmla="*/ 1379095 h 2803161"/>
              <a:gd name="connsiteX165" fmla="*/ 809469 w 2129626"/>
              <a:gd name="connsiteY165" fmla="*/ 1274164 h 2803161"/>
              <a:gd name="connsiteX166" fmla="*/ 749508 w 2129626"/>
              <a:gd name="connsiteY166" fmla="*/ 1154243 h 2803161"/>
              <a:gd name="connsiteX167" fmla="*/ 719528 w 2129626"/>
              <a:gd name="connsiteY167" fmla="*/ 1079292 h 2803161"/>
              <a:gd name="connsiteX168" fmla="*/ 734518 w 2129626"/>
              <a:gd name="connsiteY168" fmla="*/ 914400 h 2803161"/>
              <a:gd name="connsiteX169" fmla="*/ 809469 w 2129626"/>
              <a:gd name="connsiteY169" fmla="*/ 884420 h 2803161"/>
              <a:gd name="connsiteX170" fmla="*/ 1109272 w 2129626"/>
              <a:gd name="connsiteY170" fmla="*/ 974361 h 2803161"/>
              <a:gd name="connsiteX171" fmla="*/ 1139253 w 2129626"/>
              <a:gd name="connsiteY171" fmla="*/ 1019331 h 2803161"/>
              <a:gd name="connsiteX172" fmla="*/ 1154243 w 2129626"/>
              <a:gd name="connsiteY172" fmla="*/ 1139253 h 2803161"/>
              <a:gd name="connsiteX173" fmla="*/ 1064302 w 2129626"/>
              <a:gd name="connsiteY173" fmla="*/ 1379095 h 2803161"/>
              <a:gd name="connsiteX174" fmla="*/ 1004341 w 2129626"/>
              <a:gd name="connsiteY174" fmla="*/ 1409076 h 2803161"/>
              <a:gd name="connsiteX175" fmla="*/ 719528 w 2129626"/>
              <a:gd name="connsiteY175" fmla="*/ 1199213 h 2803161"/>
              <a:gd name="connsiteX176" fmla="*/ 599607 w 2129626"/>
              <a:gd name="connsiteY176" fmla="*/ 929390 h 2803161"/>
              <a:gd name="connsiteX177" fmla="*/ 614597 w 2129626"/>
              <a:gd name="connsiteY177" fmla="*/ 374754 h 2803161"/>
              <a:gd name="connsiteX178" fmla="*/ 719528 w 2129626"/>
              <a:gd name="connsiteY178" fmla="*/ 284813 h 2803161"/>
              <a:gd name="connsiteX179" fmla="*/ 794479 w 2129626"/>
              <a:gd name="connsiteY179" fmla="*/ 269823 h 2803161"/>
              <a:gd name="connsiteX180" fmla="*/ 1139253 w 2129626"/>
              <a:gd name="connsiteY180" fmla="*/ 299804 h 2803161"/>
              <a:gd name="connsiteX181" fmla="*/ 1184223 w 2129626"/>
              <a:gd name="connsiteY181" fmla="*/ 344774 h 2803161"/>
              <a:gd name="connsiteX182" fmla="*/ 1379095 w 2129626"/>
              <a:gd name="connsiteY182" fmla="*/ 494676 h 2803161"/>
              <a:gd name="connsiteX183" fmla="*/ 1558977 w 2129626"/>
              <a:gd name="connsiteY183" fmla="*/ 764499 h 2803161"/>
              <a:gd name="connsiteX184" fmla="*/ 1573967 w 2129626"/>
              <a:gd name="connsiteY184" fmla="*/ 824459 h 2803161"/>
              <a:gd name="connsiteX185" fmla="*/ 1558977 w 2129626"/>
              <a:gd name="connsiteY185" fmla="*/ 1019331 h 2803161"/>
              <a:gd name="connsiteX186" fmla="*/ 1528997 w 2129626"/>
              <a:gd name="connsiteY186" fmla="*/ 1049312 h 2803161"/>
              <a:gd name="connsiteX187" fmla="*/ 1514007 w 2129626"/>
              <a:gd name="connsiteY187" fmla="*/ 974361 h 2803161"/>
              <a:gd name="connsiteX188" fmla="*/ 1723869 w 2129626"/>
              <a:gd name="connsiteY188" fmla="*/ 959371 h 2803161"/>
              <a:gd name="connsiteX189" fmla="*/ 1783830 w 2129626"/>
              <a:gd name="connsiteY189" fmla="*/ 1049312 h 2803161"/>
              <a:gd name="connsiteX190" fmla="*/ 1858780 w 2129626"/>
              <a:gd name="connsiteY190" fmla="*/ 1319135 h 2803161"/>
              <a:gd name="connsiteX191" fmla="*/ 1738859 w 2129626"/>
              <a:gd name="connsiteY191" fmla="*/ 2233535 h 2803161"/>
              <a:gd name="connsiteX192" fmla="*/ 1663908 w 2129626"/>
              <a:gd name="connsiteY192" fmla="*/ 2398427 h 2803161"/>
              <a:gd name="connsiteX193" fmla="*/ 1543987 w 2129626"/>
              <a:gd name="connsiteY193" fmla="*/ 2548328 h 2803161"/>
              <a:gd name="connsiteX194" fmla="*/ 1499017 w 2129626"/>
              <a:gd name="connsiteY194" fmla="*/ 2563318 h 2803161"/>
              <a:gd name="connsiteX195" fmla="*/ 1454046 w 2129626"/>
              <a:gd name="connsiteY195" fmla="*/ 2398427 h 2803161"/>
              <a:gd name="connsiteX196" fmla="*/ 1484026 w 2129626"/>
              <a:gd name="connsiteY196" fmla="*/ 2188564 h 2803161"/>
              <a:gd name="connsiteX197" fmla="*/ 1514007 w 2129626"/>
              <a:gd name="connsiteY197" fmla="*/ 2158584 h 2803161"/>
              <a:gd name="connsiteX198" fmla="*/ 1633928 w 2129626"/>
              <a:gd name="connsiteY198" fmla="*/ 2128604 h 2803161"/>
              <a:gd name="connsiteX199" fmla="*/ 1888761 w 2129626"/>
              <a:gd name="connsiteY199" fmla="*/ 2173574 h 2803161"/>
              <a:gd name="connsiteX200" fmla="*/ 1918741 w 2129626"/>
              <a:gd name="connsiteY200" fmla="*/ 2218545 h 2803161"/>
              <a:gd name="connsiteX201" fmla="*/ 1618938 w 2129626"/>
              <a:gd name="connsiteY201" fmla="*/ 2218545 h 2803161"/>
              <a:gd name="connsiteX202" fmla="*/ 1528997 w 2129626"/>
              <a:gd name="connsiteY202" fmla="*/ 2188564 h 2803161"/>
              <a:gd name="connsiteX203" fmla="*/ 1499017 w 2129626"/>
              <a:gd name="connsiteY203" fmla="*/ 2143594 h 2803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Lst>
            <a:rect l="l" t="t" r="r" b="b"/>
            <a:pathLst>
              <a:path w="2129626" h="2803161">
                <a:moveTo>
                  <a:pt x="689548" y="0"/>
                </a:moveTo>
                <a:cubicBezTo>
                  <a:pt x="659568" y="24984"/>
                  <a:pt x="627202" y="47356"/>
                  <a:pt x="599607" y="74951"/>
                </a:cubicBezTo>
                <a:cubicBezTo>
                  <a:pt x="586868" y="87690"/>
                  <a:pt x="582365" y="107183"/>
                  <a:pt x="569626" y="119922"/>
                </a:cubicBezTo>
                <a:cubicBezTo>
                  <a:pt x="551960" y="137588"/>
                  <a:pt x="527332" y="147226"/>
                  <a:pt x="509666" y="164892"/>
                </a:cubicBezTo>
                <a:cubicBezTo>
                  <a:pt x="492000" y="182558"/>
                  <a:pt x="481147" y="206051"/>
                  <a:pt x="464695" y="224853"/>
                </a:cubicBezTo>
                <a:cubicBezTo>
                  <a:pt x="383676" y="317446"/>
                  <a:pt x="420621" y="251411"/>
                  <a:pt x="344774" y="359764"/>
                </a:cubicBezTo>
                <a:cubicBezTo>
                  <a:pt x="328066" y="383633"/>
                  <a:pt x="316511" y="410846"/>
                  <a:pt x="299803" y="434715"/>
                </a:cubicBezTo>
                <a:cubicBezTo>
                  <a:pt x="281455" y="460926"/>
                  <a:pt x="256304" y="482231"/>
                  <a:pt x="239843" y="509666"/>
                </a:cubicBezTo>
                <a:cubicBezTo>
                  <a:pt x="225999" y="532740"/>
                  <a:pt x="221896" y="560549"/>
                  <a:pt x="209862" y="584617"/>
                </a:cubicBezTo>
                <a:cubicBezTo>
                  <a:pt x="196832" y="610677"/>
                  <a:pt x="176948" y="633044"/>
                  <a:pt x="164892" y="659568"/>
                </a:cubicBezTo>
                <a:cubicBezTo>
                  <a:pt x="151815" y="688337"/>
                  <a:pt x="147067" y="720337"/>
                  <a:pt x="134912" y="749508"/>
                </a:cubicBezTo>
                <a:cubicBezTo>
                  <a:pt x="122020" y="780449"/>
                  <a:pt x="103811" y="808934"/>
                  <a:pt x="89941" y="839449"/>
                </a:cubicBezTo>
                <a:cubicBezTo>
                  <a:pt x="78806" y="863945"/>
                  <a:pt x="69954" y="889416"/>
                  <a:pt x="59961" y="914400"/>
                </a:cubicBezTo>
                <a:cubicBezTo>
                  <a:pt x="17241" y="1170725"/>
                  <a:pt x="76893" y="852316"/>
                  <a:pt x="14990" y="1079292"/>
                </a:cubicBezTo>
                <a:cubicBezTo>
                  <a:pt x="6993" y="1108615"/>
                  <a:pt x="4997" y="1139253"/>
                  <a:pt x="0" y="1169233"/>
                </a:cubicBezTo>
                <a:cubicBezTo>
                  <a:pt x="9993" y="1214204"/>
                  <a:pt x="-9254" y="1280001"/>
                  <a:pt x="29980" y="1304145"/>
                </a:cubicBezTo>
                <a:cubicBezTo>
                  <a:pt x="76984" y="1333070"/>
                  <a:pt x="139789" y="1285711"/>
                  <a:pt x="194872" y="1289154"/>
                </a:cubicBezTo>
                <a:cubicBezTo>
                  <a:pt x="221728" y="1290832"/>
                  <a:pt x="244839" y="1309141"/>
                  <a:pt x="269823" y="1319135"/>
                </a:cubicBezTo>
                <a:cubicBezTo>
                  <a:pt x="264826" y="1334125"/>
                  <a:pt x="264314" y="1351464"/>
                  <a:pt x="254833" y="1364105"/>
                </a:cubicBezTo>
                <a:cubicBezTo>
                  <a:pt x="233634" y="1392371"/>
                  <a:pt x="179882" y="1439056"/>
                  <a:pt x="179882" y="1439056"/>
                </a:cubicBezTo>
                <a:cubicBezTo>
                  <a:pt x="159362" y="1480097"/>
                  <a:pt x="148175" y="1508669"/>
                  <a:pt x="119921" y="1543987"/>
                </a:cubicBezTo>
                <a:cubicBezTo>
                  <a:pt x="111092" y="1555023"/>
                  <a:pt x="99934" y="1563974"/>
                  <a:pt x="89941" y="1573968"/>
                </a:cubicBezTo>
                <a:cubicBezTo>
                  <a:pt x="104931" y="1578965"/>
                  <a:pt x="119111" y="1588958"/>
                  <a:pt x="134912" y="1588958"/>
                </a:cubicBezTo>
                <a:cubicBezTo>
                  <a:pt x="150713" y="1588958"/>
                  <a:pt x="165211" y="1568100"/>
                  <a:pt x="179882" y="1573968"/>
                </a:cubicBezTo>
                <a:cubicBezTo>
                  <a:pt x="196609" y="1580659"/>
                  <a:pt x="199869" y="1603948"/>
                  <a:pt x="209862" y="1618938"/>
                </a:cubicBezTo>
                <a:cubicBezTo>
                  <a:pt x="204865" y="1683895"/>
                  <a:pt x="204085" y="1749316"/>
                  <a:pt x="194872" y="1813810"/>
                </a:cubicBezTo>
                <a:cubicBezTo>
                  <a:pt x="189045" y="1854600"/>
                  <a:pt x="177922" y="1894641"/>
                  <a:pt x="164892" y="1933731"/>
                </a:cubicBezTo>
                <a:cubicBezTo>
                  <a:pt x="159895" y="1948721"/>
                  <a:pt x="136755" y="1969937"/>
                  <a:pt x="149902" y="1978702"/>
                </a:cubicBezTo>
                <a:cubicBezTo>
                  <a:pt x="156175" y="1982884"/>
                  <a:pt x="243251" y="1952583"/>
                  <a:pt x="254833" y="1948722"/>
                </a:cubicBezTo>
                <a:cubicBezTo>
                  <a:pt x="289810" y="1953719"/>
                  <a:pt x="340658" y="1933991"/>
                  <a:pt x="359764" y="1963712"/>
                </a:cubicBezTo>
                <a:cubicBezTo>
                  <a:pt x="488968" y="2164696"/>
                  <a:pt x="288334" y="2178866"/>
                  <a:pt x="464695" y="2143594"/>
                </a:cubicBezTo>
                <a:cubicBezTo>
                  <a:pt x="672559" y="2060447"/>
                  <a:pt x="416251" y="2170506"/>
                  <a:pt x="599607" y="2068643"/>
                </a:cubicBezTo>
                <a:cubicBezTo>
                  <a:pt x="630891" y="2051263"/>
                  <a:pt x="734775" y="2018590"/>
                  <a:pt x="764499" y="2008682"/>
                </a:cubicBezTo>
                <a:cubicBezTo>
                  <a:pt x="829456" y="2013679"/>
                  <a:pt x="895338" y="2011666"/>
                  <a:pt x="959371" y="2023672"/>
                </a:cubicBezTo>
                <a:cubicBezTo>
                  <a:pt x="977078" y="2026992"/>
                  <a:pt x="986356" y="2052595"/>
                  <a:pt x="1004341" y="2053653"/>
                </a:cubicBezTo>
                <a:cubicBezTo>
                  <a:pt x="1074352" y="2057772"/>
                  <a:pt x="1144249" y="2043660"/>
                  <a:pt x="1214203" y="2038663"/>
                </a:cubicBezTo>
                <a:cubicBezTo>
                  <a:pt x="1688833" y="1896273"/>
                  <a:pt x="1065387" y="2079347"/>
                  <a:pt x="1499017" y="1963712"/>
                </a:cubicBezTo>
                <a:cubicBezTo>
                  <a:pt x="1529552" y="1955569"/>
                  <a:pt x="1557897" y="1939555"/>
                  <a:pt x="1588958" y="1933731"/>
                </a:cubicBezTo>
                <a:cubicBezTo>
                  <a:pt x="1638314" y="1924477"/>
                  <a:pt x="1688950" y="1924286"/>
                  <a:pt x="1738859" y="1918741"/>
                </a:cubicBezTo>
                <a:cubicBezTo>
                  <a:pt x="1778897" y="1914292"/>
                  <a:pt x="1818806" y="1908748"/>
                  <a:pt x="1858780" y="1903751"/>
                </a:cubicBezTo>
                <a:cubicBezTo>
                  <a:pt x="1943724" y="1913744"/>
                  <a:pt x="2031203" y="1910839"/>
                  <a:pt x="2113613" y="1933731"/>
                </a:cubicBezTo>
                <a:cubicBezTo>
                  <a:pt x="2128838" y="1937960"/>
                  <a:pt x="2128603" y="1962901"/>
                  <a:pt x="2128603" y="1978702"/>
                </a:cubicBezTo>
                <a:cubicBezTo>
                  <a:pt x="2128603" y="2050483"/>
                  <a:pt x="2140437" y="2105724"/>
                  <a:pt x="2083633" y="2143594"/>
                </a:cubicBezTo>
                <a:cubicBezTo>
                  <a:pt x="2065040" y="2155989"/>
                  <a:pt x="2043659" y="2163581"/>
                  <a:pt x="2023672" y="2173574"/>
                </a:cubicBezTo>
                <a:cubicBezTo>
                  <a:pt x="1928734" y="2158584"/>
                  <a:pt x="1828492" y="2163301"/>
                  <a:pt x="1738859" y="2128604"/>
                </a:cubicBezTo>
                <a:cubicBezTo>
                  <a:pt x="1668962" y="2101547"/>
                  <a:pt x="1607580" y="2050748"/>
                  <a:pt x="1558977" y="1993692"/>
                </a:cubicBezTo>
                <a:cubicBezTo>
                  <a:pt x="1500171" y="1924659"/>
                  <a:pt x="1375384" y="1706841"/>
                  <a:pt x="1334125" y="1588958"/>
                </a:cubicBezTo>
                <a:cubicBezTo>
                  <a:pt x="1315304" y="1535185"/>
                  <a:pt x="1304144" y="1479030"/>
                  <a:pt x="1289154" y="1424066"/>
                </a:cubicBezTo>
                <a:cubicBezTo>
                  <a:pt x="1277190" y="1268536"/>
                  <a:pt x="1255310" y="1160608"/>
                  <a:pt x="1304144" y="1004341"/>
                </a:cubicBezTo>
                <a:cubicBezTo>
                  <a:pt x="1308857" y="989259"/>
                  <a:pt x="1334125" y="994348"/>
                  <a:pt x="1349115" y="989351"/>
                </a:cubicBezTo>
                <a:cubicBezTo>
                  <a:pt x="1364105" y="999344"/>
                  <a:pt x="1382831" y="1005263"/>
                  <a:pt x="1394085" y="1019331"/>
                </a:cubicBezTo>
                <a:cubicBezTo>
                  <a:pt x="1403956" y="1031670"/>
                  <a:pt x="1405977" y="1048808"/>
                  <a:pt x="1409076" y="1064302"/>
                </a:cubicBezTo>
                <a:cubicBezTo>
                  <a:pt x="1416005" y="1098948"/>
                  <a:pt x="1419069" y="1134256"/>
                  <a:pt x="1424066" y="1169233"/>
                </a:cubicBezTo>
                <a:cubicBezTo>
                  <a:pt x="1409076" y="1249181"/>
                  <a:pt x="1408837" y="1333368"/>
                  <a:pt x="1379095" y="1409076"/>
                </a:cubicBezTo>
                <a:cubicBezTo>
                  <a:pt x="1335410" y="1520273"/>
                  <a:pt x="1221516" y="1640229"/>
                  <a:pt x="1124262" y="1708879"/>
                </a:cubicBezTo>
                <a:cubicBezTo>
                  <a:pt x="1087750" y="1734652"/>
                  <a:pt x="1045286" y="1750927"/>
                  <a:pt x="1004341" y="1768840"/>
                </a:cubicBezTo>
                <a:cubicBezTo>
                  <a:pt x="888626" y="1819465"/>
                  <a:pt x="875011" y="1815901"/>
                  <a:pt x="749508" y="1843790"/>
                </a:cubicBezTo>
                <a:cubicBezTo>
                  <a:pt x="604603" y="1823803"/>
                  <a:pt x="455005" y="1825514"/>
                  <a:pt x="314794" y="1783830"/>
                </a:cubicBezTo>
                <a:cubicBezTo>
                  <a:pt x="264140" y="1768771"/>
                  <a:pt x="120607" y="1594024"/>
                  <a:pt x="89941" y="1558977"/>
                </a:cubicBezTo>
                <a:cubicBezTo>
                  <a:pt x="63678" y="1480187"/>
                  <a:pt x="18692" y="1376636"/>
                  <a:pt x="29980" y="1289154"/>
                </a:cubicBezTo>
                <a:cubicBezTo>
                  <a:pt x="44406" y="1177350"/>
                  <a:pt x="64950" y="1064774"/>
                  <a:pt x="104931" y="959371"/>
                </a:cubicBezTo>
                <a:cubicBezTo>
                  <a:pt x="121269" y="916298"/>
                  <a:pt x="161021" y="885687"/>
                  <a:pt x="194872" y="854440"/>
                </a:cubicBezTo>
                <a:cubicBezTo>
                  <a:pt x="311643" y="746651"/>
                  <a:pt x="425393" y="733219"/>
                  <a:pt x="584617" y="674558"/>
                </a:cubicBezTo>
                <a:cubicBezTo>
                  <a:pt x="669561" y="689548"/>
                  <a:pt x="757980" y="691191"/>
                  <a:pt x="839449" y="719528"/>
                </a:cubicBezTo>
                <a:cubicBezTo>
                  <a:pt x="876309" y="732349"/>
                  <a:pt x="901795" y="766884"/>
                  <a:pt x="929390" y="794479"/>
                </a:cubicBezTo>
                <a:cubicBezTo>
                  <a:pt x="976252" y="841341"/>
                  <a:pt x="1050766" y="961552"/>
                  <a:pt x="1079292" y="1004341"/>
                </a:cubicBezTo>
                <a:cubicBezTo>
                  <a:pt x="1135534" y="1229314"/>
                  <a:pt x="1133813" y="1169161"/>
                  <a:pt x="1079292" y="1528997"/>
                </a:cubicBezTo>
                <a:cubicBezTo>
                  <a:pt x="1074304" y="1561919"/>
                  <a:pt x="1003438" y="1674504"/>
                  <a:pt x="974361" y="1693889"/>
                </a:cubicBezTo>
                <a:cubicBezTo>
                  <a:pt x="953162" y="1708022"/>
                  <a:pt x="924394" y="1703882"/>
                  <a:pt x="899410" y="1708879"/>
                </a:cubicBezTo>
                <a:cubicBezTo>
                  <a:pt x="859436" y="1683895"/>
                  <a:pt x="812821" y="1667260"/>
                  <a:pt x="779489" y="1633928"/>
                </a:cubicBezTo>
                <a:cubicBezTo>
                  <a:pt x="751003" y="1605442"/>
                  <a:pt x="737544" y="1565029"/>
                  <a:pt x="719528" y="1528997"/>
                </a:cubicBezTo>
                <a:cubicBezTo>
                  <a:pt x="715767" y="1521475"/>
                  <a:pt x="641139" y="1356679"/>
                  <a:pt x="629587" y="1319135"/>
                </a:cubicBezTo>
                <a:cubicBezTo>
                  <a:pt x="617470" y="1279753"/>
                  <a:pt x="609600" y="1239187"/>
                  <a:pt x="599607" y="1199213"/>
                </a:cubicBezTo>
                <a:cubicBezTo>
                  <a:pt x="594610" y="1124262"/>
                  <a:pt x="584617" y="1049478"/>
                  <a:pt x="584617" y="974361"/>
                </a:cubicBezTo>
                <a:cubicBezTo>
                  <a:pt x="584617" y="943967"/>
                  <a:pt x="569703" y="889857"/>
                  <a:pt x="599607" y="884420"/>
                </a:cubicBezTo>
                <a:cubicBezTo>
                  <a:pt x="652555" y="874793"/>
                  <a:pt x="699541" y="924394"/>
                  <a:pt x="749508" y="944381"/>
                </a:cubicBezTo>
                <a:cubicBezTo>
                  <a:pt x="782738" y="994224"/>
                  <a:pt x="824872" y="1053395"/>
                  <a:pt x="839449" y="1109272"/>
                </a:cubicBezTo>
                <a:cubicBezTo>
                  <a:pt x="858536" y="1182438"/>
                  <a:pt x="859436" y="1259174"/>
                  <a:pt x="869430" y="1334125"/>
                </a:cubicBezTo>
                <a:cubicBezTo>
                  <a:pt x="864433" y="1469036"/>
                  <a:pt x="867443" y="1604483"/>
                  <a:pt x="854439" y="1738859"/>
                </a:cubicBezTo>
                <a:cubicBezTo>
                  <a:pt x="852287" y="1761101"/>
                  <a:pt x="835159" y="1779202"/>
                  <a:pt x="824459" y="1798820"/>
                </a:cubicBezTo>
                <a:cubicBezTo>
                  <a:pt x="764184" y="1909325"/>
                  <a:pt x="790636" y="1877615"/>
                  <a:pt x="734518" y="1933731"/>
                </a:cubicBezTo>
                <a:cubicBezTo>
                  <a:pt x="724525" y="1958715"/>
                  <a:pt x="720178" y="1986786"/>
                  <a:pt x="704538" y="2008682"/>
                </a:cubicBezTo>
                <a:cubicBezTo>
                  <a:pt x="694066" y="2023342"/>
                  <a:pt x="674227" y="2028191"/>
                  <a:pt x="659567" y="2038663"/>
                </a:cubicBezTo>
                <a:cubicBezTo>
                  <a:pt x="639237" y="2053184"/>
                  <a:pt x="619594" y="2068643"/>
                  <a:pt x="599607" y="2083633"/>
                </a:cubicBezTo>
                <a:cubicBezTo>
                  <a:pt x="564630" y="2053653"/>
                  <a:pt x="521919" y="2030841"/>
                  <a:pt x="494676" y="1993692"/>
                </a:cubicBezTo>
                <a:cubicBezTo>
                  <a:pt x="465574" y="1954007"/>
                  <a:pt x="450972" y="1905230"/>
                  <a:pt x="434715" y="1858781"/>
                </a:cubicBezTo>
                <a:cubicBezTo>
                  <a:pt x="389452" y="1729460"/>
                  <a:pt x="382356" y="1649558"/>
                  <a:pt x="359764" y="1514007"/>
                </a:cubicBezTo>
                <a:cubicBezTo>
                  <a:pt x="424721" y="1309141"/>
                  <a:pt x="434467" y="1077592"/>
                  <a:pt x="554636" y="899410"/>
                </a:cubicBezTo>
                <a:cubicBezTo>
                  <a:pt x="599686" y="832612"/>
                  <a:pt x="713909" y="869430"/>
                  <a:pt x="794479" y="869430"/>
                </a:cubicBezTo>
                <a:cubicBezTo>
                  <a:pt x="904860" y="869430"/>
                  <a:pt x="1014334" y="889417"/>
                  <a:pt x="1124262" y="899410"/>
                </a:cubicBezTo>
                <a:cubicBezTo>
                  <a:pt x="1192703" y="938519"/>
                  <a:pt x="1318953" y="1004100"/>
                  <a:pt x="1364105" y="1064302"/>
                </a:cubicBezTo>
                <a:cubicBezTo>
                  <a:pt x="1422484" y="1142140"/>
                  <a:pt x="1397903" y="1101917"/>
                  <a:pt x="1439056" y="1184223"/>
                </a:cubicBezTo>
                <a:cubicBezTo>
                  <a:pt x="1427815" y="1364080"/>
                  <a:pt x="1479892" y="1380497"/>
                  <a:pt x="1394085" y="1454046"/>
                </a:cubicBezTo>
                <a:cubicBezTo>
                  <a:pt x="1369793" y="1474868"/>
                  <a:pt x="1348668" y="1501701"/>
                  <a:pt x="1319135" y="1514007"/>
                </a:cubicBezTo>
                <a:cubicBezTo>
                  <a:pt x="1286520" y="1527596"/>
                  <a:pt x="1249180" y="1524000"/>
                  <a:pt x="1214203" y="1528997"/>
                </a:cubicBezTo>
                <a:cubicBezTo>
                  <a:pt x="1179226" y="1494020"/>
                  <a:pt x="1139832" y="1462961"/>
                  <a:pt x="1109272" y="1424066"/>
                </a:cubicBezTo>
                <a:cubicBezTo>
                  <a:pt x="1084383" y="1392389"/>
                  <a:pt x="1067328" y="1355167"/>
                  <a:pt x="1049312" y="1319135"/>
                </a:cubicBezTo>
                <a:cubicBezTo>
                  <a:pt x="1027304" y="1275118"/>
                  <a:pt x="1009974" y="1228906"/>
                  <a:pt x="989351" y="1184223"/>
                </a:cubicBezTo>
                <a:cubicBezTo>
                  <a:pt x="979987" y="1163934"/>
                  <a:pt x="967008" y="1145263"/>
                  <a:pt x="959371" y="1124263"/>
                </a:cubicBezTo>
                <a:cubicBezTo>
                  <a:pt x="942849" y="1078826"/>
                  <a:pt x="910147" y="942356"/>
                  <a:pt x="899410" y="899410"/>
                </a:cubicBezTo>
                <a:cubicBezTo>
                  <a:pt x="900084" y="891991"/>
                  <a:pt x="834642" y="525505"/>
                  <a:pt x="1004341" y="539646"/>
                </a:cubicBezTo>
                <a:cubicBezTo>
                  <a:pt x="1042263" y="542806"/>
                  <a:pt x="1074295" y="569627"/>
                  <a:pt x="1109272" y="584617"/>
                </a:cubicBezTo>
                <a:cubicBezTo>
                  <a:pt x="1129259" y="609601"/>
                  <a:pt x="1153912" y="631480"/>
                  <a:pt x="1169233" y="659568"/>
                </a:cubicBezTo>
                <a:cubicBezTo>
                  <a:pt x="1207112" y="729012"/>
                  <a:pt x="1201464" y="792997"/>
                  <a:pt x="1214203" y="869430"/>
                </a:cubicBezTo>
                <a:cubicBezTo>
                  <a:pt x="1217590" y="889752"/>
                  <a:pt x="1224197" y="909403"/>
                  <a:pt x="1229194" y="929390"/>
                </a:cubicBezTo>
                <a:cubicBezTo>
                  <a:pt x="1224197" y="1039318"/>
                  <a:pt x="1225926" y="1149759"/>
                  <a:pt x="1214203" y="1259174"/>
                </a:cubicBezTo>
                <a:cubicBezTo>
                  <a:pt x="1210836" y="1290596"/>
                  <a:pt x="1201753" y="1322821"/>
                  <a:pt x="1184223" y="1349115"/>
                </a:cubicBezTo>
                <a:cubicBezTo>
                  <a:pt x="1160705" y="1384393"/>
                  <a:pt x="1129016" y="1414742"/>
                  <a:pt x="1094282" y="1439056"/>
                </a:cubicBezTo>
                <a:cubicBezTo>
                  <a:pt x="1077404" y="1450871"/>
                  <a:pt x="1054523" y="1450006"/>
                  <a:pt x="1034321" y="1454046"/>
                </a:cubicBezTo>
                <a:cubicBezTo>
                  <a:pt x="1004517" y="1460007"/>
                  <a:pt x="974360" y="1464039"/>
                  <a:pt x="944380" y="1469036"/>
                </a:cubicBezTo>
                <a:cubicBezTo>
                  <a:pt x="889416" y="1449049"/>
                  <a:pt x="828591" y="1440848"/>
                  <a:pt x="779489" y="1409076"/>
                </a:cubicBezTo>
                <a:cubicBezTo>
                  <a:pt x="740812" y="1384050"/>
                  <a:pt x="717188" y="1340999"/>
                  <a:pt x="689548" y="1304145"/>
                </a:cubicBezTo>
                <a:cubicBezTo>
                  <a:pt x="617298" y="1207812"/>
                  <a:pt x="554664" y="1092188"/>
                  <a:pt x="494676" y="989351"/>
                </a:cubicBezTo>
                <a:cubicBezTo>
                  <a:pt x="484682" y="954374"/>
                  <a:pt x="472875" y="919865"/>
                  <a:pt x="464695" y="884420"/>
                </a:cubicBezTo>
                <a:cubicBezTo>
                  <a:pt x="457861" y="854805"/>
                  <a:pt x="455142" y="824383"/>
                  <a:pt x="449705" y="794479"/>
                </a:cubicBezTo>
                <a:cubicBezTo>
                  <a:pt x="445147" y="769412"/>
                  <a:pt x="439712" y="744512"/>
                  <a:pt x="434715" y="719528"/>
                </a:cubicBezTo>
                <a:cubicBezTo>
                  <a:pt x="444708" y="674558"/>
                  <a:pt x="444093" y="625821"/>
                  <a:pt x="464695" y="584617"/>
                </a:cubicBezTo>
                <a:cubicBezTo>
                  <a:pt x="471762" y="570484"/>
                  <a:pt x="494531" y="574167"/>
                  <a:pt x="509666" y="569627"/>
                </a:cubicBezTo>
                <a:cubicBezTo>
                  <a:pt x="544509" y="559174"/>
                  <a:pt x="579620" y="549640"/>
                  <a:pt x="614597" y="539646"/>
                </a:cubicBezTo>
                <a:cubicBezTo>
                  <a:pt x="764499" y="554636"/>
                  <a:pt x="916578" y="555072"/>
                  <a:pt x="1064302" y="584617"/>
                </a:cubicBezTo>
                <a:cubicBezTo>
                  <a:pt x="1119082" y="595573"/>
                  <a:pt x="1165856" y="631578"/>
                  <a:pt x="1214203" y="659568"/>
                </a:cubicBezTo>
                <a:cubicBezTo>
                  <a:pt x="1260977" y="686648"/>
                  <a:pt x="1307856" y="714596"/>
                  <a:pt x="1349115" y="749508"/>
                </a:cubicBezTo>
                <a:cubicBezTo>
                  <a:pt x="1373539" y="770175"/>
                  <a:pt x="1387554" y="800785"/>
                  <a:pt x="1409076" y="824459"/>
                </a:cubicBezTo>
                <a:cubicBezTo>
                  <a:pt x="1644130" y="1083018"/>
                  <a:pt x="1363706" y="752025"/>
                  <a:pt x="1573967" y="1004341"/>
                </a:cubicBezTo>
                <a:cubicBezTo>
                  <a:pt x="1612125" y="1099734"/>
                  <a:pt x="1687758" y="1224013"/>
                  <a:pt x="1618938" y="1334125"/>
                </a:cubicBezTo>
                <a:cubicBezTo>
                  <a:pt x="1592856" y="1375857"/>
                  <a:pt x="1528997" y="1374099"/>
                  <a:pt x="1484026" y="1394086"/>
                </a:cubicBezTo>
                <a:cubicBezTo>
                  <a:pt x="1133204" y="1271297"/>
                  <a:pt x="1191697" y="1343472"/>
                  <a:pt x="944380" y="1034322"/>
                </a:cubicBezTo>
                <a:cubicBezTo>
                  <a:pt x="924393" y="1009338"/>
                  <a:pt x="901898" y="986170"/>
                  <a:pt x="884420" y="959371"/>
                </a:cubicBezTo>
                <a:cubicBezTo>
                  <a:pt x="826840" y="871082"/>
                  <a:pt x="719528" y="689548"/>
                  <a:pt x="719528" y="689548"/>
                </a:cubicBezTo>
                <a:cubicBezTo>
                  <a:pt x="704538" y="614597"/>
                  <a:pt x="678798" y="541013"/>
                  <a:pt x="674558" y="464695"/>
                </a:cubicBezTo>
                <a:cubicBezTo>
                  <a:pt x="673559" y="446707"/>
                  <a:pt x="686646" y="421830"/>
                  <a:pt x="704538" y="419725"/>
                </a:cubicBezTo>
                <a:cubicBezTo>
                  <a:pt x="779141" y="410948"/>
                  <a:pt x="854439" y="429718"/>
                  <a:pt x="929390" y="434715"/>
                </a:cubicBezTo>
                <a:cubicBezTo>
                  <a:pt x="964367" y="454702"/>
                  <a:pt x="1003626" y="468586"/>
                  <a:pt x="1034321" y="494676"/>
                </a:cubicBezTo>
                <a:cubicBezTo>
                  <a:pt x="1104940" y="554702"/>
                  <a:pt x="1274837" y="725646"/>
                  <a:pt x="1334125" y="824459"/>
                </a:cubicBezTo>
                <a:cubicBezTo>
                  <a:pt x="1365188" y="876231"/>
                  <a:pt x="1389984" y="932074"/>
                  <a:pt x="1409076" y="989351"/>
                </a:cubicBezTo>
                <a:cubicBezTo>
                  <a:pt x="1485813" y="1219561"/>
                  <a:pt x="1492315" y="1282275"/>
                  <a:pt x="1528997" y="1484027"/>
                </a:cubicBezTo>
                <a:cubicBezTo>
                  <a:pt x="1519004" y="1663909"/>
                  <a:pt x="1537783" y="1847733"/>
                  <a:pt x="1499017" y="2023672"/>
                </a:cubicBezTo>
                <a:cubicBezTo>
                  <a:pt x="1440081" y="2291152"/>
                  <a:pt x="1387667" y="2286112"/>
                  <a:pt x="1289154" y="2428407"/>
                </a:cubicBezTo>
                <a:cubicBezTo>
                  <a:pt x="1152695" y="2625514"/>
                  <a:pt x="1253287" y="2509245"/>
                  <a:pt x="1079292" y="2683240"/>
                </a:cubicBezTo>
                <a:cubicBezTo>
                  <a:pt x="1059305" y="2703227"/>
                  <a:pt x="1044613" y="2730559"/>
                  <a:pt x="1019331" y="2743200"/>
                </a:cubicBezTo>
                <a:cubicBezTo>
                  <a:pt x="910963" y="2797384"/>
                  <a:pt x="961908" y="2780041"/>
                  <a:pt x="869430" y="2803161"/>
                </a:cubicBezTo>
                <a:cubicBezTo>
                  <a:pt x="839450" y="2773181"/>
                  <a:pt x="803623" y="2748080"/>
                  <a:pt x="779489" y="2713220"/>
                </a:cubicBezTo>
                <a:cubicBezTo>
                  <a:pt x="740925" y="2657517"/>
                  <a:pt x="735885" y="2608303"/>
                  <a:pt x="719528" y="2548328"/>
                </a:cubicBezTo>
                <a:cubicBezTo>
                  <a:pt x="709957" y="2513233"/>
                  <a:pt x="699541" y="2478374"/>
                  <a:pt x="689548" y="2443397"/>
                </a:cubicBezTo>
                <a:cubicBezTo>
                  <a:pt x="709535" y="2333469"/>
                  <a:pt x="711663" y="2218739"/>
                  <a:pt x="749508" y="2113613"/>
                </a:cubicBezTo>
                <a:cubicBezTo>
                  <a:pt x="759377" y="2086200"/>
                  <a:pt x="798399" y="2081673"/>
                  <a:pt x="824459" y="2068643"/>
                </a:cubicBezTo>
                <a:cubicBezTo>
                  <a:pt x="838592" y="2061577"/>
                  <a:pt x="854295" y="2058193"/>
                  <a:pt x="869430" y="2053653"/>
                </a:cubicBezTo>
                <a:cubicBezTo>
                  <a:pt x="1026275" y="2006599"/>
                  <a:pt x="957305" y="2024984"/>
                  <a:pt x="1169233" y="2008682"/>
                </a:cubicBezTo>
                <a:cubicBezTo>
                  <a:pt x="1343755" y="2024548"/>
                  <a:pt x="1451485" y="1976141"/>
                  <a:pt x="1558977" y="2083633"/>
                </a:cubicBezTo>
                <a:cubicBezTo>
                  <a:pt x="1576643" y="2101299"/>
                  <a:pt x="1588958" y="2123607"/>
                  <a:pt x="1603948" y="2143594"/>
                </a:cubicBezTo>
                <a:cubicBezTo>
                  <a:pt x="1608945" y="2158584"/>
                  <a:pt x="1611872" y="2174431"/>
                  <a:pt x="1618938" y="2188564"/>
                </a:cubicBezTo>
                <a:cubicBezTo>
                  <a:pt x="1626995" y="2204678"/>
                  <a:pt x="1647794" y="2215554"/>
                  <a:pt x="1648918" y="2233535"/>
                </a:cubicBezTo>
                <a:cubicBezTo>
                  <a:pt x="1661033" y="2427378"/>
                  <a:pt x="1680258" y="2397520"/>
                  <a:pt x="1588958" y="2458387"/>
                </a:cubicBezTo>
                <a:cubicBezTo>
                  <a:pt x="1548984" y="2443397"/>
                  <a:pt x="1502078" y="2440451"/>
                  <a:pt x="1469036" y="2413417"/>
                </a:cubicBezTo>
                <a:cubicBezTo>
                  <a:pt x="1443094" y="2392192"/>
                  <a:pt x="1435521" y="2354977"/>
                  <a:pt x="1424066" y="2323476"/>
                </a:cubicBezTo>
                <a:cubicBezTo>
                  <a:pt x="1415359" y="2299532"/>
                  <a:pt x="1413634" y="2273592"/>
                  <a:pt x="1409076" y="2248525"/>
                </a:cubicBezTo>
                <a:cubicBezTo>
                  <a:pt x="1370718" y="2037558"/>
                  <a:pt x="1416123" y="2268773"/>
                  <a:pt x="1379095" y="2083633"/>
                </a:cubicBezTo>
                <a:cubicBezTo>
                  <a:pt x="1394085" y="2018676"/>
                  <a:pt x="1387850" y="1944731"/>
                  <a:pt x="1424066" y="1888761"/>
                </a:cubicBezTo>
                <a:cubicBezTo>
                  <a:pt x="1488617" y="1789000"/>
                  <a:pt x="1684732" y="1838853"/>
                  <a:pt x="1753849" y="1843790"/>
                </a:cubicBezTo>
                <a:cubicBezTo>
                  <a:pt x="1766901" y="1856842"/>
                  <a:pt x="1833409" y="1903751"/>
                  <a:pt x="1738859" y="1903751"/>
                </a:cubicBezTo>
                <a:cubicBezTo>
                  <a:pt x="1653329" y="1903751"/>
                  <a:pt x="1568970" y="1883764"/>
                  <a:pt x="1484026" y="1873771"/>
                </a:cubicBezTo>
                <a:cubicBezTo>
                  <a:pt x="1449049" y="1853784"/>
                  <a:pt x="1412917" y="1835695"/>
                  <a:pt x="1379095" y="1813810"/>
                </a:cubicBezTo>
                <a:cubicBezTo>
                  <a:pt x="1275943" y="1747064"/>
                  <a:pt x="1172778" y="1668421"/>
                  <a:pt x="1079292" y="1588958"/>
                </a:cubicBezTo>
                <a:cubicBezTo>
                  <a:pt x="1028071" y="1545420"/>
                  <a:pt x="975133" y="1503308"/>
                  <a:pt x="929390" y="1454046"/>
                </a:cubicBezTo>
                <a:cubicBezTo>
                  <a:pt x="909565" y="1432696"/>
                  <a:pt x="900581" y="1403337"/>
                  <a:pt x="884420" y="1379095"/>
                </a:cubicBezTo>
                <a:cubicBezTo>
                  <a:pt x="860577" y="1343331"/>
                  <a:pt x="834453" y="1309141"/>
                  <a:pt x="809469" y="1274164"/>
                </a:cubicBezTo>
                <a:cubicBezTo>
                  <a:pt x="775666" y="1172755"/>
                  <a:pt x="820309" y="1295846"/>
                  <a:pt x="749508" y="1154243"/>
                </a:cubicBezTo>
                <a:cubicBezTo>
                  <a:pt x="737474" y="1130176"/>
                  <a:pt x="729521" y="1104276"/>
                  <a:pt x="719528" y="1079292"/>
                </a:cubicBezTo>
                <a:cubicBezTo>
                  <a:pt x="710103" y="1022742"/>
                  <a:pt x="684407" y="964511"/>
                  <a:pt x="734518" y="914400"/>
                </a:cubicBezTo>
                <a:cubicBezTo>
                  <a:pt x="753545" y="895373"/>
                  <a:pt x="784485" y="894413"/>
                  <a:pt x="809469" y="884420"/>
                </a:cubicBezTo>
                <a:cubicBezTo>
                  <a:pt x="1000943" y="918209"/>
                  <a:pt x="1024013" y="872050"/>
                  <a:pt x="1109272" y="974361"/>
                </a:cubicBezTo>
                <a:cubicBezTo>
                  <a:pt x="1120806" y="988201"/>
                  <a:pt x="1129259" y="1004341"/>
                  <a:pt x="1139253" y="1019331"/>
                </a:cubicBezTo>
                <a:cubicBezTo>
                  <a:pt x="1144250" y="1059305"/>
                  <a:pt x="1156360" y="1099024"/>
                  <a:pt x="1154243" y="1139253"/>
                </a:cubicBezTo>
                <a:cubicBezTo>
                  <a:pt x="1148559" y="1247243"/>
                  <a:pt x="1141968" y="1311137"/>
                  <a:pt x="1064302" y="1379095"/>
                </a:cubicBezTo>
                <a:cubicBezTo>
                  <a:pt x="1047485" y="1393810"/>
                  <a:pt x="1024328" y="1399082"/>
                  <a:pt x="1004341" y="1409076"/>
                </a:cubicBezTo>
                <a:cubicBezTo>
                  <a:pt x="789425" y="1355346"/>
                  <a:pt x="827948" y="1408825"/>
                  <a:pt x="719528" y="1199213"/>
                </a:cubicBezTo>
                <a:cubicBezTo>
                  <a:pt x="674310" y="1111791"/>
                  <a:pt x="599607" y="929390"/>
                  <a:pt x="599607" y="929390"/>
                </a:cubicBezTo>
                <a:cubicBezTo>
                  <a:pt x="560021" y="711674"/>
                  <a:pt x="530941" y="642453"/>
                  <a:pt x="614597" y="374754"/>
                </a:cubicBezTo>
                <a:cubicBezTo>
                  <a:pt x="628338" y="330784"/>
                  <a:pt x="679736" y="308025"/>
                  <a:pt x="719528" y="284813"/>
                </a:cubicBezTo>
                <a:cubicBezTo>
                  <a:pt x="741536" y="271975"/>
                  <a:pt x="769495" y="274820"/>
                  <a:pt x="794479" y="269823"/>
                </a:cubicBezTo>
                <a:cubicBezTo>
                  <a:pt x="909404" y="279817"/>
                  <a:pt x="1025970" y="278019"/>
                  <a:pt x="1139253" y="299804"/>
                </a:cubicBezTo>
                <a:cubicBezTo>
                  <a:pt x="1160071" y="303807"/>
                  <a:pt x="1167770" y="331406"/>
                  <a:pt x="1184223" y="344774"/>
                </a:cubicBezTo>
                <a:cubicBezTo>
                  <a:pt x="1247827" y="396453"/>
                  <a:pt x="1319750" y="438157"/>
                  <a:pt x="1379095" y="494676"/>
                </a:cubicBezTo>
                <a:cubicBezTo>
                  <a:pt x="1461501" y="573158"/>
                  <a:pt x="1516102" y="661599"/>
                  <a:pt x="1558977" y="764499"/>
                </a:cubicBezTo>
                <a:cubicBezTo>
                  <a:pt x="1566901" y="783516"/>
                  <a:pt x="1568970" y="804472"/>
                  <a:pt x="1573967" y="824459"/>
                </a:cubicBezTo>
                <a:cubicBezTo>
                  <a:pt x="1568970" y="889416"/>
                  <a:pt x="1571754" y="955447"/>
                  <a:pt x="1558977" y="1019331"/>
                </a:cubicBezTo>
                <a:cubicBezTo>
                  <a:pt x="1556205" y="1033189"/>
                  <a:pt x="1538991" y="1059306"/>
                  <a:pt x="1528997" y="1049312"/>
                </a:cubicBezTo>
                <a:cubicBezTo>
                  <a:pt x="1510981" y="1031296"/>
                  <a:pt x="1519004" y="999345"/>
                  <a:pt x="1514007" y="974361"/>
                </a:cubicBezTo>
                <a:cubicBezTo>
                  <a:pt x="1545161" y="880897"/>
                  <a:pt x="1532589" y="869357"/>
                  <a:pt x="1723869" y="959371"/>
                </a:cubicBezTo>
                <a:cubicBezTo>
                  <a:pt x="1756471" y="974713"/>
                  <a:pt x="1767716" y="1017084"/>
                  <a:pt x="1783830" y="1049312"/>
                </a:cubicBezTo>
                <a:cubicBezTo>
                  <a:pt x="1832723" y="1147097"/>
                  <a:pt x="1837101" y="1210741"/>
                  <a:pt x="1858780" y="1319135"/>
                </a:cubicBezTo>
                <a:cubicBezTo>
                  <a:pt x="1821196" y="2183567"/>
                  <a:pt x="1915682" y="1762006"/>
                  <a:pt x="1738859" y="2233535"/>
                </a:cubicBezTo>
                <a:cubicBezTo>
                  <a:pt x="1602384" y="2597469"/>
                  <a:pt x="1753357" y="2270642"/>
                  <a:pt x="1663908" y="2398427"/>
                </a:cubicBezTo>
                <a:cubicBezTo>
                  <a:pt x="1603346" y="2484944"/>
                  <a:pt x="1619032" y="2510806"/>
                  <a:pt x="1543987" y="2548328"/>
                </a:cubicBezTo>
                <a:cubicBezTo>
                  <a:pt x="1529854" y="2555394"/>
                  <a:pt x="1514007" y="2558321"/>
                  <a:pt x="1499017" y="2563318"/>
                </a:cubicBezTo>
                <a:cubicBezTo>
                  <a:pt x="1460979" y="2449206"/>
                  <a:pt x="1475234" y="2504365"/>
                  <a:pt x="1454046" y="2398427"/>
                </a:cubicBezTo>
                <a:cubicBezTo>
                  <a:pt x="1464039" y="2328473"/>
                  <a:pt x="1466887" y="2257119"/>
                  <a:pt x="1484026" y="2188564"/>
                </a:cubicBezTo>
                <a:cubicBezTo>
                  <a:pt x="1487454" y="2174853"/>
                  <a:pt x="1500885" y="2163833"/>
                  <a:pt x="1514007" y="2158584"/>
                </a:cubicBezTo>
                <a:cubicBezTo>
                  <a:pt x="1552264" y="2143281"/>
                  <a:pt x="1633928" y="2128604"/>
                  <a:pt x="1633928" y="2128604"/>
                </a:cubicBezTo>
                <a:cubicBezTo>
                  <a:pt x="1699173" y="2133623"/>
                  <a:pt x="1822632" y="2118467"/>
                  <a:pt x="1888761" y="2173574"/>
                </a:cubicBezTo>
                <a:cubicBezTo>
                  <a:pt x="1902601" y="2185108"/>
                  <a:pt x="1908748" y="2203555"/>
                  <a:pt x="1918741" y="2218545"/>
                </a:cubicBezTo>
                <a:cubicBezTo>
                  <a:pt x="1785449" y="2240760"/>
                  <a:pt x="1799522" y="2245633"/>
                  <a:pt x="1618938" y="2218545"/>
                </a:cubicBezTo>
                <a:cubicBezTo>
                  <a:pt x="1587686" y="2213857"/>
                  <a:pt x="1528997" y="2188564"/>
                  <a:pt x="1528997" y="2188564"/>
                </a:cubicBezTo>
                <a:lnTo>
                  <a:pt x="1499017" y="2143594"/>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90608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1D80A-5BB7-7F93-44B4-AA83080CB1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1E4714-AE9A-60F8-08DA-13A176F2A783}"/>
              </a:ext>
            </a:extLst>
          </p:cNvPr>
          <p:cNvSpPr>
            <a:spLocks noGrp="1"/>
          </p:cNvSpPr>
          <p:nvPr>
            <p:ph type="title"/>
          </p:nvPr>
        </p:nvSpPr>
        <p:spPr/>
        <p:txBody>
          <a:bodyPr/>
          <a:lstStyle/>
          <a:p>
            <a:r>
              <a:rPr lang="en-US"/>
              <a:t>Chebyshev’s Inequality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3BBE88F-207E-995F-FE45-CEC8F5C22F80}"/>
                  </a:ext>
                </a:extLst>
              </p:cNvPr>
              <p:cNvSpPr>
                <a:spLocks noGrp="1"/>
              </p:cNvSpPr>
              <p:nvPr>
                <p:ph idx="1"/>
              </p:nvPr>
            </p:nvSpPr>
            <p:spPr/>
            <p:txBody>
              <a:bodyPr/>
              <a:lstStyle/>
              <a:p>
                <a:r>
                  <a:rPr lang="en-US"/>
                  <a:t>We’ll use two summary statistics: </a:t>
                </a:r>
                <a14:m>
                  <m:oMath xmlns:m="http://schemas.openxmlformats.org/officeDocument/2006/math">
                    <m:r>
                      <a:rPr lang="en-US" i="1" smtClean="0">
                        <a:latin typeface="Cambria Math" panose="02040503050406030204" pitchFamily="18" charset="0"/>
                      </a:rPr>
                      <m:t>𝔼</m:t>
                    </m:r>
                    <m:d>
                      <m:dPr>
                        <m:begChr m:val="["/>
                        <m:endChr m:val="]"/>
                        <m:ctrlPr>
                          <a:rPr lang="en-US" i="1">
                            <a:latin typeface="Cambria Math" panose="02040503050406030204" pitchFamily="18" charset="0"/>
                          </a:rPr>
                        </m:ctrlPr>
                      </m:dPr>
                      <m:e>
                        <m:r>
                          <a:rPr lang="en-US" i="1">
                            <a:latin typeface="Cambria Math" panose="02040503050406030204" pitchFamily="18" charset="0"/>
                          </a:rPr>
                          <m:t>𝑋</m:t>
                        </m:r>
                      </m:e>
                    </m:d>
                  </m:oMath>
                </a14:m>
                <a:r>
                  <a:rPr lang="en-US"/>
                  <a:t> and </a:t>
                </a:r>
                <a14:m>
                  <m:oMath xmlns:m="http://schemas.openxmlformats.org/officeDocument/2006/math">
                    <m:r>
                      <m:rPr>
                        <m:sty m:val="p"/>
                      </m:rPr>
                      <a:rPr lang="en-US" b="0" i="0" smtClean="0">
                        <a:latin typeface="Cambria Math" panose="02040503050406030204" pitchFamily="18" charset="0"/>
                      </a:rPr>
                      <m:t>var</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oMath>
                </a14:m>
                <a:r>
                  <a:rPr lang="en-US"/>
                  <a:t> to provide a more useful bound on how far we stray from the mean.</a:t>
                </a:r>
              </a:p>
              <a:p>
                <a:endParaRPr lang="en-US"/>
              </a:p>
              <a:p>
                <a:r>
                  <a:rPr lang="en-US"/>
                  <a:t>Define </a:t>
                </a:r>
                <a:r>
                  <a:rPr lang="en-US" b="1">
                    <a:solidFill>
                      <a:schemeClr val="accent3"/>
                    </a:solidFill>
                    <a:latin typeface="Inter" panose="02000503000000020004" pitchFamily="2" charset="0"/>
                    <a:ea typeface="Inter" panose="02000503000000020004" pitchFamily="2" charset="0"/>
                    <a:cs typeface="Inter" panose="02000503000000020004" pitchFamily="2" charset="0"/>
                  </a:rPr>
                  <a:t>Chebyshev’s Inequality</a:t>
                </a:r>
                <a:r>
                  <a:rPr lang="en-US"/>
                  <a:t> as follows. If </a:t>
                </a:r>
                <a14:m>
                  <m:oMath xmlns:m="http://schemas.openxmlformats.org/officeDocument/2006/math">
                    <m:r>
                      <a:rPr lang="en-US" b="0" i="1" smtClean="0">
                        <a:latin typeface="Cambria Math" panose="02040503050406030204" pitchFamily="18" charset="0"/>
                      </a:rPr>
                      <m:t>𝑋</m:t>
                    </m:r>
                  </m:oMath>
                </a14:m>
                <a:r>
                  <a:rPr lang="en-US"/>
                  <a:t> is a random variable with </a:t>
                </a:r>
                <a14:m>
                  <m:oMath xmlns:m="http://schemas.openxmlformats.org/officeDocument/2006/math">
                    <m:r>
                      <a:rPr lang="en-US" i="1">
                        <a:latin typeface="Cambria Math" panose="02040503050406030204" pitchFamily="18" charset="0"/>
                      </a:rPr>
                      <m:t>𝔼</m:t>
                    </m:r>
                    <m:d>
                      <m:dPr>
                        <m:begChr m:val="["/>
                        <m:endChr m:val="]"/>
                        <m:ctrlPr>
                          <a:rPr lang="en-US" i="1">
                            <a:latin typeface="Cambria Math" panose="02040503050406030204" pitchFamily="18" charset="0"/>
                          </a:rPr>
                        </m:ctrlPr>
                      </m:dPr>
                      <m:e>
                        <m:r>
                          <a:rPr lang="en-US" i="1">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𝜇</m:t>
                    </m:r>
                  </m:oMath>
                </a14:m>
                <a:r>
                  <a:rPr lang="en-US"/>
                  <a:t>, then for any constant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r>
                      <a:rPr lang="en-US" b="0" i="0" smtClean="0">
                        <a:latin typeface="Cambria Math" panose="02040503050406030204" pitchFamily="18" charset="0"/>
                      </a:rPr>
                      <m:t>:</m:t>
                    </m:r>
                  </m:oMath>
                </a14:m>
                <a:endParaRPr lang="en-US"/>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𝜇</m:t>
                              </m:r>
                            </m:e>
                          </m:d>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 </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var</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oMath>
                  </m:oMathPara>
                </a14:m>
                <a:endParaRPr lang="en-US"/>
              </a:p>
              <a:p>
                <a:endParaRPr lang="en-US"/>
              </a:p>
              <a:p>
                <a:r>
                  <a:rPr lang="en-US"/>
                  <a:t>Before we set about proving this inequality, let’s build some intuition for what it means.</a:t>
                </a:r>
              </a:p>
            </p:txBody>
          </p:sp>
        </mc:Choice>
        <mc:Fallback>
          <p:sp>
            <p:nvSpPr>
              <p:cNvPr id="3" name="Content Placeholder 2">
                <a:extLst>
                  <a:ext uri="{FF2B5EF4-FFF2-40B4-BE49-F238E27FC236}">
                    <a16:creationId xmlns:a16="http://schemas.microsoft.com/office/drawing/2014/main" id="{53BBE88F-207E-995F-FE45-CEC8F5C22F80}"/>
                  </a:ext>
                </a:extLst>
              </p:cNvPr>
              <p:cNvSpPr>
                <a:spLocks noGrp="1" noRot="1" noChangeAspect="1" noMove="1" noResize="1" noEditPoints="1" noAdjustHandles="1" noChangeArrowheads="1" noChangeShapeType="1" noTextEdit="1"/>
              </p:cNvSpPr>
              <p:nvPr>
                <p:ph idx="1"/>
              </p:nvPr>
            </p:nvSpPr>
            <p:spPr>
              <a:blipFill>
                <a:blip r:embed="rId2"/>
                <a:stretch>
                  <a:fillRect l="-796" t="-541" r="-849"/>
                </a:stretch>
              </a:blipFill>
            </p:spPr>
            <p:txBody>
              <a:bodyPr/>
              <a:lstStyle/>
              <a:p>
                <a:r>
                  <a:rPr lang="en-US">
                    <a:noFill/>
                  </a:rPr>
                  <a:t> </a:t>
                </a:r>
              </a:p>
            </p:txBody>
          </p:sp>
        </mc:Fallback>
      </mc:AlternateContent>
    </p:spTree>
    <p:extLst>
      <p:ext uri="{BB962C8B-B14F-4D97-AF65-F5344CB8AC3E}">
        <p14:creationId xmlns:p14="http://schemas.microsoft.com/office/powerpoint/2010/main" val="1228668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661C24F-4BEE-F23D-0444-F66F5D29FC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D1A3B5-2E3D-6DDA-DCE0-EF4AD87249AE}"/>
              </a:ext>
            </a:extLst>
          </p:cNvPr>
          <p:cNvSpPr>
            <a:spLocks noGrp="1"/>
          </p:cNvSpPr>
          <p:nvPr>
            <p:ph type="title"/>
          </p:nvPr>
        </p:nvSpPr>
        <p:spPr/>
        <p:txBody>
          <a:bodyPr/>
          <a:lstStyle/>
          <a:p>
            <a:r>
              <a:rPr lang="en-US"/>
              <a:t>Chebyshev’s Inequality: </a:t>
            </a:r>
            <a:r>
              <a:rPr lang="en-US" err="1"/>
              <a:t>Intution</a:t>
            </a:r>
            <a:r>
              <a:rPr lang="en-US"/>
              <a:t> 1, the Alternate Form</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F2C456B-3642-52DB-95F4-C461FF5C722D}"/>
                  </a:ext>
                </a:extLst>
              </p:cNvPr>
              <p:cNvSpPr>
                <a:spLocks noGrp="1"/>
              </p:cNvSpPr>
              <p:nvPr>
                <p:ph idx="1"/>
              </p:nvPr>
            </p:nvSpPr>
            <p:spPr/>
            <p:txBody>
              <a:bodyPr/>
              <a:lstStyle/>
              <a:p>
                <a:r>
                  <a:rPr lang="en-US"/>
                  <a:t>Define </a:t>
                </a:r>
                <a:r>
                  <a:rPr lang="en-US" b="1">
                    <a:solidFill>
                      <a:schemeClr val="accent3"/>
                    </a:solidFill>
                    <a:latin typeface="Inter" panose="02000503000000020004" pitchFamily="2" charset="0"/>
                    <a:ea typeface="Inter" panose="02000503000000020004" pitchFamily="2" charset="0"/>
                    <a:cs typeface="Inter" panose="02000503000000020004" pitchFamily="2" charset="0"/>
                  </a:rPr>
                  <a:t>Chebyshev’s Inequality</a:t>
                </a:r>
                <a:r>
                  <a:rPr lang="en-US"/>
                  <a:t> as follows. If </a:t>
                </a:r>
                <a14:m>
                  <m:oMath xmlns:m="http://schemas.openxmlformats.org/officeDocument/2006/math">
                    <m:r>
                      <a:rPr lang="en-US" b="0" i="1" smtClean="0">
                        <a:latin typeface="Cambria Math" panose="02040503050406030204" pitchFamily="18" charset="0"/>
                      </a:rPr>
                      <m:t>𝑋</m:t>
                    </m:r>
                  </m:oMath>
                </a14:m>
                <a:r>
                  <a:rPr lang="en-US"/>
                  <a:t> is a random variable with </a:t>
                </a:r>
                <a14:m>
                  <m:oMath xmlns:m="http://schemas.openxmlformats.org/officeDocument/2006/math">
                    <m:r>
                      <a:rPr lang="en-US" i="1">
                        <a:latin typeface="Cambria Math" panose="02040503050406030204" pitchFamily="18" charset="0"/>
                      </a:rPr>
                      <m:t>𝔼</m:t>
                    </m:r>
                    <m:d>
                      <m:dPr>
                        <m:begChr m:val="["/>
                        <m:endChr m:val="]"/>
                        <m:ctrlPr>
                          <a:rPr lang="en-US" i="1">
                            <a:latin typeface="Cambria Math" panose="02040503050406030204" pitchFamily="18" charset="0"/>
                          </a:rPr>
                        </m:ctrlPr>
                      </m:dPr>
                      <m:e>
                        <m:r>
                          <a:rPr lang="en-US" i="1">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𝜇</m:t>
                    </m:r>
                  </m:oMath>
                </a14:m>
                <a:r>
                  <a:rPr lang="en-US"/>
                  <a:t>, then for any constant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r>
                      <a:rPr lang="en-US" b="0" i="0" smtClean="0">
                        <a:latin typeface="Cambria Math" panose="02040503050406030204" pitchFamily="18" charset="0"/>
                      </a:rPr>
                      <m:t>:</m:t>
                    </m:r>
                  </m:oMath>
                </a14:m>
                <a:endParaRPr lang="en-US"/>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𝜇</m:t>
                              </m:r>
                            </m:e>
                          </m:d>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 </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var</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oMath>
                  </m:oMathPara>
                </a14:m>
                <a:endParaRPr lang="en-US"/>
              </a:p>
              <a:p>
                <a:endParaRPr lang="en-US"/>
              </a:p>
              <a:p>
                <a:r>
                  <a:rPr lang="en-US"/>
                  <a:t>Suppose we pick the constant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𝜎</m:t>
                    </m:r>
                  </m:oMath>
                </a14:m>
                <a:r>
                  <a:rPr lang="en-US"/>
                  <a:t>, what is the upper bound?</a:t>
                </a:r>
              </a:p>
              <a:p>
                <a:pPr marL="342900" indent="-342900">
                  <a:buFont typeface="Arial" panose="020B0604020202020204" pitchFamily="34" charset="0"/>
                  <a:buChar char="•"/>
                </a:pPr>
                <a:r>
                  <a:rPr lang="en-US" err="1"/>
                  <a:t>joshh.ug</a:t>
                </a:r>
                <a:r>
                  <a:rPr lang="en-US"/>
                  <a:t>/F</a:t>
                </a:r>
              </a:p>
              <a:p>
                <a:endParaRPr lang="en-US"/>
              </a:p>
            </p:txBody>
          </p:sp>
        </mc:Choice>
        <mc:Fallback>
          <p:sp>
            <p:nvSpPr>
              <p:cNvPr id="3" name="Content Placeholder 2">
                <a:extLst>
                  <a:ext uri="{FF2B5EF4-FFF2-40B4-BE49-F238E27FC236}">
                    <a16:creationId xmlns:a16="http://schemas.microsoft.com/office/drawing/2014/main" id="{CF2C456B-3642-52DB-95F4-C461FF5C722D}"/>
                  </a:ext>
                </a:extLst>
              </p:cNvPr>
              <p:cNvSpPr>
                <a:spLocks noGrp="1" noRot="1" noChangeAspect="1" noMove="1" noResize="1" noEditPoints="1" noAdjustHandles="1" noChangeArrowheads="1" noChangeShapeType="1" noTextEdit="1"/>
              </p:cNvSpPr>
              <p:nvPr>
                <p:ph idx="1"/>
              </p:nvPr>
            </p:nvSpPr>
            <p:spPr>
              <a:blipFill>
                <a:blip r:embed="rId2"/>
                <a:stretch>
                  <a:fillRect l="-796" t="-541" r="-74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9A4234E7-04CA-6168-6E2A-7E7DB98BBF3E}"/>
                  </a:ext>
                </a:extLst>
              </p:cNvPr>
              <p:cNvSpPr txBox="1"/>
              <p:nvPr/>
            </p:nvSpPr>
            <p:spPr>
              <a:xfrm>
                <a:off x="3022600" y="4004024"/>
                <a:ext cx="61468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r>
                                <a:rPr lang="en-US" sz="2400" b="0" i="1" smtClean="0">
                                  <a:latin typeface="Cambria Math" panose="02040503050406030204" pitchFamily="18" charset="0"/>
                                </a:rPr>
                                <m:t>𝜇</m:t>
                              </m:r>
                            </m:e>
                          </m:d>
                          <m:r>
                            <a:rPr lang="en-US" sz="2400" b="0" i="1" smtClean="0">
                              <a:latin typeface="Cambria Math" panose="02040503050406030204" pitchFamily="18" charset="0"/>
                            </a:rPr>
                            <m:t>≥</m:t>
                          </m:r>
                          <m:r>
                            <a:rPr lang="en-US" sz="2400" b="0" i="1" smtClean="0">
                              <a:latin typeface="Cambria Math" panose="02040503050406030204" pitchFamily="18" charset="0"/>
                            </a:rPr>
                            <m:t>𝑘</m:t>
                          </m:r>
                          <m:r>
                            <a:rPr lang="en-US" sz="2400" b="0" i="1" smtClean="0">
                              <a:latin typeface="Cambria Math" panose="02040503050406030204" pitchFamily="18" charset="0"/>
                            </a:rPr>
                            <m:t>𝜎</m:t>
                          </m:r>
                        </m:e>
                      </m:d>
                      <m:r>
                        <a:rPr lang="en-US" sz="2400" b="0" i="1" smtClean="0">
                          <a:latin typeface="Cambria Math" panose="02040503050406030204" pitchFamily="18" charset="0"/>
                        </a:rPr>
                        <m:t>≤ ??</m:t>
                      </m:r>
                    </m:oMath>
                  </m:oMathPara>
                </a14:m>
                <a:endParaRPr lang="en-US" sz="2400"/>
              </a:p>
            </p:txBody>
          </p:sp>
        </mc:Choice>
        <mc:Fallback>
          <p:sp>
            <p:nvSpPr>
              <p:cNvPr id="5" name="TextBox 4">
                <a:extLst>
                  <a:ext uri="{FF2B5EF4-FFF2-40B4-BE49-F238E27FC236}">
                    <a16:creationId xmlns:a16="http://schemas.microsoft.com/office/drawing/2014/main" id="{9A4234E7-04CA-6168-6E2A-7E7DB98BBF3E}"/>
                  </a:ext>
                </a:extLst>
              </p:cNvPr>
              <p:cNvSpPr txBox="1">
                <a:spLocks noRot="1" noChangeAspect="1" noMove="1" noResize="1" noEditPoints="1" noAdjustHandles="1" noChangeArrowheads="1" noChangeShapeType="1" noTextEdit="1"/>
              </p:cNvSpPr>
              <p:nvPr/>
            </p:nvSpPr>
            <p:spPr>
              <a:xfrm>
                <a:off x="3022600" y="4004024"/>
                <a:ext cx="6146800" cy="461665"/>
              </a:xfrm>
              <a:prstGeom prst="rect">
                <a:avLst/>
              </a:prstGeom>
              <a:blipFill>
                <a:blip r:embed="rId3"/>
                <a:stretch>
                  <a:fillRect b="-7895"/>
                </a:stretch>
              </a:blipFill>
            </p:spPr>
            <p:txBody>
              <a:bodyPr/>
              <a:lstStyle/>
              <a:p>
                <a:r>
                  <a:rPr lang="en-US">
                    <a:noFill/>
                  </a:rPr>
                  <a:t> </a:t>
                </a:r>
              </a:p>
            </p:txBody>
          </p:sp>
        </mc:Fallback>
      </mc:AlternateContent>
      <p:pic>
        <p:nvPicPr>
          <p:cNvPr id="6" name="Picture 5" descr="A qr code on a white background&#10;&#10;Description automatically generated">
            <a:extLst>
              <a:ext uri="{FF2B5EF4-FFF2-40B4-BE49-F238E27FC236}">
                <a16:creationId xmlns:a16="http://schemas.microsoft.com/office/drawing/2014/main" id="{0B7DCF91-04B8-5F3D-93BE-7BA9D8D718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26600" y="4318000"/>
            <a:ext cx="2565400" cy="2540000"/>
          </a:xfrm>
          <a:prstGeom prst="rect">
            <a:avLst/>
          </a:prstGeom>
        </p:spPr>
      </p:pic>
    </p:spTree>
    <p:extLst>
      <p:ext uri="{BB962C8B-B14F-4D97-AF65-F5344CB8AC3E}">
        <p14:creationId xmlns:p14="http://schemas.microsoft.com/office/powerpoint/2010/main" val="20709271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14A57-7424-90E3-D0CA-0147A332C0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3D94CF-392D-F376-A220-032E873FE3A5}"/>
              </a:ext>
            </a:extLst>
          </p:cNvPr>
          <p:cNvSpPr>
            <a:spLocks noGrp="1"/>
          </p:cNvSpPr>
          <p:nvPr>
            <p:ph type="title"/>
          </p:nvPr>
        </p:nvSpPr>
        <p:spPr/>
        <p:txBody>
          <a:bodyPr/>
          <a:lstStyle/>
          <a:p>
            <a:r>
              <a:rPr lang="en-US"/>
              <a:t>Chebyshev’s Inequality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4F99122-462E-5941-38E8-DCDED39A0839}"/>
                  </a:ext>
                </a:extLst>
              </p:cNvPr>
              <p:cNvSpPr>
                <a:spLocks noGrp="1"/>
              </p:cNvSpPr>
              <p:nvPr>
                <p:ph idx="1"/>
              </p:nvPr>
            </p:nvSpPr>
            <p:spPr/>
            <p:txBody>
              <a:bodyPr/>
              <a:lstStyle/>
              <a:p>
                <a:r>
                  <a:rPr lang="en-US"/>
                  <a:t>Define </a:t>
                </a:r>
                <a:r>
                  <a:rPr lang="en-US" b="1">
                    <a:solidFill>
                      <a:schemeClr val="accent3"/>
                    </a:solidFill>
                    <a:latin typeface="Inter" panose="02000503000000020004" pitchFamily="2" charset="0"/>
                    <a:ea typeface="Inter" panose="02000503000000020004" pitchFamily="2" charset="0"/>
                    <a:cs typeface="Inter" panose="02000503000000020004" pitchFamily="2" charset="0"/>
                  </a:rPr>
                  <a:t>Chebyshev’s Inequality</a:t>
                </a:r>
                <a:r>
                  <a:rPr lang="en-US"/>
                  <a:t> as follows. If </a:t>
                </a:r>
                <a14:m>
                  <m:oMath xmlns:m="http://schemas.openxmlformats.org/officeDocument/2006/math">
                    <m:r>
                      <a:rPr lang="en-US" b="0" i="1" smtClean="0">
                        <a:latin typeface="Cambria Math" panose="02040503050406030204" pitchFamily="18" charset="0"/>
                      </a:rPr>
                      <m:t>𝑋</m:t>
                    </m:r>
                  </m:oMath>
                </a14:m>
                <a:r>
                  <a:rPr lang="en-US"/>
                  <a:t> is a random variable with </a:t>
                </a:r>
                <a14:m>
                  <m:oMath xmlns:m="http://schemas.openxmlformats.org/officeDocument/2006/math">
                    <m:r>
                      <a:rPr lang="en-US" i="1">
                        <a:latin typeface="Cambria Math" panose="02040503050406030204" pitchFamily="18" charset="0"/>
                      </a:rPr>
                      <m:t>𝔼</m:t>
                    </m:r>
                    <m:d>
                      <m:dPr>
                        <m:begChr m:val="["/>
                        <m:endChr m:val="]"/>
                        <m:ctrlPr>
                          <a:rPr lang="en-US" i="1">
                            <a:latin typeface="Cambria Math" panose="02040503050406030204" pitchFamily="18" charset="0"/>
                          </a:rPr>
                        </m:ctrlPr>
                      </m:dPr>
                      <m:e>
                        <m:r>
                          <a:rPr lang="en-US" i="1">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𝜇</m:t>
                    </m:r>
                  </m:oMath>
                </a14:m>
                <a:r>
                  <a:rPr lang="en-US"/>
                  <a:t>, then for any constant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r>
                      <a:rPr lang="en-US" b="0" i="0" smtClean="0">
                        <a:latin typeface="Cambria Math" panose="02040503050406030204" pitchFamily="18" charset="0"/>
                      </a:rPr>
                      <m:t>:</m:t>
                    </m:r>
                  </m:oMath>
                </a14:m>
                <a:endParaRPr lang="en-US"/>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𝜇</m:t>
                              </m:r>
                            </m:e>
                          </m:d>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 </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var</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oMath>
                  </m:oMathPara>
                </a14:m>
                <a:endParaRPr lang="en-US"/>
              </a:p>
              <a:p>
                <a:endParaRPr lang="en-US"/>
              </a:p>
              <a:p>
                <a:r>
                  <a:rPr lang="en-US"/>
                  <a:t>Suppose we pick the constant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𝜎</m:t>
                    </m:r>
                  </m:oMath>
                </a14:m>
                <a:r>
                  <a:rPr lang="en-US"/>
                  <a:t>, what is the upper bound?</a:t>
                </a:r>
              </a:p>
            </p:txBody>
          </p:sp>
        </mc:Choice>
        <mc:Fallback>
          <p:sp>
            <p:nvSpPr>
              <p:cNvPr id="3" name="Content Placeholder 2">
                <a:extLst>
                  <a:ext uri="{FF2B5EF4-FFF2-40B4-BE49-F238E27FC236}">
                    <a16:creationId xmlns:a16="http://schemas.microsoft.com/office/drawing/2014/main" id="{54F99122-462E-5941-38E8-DCDED39A0839}"/>
                  </a:ext>
                </a:extLst>
              </p:cNvPr>
              <p:cNvSpPr>
                <a:spLocks noGrp="1" noRot="1" noChangeAspect="1" noMove="1" noResize="1" noEditPoints="1" noAdjustHandles="1" noChangeArrowheads="1" noChangeShapeType="1" noTextEdit="1"/>
              </p:cNvSpPr>
              <p:nvPr>
                <p:ph idx="1"/>
              </p:nvPr>
            </p:nvSpPr>
            <p:spPr>
              <a:blipFill>
                <a:blip r:embed="rId2"/>
                <a:stretch>
                  <a:fillRect l="-796" t="-541" r="-74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CC4416E7-38C1-2539-4272-46B0E97B4A39}"/>
                  </a:ext>
                </a:extLst>
              </p:cNvPr>
              <p:cNvSpPr txBox="1"/>
              <p:nvPr/>
            </p:nvSpPr>
            <p:spPr>
              <a:xfrm>
                <a:off x="3022600" y="3877704"/>
                <a:ext cx="3873500" cy="83343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r>
                                <a:rPr lang="en-US" sz="2400" b="0" i="1" smtClean="0">
                                  <a:latin typeface="Cambria Math" panose="02040503050406030204" pitchFamily="18" charset="0"/>
                                </a:rPr>
                                <m:t>𝜇</m:t>
                              </m:r>
                            </m:e>
                          </m:d>
                          <m:r>
                            <a:rPr lang="en-US" sz="2400" b="0" i="1" smtClean="0">
                              <a:latin typeface="Cambria Math" panose="02040503050406030204" pitchFamily="18" charset="0"/>
                            </a:rPr>
                            <m:t>≥</m:t>
                          </m:r>
                          <m:r>
                            <a:rPr lang="en-US" sz="2400" b="0" i="1" smtClean="0">
                              <a:latin typeface="Cambria Math" panose="02040503050406030204" pitchFamily="18" charset="0"/>
                            </a:rPr>
                            <m:t>𝑘</m:t>
                          </m:r>
                          <m:r>
                            <a:rPr lang="en-US" sz="2400" b="0" i="1" smtClean="0">
                              <a:latin typeface="Cambria Math" panose="02040503050406030204" pitchFamily="18" charset="0"/>
                            </a:rPr>
                            <m:t>𝜎</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m:rPr>
                              <m:sty m:val="p"/>
                            </m:rPr>
                            <a:rPr lang="en-US" sz="2400" b="0" i="0" smtClean="0">
                              <a:latin typeface="Cambria Math" panose="02040503050406030204" pitchFamily="18" charset="0"/>
                            </a:rPr>
                            <m:t>var</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e>
                          </m:d>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𝑘</m:t>
                              </m:r>
                            </m:e>
                            <m:sup>
                              <m:r>
                                <a:rPr lang="en-US" sz="2400" b="0" i="1" smtClean="0">
                                  <a:latin typeface="Cambria Math" panose="02040503050406030204" pitchFamily="18" charset="0"/>
                                </a:rPr>
                                <m:t>2</m:t>
                              </m:r>
                            </m:sup>
                          </m:sSup>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𝜎</m:t>
                              </m:r>
                            </m:e>
                            <m:sup>
                              <m:r>
                                <a:rPr lang="en-US" sz="2400" b="0" i="1" smtClean="0">
                                  <a:latin typeface="Cambria Math" panose="02040503050406030204" pitchFamily="18" charset="0"/>
                                </a:rPr>
                                <m:t>2</m:t>
                              </m:r>
                            </m:sup>
                          </m:sSup>
                        </m:den>
                      </m:f>
                    </m:oMath>
                  </m:oMathPara>
                </a14:m>
                <a:endParaRPr lang="en-US" sz="2400"/>
              </a:p>
            </p:txBody>
          </p:sp>
        </mc:Choice>
        <mc:Fallback>
          <p:sp>
            <p:nvSpPr>
              <p:cNvPr id="4" name="TextBox 3">
                <a:extLst>
                  <a:ext uri="{FF2B5EF4-FFF2-40B4-BE49-F238E27FC236}">
                    <a16:creationId xmlns:a16="http://schemas.microsoft.com/office/drawing/2014/main" id="{CC4416E7-38C1-2539-4272-46B0E97B4A39}"/>
                  </a:ext>
                </a:extLst>
              </p:cNvPr>
              <p:cNvSpPr txBox="1">
                <a:spLocks noRot="1" noChangeAspect="1" noMove="1" noResize="1" noEditPoints="1" noAdjustHandles="1" noChangeArrowheads="1" noChangeShapeType="1" noTextEdit="1"/>
              </p:cNvSpPr>
              <p:nvPr/>
            </p:nvSpPr>
            <p:spPr>
              <a:xfrm>
                <a:off x="3022600" y="3877704"/>
                <a:ext cx="3873500" cy="83343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19EE2D22-0655-1146-3DAF-4C045DC43BC4}"/>
                  </a:ext>
                </a:extLst>
              </p:cNvPr>
              <p:cNvSpPr txBox="1"/>
              <p:nvPr/>
            </p:nvSpPr>
            <p:spPr>
              <a:xfrm>
                <a:off x="2884055" y="5304218"/>
                <a:ext cx="6146800" cy="7861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r>
                                <a:rPr lang="en-US" sz="2400" b="0" i="1" smtClean="0">
                                  <a:latin typeface="Cambria Math" panose="02040503050406030204" pitchFamily="18" charset="0"/>
                                </a:rPr>
                                <m:t>𝜇</m:t>
                              </m:r>
                            </m:e>
                          </m:d>
                          <m:r>
                            <a:rPr lang="en-US" sz="2400" b="0" i="1" smtClean="0">
                              <a:latin typeface="Cambria Math" panose="02040503050406030204" pitchFamily="18" charset="0"/>
                            </a:rPr>
                            <m:t>≥</m:t>
                          </m:r>
                          <m:r>
                            <a:rPr lang="en-US" sz="2400" b="0" i="1" smtClean="0">
                              <a:latin typeface="Cambria Math" panose="02040503050406030204" pitchFamily="18" charset="0"/>
                            </a:rPr>
                            <m:t>𝑘</m:t>
                          </m:r>
                          <m:r>
                            <a:rPr lang="en-US" sz="2400" b="0" i="1" smtClean="0">
                              <a:latin typeface="Cambria Math" panose="02040503050406030204" pitchFamily="18" charset="0"/>
                            </a:rPr>
                            <m:t>𝜎</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𝑘</m:t>
                              </m:r>
                            </m:e>
                            <m:sup>
                              <m:r>
                                <a:rPr lang="en-US" sz="2400" b="0" i="1" smtClean="0">
                                  <a:latin typeface="Cambria Math" panose="02040503050406030204" pitchFamily="18" charset="0"/>
                                </a:rPr>
                                <m:t>2</m:t>
                              </m:r>
                            </m:sup>
                          </m:sSup>
                        </m:den>
                      </m:f>
                    </m:oMath>
                  </m:oMathPara>
                </a14:m>
                <a:endParaRPr lang="en-US" sz="2400"/>
              </a:p>
            </p:txBody>
          </p:sp>
        </mc:Choice>
        <mc:Fallback>
          <p:sp>
            <p:nvSpPr>
              <p:cNvPr id="6" name="TextBox 5">
                <a:extLst>
                  <a:ext uri="{FF2B5EF4-FFF2-40B4-BE49-F238E27FC236}">
                    <a16:creationId xmlns:a16="http://schemas.microsoft.com/office/drawing/2014/main" id="{19EE2D22-0655-1146-3DAF-4C045DC43BC4}"/>
                  </a:ext>
                </a:extLst>
              </p:cNvPr>
              <p:cNvSpPr txBox="1">
                <a:spLocks noRot="1" noChangeAspect="1" noMove="1" noResize="1" noEditPoints="1" noAdjustHandles="1" noChangeArrowheads="1" noChangeShapeType="1" noTextEdit="1"/>
              </p:cNvSpPr>
              <p:nvPr/>
            </p:nvSpPr>
            <p:spPr>
              <a:xfrm>
                <a:off x="2884055" y="5304218"/>
                <a:ext cx="6146800" cy="7861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4DA90D12-2104-C567-F06B-0C886728BD49}"/>
                  </a:ext>
                </a:extLst>
              </p:cNvPr>
              <p:cNvSpPr txBox="1"/>
              <p:nvPr/>
            </p:nvSpPr>
            <p:spPr>
              <a:xfrm>
                <a:off x="6134100" y="3846767"/>
                <a:ext cx="2209800" cy="83343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𝜎</m:t>
                              </m:r>
                            </m:e>
                            <m:sup>
                              <m:r>
                                <a:rPr lang="en-US" sz="2400" b="0" i="1" smtClean="0">
                                  <a:latin typeface="Cambria Math" panose="02040503050406030204" pitchFamily="18" charset="0"/>
                                </a:rPr>
                                <m:t>2</m:t>
                              </m:r>
                            </m:sup>
                          </m:sSup>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𝑘</m:t>
                              </m:r>
                            </m:e>
                            <m:sup>
                              <m:r>
                                <a:rPr lang="en-US" sz="2400" b="0" i="1" smtClean="0">
                                  <a:latin typeface="Cambria Math" panose="02040503050406030204" pitchFamily="18" charset="0"/>
                                </a:rPr>
                                <m:t>2</m:t>
                              </m:r>
                            </m:sup>
                          </m:sSup>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𝜎</m:t>
                              </m:r>
                            </m:e>
                            <m:sup>
                              <m:r>
                                <a:rPr lang="en-US" sz="2400" b="0" i="1" smtClean="0">
                                  <a:latin typeface="Cambria Math" panose="02040503050406030204" pitchFamily="18" charset="0"/>
                                </a:rPr>
                                <m:t>2</m:t>
                              </m:r>
                            </m:sup>
                          </m:sSup>
                        </m:den>
                      </m:f>
                    </m:oMath>
                  </m:oMathPara>
                </a14:m>
                <a:endParaRPr lang="en-US" sz="2400"/>
              </a:p>
            </p:txBody>
          </p:sp>
        </mc:Choice>
        <mc:Fallback>
          <p:sp>
            <p:nvSpPr>
              <p:cNvPr id="7" name="TextBox 6">
                <a:extLst>
                  <a:ext uri="{FF2B5EF4-FFF2-40B4-BE49-F238E27FC236}">
                    <a16:creationId xmlns:a16="http://schemas.microsoft.com/office/drawing/2014/main" id="{4DA90D12-2104-C567-F06B-0C886728BD49}"/>
                  </a:ext>
                </a:extLst>
              </p:cNvPr>
              <p:cNvSpPr txBox="1">
                <a:spLocks noRot="1" noChangeAspect="1" noMove="1" noResize="1" noEditPoints="1" noAdjustHandles="1" noChangeArrowheads="1" noChangeShapeType="1" noTextEdit="1"/>
              </p:cNvSpPr>
              <p:nvPr/>
            </p:nvSpPr>
            <p:spPr>
              <a:xfrm>
                <a:off x="6134100" y="3846767"/>
                <a:ext cx="2209800" cy="83343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67944C47-1E6B-19F9-2E5D-E2BFBCB997AF}"/>
                  </a:ext>
                </a:extLst>
              </p:cNvPr>
              <p:cNvSpPr txBox="1"/>
              <p:nvPr/>
            </p:nvSpPr>
            <p:spPr>
              <a:xfrm>
                <a:off x="7581901" y="3883534"/>
                <a:ext cx="1104900" cy="7861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𝑘</m:t>
                              </m:r>
                            </m:e>
                            <m:sup>
                              <m:r>
                                <a:rPr lang="en-US" sz="2400" b="0" i="1" smtClean="0">
                                  <a:latin typeface="Cambria Math" panose="02040503050406030204" pitchFamily="18" charset="0"/>
                                </a:rPr>
                                <m:t>2</m:t>
                              </m:r>
                            </m:sup>
                          </m:sSup>
                        </m:den>
                      </m:f>
                    </m:oMath>
                  </m:oMathPara>
                </a14:m>
                <a:endParaRPr lang="en-US" sz="2400"/>
              </a:p>
            </p:txBody>
          </p:sp>
        </mc:Choice>
        <mc:Fallback>
          <p:sp>
            <p:nvSpPr>
              <p:cNvPr id="9" name="TextBox 8">
                <a:extLst>
                  <a:ext uri="{FF2B5EF4-FFF2-40B4-BE49-F238E27FC236}">
                    <a16:creationId xmlns:a16="http://schemas.microsoft.com/office/drawing/2014/main" id="{67944C47-1E6B-19F9-2E5D-E2BFBCB997AF}"/>
                  </a:ext>
                </a:extLst>
              </p:cNvPr>
              <p:cNvSpPr txBox="1">
                <a:spLocks noRot="1" noChangeAspect="1" noMove="1" noResize="1" noEditPoints="1" noAdjustHandles="1" noChangeArrowheads="1" noChangeShapeType="1" noTextEdit="1"/>
              </p:cNvSpPr>
              <p:nvPr/>
            </p:nvSpPr>
            <p:spPr>
              <a:xfrm>
                <a:off x="7581901" y="3883534"/>
                <a:ext cx="1104900" cy="786177"/>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21171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9" grpId="0"/>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D1F70F8-E3F6-F7B1-8911-35159A3BEA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B8ECB4-CE9A-32E7-8E4A-963A94547BA6}"/>
              </a:ext>
            </a:extLst>
          </p:cNvPr>
          <p:cNvSpPr>
            <a:spLocks noGrp="1"/>
          </p:cNvSpPr>
          <p:nvPr>
            <p:ph type="title"/>
          </p:nvPr>
        </p:nvSpPr>
        <p:spPr/>
        <p:txBody>
          <a:bodyPr/>
          <a:lstStyle/>
          <a:p>
            <a:r>
              <a:rPr lang="en-US"/>
              <a:t>Chebyshev’s Inequality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84BF248-87CE-DB6A-7364-08CDE036594E}"/>
                  </a:ext>
                </a:extLst>
              </p:cNvPr>
              <p:cNvSpPr>
                <a:spLocks noGrp="1"/>
              </p:cNvSpPr>
              <p:nvPr>
                <p:ph idx="1"/>
              </p:nvPr>
            </p:nvSpPr>
            <p:spPr/>
            <p:txBody>
              <a:bodyPr/>
              <a:lstStyle/>
              <a:p>
                <a:r>
                  <a:rPr lang="en-US"/>
                  <a:t>Define </a:t>
                </a:r>
                <a:r>
                  <a:rPr lang="en-US" b="1">
                    <a:solidFill>
                      <a:schemeClr val="accent3"/>
                    </a:solidFill>
                    <a:latin typeface="Inter" panose="02000503000000020004" pitchFamily="2" charset="0"/>
                    <a:ea typeface="Inter" panose="02000503000000020004" pitchFamily="2" charset="0"/>
                    <a:cs typeface="Inter" panose="02000503000000020004" pitchFamily="2" charset="0"/>
                  </a:rPr>
                  <a:t>Chebyshev’s Inequality</a:t>
                </a:r>
                <a:r>
                  <a:rPr lang="en-US"/>
                  <a:t> as follows. If </a:t>
                </a:r>
                <a14:m>
                  <m:oMath xmlns:m="http://schemas.openxmlformats.org/officeDocument/2006/math">
                    <m:r>
                      <a:rPr lang="en-US" b="0" i="1" smtClean="0">
                        <a:latin typeface="Cambria Math" panose="02040503050406030204" pitchFamily="18" charset="0"/>
                      </a:rPr>
                      <m:t>𝑋</m:t>
                    </m:r>
                  </m:oMath>
                </a14:m>
                <a:r>
                  <a:rPr lang="en-US"/>
                  <a:t> is a random variable with </a:t>
                </a:r>
                <a14:m>
                  <m:oMath xmlns:m="http://schemas.openxmlformats.org/officeDocument/2006/math">
                    <m:r>
                      <a:rPr lang="en-US" i="1">
                        <a:latin typeface="Cambria Math" panose="02040503050406030204" pitchFamily="18" charset="0"/>
                      </a:rPr>
                      <m:t>𝔼</m:t>
                    </m:r>
                    <m:d>
                      <m:dPr>
                        <m:begChr m:val="["/>
                        <m:endChr m:val="]"/>
                        <m:ctrlPr>
                          <a:rPr lang="en-US" i="1">
                            <a:latin typeface="Cambria Math" panose="02040503050406030204" pitchFamily="18" charset="0"/>
                          </a:rPr>
                        </m:ctrlPr>
                      </m:dPr>
                      <m:e>
                        <m:r>
                          <a:rPr lang="en-US" i="1">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𝜇</m:t>
                    </m:r>
                  </m:oMath>
                </a14:m>
                <a:r>
                  <a:rPr lang="en-US"/>
                  <a:t>, then for any constant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r>
                      <a:rPr lang="en-US" b="0" i="0" smtClean="0">
                        <a:latin typeface="Cambria Math" panose="02040503050406030204" pitchFamily="18" charset="0"/>
                      </a:rPr>
                      <m:t>:</m:t>
                    </m:r>
                  </m:oMath>
                </a14:m>
                <a:endParaRPr lang="en-US"/>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𝜇</m:t>
                              </m:r>
                            </m:e>
                          </m:d>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 </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var</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oMath>
                  </m:oMathPara>
                </a14:m>
                <a:endParaRPr lang="en-US"/>
              </a:p>
              <a:p>
                <a:r>
                  <a:rPr lang="en-US"/>
                  <a:t>Or equivalently:</a:t>
                </a:r>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r>
                                <a:rPr lang="en-US" sz="2400" b="0" i="1" smtClean="0">
                                  <a:latin typeface="Cambria Math" panose="02040503050406030204" pitchFamily="18" charset="0"/>
                                </a:rPr>
                                <m:t>𝜇</m:t>
                              </m:r>
                            </m:e>
                          </m:d>
                          <m:r>
                            <a:rPr lang="en-US" sz="2400" b="0" i="1" smtClean="0">
                              <a:latin typeface="Cambria Math" panose="02040503050406030204" pitchFamily="18" charset="0"/>
                            </a:rPr>
                            <m:t>≥</m:t>
                          </m:r>
                          <m:r>
                            <a:rPr lang="en-US" sz="2400" b="0" i="1" smtClean="0">
                              <a:latin typeface="Cambria Math" panose="02040503050406030204" pitchFamily="18" charset="0"/>
                            </a:rPr>
                            <m:t>𝑘</m:t>
                          </m:r>
                          <m:r>
                            <a:rPr lang="en-US" sz="2400" b="0" i="1" smtClean="0">
                              <a:latin typeface="Cambria Math" panose="02040503050406030204" pitchFamily="18" charset="0"/>
                            </a:rPr>
                            <m:t>𝜎</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𝑘</m:t>
                              </m:r>
                            </m:e>
                            <m:sup>
                              <m:r>
                                <a:rPr lang="en-US" sz="2400" b="0" i="1" smtClean="0">
                                  <a:latin typeface="Cambria Math" panose="02040503050406030204" pitchFamily="18" charset="0"/>
                                </a:rPr>
                                <m:t>2</m:t>
                              </m:r>
                            </m:sup>
                          </m:sSup>
                        </m:den>
                      </m:f>
                    </m:oMath>
                  </m:oMathPara>
                </a14:m>
                <a:endParaRPr lang="en-US" sz="2400"/>
              </a:p>
              <a:p>
                <a:endParaRPr lang="en-US"/>
              </a:p>
              <a:p>
                <a:r>
                  <a:rPr lang="en-US"/>
                  <a:t>Suppose we have a random variable, what bound can we place on the probability that we are more than three standard deviations from the mean? More than one standard deviation from the mean?</a:t>
                </a:r>
              </a:p>
              <a:p>
                <a:pPr marL="342900" indent="-342900">
                  <a:buFont typeface="Arial" panose="020B0604020202020204" pitchFamily="34" charset="0"/>
                  <a:buChar char="•"/>
                </a:pPr>
                <a:r>
                  <a:rPr lang="en-US" err="1"/>
                  <a:t>joshh.ug</a:t>
                </a:r>
                <a:r>
                  <a:rPr lang="en-US"/>
                  <a:t>/G</a:t>
                </a:r>
              </a:p>
            </p:txBody>
          </p:sp>
        </mc:Choice>
        <mc:Fallback>
          <p:sp>
            <p:nvSpPr>
              <p:cNvPr id="3" name="Content Placeholder 2">
                <a:extLst>
                  <a:ext uri="{FF2B5EF4-FFF2-40B4-BE49-F238E27FC236}">
                    <a16:creationId xmlns:a16="http://schemas.microsoft.com/office/drawing/2014/main" id="{684BF248-87CE-DB6A-7364-08CDE036594E}"/>
                  </a:ext>
                </a:extLst>
              </p:cNvPr>
              <p:cNvSpPr>
                <a:spLocks noGrp="1" noRot="1" noChangeAspect="1" noMove="1" noResize="1" noEditPoints="1" noAdjustHandles="1" noChangeArrowheads="1" noChangeShapeType="1" noTextEdit="1"/>
              </p:cNvSpPr>
              <p:nvPr>
                <p:ph idx="1"/>
              </p:nvPr>
            </p:nvSpPr>
            <p:spPr>
              <a:blipFill>
                <a:blip r:embed="rId2"/>
                <a:stretch>
                  <a:fillRect l="-796" t="-541" r="-743"/>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C5A122EF-2C59-6EC7-467A-7C2A686179D4}"/>
              </a:ext>
            </a:extLst>
          </p:cNvPr>
          <p:cNvPicPr>
            <a:picLocks noChangeAspect="1"/>
          </p:cNvPicPr>
          <p:nvPr/>
        </p:nvPicPr>
        <p:blipFill>
          <a:blip r:embed="rId3"/>
          <a:stretch>
            <a:fillRect/>
          </a:stretch>
        </p:blipFill>
        <p:spPr>
          <a:xfrm>
            <a:off x="10343212" y="5025717"/>
            <a:ext cx="1848787" cy="1832280"/>
          </a:xfrm>
          <a:prstGeom prst="rect">
            <a:avLst/>
          </a:prstGeom>
        </p:spPr>
      </p:pic>
    </p:spTree>
    <p:extLst>
      <p:ext uri="{BB962C8B-B14F-4D97-AF65-F5344CB8AC3E}">
        <p14:creationId xmlns:p14="http://schemas.microsoft.com/office/powerpoint/2010/main" val="7569816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368B9-F5D0-BEE0-9722-F8144FE41C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7CDBBD-2300-EBA5-B9C9-C94F6E72831A}"/>
              </a:ext>
            </a:extLst>
          </p:cNvPr>
          <p:cNvSpPr>
            <a:spLocks noGrp="1"/>
          </p:cNvSpPr>
          <p:nvPr>
            <p:ph type="title"/>
          </p:nvPr>
        </p:nvSpPr>
        <p:spPr/>
        <p:txBody>
          <a:bodyPr/>
          <a:lstStyle/>
          <a:p>
            <a:r>
              <a:rPr lang="en-US"/>
              <a:t>Chebyshev’s Inequality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3C121F4-F928-8C89-D27D-A8CACB02A66D}"/>
                  </a:ext>
                </a:extLst>
              </p:cNvPr>
              <p:cNvSpPr>
                <a:spLocks noGrp="1"/>
              </p:cNvSpPr>
              <p:nvPr>
                <p:ph idx="1"/>
              </p:nvPr>
            </p:nvSpPr>
            <p:spPr/>
            <p:txBody>
              <a:bodyPr/>
              <a:lstStyle/>
              <a:p>
                <a:r>
                  <a:rPr lang="en-US"/>
                  <a:t>Define </a:t>
                </a:r>
                <a:r>
                  <a:rPr lang="en-US" b="1">
                    <a:solidFill>
                      <a:schemeClr val="accent3"/>
                    </a:solidFill>
                    <a:latin typeface="Inter" panose="02000503000000020004" pitchFamily="2" charset="0"/>
                    <a:ea typeface="Inter" panose="02000503000000020004" pitchFamily="2" charset="0"/>
                    <a:cs typeface="Inter" panose="02000503000000020004" pitchFamily="2" charset="0"/>
                  </a:rPr>
                  <a:t>Chebyshev’s Inequality</a:t>
                </a:r>
                <a:r>
                  <a:rPr lang="en-US"/>
                  <a:t> as follows. If </a:t>
                </a:r>
                <a14:m>
                  <m:oMath xmlns:m="http://schemas.openxmlformats.org/officeDocument/2006/math">
                    <m:r>
                      <a:rPr lang="en-US" b="0" i="1" smtClean="0">
                        <a:latin typeface="Cambria Math" panose="02040503050406030204" pitchFamily="18" charset="0"/>
                      </a:rPr>
                      <m:t>𝑋</m:t>
                    </m:r>
                  </m:oMath>
                </a14:m>
                <a:r>
                  <a:rPr lang="en-US"/>
                  <a:t> is a random variable with </a:t>
                </a:r>
                <a14:m>
                  <m:oMath xmlns:m="http://schemas.openxmlformats.org/officeDocument/2006/math">
                    <m:r>
                      <a:rPr lang="en-US" i="1">
                        <a:latin typeface="Cambria Math" panose="02040503050406030204" pitchFamily="18" charset="0"/>
                      </a:rPr>
                      <m:t>𝔼</m:t>
                    </m:r>
                    <m:d>
                      <m:dPr>
                        <m:begChr m:val="["/>
                        <m:endChr m:val="]"/>
                        <m:ctrlPr>
                          <a:rPr lang="en-US" i="1">
                            <a:latin typeface="Cambria Math" panose="02040503050406030204" pitchFamily="18" charset="0"/>
                          </a:rPr>
                        </m:ctrlPr>
                      </m:dPr>
                      <m:e>
                        <m:r>
                          <a:rPr lang="en-US" i="1">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𝜇</m:t>
                    </m:r>
                  </m:oMath>
                </a14:m>
                <a:r>
                  <a:rPr lang="en-US"/>
                  <a:t>, then for any constant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r>
                      <a:rPr lang="en-US" b="0" i="0" smtClean="0">
                        <a:latin typeface="Cambria Math" panose="02040503050406030204" pitchFamily="18" charset="0"/>
                      </a:rPr>
                      <m:t>:</m:t>
                    </m:r>
                  </m:oMath>
                </a14:m>
                <a:endParaRPr lang="en-US"/>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𝜇</m:t>
                              </m:r>
                            </m:e>
                          </m:d>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 </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var</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oMath>
                  </m:oMathPara>
                </a14:m>
                <a:endParaRPr lang="en-US"/>
              </a:p>
              <a:p>
                <a:r>
                  <a:rPr lang="en-US"/>
                  <a:t>Or equivalently:</a:t>
                </a:r>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r>
                                <a:rPr lang="en-US" sz="2400" b="0" i="1" smtClean="0">
                                  <a:latin typeface="Cambria Math" panose="02040503050406030204" pitchFamily="18" charset="0"/>
                                </a:rPr>
                                <m:t>𝜇</m:t>
                              </m:r>
                            </m:e>
                          </m:d>
                          <m:r>
                            <a:rPr lang="en-US" sz="2400" b="0" i="1" smtClean="0">
                              <a:latin typeface="Cambria Math" panose="02040503050406030204" pitchFamily="18" charset="0"/>
                            </a:rPr>
                            <m:t>≥</m:t>
                          </m:r>
                          <m:r>
                            <a:rPr lang="en-US" sz="2400" b="0" i="1" smtClean="0">
                              <a:latin typeface="Cambria Math" panose="02040503050406030204" pitchFamily="18" charset="0"/>
                            </a:rPr>
                            <m:t>𝑘</m:t>
                          </m:r>
                          <m:r>
                            <a:rPr lang="en-US" sz="2400" b="0" i="1" smtClean="0">
                              <a:latin typeface="Cambria Math" panose="02040503050406030204" pitchFamily="18" charset="0"/>
                            </a:rPr>
                            <m:t>𝜎</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𝑘</m:t>
                              </m:r>
                            </m:e>
                            <m:sup>
                              <m:r>
                                <a:rPr lang="en-US" sz="2400" b="0" i="1" smtClean="0">
                                  <a:latin typeface="Cambria Math" panose="02040503050406030204" pitchFamily="18" charset="0"/>
                                </a:rPr>
                                <m:t>2</m:t>
                              </m:r>
                            </m:sup>
                          </m:sSup>
                        </m:den>
                      </m:f>
                    </m:oMath>
                  </m:oMathPara>
                </a14:m>
                <a:endParaRPr lang="en-US" sz="2400"/>
              </a:p>
              <a:p>
                <a:endParaRPr lang="en-US"/>
              </a:p>
              <a:p>
                <a:r>
                  <a:rPr lang="en-US"/>
                  <a:t>Suppose we have a random variable, what bound can we place on the probability that we are more three and one standard deviations?</a:t>
                </a:r>
              </a:p>
              <a:p>
                <a:pPr marL="342900" indent="-342900">
                  <a:buFont typeface="Arial" panose="020B0604020202020204" pitchFamily="34" charset="0"/>
                  <a:buChar char="•"/>
                </a:pPr>
                <a:r>
                  <a:rPr lang="en-US"/>
                  <a:t>The chances are </a:t>
                </a:r>
                <a14:m>
                  <m:oMath xmlns:m="http://schemas.openxmlformats.org/officeDocument/2006/math">
                    <m:r>
                      <a:rPr lang="en-US" b="0" i="1" smtClean="0">
                        <a:latin typeface="Cambria Math" panose="02040503050406030204" pitchFamily="18" charset="0"/>
                      </a:rPr>
                      <m:t>≤</m:t>
                    </m:r>
                  </m:oMath>
                </a14:m>
                <a:r>
                  <a:rPr lang="en-US"/>
                  <a:t> 11.11% and 100%, respectively.</a:t>
                </a:r>
              </a:p>
              <a:p>
                <a:pPr marL="342900" indent="-342900">
                  <a:buFont typeface="Arial" panose="020B0604020202020204" pitchFamily="34" charset="0"/>
                  <a:buChar char="•"/>
                </a:pPr>
                <a:r>
                  <a:rPr lang="en-US"/>
                  <a:t>Note, for one standard deviation, the result is trivial, i.e. Chebyshev’s tells us literally nothing. In general Chebyshev’s is a loose bound.</a:t>
                </a:r>
              </a:p>
              <a:p>
                <a:pPr marL="342900" indent="-342900">
                  <a:buFont typeface="Arial" panose="020B0604020202020204" pitchFamily="34" charset="0"/>
                  <a:buChar char="•"/>
                </a:pPr>
                <a:endParaRPr lang="en-US"/>
              </a:p>
            </p:txBody>
          </p:sp>
        </mc:Choice>
        <mc:Fallback>
          <p:sp>
            <p:nvSpPr>
              <p:cNvPr id="3" name="Content Placeholder 2">
                <a:extLst>
                  <a:ext uri="{FF2B5EF4-FFF2-40B4-BE49-F238E27FC236}">
                    <a16:creationId xmlns:a16="http://schemas.microsoft.com/office/drawing/2014/main" id="{B3C121F4-F928-8C89-D27D-A8CACB02A66D}"/>
                  </a:ext>
                </a:extLst>
              </p:cNvPr>
              <p:cNvSpPr>
                <a:spLocks noGrp="1" noRot="1" noChangeAspect="1" noMove="1" noResize="1" noEditPoints="1" noAdjustHandles="1" noChangeArrowheads="1" noChangeShapeType="1" noTextEdit="1"/>
              </p:cNvSpPr>
              <p:nvPr>
                <p:ph idx="1"/>
              </p:nvPr>
            </p:nvSpPr>
            <p:spPr>
              <a:blipFill>
                <a:blip r:embed="rId2"/>
                <a:stretch>
                  <a:fillRect l="-796" t="-541" r="-743" b="-6494"/>
                </a:stretch>
              </a:blipFill>
            </p:spPr>
            <p:txBody>
              <a:bodyPr/>
              <a:lstStyle/>
              <a:p>
                <a:r>
                  <a:rPr lang="en-US">
                    <a:noFill/>
                  </a:rPr>
                  <a:t> </a:t>
                </a:r>
              </a:p>
            </p:txBody>
          </p:sp>
        </mc:Fallback>
      </mc:AlternateContent>
    </p:spTree>
    <p:extLst>
      <p:ext uri="{BB962C8B-B14F-4D97-AF65-F5344CB8AC3E}">
        <p14:creationId xmlns:p14="http://schemas.microsoft.com/office/powerpoint/2010/main" val="33087191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A2880-8C4C-2FE6-466A-365FE4BD37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3F09B4-CB6A-7983-5A5A-0648775E65F9}"/>
              </a:ext>
            </a:extLst>
          </p:cNvPr>
          <p:cNvSpPr>
            <a:spLocks noGrp="1"/>
          </p:cNvSpPr>
          <p:nvPr>
            <p:ph type="title"/>
          </p:nvPr>
        </p:nvSpPr>
        <p:spPr/>
        <p:txBody>
          <a:bodyPr/>
          <a:lstStyle/>
          <a:p>
            <a:r>
              <a:rPr lang="en-US"/>
              <a:t>Chebyshev’s Inequality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5F14D11-2CE4-5EBA-B741-6D21E4743378}"/>
                  </a:ext>
                </a:extLst>
              </p:cNvPr>
              <p:cNvSpPr>
                <a:spLocks noGrp="1"/>
              </p:cNvSpPr>
              <p:nvPr>
                <p:ph idx="1"/>
              </p:nvPr>
            </p:nvSpPr>
            <p:spPr/>
            <p:txBody>
              <a:bodyPr/>
              <a:lstStyle/>
              <a:p>
                <a:r>
                  <a:rPr lang="en-US"/>
                  <a:t>Define </a:t>
                </a:r>
                <a:r>
                  <a:rPr lang="en-US" b="1">
                    <a:solidFill>
                      <a:schemeClr val="accent3"/>
                    </a:solidFill>
                    <a:latin typeface="Inter" panose="02000503000000020004" pitchFamily="2" charset="0"/>
                    <a:ea typeface="Inter" panose="02000503000000020004" pitchFamily="2" charset="0"/>
                    <a:cs typeface="Inter" panose="02000503000000020004" pitchFamily="2" charset="0"/>
                  </a:rPr>
                  <a:t>Chebyshev’s Inequality</a:t>
                </a:r>
                <a:r>
                  <a:rPr lang="en-US"/>
                  <a:t> as follows. If </a:t>
                </a:r>
                <a14:m>
                  <m:oMath xmlns:m="http://schemas.openxmlformats.org/officeDocument/2006/math">
                    <m:r>
                      <a:rPr lang="en-US" b="0" i="1" smtClean="0">
                        <a:latin typeface="Cambria Math" panose="02040503050406030204" pitchFamily="18" charset="0"/>
                      </a:rPr>
                      <m:t>𝑋</m:t>
                    </m:r>
                  </m:oMath>
                </a14:m>
                <a:r>
                  <a:rPr lang="en-US"/>
                  <a:t> is a random variable with </a:t>
                </a:r>
                <a14:m>
                  <m:oMath xmlns:m="http://schemas.openxmlformats.org/officeDocument/2006/math">
                    <m:r>
                      <a:rPr lang="en-US" i="1">
                        <a:latin typeface="Cambria Math" panose="02040503050406030204" pitchFamily="18" charset="0"/>
                      </a:rPr>
                      <m:t>𝔼</m:t>
                    </m:r>
                    <m:d>
                      <m:dPr>
                        <m:begChr m:val="["/>
                        <m:endChr m:val="]"/>
                        <m:ctrlPr>
                          <a:rPr lang="en-US" i="1">
                            <a:latin typeface="Cambria Math" panose="02040503050406030204" pitchFamily="18" charset="0"/>
                          </a:rPr>
                        </m:ctrlPr>
                      </m:dPr>
                      <m:e>
                        <m:r>
                          <a:rPr lang="en-US" i="1">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𝜇</m:t>
                    </m:r>
                  </m:oMath>
                </a14:m>
                <a:r>
                  <a:rPr lang="en-US"/>
                  <a:t>, then for any constant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r>
                      <a:rPr lang="en-US" b="0" i="0" smtClean="0">
                        <a:latin typeface="Cambria Math" panose="02040503050406030204" pitchFamily="18" charset="0"/>
                      </a:rPr>
                      <m:t>:</m:t>
                    </m:r>
                  </m:oMath>
                </a14:m>
                <a:endParaRPr lang="en-US"/>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𝜇</m:t>
                              </m:r>
                            </m:e>
                          </m:d>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 </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var</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oMath>
                  </m:oMathPara>
                </a14:m>
                <a:endParaRPr lang="en-US"/>
              </a:p>
              <a:p>
                <a:r>
                  <a:rPr lang="en-US"/>
                  <a:t>Or equivalently:</a:t>
                </a:r>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r>
                                <a:rPr lang="en-US" sz="2400" b="0" i="1" smtClean="0">
                                  <a:latin typeface="Cambria Math" panose="02040503050406030204" pitchFamily="18" charset="0"/>
                                </a:rPr>
                                <m:t>𝜇</m:t>
                              </m:r>
                            </m:e>
                          </m:d>
                          <m:r>
                            <a:rPr lang="en-US" sz="2400" b="0" i="1" smtClean="0">
                              <a:latin typeface="Cambria Math" panose="02040503050406030204" pitchFamily="18" charset="0"/>
                            </a:rPr>
                            <m:t>≥</m:t>
                          </m:r>
                          <m:r>
                            <a:rPr lang="en-US" sz="2400" b="0" i="1" smtClean="0">
                              <a:latin typeface="Cambria Math" panose="02040503050406030204" pitchFamily="18" charset="0"/>
                            </a:rPr>
                            <m:t>𝑘</m:t>
                          </m:r>
                          <m:r>
                            <a:rPr lang="en-US" sz="2400" b="0" i="1" smtClean="0">
                              <a:latin typeface="Cambria Math" panose="02040503050406030204" pitchFamily="18" charset="0"/>
                            </a:rPr>
                            <m:t>𝜎</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𝑘</m:t>
                              </m:r>
                            </m:e>
                            <m:sup>
                              <m:r>
                                <a:rPr lang="en-US" sz="2400" b="0" i="1" smtClean="0">
                                  <a:latin typeface="Cambria Math" panose="02040503050406030204" pitchFamily="18" charset="0"/>
                                </a:rPr>
                                <m:t>2</m:t>
                              </m:r>
                            </m:sup>
                          </m:sSup>
                        </m:den>
                      </m:f>
                    </m:oMath>
                  </m:oMathPara>
                </a14:m>
                <a:endParaRPr lang="en-US" sz="2400"/>
              </a:p>
              <a:p>
                <a:endParaRPr lang="en-US"/>
              </a:p>
              <a:p>
                <a:r>
                  <a:rPr lang="en-US"/>
                  <a:t>Chebyshev’s inequality is true of </a:t>
                </a:r>
                <a:r>
                  <a:rPr lang="en-US" b="1"/>
                  <a:t>ANY POSSIBLE RANDOM VARIABLE </a:t>
                </a:r>
                <a:r>
                  <a:rPr lang="en-US"/>
                  <a:t>(with finite variance)</a:t>
                </a:r>
                <a:r>
                  <a:rPr lang="en-US" b="1"/>
                  <a:t>.</a:t>
                </a:r>
                <a:endParaRPr lang="en-US"/>
              </a:p>
              <a:p>
                <a:pPr marL="342900" indent="-342900">
                  <a:buFont typeface="Arial" panose="020B0604020202020204" pitchFamily="34" charset="0"/>
                  <a:buChar char="•"/>
                </a:pPr>
                <a:r>
                  <a:rPr lang="en-US"/>
                  <a:t>That is, the probability of being more than 3 standard deviations from the mean is less than 11.11% for any distribution (with finite variance)!</a:t>
                </a:r>
              </a:p>
              <a:p>
                <a:pPr marL="342900" indent="-342900">
                  <a:buFont typeface="Arial" panose="020B0604020202020204" pitchFamily="34" charset="0"/>
                  <a:buChar char="•"/>
                </a:pPr>
                <a:r>
                  <a:rPr lang="en-US"/>
                  <a:t>Example implication: It is literally logically impossible for 12% of a class to score 3 standard deviations from the mean, no matter what!</a:t>
                </a:r>
              </a:p>
              <a:p>
                <a:pPr marL="342900" indent="-342900">
                  <a:buFont typeface="Arial" panose="020B0604020202020204" pitchFamily="34" charset="0"/>
                  <a:buChar char="•"/>
                </a:pPr>
                <a:endParaRPr lang="en-US"/>
              </a:p>
            </p:txBody>
          </p:sp>
        </mc:Choice>
        <mc:Fallback>
          <p:sp>
            <p:nvSpPr>
              <p:cNvPr id="3" name="Content Placeholder 2">
                <a:extLst>
                  <a:ext uri="{FF2B5EF4-FFF2-40B4-BE49-F238E27FC236}">
                    <a16:creationId xmlns:a16="http://schemas.microsoft.com/office/drawing/2014/main" id="{65F14D11-2CE4-5EBA-B741-6D21E4743378}"/>
                  </a:ext>
                </a:extLst>
              </p:cNvPr>
              <p:cNvSpPr>
                <a:spLocks noGrp="1" noRot="1" noChangeAspect="1" noMove="1" noResize="1" noEditPoints="1" noAdjustHandles="1" noChangeArrowheads="1" noChangeShapeType="1" noTextEdit="1"/>
              </p:cNvSpPr>
              <p:nvPr>
                <p:ph idx="1"/>
              </p:nvPr>
            </p:nvSpPr>
            <p:spPr>
              <a:blipFill>
                <a:blip r:embed="rId2"/>
                <a:stretch>
                  <a:fillRect l="-796" t="-541" r="-743" b="-6494"/>
                </a:stretch>
              </a:blipFill>
            </p:spPr>
            <p:txBody>
              <a:bodyPr/>
              <a:lstStyle/>
              <a:p>
                <a:r>
                  <a:rPr lang="en-US">
                    <a:noFill/>
                  </a:rPr>
                  <a:t> </a:t>
                </a:r>
              </a:p>
            </p:txBody>
          </p:sp>
        </mc:Fallback>
      </mc:AlternateContent>
    </p:spTree>
    <p:extLst>
      <p:ext uri="{BB962C8B-B14F-4D97-AF65-F5344CB8AC3E}">
        <p14:creationId xmlns:p14="http://schemas.microsoft.com/office/powerpoint/2010/main" val="25455305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EFFE6-667F-9D11-D131-A54073D9F6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11BD21-2BD9-425B-07DC-6E7337783FFB}"/>
              </a:ext>
            </a:extLst>
          </p:cNvPr>
          <p:cNvSpPr>
            <a:spLocks noGrp="1"/>
          </p:cNvSpPr>
          <p:nvPr>
            <p:ph type="title"/>
          </p:nvPr>
        </p:nvSpPr>
        <p:spPr/>
        <p:txBody>
          <a:bodyPr/>
          <a:lstStyle/>
          <a:p>
            <a:r>
              <a:rPr lang="en-US"/>
              <a:t>Chebyshev’s is Still a Loose Bound: Normal Distribution Example</a:t>
            </a:r>
          </a:p>
        </p:txBody>
      </p:sp>
      <p:sp>
        <p:nvSpPr>
          <p:cNvPr id="3" name="Content Placeholder 2">
            <a:extLst>
              <a:ext uri="{FF2B5EF4-FFF2-40B4-BE49-F238E27FC236}">
                <a16:creationId xmlns:a16="http://schemas.microsoft.com/office/drawing/2014/main" id="{11043BD3-5662-BBB4-A5E9-593D17B3B10D}"/>
              </a:ext>
            </a:extLst>
          </p:cNvPr>
          <p:cNvSpPr>
            <a:spLocks noGrp="1"/>
          </p:cNvSpPr>
          <p:nvPr>
            <p:ph idx="1"/>
          </p:nvPr>
        </p:nvSpPr>
        <p:spPr/>
        <p:txBody>
          <a:bodyPr/>
          <a:lstStyle/>
          <a:p>
            <a:r>
              <a:rPr lang="en-US" sz="2400"/>
              <a:t>There’s a distribution we’ll talk about next week called the normal distribution.</a:t>
            </a:r>
          </a:p>
          <a:p>
            <a:pPr marL="342900" indent="-342900">
              <a:buFont typeface="Arial" panose="020B0604020202020204" pitchFamily="34" charset="0"/>
              <a:buChar char="•"/>
            </a:pPr>
            <a:r>
              <a:rPr lang="en-US"/>
              <a:t>Probability that you are less than 3 standard deviations from the mean is 99.7%.</a:t>
            </a:r>
          </a:p>
          <a:p>
            <a:pPr marL="342900" indent="-342900">
              <a:buFont typeface="Arial" panose="020B0604020202020204" pitchFamily="34" charset="0"/>
              <a:buChar char="•"/>
            </a:pPr>
            <a:r>
              <a:rPr lang="en-US" sz="2400"/>
              <a:t>Or equivalently: P</a:t>
            </a:r>
            <a:r>
              <a:rPr lang="en-US"/>
              <a:t>robability that are you are more than 3 standard deviations from the mean is 0.3%.</a:t>
            </a:r>
          </a:p>
          <a:p>
            <a:endParaRPr lang="en-US"/>
          </a:p>
          <a:p>
            <a:r>
              <a:rPr lang="en-US"/>
              <a:t>Chebyshev’s is considerably looser. It says the probability of being more than 3 standard deviations from the mean is 11.1%</a:t>
            </a:r>
          </a:p>
          <a:p>
            <a:endParaRPr lang="en-US"/>
          </a:p>
          <a:p>
            <a:r>
              <a:rPr lang="en-US"/>
              <a:t>Key difference: Chebyshev is true of all possible distributions. The 99.7% rule is only for the Normal.</a:t>
            </a:r>
          </a:p>
        </p:txBody>
      </p:sp>
    </p:spTree>
    <p:extLst>
      <p:ext uri="{BB962C8B-B14F-4D97-AF65-F5344CB8AC3E}">
        <p14:creationId xmlns:p14="http://schemas.microsoft.com/office/powerpoint/2010/main" val="2806942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B19A0-ED39-82DC-DDE6-652467003490}"/>
              </a:ext>
            </a:extLst>
          </p:cNvPr>
          <p:cNvSpPr>
            <a:spLocks noGrp="1"/>
          </p:cNvSpPr>
          <p:nvPr>
            <p:ph type="title"/>
          </p:nvPr>
        </p:nvSpPr>
        <p:spPr/>
        <p:txBody>
          <a:bodyPr/>
          <a:lstStyle/>
          <a:p>
            <a:r>
              <a:rPr lang="en-US"/>
              <a:t>Chebyshev Proof</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8737761-933A-92A4-F0EA-9CCB87EBC591}"/>
                  </a:ext>
                </a:extLst>
              </p:cNvPr>
              <p:cNvSpPr>
                <a:spLocks noGrp="1"/>
              </p:cNvSpPr>
              <p:nvPr>
                <p:ph idx="1"/>
              </p:nvPr>
            </p:nvSpPr>
            <p:spPr>
              <a:xfrm>
                <a:off x="93657" y="533400"/>
                <a:ext cx="11488745" cy="3031836"/>
              </a:xfrm>
            </p:spPr>
            <p:txBody>
              <a:bodyPr/>
              <a:lstStyle/>
              <a:p>
                <a:r>
                  <a:rPr lang="en-US"/>
                  <a:t>Define </a:t>
                </a:r>
                <a:r>
                  <a:rPr lang="en-US" b="1">
                    <a:solidFill>
                      <a:schemeClr val="accent3"/>
                    </a:solidFill>
                    <a:latin typeface="Inter" panose="02000503000000020004" pitchFamily="2" charset="0"/>
                    <a:ea typeface="Inter" panose="02000503000000020004" pitchFamily="2" charset="0"/>
                    <a:cs typeface="Inter" panose="02000503000000020004" pitchFamily="2" charset="0"/>
                  </a:rPr>
                  <a:t>Chebyshev’s Inequality</a:t>
                </a:r>
                <a:r>
                  <a:rPr lang="en-US"/>
                  <a:t> as follows. If </a:t>
                </a:r>
                <a14:m>
                  <m:oMath xmlns:m="http://schemas.openxmlformats.org/officeDocument/2006/math">
                    <m:r>
                      <a:rPr lang="en-US" b="0" i="1" smtClean="0">
                        <a:latin typeface="Cambria Math" panose="02040503050406030204" pitchFamily="18" charset="0"/>
                      </a:rPr>
                      <m:t>𝑋</m:t>
                    </m:r>
                  </m:oMath>
                </a14:m>
                <a:r>
                  <a:rPr lang="en-US"/>
                  <a:t> is a random variable with </a:t>
                </a:r>
                <a14:m>
                  <m:oMath xmlns:m="http://schemas.openxmlformats.org/officeDocument/2006/math">
                    <m:r>
                      <a:rPr lang="en-US" i="1">
                        <a:latin typeface="Cambria Math" panose="02040503050406030204" pitchFamily="18" charset="0"/>
                      </a:rPr>
                      <m:t>𝔼</m:t>
                    </m:r>
                    <m:d>
                      <m:dPr>
                        <m:begChr m:val="["/>
                        <m:endChr m:val="]"/>
                        <m:ctrlPr>
                          <a:rPr lang="en-US" i="1">
                            <a:latin typeface="Cambria Math" panose="02040503050406030204" pitchFamily="18" charset="0"/>
                          </a:rPr>
                        </m:ctrlPr>
                      </m:dPr>
                      <m:e>
                        <m:r>
                          <a:rPr lang="en-US" i="1">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𝜇</m:t>
                    </m:r>
                  </m:oMath>
                </a14:m>
                <a:r>
                  <a:rPr lang="en-US"/>
                  <a:t>, then for any constant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r>
                      <a:rPr lang="en-US" b="0" i="0" smtClean="0">
                        <a:latin typeface="Cambria Math" panose="02040503050406030204" pitchFamily="18" charset="0"/>
                      </a:rPr>
                      <m:t>:</m:t>
                    </m:r>
                  </m:oMath>
                </a14:m>
                <a:endParaRPr lang="en-US"/>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𝜇</m:t>
                              </m:r>
                            </m:e>
                          </m:d>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 </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var</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oMath>
                  </m:oMathPara>
                </a14:m>
                <a:endParaRPr lang="en-US"/>
              </a:p>
              <a:p>
                <a:r>
                  <a:rPr lang="en-US"/>
                  <a:t>Dead End Proof: Observe that </a:t>
                </a:r>
                <a14:m>
                  <m:oMath xmlns:m="http://schemas.openxmlformats.org/officeDocument/2006/math">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r>
                          <a:rPr lang="en-US" sz="2400" b="0" i="1" smtClean="0">
                            <a:latin typeface="Cambria Math" panose="02040503050406030204" pitchFamily="18" charset="0"/>
                          </a:rPr>
                          <m:t>𝜇</m:t>
                        </m:r>
                      </m:e>
                    </m:d>
                  </m:oMath>
                </a14:m>
                <a:r>
                  <a:rPr lang="en-US"/>
                  <a:t> is a random variable. </a:t>
                </a:r>
              </a:p>
              <a:p>
                <a:pPr marL="342900" indent="-342900">
                  <a:buFont typeface="Arial" panose="020B0604020202020204" pitchFamily="34" charset="0"/>
                  <a:buChar char="•"/>
                </a:pPr>
                <a:r>
                  <a:rPr lang="en-US"/>
                  <a:t>Since </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𝜇</m:t>
                        </m:r>
                      </m:e>
                    </m:d>
                  </m:oMath>
                </a14:m>
                <a:r>
                  <a:rPr lang="en-US"/>
                  <a:t> is non-negative, we could try to use Markov’s inequality to try to bound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𝜇</m:t>
                            </m:r>
                          </m:e>
                        </m:d>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 </m:t>
                        </m:r>
                      </m:e>
                    </m:d>
                  </m:oMath>
                </a14:m>
                <a:r>
                  <a:rPr lang="en-US"/>
                  <a:t>, but expectation of an absolute value is a pain.</a:t>
                </a:r>
              </a:p>
            </p:txBody>
          </p:sp>
        </mc:Choice>
        <mc:Fallback>
          <p:sp>
            <p:nvSpPr>
              <p:cNvPr id="3" name="Content Placeholder 2">
                <a:extLst>
                  <a:ext uri="{FF2B5EF4-FFF2-40B4-BE49-F238E27FC236}">
                    <a16:creationId xmlns:a16="http://schemas.microsoft.com/office/drawing/2014/main" id="{68737761-933A-92A4-F0EA-9CCB87EBC591}"/>
                  </a:ext>
                </a:extLst>
              </p:cNvPr>
              <p:cNvSpPr>
                <a:spLocks noGrp="1" noRot="1" noChangeAspect="1" noMove="1" noResize="1" noEditPoints="1" noAdjustHandles="1" noChangeArrowheads="1" noChangeShapeType="1" noTextEdit="1"/>
              </p:cNvSpPr>
              <p:nvPr>
                <p:ph idx="1"/>
              </p:nvPr>
            </p:nvSpPr>
            <p:spPr>
              <a:xfrm>
                <a:off x="93657" y="533400"/>
                <a:ext cx="11488745" cy="3031836"/>
              </a:xfrm>
              <a:blipFill>
                <a:blip r:embed="rId2"/>
                <a:stretch>
                  <a:fillRect l="-796" t="-1006" r="-743" b="-7243"/>
                </a:stretch>
              </a:blipFill>
            </p:spPr>
            <p:txBody>
              <a:bodyPr/>
              <a:lstStyle/>
              <a:p>
                <a:r>
                  <a:rPr lang="en-US">
                    <a:noFill/>
                  </a:rPr>
                  <a:t> </a:t>
                </a:r>
              </a:p>
            </p:txBody>
          </p:sp>
        </mc:Fallback>
      </mc:AlternateContent>
    </p:spTree>
    <p:extLst>
      <p:ext uri="{BB962C8B-B14F-4D97-AF65-F5344CB8AC3E}">
        <p14:creationId xmlns:p14="http://schemas.microsoft.com/office/powerpoint/2010/main" val="995510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B78DF-33D8-1788-4153-6DD7476D2C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22218B-08EF-B9E8-16B1-07C72062BA46}"/>
              </a:ext>
            </a:extLst>
          </p:cNvPr>
          <p:cNvSpPr>
            <a:spLocks noGrp="1"/>
          </p:cNvSpPr>
          <p:nvPr>
            <p:ph type="title"/>
          </p:nvPr>
        </p:nvSpPr>
        <p:spPr/>
        <p:txBody>
          <a:bodyPr/>
          <a:lstStyle/>
          <a:p>
            <a:r>
              <a:rPr lang="en-US"/>
              <a:t>Chebyshev Proof</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7D26F84-A14F-BB5E-CF63-7DE9DFD385B5}"/>
                  </a:ext>
                </a:extLst>
              </p:cNvPr>
              <p:cNvSpPr>
                <a:spLocks noGrp="1"/>
              </p:cNvSpPr>
              <p:nvPr>
                <p:ph idx="1"/>
              </p:nvPr>
            </p:nvSpPr>
            <p:spPr>
              <a:xfrm>
                <a:off x="93657" y="533399"/>
                <a:ext cx="11488745" cy="5895109"/>
              </a:xfrm>
            </p:spPr>
            <p:txBody>
              <a:bodyPr/>
              <a:lstStyle/>
              <a:p>
                <a:r>
                  <a:rPr lang="en-US"/>
                  <a:t>Define </a:t>
                </a:r>
                <a:r>
                  <a:rPr lang="en-US" b="1">
                    <a:solidFill>
                      <a:schemeClr val="accent3"/>
                    </a:solidFill>
                    <a:latin typeface="Inter" panose="02000503000000020004" pitchFamily="2" charset="0"/>
                    <a:ea typeface="Inter" panose="02000503000000020004" pitchFamily="2" charset="0"/>
                    <a:cs typeface="Inter" panose="02000503000000020004" pitchFamily="2" charset="0"/>
                  </a:rPr>
                  <a:t>Chebyshev’s Inequality</a:t>
                </a:r>
                <a:r>
                  <a:rPr lang="en-US"/>
                  <a:t> as follows. If </a:t>
                </a:r>
                <a14:m>
                  <m:oMath xmlns:m="http://schemas.openxmlformats.org/officeDocument/2006/math">
                    <m:r>
                      <a:rPr lang="en-US" b="0" i="1" smtClean="0">
                        <a:latin typeface="Cambria Math" panose="02040503050406030204" pitchFamily="18" charset="0"/>
                      </a:rPr>
                      <m:t>𝑋</m:t>
                    </m:r>
                  </m:oMath>
                </a14:m>
                <a:r>
                  <a:rPr lang="en-US"/>
                  <a:t> is a random variable with </a:t>
                </a:r>
                <a14:m>
                  <m:oMath xmlns:m="http://schemas.openxmlformats.org/officeDocument/2006/math">
                    <m:r>
                      <a:rPr lang="en-US" i="1">
                        <a:latin typeface="Cambria Math" panose="02040503050406030204" pitchFamily="18" charset="0"/>
                      </a:rPr>
                      <m:t>𝔼</m:t>
                    </m:r>
                    <m:d>
                      <m:dPr>
                        <m:begChr m:val="["/>
                        <m:endChr m:val="]"/>
                        <m:ctrlPr>
                          <a:rPr lang="en-US" i="1">
                            <a:latin typeface="Cambria Math" panose="02040503050406030204" pitchFamily="18" charset="0"/>
                          </a:rPr>
                        </m:ctrlPr>
                      </m:dPr>
                      <m:e>
                        <m:r>
                          <a:rPr lang="en-US" i="1">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𝜇</m:t>
                    </m:r>
                  </m:oMath>
                </a14:m>
                <a:r>
                  <a:rPr lang="en-US"/>
                  <a:t>, then for any constant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r>
                      <a:rPr lang="en-US" b="0" i="0" smtClean="0">
                        <a:latin typeface="Cambria Math" panose="02040503050406030204" pitchFamily="18" charset="0"/>
                      </a:rPr>
                      <m:t>:</m:t>
                    </m:r>
                  </m:oMath>
                </a14:m>
                <a:endParaRPr lang="en-US"/>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𝜇</m:t>
                              </m:r>
                            </m:e>
                          </m:d>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 </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var</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oMath>
                  </m:oMathPara>
                </a14:m>
                <a:endParaRPr lang="en-US"/>
              </a:p>
              <a:p>
                <a:r>
                  <a:rPr lang="en-US"/>
                  <a:t>Proof: </a:t>
                </a:r>
              </a:p>
              <a:p>
                <a:pPr marL="342900" indent="-342900">
                  <a:buFont typeface="Arial" panose="020B0604020202020204" pitchFamily="34" charset="0"/>
                  <a:buChar char="•"/>
                </a:pPr>
                <a:r>
                  <a:rPr lang="en-US"/>
                  <a:t>Observe that </a:t>
                </a:r>
                <a14:m>
                  <m:oMath xmlns:m="http://schemas.openxmlformats.org/officeDocument/2006/math">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r>
                          <a:rPr lang="en-US" sz="2400" b="0" i="1" smtClean="0">
                            <a:latin typeface="Cambria Math" panose="02040503050406030204" pitchFamily="18" charset="0"/>
                          </a:rPr>
                          <m:t>𝜇</m:t>
                        </m:r>
                      </m:e>
                    </m:d>
                  </m:oMath>
                </a14:m>
                <a:r>
                  <a:rPr lang="en-US"/>
                  <a:t> is a random variable. </a:t>
                </a:r>
              </a:p>
              <a:p>
                <a:pPr marL="342900" indent="-342900">
                  <a:buFont typeface="Arial" panose="020B0604020202020204" pitchFamily="34" charset="0"/>
                  <a:buChar char="•"/>
                </a:pPr>
                <a:r>
                  <a:rPr lang="en-US"/>
                  <a:t>Observe that any outcome </a:t>
                </a:r>
                <a14:m>
                  <m:oMath xmlns:m="http://schemas.openxmlformats.org/officeDocument/2006/math">
                    <m:r>
                      <a:rPr lang="en-US" b="0" i="1" smtClean="0">
                        <a:latin typeface="Cambria Math" panose="02040503050406030204" pitchFamily="18" charset="0"/>
                      </a:rPr>
                      <m:t>𝜔</m:t>
                    </m:r>
                  </m:oMath>
                </a14:m>
                <a:r>
                  <a:rPr lang="en-US"/>
                  <a:t> for which </a:t>
                </a:r>
                <a14:m>
                  <m:oMath xmlns:m="http://schemas.openxmlformats.org/officeDocument/2006/math">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𝜔</m:t>
                            </m:r>
                          </m:e>
                        </m:d>
                        <m:r>
                          <a:rPr lang="en-US" sz="2400" b="0" i="1" smtClean="0">
                            <a:latin typeface="Cambria Math" panose="02040503050406030204" pitchFamily="18" charset="0"/>
                          </a:rPr>
                          <m:t>−</m:t>
                        </m:r>
                        <m:r>
                          <a:rPr lang="en-US" sz="2400" b="0" i="1" smtClean="0">
                            <a:latin typeface="Cambria Math" panose="02040503050406030204" pitchFamily="18" charset="0"/>
                          </a:rPr>
                          <m:t>𝜇</m:t>
                        </m:r>
                      </m:e>
                    </m:d>
                    <m:r>
                      <a:rPr lang="en-US" sz="2400" b="0" i="1" smtClean="0">
                        <a:latin typeface="Cambria Math" panose="02040503050406030204" pitchFamily="18" charset="0"/>
                      </a:rPr>
                      <m:t>≥</m:t>
                    </m:r>
                    <m:r>
                      <a:rPr lang="en-US" sz="2400" b="0" i="1" smtClean="0">
                        <a:latin typeface="Cambria Math" panose="02040503050406030204" pitchFamily="18" charset="0"/>
                      </a:rPr>
                      <m:t>𝑐</m:t>
                    </m:r>
                  </m:oMath>
                </a14:m>
                <a:r>
                  <a:rPr lang="en-US"/>
                  <a:t>, we also have that </a:t>
                </a:r>
                <a14:m>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𝑋</m:t>
                            </m:r>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 </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oMath>
                </a14:m>
                <a:r>
                  <a:rPr lang="en-US"/>
                  <a:t> (and vice versa). This means that:</a:t>
                </a:r>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a:p>
                <a:pPr marL="342900" indent="-342900">
                  <a:buFont typeface="Arial" panose="020B0604020202020204" pitchFamily="34" charset="0"/>
                  <a:buChar char="•"/>
                </a:pPr>
                <a:r>
                  <a:rPr lang="en-US"/>
                  <a:t>Let </a:t>
                </a:r>
                <a14:m>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𝜇</m:t>
                            </m:r>
                          </m:e>
                        </m:d>
                      </m:e>
                      <m:sup>
                        <m:r>
                          <a:rPr lang="en-US" b="0" i="1" smtClean="0">
                            <a:latin typeface="Cambria Math" panose="02040503050406030204" pitchFamily="18" charset="0"/>
                          </a:rPr>
                          <m:t>2</m:t>
                        </m:r>
                      </m:sup>
                    </m:sSup>
                  </m:oMath>
                </a14:m>
                <a:r>
                  <a:rPr lang="en-US"/>
                  <a:t>. </a:t>
                </a:r>
              </a:p>
              <a:p>
                <a:pPr marL="342900" indent="-342900">
                  <a:buFont typeface="Arial" panose="020B0604020202020204" pitchFamily="34" charset="0"/>
                  <a:buChar char="•"/>
                </a:pPr>
                <a:r>
                  <a:rPr lang="en-US"/>
                  <a:t>Then by Markov’s inequality:</a:t>
                </a:r>
              </a:p>
              <a:p>
                <a:endParaRPr lang="en-US"/>
              </a:p>
            </p:txBody>
          </p:sp>
        </mc:Choice>
        <mc:Fallback>
          <p:sp>
            <p:nvSpPr>
              <p:cNvPr id="3" name="Content Placeholder 2">
                <a:extLst>
                  <a:ext uri="{FF2B5EF4-FFF2-40B4-BE49-F238E27FC236}">
                    <a16:creationId xmlns:a16="http://schemas.microsoft.com/office/drawing/2014/main" id="{57D26F84-A14F-BB5E-CF63-7DE9DFD385B5}"/>
                  </a:ext>
                </a:extLst>
              </p:cNvPr>
              <p:cNvSpPr>
                <a:spLocks noGrp="1" noRot="1" noChangeAspect="1" noMove="1" noResize="1" noEditPoints="1" noAdjustHandles="1" noChangeArrowheads="1" noChangeShapeType="1" noTextEdit="1"/>
              </p:cNvSpPr>
              <p:nvPr>
                <p:ph idx="1"/>
              </p:nvPr>
            </p:nvSpPr>
            <p:spPr>
              <a:xfrm>
                <a:off x="93657" y="533399"/>
                <a:ext cx="11488745" cy="5895109"/>
              </a:xfrm>
              <a:blipFill>
                <a:blip r:embed="rId2"/>
                <a:stretch>
                  <a:fillRect l="-796" t="-413" r="-74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191E3A6F-79F0-FF3B-3029-7807362A2AB2}"/>
                  </a:ext>
                </a:extLst>
              </p:cNvPr>
              <p:cNvSpPr txBox="1"/>
              <p:nvPr/>
            </p:nvSpPr>
            <p:spPr>
              <a:xfrm>
                <a:off x="3022600" y="4493552"/>
                <a:ext cx="6146800" cy="50917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2"/>
                          </a:solidFill>
                          <a:latin typeface="Cambria Math" panose="02040503050406030204" pitchFamily="18" charset="0"/>
                        </a:rPr>
                        <m:t>𝑃</m:t>
                      </m:r>
                      <m:d>
                        <m:dPr>
                          <m:ctrlPr>
                            <a:rPr lang="en-US" sz="2400" b="0" i="1" smtClean="0">
                              <a:solidFill>
                                <a:schemeClr val="accent2"/>
                              </a:solidFill>
                              <a:latin typeface="Cambria Math" panose="02040503050406030204" pitchFamily="18" charset="0"/>
                            </a:rPr>
                          </m:ctrlPr>
                        </m:dPr>
                        <m:e>
                          <m:d>
                            <m:dPr>
                              <m:begChr m:val="|"/>
                              <m:endChr m:val="|"/>
                              <m:ctrlPr>
                                <a:rPr lang="en-US" sz="2400" b="0" i="1" smtClean="0">
                                  <a:solidFill>
                                    <a:schemeClr val="accent2"/>
                                  </a:solidFill>
                                  <a:latin typeface="Cambria Math" panose="02040503050406030204" pitchFamily="18" charset="0"/>
                                </a:rPr>
                              </m:ctrlPr>
                            </m:dPr>
                            <m:e>
                              <m:r>
                                <a:rPr lang="en-US" sz="2400" b="0" i="1" smtClean="0">
                                  <a:solidFill>
                                    <a:schemeClr val="accent2"/>
                                  </a:solidFill>
                                  <a:latin typeface="Cambria Math" panose="02040503050406030204" pitchFamily="18" charset="0"/>
                                </a:rPr>
                                <m:t>𝑋</m:t>
                              </m:r>
                              <m:r>
                                <a:rPr lang="en-US" sz="2400" b="0" i="1" smtClean="0">
                                  <a:solidFill>
                                    <a:schemeClr val="accent2"/>
                                  </a:solidFill>
                                  <a:latin typeface="Cambria Math" panose="02040503050406030204" pitchFamily="18" charset="0"/>
                                </a:rPr>
                                <m:t>−</m:t>
                              </m:r>
                              <m:r>
                                <a:rPr lang="en-US" sz="2400" b="0" i="1" smtClean="0">
                                  <a:solidFill>
                                    <a:schemeClr val="accent2"/>
                                  </a:solidFill>
                                  <a:latin typeface="Cambria Math" panose="02040503050406030204" pitchFamily="18" charset="0"/>
                                </a:rPr>
                                <m:t>𝜇</m:t>
                              </m:r>
                            </m:e>
                          </m:d>
                          <m:r>
                            <a:rPr lang="en-US" sz="2400" b="0" i="1" smtClean="0">
                              <a:solidFill>
                                <a:schemeClr val="accent2"/>
                              </a:solidFill>
                              <a:latin typeface="Cambria Math" panose="02040503050406030204" pitchFamily="18" charset="0"/>
                            </a:rPr>
                            <m:t>≥</m:t>
                          </m:r>
                          <m:r>
                            <a:rPr lang="en-US" sz="2400" b="0" i="1" smtClean="0">
                              <a:solidFill>
                                <a:schemeClr val="accent2"/>
                              </a:solidFill>
                              <a:latin typeface="Cambria Math" panose="02040503050406030204" pitchFamily="18" charset="0"/>
                            </a:rPr>
                            <m:t>𝑐</m:t>
                          </m:r>
                          <m:r>
                            <a:rPr lang="en-US" sz="2400" b="0" i="1" smtClean="0">
                              <a:solidFill>
                                <a:schemeClr val="accent2"/>
                              </a:solidFill>
                              <a:latin typeface="Cambria Math" panose="02040503050406030204" pitchFamily="18" charset="0"/>
                            </a:rPr>
                            <m:t> </m:t>
                          </m:r>
                        </m:e>
                      </m:d>
                      <m:r>
                        <a:rPr lang="en-US" sz="2400" i="1">
                          <a:latin typeface="Cambria Math" panose="02040503050406030204" pitchFamily="18" charset="0"/>
                        </a:rPr>
                        <m:t>=</m:t>
                      </m:r>
                      <m:r>
                        <a:rPr lang="en-US" sz="2400" i="1" smtClean="0">
                          <a:solidFill>
                            <a:schemeClr val="accent2"/>
                          </a:solidFill>
                          <a:latin typeface="Cambria Math" panose="02040503050406030204" pitchFamily="18" charset="0"/>
                        </a:rPr>
                        <m:t>𝑃</m:t>
                      </m:r>
                      <m:d>
                        <m:dPr>
                          <m:ctrlPr>
                            <a:rPr lang="en-US" sz="2400" i="1">
                              <a:solidFill>
                                <a:schemeClr val="accent2"/>
                              </a:solidFill>
                              <a:latin typeface="Cambria Math" panose="02040503050406030204" pitchFamily="18" charset="0"/>
                            </a:rPr>
                          </m:ctrlPr>
                        </m:dPr>
                        <m:e>
                          <m:sSup>
                            <m:sSupPr>
                              <m:ctrlPr>
                                <a:rPr lang="en-US" sz="2400" b="0" i="1" smtClean="0">
                                  <a:solidFill>
                                    <a:schemeClr val="accent2"/>
                                  </a:solidFill>
                                  <a:latin typeface="Cambria Math" panose="02040503050406030204" pitchFamily="18" charset="0"/>
                                </a:rPr>
                              </m:ctrlPr>
                            </m:sSupPr>
                            <m:e>
                              <m:d>
                                <m:dPr>
                                  <m:ctrlPr>
                                    <a:rPr lang="en-US" sz="2400" b="0" i="1" smtClean="0">
                                      <a:solidFill>
                                        <a:schemeClr val="accent2"/>
                                      </a:solidFill>
                                      <a:latin typeface="Cambria Math" panose="02040503050406030204" pitchFamily="18" charset="0"/>
                                    </a:rPr>
                                  </m:ctrlPr>
                                </m:dPr>
                                <m:e>
                                  <m:r>
                                    <a:rPr lang="en-US" sz="2400" b="0" i="1" smtClean="0">
                                      <a:solidFill>
                                        <a:schemeClr val="accent2"/>
                                      </a:solidFill>
                                      <a:latin typeface="Cambria Math" panose="02040503050406030204" pitchFamily="18" charset="0"/>
                                    </a:rPr>
                                    <m:t>𝑋</m:t>
                                  </m:r>
                                  <m:r>
                                    <a:rPr lang="en-US" sz="2400" b="0" i="1" smtClean="0">
                                      <a:solidFill>
                                        <a:schemeClr val="accent2"/>
                                      </a:solidFill>
                                      <a:latin typeface="Cambria Math" panose="02040503050406030204" pitchFamily="18" charset="0"/>
                                    </a:rPr>
                                    <m:t>−</m:t>
                                  </m:r>
                                  <m:r>
                                    <a:rPr lang="en-US" sz="2400" b="0" i="1" smtClean="0">
                                      <a:solidFill>
                                        <a:schemeClr val="accent2"/>
                                      </a:solidFill>
                                      <a:latin typeface="Cambria Math" panose="02040503050406030204" pitchFamily="18" charset="0"/>
                                    </a:rPr>
                                    <m:t>𝜇</m:t>
                                  </m:r>
                                </m:e>
                              </m:d>
                            </m:e>
                            <m:sup>
                              <m:r>
                                <a:rPr lang="en-US" sz="2400" b="0" i="1" smtClean="0">
                                  <a:solidFill>
                                    <a:schemeClr val="accent2"/>
                                  </a:solidFill>
                                  <a:latin typeface="Cambria Math" panose="02040503050406030204" pitchFamily="18" charset="0"/>
                                </a:rPr>
                                <m:t>2</m:t>
                              </m:r>
                            </m:sup>
                          </m:sSup>
                          <m:r>
                            <a:rPr lang="en-US" sz="2400" b="0" i="1" smtClean="0">
                              <a:solidFill>
                                <a:schemeClr val="accent2"/>
                              </a:solidFill>
                              <a:latin typeface="Cambria Math" panose="02040503050406030204" pitchFamily="18" charset="0"/>
                            </a:rPr>
                            <m:t>≥</m:t>
                          </m:r>
                          <m:sSup>
                            <m:sSupPr>
                              <m:ctrlPr>
                                <a:rPr lang="en-US" sz="2400" b="0" i="1" smtClean="0">
                                  <a:solidFill>
                                    <a:schemeClr val="accent2"/>
                                  </a:solidFill>
                                  <a:latin typeface="Cambria Math" panose="02040503050406030204" pitchFamily="18" charset="0"/>
                                </a:rPr>
                              </m:ctrlPr>
                            </m:sSupPr>
                            <m:e>
                              <m:r>
                                <a:rPr lang="en-US" sz="2400" i="1">
                                  <a:solidFill>
                                    <a:schemeClr val="accent2"/>
                                  </a:solidFill>
                                  <a:latin typeface="Cambria Math" panose="02040503050406030204" pitchFamily="18" charset="0"/>
                                </a:rPr>
                                <m:t>𝑐</m:t>
                              </m:r>
                            </m:e>
                            <m:sup>
                              <m:r>
                                <a:rPr lang="en-US" sz="2400" b="0" i="1" smtClean="0">
                                  <a:solidFill>
                                    <a:schemeClr val="accent2"/>
                                  </a:solidFill>
                                  <a:latin typeface="Cambria Math" panose="02040503050406030204" pitchFamily="18" charset="0"/>
                                </a:rPr>
                                <m:t>2</m:t>
                              </m:r>
                            </m:sup>
                          </m:sSup>
                          <m:r>
                            <a:rPr lang="en-US" sz="2400" i="1">
                              <a:solidFill>
                                <a:schemeClr val="accent2"/>
                              </a:solidFill>
                              <a:latin typeface="Cambria Math" panose="02040503050406030204" pitchFamily="18" charset="0"/>
                            </a:rPr>
                            <m:t> </m:t>
                          </m:r>
                        </m:e>
                      </m:d>
                    </m:oMath>
                  </m:oMathPara>
                </a14:m>
                <a:endParaRPr lang="en-US" sz="2400"/>
              </a:p>
            </p:txBody>
          </p:sp>
        </mc:Choice>
        <mc:Fallback>
          <p:sp>
            <p:nvSpPr>
              <p:cNvPr id="5" name="TextBox 4">
                <a:extLst>
                  <a:ext uri="{FF2B5EF4-FFF2-40B4-BE49-F238E27FC236}">
                    <a16:creationId xmlns:a16="http://schemas.microsoft.com/office/drawing/2014/main" id="{191E3A6F-79F0-FF3B-3029-7807362A2AB2}"/>
                  </a:ext>
                </a:extLst>
              </p:cNvPr>
              <p:cNvSpPr txBox="1">
                <a:spLocks noRot="1" noChangeAspect="1" noMove="1" noResize="1" noEditPoints="1" noAdjustHandles="1" noChangeArrowheads="1" noChangeShapeType="1" noTextEdit="1"/>
              </p:cNvSpPr>
              <p:nvPr/>
            </p:nvSpPr>
            <p:spPr>
              <a:xfrm>
                <a:off x="3022600" y="4493552"/>
                <a:ext cx="6146800" cy="50917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0273ED83-4CF4-7C44-27C3-2FCA7093226A}"/>
                  </a:ext>
                </a:extLst>
              </p:cNvPr>
              <p:cNvSpPr txBox="1"/>
              <p:nvPr/>
            </p:nvSpPr>
            <p:spPr>
              <a:xfrm>
                <a:off x="4337050" y="5618478"/>
                <a:ext cx="3517900" cy="8100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2"/>
                          </a:solidFill>
                          <a:latin typeface="Cambria Math" panose="02040503050406030204" pitchFamily="18" charset="0"/>
                        </a:rPr>
                        <m:t>𝑃</m:t>
                      </m:r>
                      <m:d>
                        <m:dPr>
                          <m:ctrlPr>
                            <a:rPr lang="en-US" sz="2400" b="0" i="1" smtClean="0">
                              <a:solidFill>
                                <a:schemeClr val="accent2"/>
                              </a:solidFill>
                              <a:latin typeface="Cambria Math" panose="02040503050406030204" pitchFamily="18" charset="0"/>
                            </a:rPr>
                          </m:ctrlPr>
                        </m:dPr>
                        <m:e>
                          <m:r>
                            <a:rPr lang="en-US" sz="2400" b="0" i="1" smtClean="0">
                              <a:solidFill>
                                <a:schemeClr val="accent2"/>
                              </a:solidFill>
                              <a:latin typeface="Cambria Math" panose="02040503050406030204" pitchFamily="18" charset="0"/>
                            </a:rPr>
                            <m:t>𝑌</m:t>
                          </m:r>
                          <m:r>
                            <a:rPr lang="en-US" sz="2400" b="0" i="1" smtClean="0">
                              <a:solidFill>
                                <a:schemeClr val="accent2"/>
                              </a:solidFill>
                              <a:latin typeface="Cambria Math" panose="02040503050406030204" pitchFamily="18" charset="0"/>
                            </a:rPr>
                            <m:t>≥</m:t>
                          </m:r>
                          <m:sSup>
                            <m:sSupPr>
                              <m:ctrlPr>
                                <a:rPr lang="en-US" sz="2400" b="0" i="1" smtClean="0">
                                  <a:solidFill>
                                    <a:schemeClr val="accent2"/>
                                  </a:solidFill>
                                  <a:latin typeface="Cambria Math" panose="02040503050406030204" pitchFamily="18" charset="0"/>
                                </a:rPr>
                              </m:ctrlPr>
                            </m:sSupPr>
                            <m:e>
                              <m:r>
                                <a:rPr lang="en-US" sz="2400" b="0" i="1" smtClean="0">
                                  <a:solidFill>
                                    <a:schemeClr val="accent2"/>
                                  </a:solidFill>
                                  <a:latin typeface="Cambria Math" panose="02040503050406030204" pitchFamily="18" charset="0"/>
                                </a:rPr>
                                <m:t>𝑐</m:t>
                              </m:r>
                            </m:e>
                            <m:sup>
                              <m:r>
                                <a:rPr lang="en-US" sz="2400" b="0" i="1" smtClean="0">
                                  <a:solidFill>
                                    <a:schemeClr val="accent2"/>
                                  </a:solidFill>
                                  <a:latin typeface="Cambria Math" panose="02040503050406030204" pitchFamily="18" charset="0"/>
                                </a:rPr>
                                <m:t>2</m:t>
                              </m:r>
                            </m:sup>
                          </m:sSup>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i="1">
                              <a:latin typeface="Cambria Math" panose="02040503050406030204" pitchFamily="18" charset="0"/>
                            </a:rPr>
                            <m:t>𝔼</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𝑌</m:t>
                              </m:r>
                            </m:e>
                          </m:d>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𝑐</m:t>
                              </m:r>
                            </m:e>
                            <m:sup>
                              <m:r>
                                <a:rPr lang="en-US" sz="2400" b="0" i="1" smtClean="0">
                                  <a:latin typeface="Cambria Math" panose="02040503050406030204" pitchFamily="18" charset="0"/>
                                </a:rPr>
                                <m:t>2</m:t>
                              </m:r>
                            </m:sup>
                          </m:sSup>
                        </m:den>
                      </m:f>
                    </m:oMath>
                  </m:oMathPara>
                </a14:m>
                <a:endParaRPr lang="en-US" sz="2400"/>
              </a:p>
            </p:txBody>
          </p:sp>
        </mc:Choice>
        <mc:Fallback>
          <p:sp>
            <p:nvSpPr>
              <p:cNvPr id="4" name="TextBox 3">
                <a:extLst>
                  <a:ext uri="{FF2B5EF4-FFF2-40B4-BE49-F238E27FC236}">
                    <a16:creationId xmlns:a16="http://schemas.microsoft.com/office/drawing/2014/main" id="{0273ED83-4CF4-7C44-27C3-2FCA7093226A}"/>
                  </a:ext>
                </a:extLst>
              </p:cNvPr>
              <p:cNvSpPr txBox="1">
                <a:spLocks noRot="1" noChangeAspect="1" noMove="1" noResize="1" noEditPoints="1" noAdjustHandles="1" noChangeArrowheads="1" noChangeShapeType="1" noTextEdit="1"/>
              </p:cNvSpPr>
              <p:nvPr/>
            </p:nvSpPr>
            <p:spPr>
              <a:xfrm>
                <a:off x="4337050" y="5618478"/>
                <a:ext cx="3517900" cy="81003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51447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4FF928D-2349-11C5-D1A8-6B0FF5C942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844E74-6D4B-0697-2DD9-85520BE669B3}"/>
              </a:ext>
            </a:extLst>
          </p:cNvPr>
          <p:cNvSpPr>
            <a:spLocks noGrp="1"/>
          </p:cNvSpPr>
          <p:nvPr>
            <p:ph type="title"/>
          </p:nvPr>
        </p:nvSpPr>
        <p:spPr/>
        <p:txBody>
          <a:bodyPr/>
          <a:lstStyle/>
          <a:p>
            <a:r>
              <a:rPr lang="en-US"/>
              <a:t>Chebyshev Proof</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A7C97E3-215E-DA01-D37B-973372FD6151}"/>
                  </a:ext>
                </a:extLst>
              </p:cNvPr>
              <p:cNvSpPr>
                <a:spLocks noGrp="1"/>
              </p:cNvSpPr>
              <p:nvPr>
                <p:ph idx="1"/>
              </p:nvPr>
            </p:nvSpPr>
            <p:spPr>
              <a:xfrm>
                <a:off x="93657" y="533399"/>
                <a:ext cx="11488745" cy="5895109"/>
              </a:xfrm>
            </p:spPr>
            <p:txBody>
              <a:bodyPr/>
              <a:lstStyle/>
              <a:p>
                <a:r>
                  <a:rPr lang="en-US"/>
                  <a:t>Define </a:t>
                </a:r>
                <a:r>
                  <a:rPr lang="en-US" b="1">
                    <a:solidFill>
                      <a:schemeClr val="accent3"/>
                    </a:solidFill>
                    <a:latin typeface="Inter" panose="02000503000000020004" pitchFamily="2" charset="0"/>
                    <a:ea typeface="Inter" panose="02000503000000020004" pitchFamily="2" charset="0"/>
                    <a:cs typeface="Inter" panose="02000503000000020004" pitchFamily="2" charset="0"/>
                  </a:rPr>
                  <a:t>Chebyshev’s Inequality</a:t>
                </a:r>
                <a:r>
                  <a:rPr lang="en-US"/>
                  <a:t> as follows. If </a:t>
                </a:r>
                <a14:m>
                  <m:oMath xmlns:m="http://schemas.openxmlformats.org/officeDocument/2006/math">
                    <m:r>
                      <a:rPr lang="en-US" b="0" i="1" smtClean="0">
                        <a:latin typeface="Cambria Math" panose="02040503050406030204" pitchFamily="18" charset="0"/>
                      </a:rPr>
                      <m:t>𝑋</m:t>
                    </m:r>
                  </m:oMath>
                </a14:m>
                <a:r>
                  <a:rPr lang="en-US"/>
                  <a:t> is a random variable with </a:t>
                </a:r>
                <a14:m>
                  <m:oMath xmlns:m="http://schemas.openxmlformats.org/officeDocument/2006/math">
                    <m:r>
                      <a:rPr lang="en-US" i="1">
                        <a:latin typeface="Cambria Math" panose="02040503050406030204" pitchFamily="18" charset="0"/>
                      </a:rPr>
                      <m:t>𝔼</m:t>
                    </m:r>
                    <m:d>
                      <m:dPr>
                        <m:begChr m:val="["/>
                        <m:endChr m:val="]"/>
                        <m:ctrlPr>
                          <a:rPr lang="en-US" i="1">
                            <a:latin typeface="Cambria Math" panose="02040503050406030204" pitchFamily="18" charset="0"/>
                          </a:rPr>
                        </m:ctrlPr>
                      </m:dPr>
                      <m:e>
                        <m:r>
                          <a:rPr lang="en-US" i="1">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𝜇</m:t>
                    </m:r>
                  </m:oMath>
                </a14:m>
                <a:r>
                  <a:rPr lang="en-US"/>
                  <a:t>, then for any constant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r>
                      <a:rPr lang="en-US" b="0" i="0" smtClean="0">
                        <a:latin typeface="Cambria Math" panose="02040503050406030204" pitchFamily="18" charset="0"/>
                      </a:rPr>
                      <m:t>:</m:t>
                    </m:r>
                  </m:oMath>
                </a14:m>
                <a:endParaRPr lang="en-US"/>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𝜇</m:t>
                              </m:r>
                            </m:e>
                          </m:d>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 </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var</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oMath>
                  </m:oMathPara>
                </a14:m>
                <a:endParaRPr lang="en-US"/>
              </a:p>
              <a:p>
                <a:r>
                  <a:rPr lang="en-US"/>
                  <a:t>Proof: </a:t>
                </a:r>
              </a:p>
              <a:p>
                <a:pPr marL="342900" indent="-342900">
                  <a:buFont typeface="Arial" panose="020B0604020202020204" pitchFamily="34" charset="0"/>
                  <a:buChar char="•"/>
                </a:pPr>
                <a:r>
                  <a:rPr lang="en-US"/>
                  <a:t>Observe that </a:t>
                </a:r>
                <a14:m>
                  <m:oMath xmlns:m="http://schemas.openxmlformats.org/officeDocument/2006/math">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r>
                          <a:rPr lang="en-US" sz="2400" b="0" i="1" smtClean="0">
                            <a:latin typeface="Cambria Math" panose="02040503050406030204" pitchFamily="18" charset="0"/>
                          </a:rPr>
                          <m:t>𝜇</m:t>
                        </m:r>
                      </m:e>
                    </m:d>
                  </m:oMath>
                </a14:m>
                <a:r>
                  <a:rPr lang="en-US"/>
                  <a:t> is a random variable. </a:t>
                </a:r>
              </a:p>
              <a:p>
                <a:pPr marL="342900" indent="-342900">
                  <a:buFont typeface="Arial" panose="020B0604020202020204" pitchFamily="34" charset="0"/>
                  <a:buChar char="•"/>
                </a:pPr>
                <a:r>
                  <a:rPr lang="en-US"/>
                  <a:t>Observe that any outcome </a:t>
                </a:r>
                <a14:m>
                  <m:oMath xmlns:m="http://schemas.openxmlformats.org/officeDocument/2006/math">
                    <m:r>
                      <a:rPr lang="en-US" b="0" i="1" smtClean="0">
                        <a:latin typeface="Cambria Math" panose="02040503050406030204" pitchFamily="18" charset="0"/>
                      </a:rPr>
                      <m:t>𝜔</m:t>
                    </m:r>
                  </m:oMath>
                </a14:m>
                <a:r>
                  <a:rPr lang="en-US"/>
                  <a:t> for which </a:t>
                </a:r>
                <a14:m>
                  <m:oMath xmlns:m="http://schemas.openxmlformats.org/officeDocument/2006/math">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𝜔</m:t>
                            </m:r>
                          </m:e>
                        </m:d>
                        <m:r>
                          <a:rPr lang="en-US" sz="2400" b="0" i="1" smtClean="0">
                            <a:latin typeface="Cambria Math" panose="02040503050406030204" pitchFamily="18" charset="0"/>
                          </a:rPr>
                          <m:t>−</m:t>
                        </m:r>
                        <m:r>
                          <a:rPr lang="en-US" sz="2400" b="0" i="1" smtClean="0">
                            <a:latin typeface="Cambria Math" panose="02040503050406030204" pitchFamily="18" charset="0"/>
                          </a:rPr>
                          <m:t>𝜇</m:t>
                        </m:r>
                      </m:e>
                    </m:d>
                    <m:r>
                      <a:rPr lang="en-US" sz="2400" b="0" i="1" smtClean="0">
                        <a:latin typeface="Cambria Math" panose="02040503050406030204" pitchFamily="18" charset="0"/>
                      </a:rPr>
                      <m:t>≥</m:t>
                    </m:r>
                    <m:r>
                      <a:rPr lang="en-US" sz="2400" b="0" i="1" smtClean="0">
                        <a:latin typeface="Cambria Math" panose="02040503050406030204" pitchFamily="18" charset="0"/>
                      </a:rPr>
                      <m:t>𝑐</m:t>
                    </m:r>
                  </m:oMath>
                </a14:m>
                <a:r>
                  <a:rPr lang="en-US"/>
                  <a:t>, we also have that </a:t>
                </a:r>
                <a14:m>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𝑋</m:t>
                            </m:r>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 </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oMath>
                </a14:m>
                <a:r>
                  <a:rPr lang="en-US"/>
                  <a:t> (and vice versa). This means that:</a:t>
                </a:r>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a:p>
                <a:pPr marL="342900" indent="-342900">
                  <a:buFont typeface="Arial" panose="020B0604020202020204" pitchFamily="34" charset="0"/>
                  <a:buChar char="•"/>
                </a:pPr>
                <a:r>
                  <a:rPr lang="en-US"/>
                  <a:t>Let </a:t>
                </a:r>
                <a14:m>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𝜇</m:t>
                            </m:r>
                          </m:e>
                        </m:d>
                      </m:e>
                      <m:sup>
                        <m:r>
                          <a:rPr lang="en-US" b="0" i="1" smtClean="0">
                            <a:latin typeface="Cambria Math" panose="02040503050406030204" pitchFamily="18" charset="0"/>
                          </a:rPr>
                          <m:t>2</m:t>
                        </m:r>
                      </m:sup>
                    </m:sSup>
                  </m:oMath>
                </a14:m>
                <a:r>
                  <a:rPr lang="en-US"/>
                  <a:t>. </a:t>
                </a:r>
              </a:p>
              <a:p>
                <a:pPr marL="342900" indent="-342900">
                  <a:buFont typeface="Arial" panose="020B0604020202020204" pitchFamily="34" charset="0"/>
                  <a:buChar char="•"/>
                </a:pPr>
                <a:r>
                  <a:rPr lang="en-US"/>
                  <a:t>Then by Markov’s inequality:</a:t>
                </a:r>
              </a:p>
              <a:p>
                <a:endParaRPr lang="en-US"/>
              </a:p>
            </p:txBody>
          </p:sp>
        </mc:Choice>
        <mc:Fallback>
          <p:sp>
            <p:nvSpPr>
              <p:cNvPr id="3" name="Content Placeholder 2">
                <a:extLst>
                  <a:ext uri="{FF2B5EF4-FFF2-40B4-BE49-F238E27FC236}">
                    <a16:creationId xmlns:a16="http://schemas.microsoft.com/office/drawing/2014/main" id="{5A7C97E3-215E-DA01-D37B-973372FD6151}"/>
                  </a:ext>
                </a:extLst>
              </p:cNvPr>
              <p:cNvSpPr>
                <a:spLocks noGrp="1" noRot="1" noChangeAspect="1" noMove="1" noResize="1" noEditPoints="1" noAdjustHandles="1" noChangeArrowheads="1" noChangeShapeType="1" noTextEdit="1"/>
              </p:cNvSpPr>
              <p:nvPr>
                <p:ph idx="1"/>
              </p:nvPr>
            </p:nvSpPr>
            <p:spPr>
              <a:xfrm>
                <a:off x="93657" y="533399"/>
                <a:ext cx="11488745" cy="5895109"/>
              </a:xfrm>
              <a:blipFill>
                <a:blip r:embed="rId2"/>
                <a:stretch>
                  <a:fillRect l="-796" t="-413" r="-74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C636711C-EACF-03CB-1EF7-AD79315D9489}"/>
                  </a:ext>
                </a:extLst>
              </p:cNvPr>
              <p:cNvSpPr txBox="1"/>
              <p:nvPr/>
            </p:nvSpPr>
            <p:spPr>
              <a:xfrm>
                <a:off x="3022600" y="4493552"/>
                <a:ext cx="6146800" cy="50917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2"/>
                          </a:solidFill>
                          <a:latin typeface="Cambria Math" panose="02040503050406030204" pitchFamily="18" charset="0"/>
                        </a:rPr>
                        <m:t>𝑃</m:t>
                      </m:r>
                      <m:d>
                        <m:dPr>
                          <m:ctrlPr>
                            <a:rPr lang="en-US" sz="2400" b="0" i="1" smtClean="0">
                              <a:solidFill>
                                <a:schemeClr val="accent2"/>
                              </a:solidFill>
                              <a:latin typeface="Cambria Math" panose="02040503050406030204" pitchFamily="18" charset="0"/>
                            </a:rPr>
                          </m:ctrlPr>
                        </m:dPr>
                        <m:e>
                          <m:d>
                            <m:dPr>
                              <m:begChr m:val="|"/>
                              <m:endChr m:val="|"/>
                              <m:ctrlPr>
                                <a:rPr lang="en-US" sz="2400" b="0" i="1" smtClean="0">
                                  <a:solidFill>
                                    <a:schemeClr val="accent2"/>
                                  </a:solidFill>
                                  <a:latin typeface="Cambria Math" panose="02040503050406030204" pitchFamily="18" charset="0"/>
                                </a:rPr>
                              </m:ctrlPr>
                            </m:dPr>
                            <m:e>
                              <m:r>
                                <a:rPr lang="en-US" sz="2400" b="0" i="1" smtClean="0">
                                  <a:solidFill>
                                    <a:schemeClr val="accent2"/>
                                  </a:solidFill>
                                  <a:latin typeface="Cambria Math" panose="02040503050406030204" pitchFamily="18" charset="0"/>
                                </a:rPr>
                                <m:t>𝑋</m:t>
                              </m:r>
                              <m:r>
                                <a:rPr lang="en-US" sz="2400" b="0" i="1" smtClean="0">
                                  <a:solidFill>
                                    <a:schemeClr val="accent2"/>
                                  </a:solidFill>
                                  <a:latin typeface="Cambria Math" panose="02040503050406030204" pitchFamily="18" charset="0"/>
                                </a:rPr>
                                <m:t>−</m:t>
                              </m:r>
                              <m:r>
                                <a:rPr lang="en-US" sz="2400" b="0" i="1" smtClean="0">
                                  <a:solidFill>
                                    <a:schemeClr val="accent2"/>
                                  </a:solidFill>
                                  <a:latin typeface="Cambria Math" panose="02040503050406030204" pitchFamily="18" charset="0"/>
                                </a:rPr>
                                <m:t>𝜇</m:t>
                              </m:r>
                            </m:e>
                          </m:d>
                          <m:r>
                            <a:rPr lang="en-US" sz="2400" b="0" i="1" smtClean="0">
                              <a:solidFill>
                                <a:schemeClr val="accent2"/>
                              </a:solidFill>
                              <a:latin typeface="Cambria Math" panose="02040503050406030204" pitchFamily="18" charset="0"/>
                            </a:rPr>
                            <m:t>≥</m:t>
                          </m:r>
                          <m:r>
                            <a:rPr lang="en-US" sz="2400" b="0" i="1" smtClean="0">
                              <a:solidFill>
                                <a:schemeClr val="accent2"/>
                              </a:solidFill>
                              <a:latin typeface="Cambria Math" panose="02040503050406030204" pitchFamily="18" charset="0"/>
                            </a:rPr>
                            <m:t>𝑐</m:t>
                          </m:r>
                          <m:r>
                            <a:rPr lang="en-US" sz="2400" b="0" i="1" smtClean="0">
                              <a:solidFill>
                                <a:schemeClr val="accent2"/>
                              </a:solidFill>
                              <a:latin typeface="Cambria Math" panose="02040503050406030204" pitchFamily="18" charset="0"/>
                            </a:rPr>
                            <m:t> </m:t>
                          </m:r>
                        </m:e>
                      </m:d>
                      <m:r>
                        <a:rPr lang="en-US" sz="2400" i="1">
                          <a:latin typeface="Cambria Math" panose="02040503050406030204" pitchFamily="18" charset="0"/>
                        </a:rPr>
                        <m:t>=</m:t>
                      </m:r>
                      <m:r>
                        <a:rPr lang="en-US" sz="2400" i="1" smtClean="0">
                          <a:solidFill>
                            <a:schemeClr val="accent2"/>
                          </a:solidFill>
                          <a:latin typeface="Cambria Math" panose="02040503050406030204" pitchFamily="18" charset="0"/>
                        </a:rPr>
                        <m:t>𝑃</m:t>
                      </m:r>
                      <m:d>
                        <m:dPr>
                          <m:ctrlPr>
                            <a:rPr lang="en-US" sz="2400" i="1">
                              <a:solidFill>
                                <a:schemeClr val="accent2"/>
                              </a:solidFill>
                              <a:latin typeface="Cambria Math" panose="02040503050406030204" pitchFamily="18" charset="0"/>
                            </a:rPr>
                          </m:ctrlPr>
                        </m:dPr>
                        <m:e>
                          <m:sSup>
                            <m:sSupPr>
                              <m:ctrlPr>
                                <a:rPr lang="en-US" sz="2400" b="0" i="1" smtClean="0">
                                  <a:solidFill>
                                    <a:schemeClr val="accent2"/>
                                  </a:solidFill>
                                  <a:latin typeface="Cambria Math" panose="02040503050406030204" pitchFamily="18" charset="0"/>
                                </a:rPr>
                              </m:ctrlPr>
                            </m:sSupPr>
                            <m:e>
                              <m:d>
                                <m:dPr>
                                  <m:ctrlPr>
                                    <a:rPr lang="en-US" sz="2400" b="0" i="1" smtClean="0">
                                      <a:solidFill>
                                        <a:schemeClr val="accent2"/>
                                      </a:solidFill>
                                      <a:latin typeface="Cambria Math" panose="02040503050406030204" pitchFamily="18" charset="0"/>
                                    </a:rPr>
                                  </m:ctrlPr>
                                </m:dPr>
                                <m:e>
                                  <m:r>
                                    <a:rPr lang="en-US" sz="2400" b="0" i="1" smtClean="0">
                                      <a:solidFill>
                                        <a:schemeClr val="accent2"/>
                                      </a:solidFill>
                                      <a:latin typeface="Cambria Math" panose="02040503050406030204" pitchFamily="18" charset="0"/>
                                    </a:rPr>
                                    <m:t>𝑋</m:t>
                                  </m:r>
                                  <m:r>
                                    <a:rPr lang="en-US" sz="2400" b="0" i="1" smtClean="0">
                                      <a:solidFill>
                                        <a:schemeClr val="accent2"/>
                                      </a:solidFill>
                                      <a:latin typeface="Cambria Math" panose="02040503050406030204" pitchFamily="18" charset="0"/>
                                    </a:rPr>
                                    <m:t>−</m:t>
                                  </m:r>
                                  <m:r>
                                    <a:rPr lang="en-US" sz="2400" b="0" i="1" smtClean="0">
                                      <a:solidFill>
                                        <a:schemeClr val="accent2"/>
                                      </a:solidFill>
                                      <a:latin typeface="Cambria Math" panose="02040503050406030204" pitchFamily="18" charset="0"/>
                                    </a:rPr>
                                    <m:t>𝜇</m:t>
                                  </m:r>
                                </m:e>
                              </m:d>
                            </m:e>
                            <m:sup>
                              <m:r>
                                <a:rPr lang="en-US" sz="2400" b="0" i="1" smtClean="0">
                                  <a:solidFill>
                                    <a:schemeClr val="accent2"/>
                                  </a:solidFill>
                                  <a:latin typeface="Cambria Math" panose="02040503050406030204" pitchFamily="18" charset="0"/>
                                </a:rPr>
                                <m:t>2</m:t>
                              </m:r>
                            </m:sup>
                          </m:sSup>
                          <m:r>
                            <a:rPr lang="en-US" sz="2400" b="0" i="1" smtClean="0">
                              <a:solidFill>
                                <a:schemeClr val="accent2"/>
                              </a:solidFill>
                              <a:latin typeface="Cambria Math" panose="02040503050406030204" pitchFamily="18" charset="0"/>
                            </a:rPr>
                            <m:t>≥</m:t>
                          </m:r>
                          <m:sSup>
                            <m:sSupPr>
                              <m:ctrlPr>
                                <a:rPr lang="en-US" sz="2400" b="0" i="1" smtClean="0">
                                  <a:solidFill>
                                    <a:schemeClr val="accent2"/>
                                  </a:solidFill>
                                  <a:latin typeface="Cambria Math" panose="02040503050406030204" pitchFamily="18" charset="0"/>
                                </a:rPr>
                              </m:ctrlPr>
                            </m:sSupPr>
                            <m:e>
                              <m:r>
                                <a:rPr lang="en-US" sz="2400" i="1">
                                  <a:solidFill>
                                    <a:schemeClr val="accent2"/>
                                  </a:solidFill>
                                  <a:latin typeface="Cambria Math" panose="02040503050406030204" pitchFamily="18" charset="0"/>
                                </a:rPr>
                                <m:t>𝑐</m:t>
                              </m:r>
                            </m:e>
                            <m:sup>
                              <m:r>
                                <a:rPr lang="en-US" sz="2400" b="0" i="1" smtClean="0">
                                  <a:solidFill>
                                    <a:schemeClr val="accent2"/>
                                  </a:solidFill>
                                  <a:latin typeface="Cambria Math" panose="02040503050406030204" pitchFamily="18" charset="0"/>
                                </a:rPr>
                                <m:t>2</m:t>
                              </m:r>
                            </m:sup>
                          </m:sSup>
                          <m:r>
                            <a:rPr lang="en-US" sz="2400" i="1">
                              <a:solidFill>
                                <a:schemeClr val="accent2"/>
                              </a:solidFill>
                              <a:latin typeface="Cambria Math" panose="02040503050406030204" pitchFamily="18" charset="0"/>
                            </a:rPr>
                            <m:t> </m:t>
                          </m:r>
                        </m:e>
                      </m:d>
                    </m:oMath>
                  </m:oMathPara>
                </a14:m>
                <a:endParaRPr lang="en-US" sz="2400"/>
              </a:p>
            </p:txBody>
          </p:sp>
        </mc:Choice>
        <mc:Fallback>
          <p:sp>
            <p:nvSpPr>
              <p:cNvPr id="5" name="TextBox 4">
                <a:extLst>
                  <a:ext uri="{FF2B5EF4-FFF2-40B4-BE49-F238E27FC236}">
                    <a16:creationId xmlns:a16="http://schemas.microsoft.com/office/drawing/2014/main" id="{C636711C-EACF-03CB-1EF7-AD79315D9489}"/>
                  </a:ext>
                </a:extLst>
              </p:cNvPr>
              <p:cNvSpPr txBox="1">
                <a:spLocks noRot="1" noChangeAspect="1" noMove="1" noResize="1" noEditPoints="1" noAdjustHandles="1" noChangeArrowheads="1" noChangeShapeType="1" noTextEdit="1"/>
              </p:cNvSpPr>
              <p:nvPr/>
            </p:nvSpPr>
            <p:spPr>
              <a:xfrm>
                <a:off x="3022600" y="4493552"/>
                <a:ext cx="6146800" cy="50917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D78E5292-0AE5-9DF6-AFAE-C3A8D317F5E2}"/>
                  </a:ext>
                </a:extLst>
              </p:cNvPr>
              <p:cNvSpPr txBox="1"/>
              <p:nvPr/>
            </p:nvSpPr>
            <p:spPr>
              <a:xfrm>
                <a:off x="4337050" y="5618478"/>
                <a:ext cx="3517900" cy="8100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2"/>
                          </a:solidFill>
                          <a:latin typeface="Cambria Math" panose="02040503050406030204" pitchFamily="18" charset="0"/>
                        </a:rPr>
                        <m:t>𝑃</m:t>
                      </m:r>
                      <m:d>
                        <m:dPr>
                          <m:ctrlPr>
                            <a:rPr lang="en-US" sz="2400" b="0" i="1" smtClean="0">
                              <a:solidFill>
                                <a:schemeClr val="accent2"/>
                              </a:solidFill>
                              <a:latin typeface="Cambria Math" panose="02040503050406030204" pitchFamily="18" charset="0"/>
                            </a:rPr>
                          </m:ctrlPr>
                        </m:dPr>
                        <m:e>
                          <m:r>
                            <a:rPr lang="en-US" sz="2400" b="0" i="1" smtClean="0">
                              <a:solidFill>
                                <a:schemeClr val="accent2"/>
                              </a:solidFill>
                              <a:latin typeface="Cambria Math" panose="02040503050406030204" pitchFamily="18" charset="0"/>
                            </a:rPr>
                            <m:t>𝑌</m:t>
                          </m:r>
                          <m:r>
                            <a:rPr lang="en-US" sz="2400" b="0" i="1" smtClean="0">
                              <a:solidFill>
                                <a:schemeClr val="accent2"/>
                              </a:solidFill>
                              <a:latin typeface="Cambria Math" panose="02040503050406030204" pitchFamily="18" charset="0"/>
                            </a:rPr>
                            <m:t>≥</m:t>
                          </m:r>
                          <m:sSup>
                            <m:sSupPr>
                              <m:ctrlPr>
                                <a:rPr lang="en-US" sz="2400" b="0" i="1" smtClean="0">
                                  <a:solidFill>
                                    <a:schemeClr val="accent2"/>
                                  </a:solidFill>
                                  <a:latin typeface="Cambria Math" panose="02040503050406030204" pitchFamily="18" charset="0"/>
                                </a:rPr>
                              </m:ctrlPr>
                            </m:sSupPr>
                            <m:e>
                              <m:r>
                                <a:rPr lang="en-US" sz="2400" b="0" i="1" smtClean="0">
                                  <a:solidFill>
                                    <a:schemeClr val="accent2"/>
                                  </a:solidFill>
                                  <a:latin typeface="Cambria Math" panose="02040503050406030204" pitchFamily="18" charset="0"/>
                                </a:rPr>
                                <m:t>𝑐</m:t>
                              </m:r>
                            </m:e>
                            <m:sup>
                              <m:r>
                                <a:rPr lang="en-US" sz="2400" b="0" i="1" smtClean="0">
                                  <a:solidFill>
                                    <a:schemeClr val="accent2"/>
                                  </a:solidFill>
                                  <a:latin typeface="Cambria Math" panose="02040503050406030204" pitchFamily="18" charset="0"/>
                                </a:rPr>
                                <m:t>2</m:t>
                              </m:r>
                            </m:sup>
                          </m:sSup>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i="1">
                              <a:latin typeface="Cambria Math" panose="02040503050406030204" pitchFamily="18" charset="0"/>
                            </a:rPr>
                            <m:t>𝔼</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𝑌</m:t>
                              </m:r>
                            </m:e>
                          </m:d>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𝑐</m:t>
                              </m:r>
                            </m:e>
                            <m:sup>
                              <m:r>
                                <a:rPr lang="en-US" sz="2400" b="0" i="1" smtClean="0">
                                  <a:latin typeface="Cambria Math" panose="02040503050406030204" pitchFamily="18" charset="0"/>
                                </a:rPr>
                                <m:t>2</m:t>
                              </m:r>
                            </m:sup>
                          </m:sSup>
                        </m:den>
                      </m:f>
                    </m:oMath>
                  </m:oMathPara>
                </a14:m>
                <a:endParaRPr lang="en-US" sz="2400"/>
              </a:p>
            </p:txBody>
          </p:sp>
        </mc:Choice>
        <mc:Fallback>
          <p:sp>
            <p:nvSpPr>
              <p:cNvPr id="4" name="TextBox 3">
                <a:extLst>
                  <a:ext uri="{FF2B5EF4-FFF2-40B4-BE49-F238E27FC236}">
                    <a16:creationId xmlns:a16="http://schemas.microsoft.com/office/drawing/2014/main" id="{D78E5292-0AE5-9DF6-AFAE-C3A8D317F5E2}"/>
                  </a:ext>
                </a:extLst>
              </p:cNvPr>
              <p:cNvSpPr txBox="1">
                <a:spLocks noRot="1" noChangeAspect="1" noMove="1" noResize="1" noEditPoints="1" noAdjustHandles="1" noChangeArrowheads="1" noChangeShapeType="1" noTextEdit="1"/>
              </p:cNvSpPr>
              <p:nvPr/>
            </p:nvSpPr>
            <p:spPr>
              <a:xfrm>
                <a:off x="4337050" y="5618478"/>
                <a:ext cx="3517900" cy="81003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5F0644BA-42A5-2B06-24C8-0A46B89D26E4}"/>
                  </a:ext>
                </a:extLst>
              </p:cNvPr>
              <p:cNvSpPr txBox="1"/>
              <p:nvPr/>
            </p:nvSpPr>
            <p:spPr>
              <a:xfrm>
                <a:off x="8205786" y="5561828"/>
                <a:ext cx="2157414" cy="830997"/>
              </a:xfrm>
              <a:prstGeom prst="rect">
                <a:avLst/>
              </a:prstGeom>
              <a:noFill/>
            </p:spPr>
            <p:txBody>
              <a:bodyPr wrap="square">
                <a:spAutoFit/>
              </a:bodyPr>
              <a:lstStyle/>
              <a:p>
                <a:r>
                  <a:rPr lang="en-US" sz="2400">
                    <a:latin typeface="Inter Light" panose="02000403000000020004" pitchFamily="2" charset="0"/>
                    <a:ea typeface="Inter Light" panose="02000403000000020004" pitchFamily="2" charset="0"/>
                    <a:cs typeface="Inter Light" panose="02000403000000020004" pitchFamily="2" charset="0"/>
                  </a:rPr>
                  <a:t>What is </a:t>
                </a:r>
                <a14:m>
                  <m:oMath xmlns:m="http://schemas.openxmlformats.org/officeDocument/2006/math">
                    <m:r>
                      <a:rPr lang="en-US" sz="2400" b="0" i="0">
                        <a:latin typeface="Cambria Math" panose="02040503050406030204" pitchFamily="18" charset="0"/>
                      </a:rPr>
                      <m:t>𝔼</m:t>
                    </m:r>
                    <m:d>
                      <m:dPr>
                        <m:begChr m:val="["/>
                        <m:endChr m:val="]"/>
                        <m:ctrlPr>
                          <a:rPr lang="en-US" sz="2400" i="1">
                            <a:latin typeface="Cambria Math" panose="02040503050406030204" pitchFamily="18" charset="0"/>
                          </a:rPr>
                        </m:ctrlPr>
                      </m:dPr>
                      <m:e>
                        <m:r>
                          <m:rPr>
                            <m:sty m:val="p"/>
                          </m:rPr>
                          <a:rPr lang="en-US" sz="2400" b="0" i="0" smtClean="0">
                            <a:latin typeface="Cambria Math" panose="02040503050406030204" pitchFamily="18" charset="0"/>
                          </a:rPr>
                          <m:t>Y</m:t>
                        </m:r>
                      </m:e>
                    </m:d>
                  </m:oMath>
                </a14:m>
                <a:r>
                  <a:rPr lang="en-US" sz="2400">
                    <a:latin typeface="Inter Light" panose="02000403000000020004" pitchFamily="2" charset="0"/>
                    <a:ea typeface="Inter Light" panose="02000403000000020004" pitchFamily="2" charset="0"/>
                    <a:cs typeface="Inter Light" panose="02000403000000020004" pitchFamily="2" charset="0"/>
                  </a:rPr>
                  <a:t>?</a:t>
                </a:r>
              </a:p>
              <a:p>
                <a:r>
                  <a:rPr lang="en-US" sz="2400" err="1">
                    <a:latin typeface="Inter Light" panose="02000403000000020004" pitchFamily="2" charset="0"/>
                    <a:ea typeface="Inter Light" panose="02000403000000020004" pitchFamily="2" charset="0"/>
                    <a:cs typeface="Inter Light" panose="02000403000000020004" pitchFamily="2" charset="0"/>
                  </a:rPr>
                  <a:t>joshh.ug</a:t>
                </a:r>
                <a:r>
                  <a:rPr lang="en-US" sz="2400">
                    <a:latin typeface="Inter Light" panose="02000403000000020004" pitchFamily="2" charset="0"/>
                    <a:ea typeface="Inter Light" panose="02000403000000020004" pitchFamily="2" charset="0"/>
                    <a:cs typeface="Inter Light" panose="02000403000000020004" pitchFamily="2" charset="0"/>
                  </a:rPr>
                  <a:t>/H</a:t>
                </a:r>
              </a:p>
            </p:txBody>
          </p:sp>
        </mc:Choice>
        <mc:Fallback>
          <p:sp>
            <p:nvSpPr>
              <p:cNvPr id="7" name="TextBox 6">
                <a:extLst>
                  <a:ext uri="{FF2B5EF4-FFF2-40B4-BE49-F238E27FC236}">
                    <a16:creationId xmlns:a16="http://schemas.microsoft.com/office/drawing/2014/main" id="{5F0644BA-42A5-2B06-24C8-0A46B89D26E4}"/>
                  </a:ext>
                </a:extLst>
              </p:cNvPr>
              <p:cNvSpPr txBox="1">
                <a:spLocks noRot="1" noChangeAspect="1" noMove="1" noResize="1" noEditPoints="1" noAdjustHandles="1" noChangeArrowheads="1" noChangeShapeType="1" noTextEdit="1"/>
              </p:cNvSpPr>
              <p:nvPr/>
            </p:nvSpPr>
            <p:spPr>
              <a:xfrm>
                <a:off x="8205786" y="5561828"/>
                <a:ext cx="2157414" cy="830997"/>
              </a:xfrm>
              <a:prstGeom prst="rect">
                <a:avLst/>
              </a:prstGeom>
              <a:blipFill>
                <a:blip r:embed="rId5"/>
                <a:stretch>
                  <a:fillRect l="-4237" t="-5839" b="-15328"/>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3419C618-89CF-C927-07E7-F64DE7F25F47}"/>
              </a:ext>
            </a:extLst>
          </p:cNvPr>
          <p:cNvPicPr>
            <a:picLocks noChangeAspect="1"/>
          </p:cNvPicPr>
          <p:nvPr/>
        </p:nvPicPr>
        <p:blipFill>
          <a:blip r:embed="rId6"/>
          <a:stretch>
            <a:fillRect/>
          </a:stretch>
        </p:blipFill>
        <p:spPr>
          <a:xfrm>
            <a:off x="9830409" y="1016301"/>
            <a:ext cx="2361591" cy="2310252"/>
          </a:xfrm>
          <a:prstGeom prst="rect">
            <a:avLst/>
          </a:prstGeom>
        </p:spPr>
      </p:pic>
    </p:spTree>
    <p:extLst>
      <p:ext uri="{BB962C8B-B14F-4D97-AF65-F5344CB8AC3E}">
        <p14:creationId xmlns:p14="http://schemas.microsoft.com/office/powerpoint/2010/main" val="31376143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5B832-5517-27F5-A05E-E3505E8BA3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A71AFF-D8A6-C454-10DA-7EE8702E81C8}"/>
              </a:ext>
            </a:extLst>
          </p:cNvPr>
          <p:cNvSpPr>
            <a:spLocks noGrp="1"/>
          </p:cNvSpPr>
          <p:nvPr>
            <p:ph type="title"/>
          </p:nvPr>
        </p:nvSpPr>
        <p:spPr/>
        <p:txBody>
          <a:bodyPr/>
          <a:lstStyle/>
          <a:p>
            <a:r>
              <a:rPr lang="en-US"/>
              <a:t>Chebyshev Proof</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E2D0716-D372-AF31-0845-1F1167761A7B}"/>
                  </a:ext>
                </a:extLst>
              </p:cNvPr>
              <p:cNvSpPr>
                <a:spLocks noGrp="1"/>
              </p:cNvSpPr>
              <p:nvPr>
                <p:ph idx="1"/>
              </p:nvPr>
            </p:nvSpPr>
            <p:spPr>
              <a:xfrm>
                <a:off x="93657" y="533399"/>
                <a:ext cx="11488745" cy="5895109"/>
              </a:xfrm>
            </p:spPr>
            <p:txBody>
              <a:bodyPr/>
              <a:lstStyle/>
              <a:p>
                <a:r>
                  <a:rPr lang="en-US"/>
                  <a:t>Define </a:t>
                </a:r>
                <a:r>
                  <a:rPr lang="en-US" b="1">
                    <a:solidFill>
                      <a:schemeClr val="accent3"/>
                    </a:solidFill>
                    <a:latin typeface="Inter" panose="02000503000000020004" pitchFamily="2" charset="0"/>
                    <a:ea typeface="Inter" panose="02000503000000020004" pitchFamily="2" charset="0"/>
                    <a:cs typeface="Inter" panose="02000503000000020004" pitchFamily="2" charset="0"/>
                  </a:rPr>
                  <a:t>Chebyshev’s Inequality</a:t>
                </a:r>
                <a:r>
                  <a:rPr lang="en-US"/>
                  <a:t> as follows. If </a:t>
                </a:r>
                <a14:m>
                  <m:oMath xmlns:m="http://schemas.openxmlformats.org/officeDocument/2006/math">
                    <m:r>
                      <a:rPr lang="en-US" b="0" i="1" smtClean="0">
                        <a:latin typeface="Cambria Math" panose="02040503050406030204" pitchFamily="18" charset="0"/>
                      </a:rPr>
                      <m:t>𝑋</m:t>
                    </m:r>
                  </m:oMath>
                </a14:m>
                <a:r>
                  <a:rPr lang="en-US"/>
                  <a:t> is a random variable with </a:t>
                </a:r>
                <a14:m>
                  <m:oMath xmlns:m="http://schemas.openxmlformats.org/officeDocument/2006/math">
                    <m:r>
                      <a:rPr lang="en-US" i="1">
                        <a:latin typeface="Cambria Math" panose="02040503050406030204" pitchFamily="18" charset="0"/>
                      </a:rPr>
                      <m:t>𝔼</m:t>
                    </m:r>
                    <m:d>
                      <m:dPr>
                        <m:begChr m:val="["/>
                        <m:endChr m:val="]"/>
                        <m:ctrlPr>
                          <a:rPr lang="en-US" i="1">
                            <a:latin typeface="Cambria Math" panose="02040503050406030204" pitchFamily="18" charset="0"/>
                          </a:rPr>
                        </m:ctrlPr>
                      </m:dPr>
                      <m:e>
                        <m:r>
                          <a:rPr lang="en-US" i="1">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𝜇</m:t>
                    </m:r>
                  </m:oMath>
                </a14:m>
                <a:r>
                  <a:rPr lang="en-US"/>
                  <a:t>, then for any constant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r>
                      <a:rPr lang="en-US" b="0" i="0" smtClean="0">
                        <a:latin typeface="Cambria Math" panose="02040503050406030204" pitchFamily="18" charset="0"/>
                      </a:rPr>
                      <m:t>:</m:t>
                    </m:r>
                  </m:oMath>
                </a14:m>
                <a:endParaRPr lang="en-US"/>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𝜇</m:t>
                              </m:r>
                            </m:e>
                          </m:d>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 </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var</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oMath>
                  </m:oMathPara>
                </a14:m>
                <a:endParaRPr lang="en-US"/>
              </a:p>
              <a:p>
                <a:r>
                  <a:rPr lang="en-US"/>
                  <a:t>Proof: </a:t>
                </a:r>
              </a:p>
              <a:p>
                <a:pPr marL="342900" indent="-342900">
                  <a:buFont typeface="Arial" panose="020B0604020202020204" pitchFamily="34" charset="0"/>
                  <a:buChar char="•"/>
                </a:pPr>
                <a:r>
                  <a:rPr lang="en-US"/>
                  <a:t>Observe that </a:t>
                </a:r>
                <a14:m>
                  <m:oMath xmlns:m="http://schemas.openxmlformats.org/officeDocument/2006/math">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r>
                          <a:rPr lang="en-US" sz="2400" b="0" i="1" smtClean="0">
                            <a:latin typeface="Cambria Math" panose="02040503050406030204" pitchFamily="18" charset="0"/>
                          </a:rPr>
                          <m:t>𝜇</m:t>
                        </m:r>
                      </m:e>
                    </m:d>
                  </m:oMath>
                </a14:m>
                <a:r>
                  <a:rPr lang="en-US"/>
                  <a:t> is a random variable. </a:t>
                </a:r>
              </a:p>
              <a:p>
                <a:pPr marL="342900" indent="-342900">
                  <a:buFont typeface="Arial" panose="020B0604020202020204" pitchFamily="34" charset="0"/>
                  <a:buChar char="•"/>
                </a:pPr>
                <a:r>
                  <a:rPr lang="en-US"/>
                  <a:t>Observe that any outcome </a:t>
                </a:r>
                <a14:m>
                  <m:oMath xmlns:m="http://schemas.openxmlformats.org/officeDocument/2006/math">
                    <m:r>
                      <a:rPr lang="en-US" b="0" i="1" smtClean="0">
                        <a:latin typeface="Cambria Math" panose="02040503050406030204" pitchFamily="18" charset="0"/>
                      </a:rPr>
                      <m:t>𝜔</m:t>
                    </m:r>
                  </m:oMath>
                </a14:m>
                <a:r>
                  <a:rPr lang="en-US"/>
                  <a:t> for which </a:t>
                </a:r>
                <a14:m>
                  <m:oMath xmlns:m="http://schemas.openxmlformats.org/officeDocument/2006/math">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𝜔</m:t>
                            </m:r>
                          </m:e>
                        </m:d>
                        <m:r>
                          <a:rPr lang="en-US" sz="2400" b="0" i="1" smtClean="0">
                            <a:latin typeface="Cambria Math" panose="02040503050406030204" pitchFamily="18" charset="0"/>
                          </a:rPr>
                          <m:t>−</m:t>
                        </m:r>
                        <m:r>
                          <a:rPr lang="en-US" sz="2400" b="0" i="1" smtClean="0">
                            <a:latin typeface="Cambria Math" panose="02040503050406030204" pitchFamily="18" charset="0"/>
                          </a:rPr>
                          <m:t>𝜇</m:t>
                        </m:r>
                      </m:e>
                    </m:d>
                    <m:r>
                      <a:rPr lang="en-US" sz="2400" b="0" i="1" smtClean="0">
                        <a:latin typeface="Cambria Math" panose="02040503050406030204" pitchFamily="18" charset="0"/>
                      </a:rPr>
                      <m:t>≥</m:t>
                    </m:r>
                    <m:r>
                      <a:rPr lang="en-US" sz="2400" b="0" i="1" smtClean="0">
                        <a:latin typeface="Cambria Math" panose="02040503050406030204" pitchFamily="18" charset="0"/>
                      </a:rPr>
                      <m:t>𝑐</m:t>
                    </m:r>
                  </m:oMath>
                </a14:m>
                <a:r>
                  <a:rPr lang="en-US"/>
                  <a:t>, we also have that </a:t>
                </a:r>
                <a14:m>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𝑋</m:t>
                            </m:r>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 </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oMath>
                </a14:m>
                <a:r>
                  <a:rPr lang="en-US"/>
                  <a:t> (and vice versa). This means that:</a:t>
                </a:r>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a:p>
                <a:pPr marL="342900" indent="-342900">
                  <a:buFont typeface="Arial" panose="020B0604020202020204" pitchFamily="34" charset="0"/>
                  <a:buChar char="•"/>
                </a:pPr>
                <a:r>
                  <a:rPr lang="en-US"/>
                  <a:t>Let </a:t>
                </a:r>
                <a14:m>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𝜇</m:t>
                            </m:r>
                          </m:e>
                        </m:d>
                      </m:e>
                      <m:sup>
                        <m:r>
                          <a:rPr lang="en-US" b="0" i="1" smtClean="0">
                            <a:latin typeface="Cambria Math" panose="02040503050406030204" pitchFamily="18" charset="0"/>
                          </a:rPr>
                          <m:t>2</m:t>
                        </m:r>
                      </m:sup>
                    </m:sSup>
                  </m:oMath>
                </a14:m>
                <a:r>
                  <a:rPr lang="en-US"/>
                  <a:t>. </a:t>
                </a:r>
                <a14:m>
                  <m:oMath xmlns:m="http://schemas.openxmlformats.org/officeDocument/2006/math">
                    <m:r>
                      <a:rPr lang="en-US">
                        <a:latin typeface="Cambria Math" panose="02040503050406030204" pitchFamily="18" charset="0"/>
                      </a:rPr>
                      <m:t>𝔼</m:t>
                    </m:r>
                    <m:d>
                      <m:dPr>
                        <m:begChr m:val="["/>
                        <m:endChr m:val="]"/>
                        <m:ctrlPr>
                          <a:rPr lang="en-US" i="1">
                            <a:latin typeface="Cambria Math" panose="02040503050406030204" pitchFamily="18" charset="0"/>
                          </a:rPr>
                        </m:ctrlPr>
                      </m:dPr>
                      <m:e>
                        <m:r>
                          <m:rPr>
                            <m:sty m:val="p"/>
                          </m:rPr>
                          <a:rPr lang="en-US">
                            <a:latin typeface="Cambria Math" panose="02040503050406030204" pitchFamily="18" charset="0"/>
                          </a:rPr>
                          <m:t>Y</m:t>
                        </m:r>
                      </m:e>
                    </m:d>
                    <m:r>
                      <a:rPr lang="en-US" i="1">
                        <a:latin typeface="Cambria Math" panose="02040503050406030204" pitchFamily="18" charset="0"/>
                      </a:rPr>
                      <m:t>=</m:t>
                    </m:r>
                    <m:r>
                      <m:rPr>
                        <m:sty m:val="p"/>
                      </m:rPr>
                      <a:rPr lang="en-US">
                        <a:latin typeface="Cambria Math" panose="02040503050406030204" pitchFamily="18" charset="0"/>
                      </a:rPr>
                      <m:t>var</m:t>
                    </m:r>
                    <m:r>
                      <a:rPr lang="en-US" i="1">
                        <a:latin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rPr>
                      <m:t>)</m:t>
                    </m:r>
                  </m:oMath>
                </a14:m>
                <a:endParaRPr lang="en-US"/>
              </a:p>
              <a:p>
                <a:pPr marL="342900" indent="-342900">
                  <a:buFont typeface="Arial" panose="020B0604020202020204" pitchFamily="34" charset="0"/>
                  <a:buChar char="•"/>
                </a:pPr>
                <a:r>
                  <a:rPr lang="en-US"/>
                  <a:t>Then by Markov’s inequality:</a:t>
                </a:r>
              </a:p>
              <a:p>
                <a:endParaRPr lang="en-US"/>
              </a:p>
            </p:txBody>
          </p:sp>
        </mc:Choice>
        <mc:Fallback>
          <p:sp>
            <p:nvSpPr>
              <p:cNvPr id="3" name="Content Placeholder 2">
                <a:extLst>
                  <a:ext uri="{FF2B5EF4-FFF2-40B4-BE49-F238E27FC236}">
                    <a16:creationId xmlns:a16="http://schemas.microsoft.com/office/drawing/2014/main" id="{1E2D0716-D372-AF31-0845-1F1167761A7B}"/>
                  </a:ext>
                </a:extLst>
              </p:cNvPr>
              <p:cNvSpPr>
                <a:spLocks noGrp="1" noRot="1" noChangeAspect="1" noMove="1" noResize="1" noEditPoints="1" noAdjustHandles="1" noChangeArrowheads="1" noChangeShapeType="1" noTextEdit="1"/>
              </p:cNvSpPr>
              <p:nvPr>
                <p:ph idx="1"/>
              </p:nvPr>
            </p:nvSpPr>
            <p:spPr>
              <a:xfrm>
                <a:off x="93657" y="533399"/>
                <a:ext cx="11488745" cy="5895109"/>
              </a:xfrm>
              <a:blipFill>
                <a:blip r:embed="rId2"/>
                <a:stretch>
                  <a:fillRect l="-796" t="-413" r="-74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CD50AD26-058E-75F9-722A-6C2259CF2887}"/>
                  </a:ext>
                </a:extLst>
              </p:cNvPr>
              <p:cNvSpPr txBox="1"/>
              <p:nvPr/>
            </p:nvSpPr>
            <p:spPr>
              <a:xfrm>
                <a:off x="3022600" y="4493552"/>
                <a:ext cx="6146800" cy="50917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2"/>
                          </a:solidFill>
                          <a:latin typeface="Cambria Math" panose="02040503050406030204" pitchFamily="18" charset="0"/>
                        </a:rPr>
                        <m:t>𝑃</m:t>
                      </m:r>
                      <m:d>
                        <m:dPr>
                          <m:ctrlPr>
                            <a:rPr lang="en-US" sz="2400" b="0" i="1" smtClean="0">
                              <a:solidFill>
                                <a:schemeClr val="accent2"/>
                              </a:solidFill>
                              <a:latin typeface="Cambria Math" panose="02040503050406030204" pitchFamily="18" charset="0"/>
                            </a:rPr>
                          </m:ctrlPr>
                        </m:dPr>
                        <m:e>
                          <m:d>
                            <m:dPr>
                              <m:begChr m:val="|"/>
                              <m:endChr m:val="|"/>
                              <m:ctrlPr>
                                <a:rPr lang="en-US" sz="2400" b="0" i="1" smtClean="0">
                                  <a:solidFill>
                                    <a:schemeClr val="accent2"/>
                                  </a:solidFill>
                                  <a:latin typeface="Cambria Math" panose="02040503050406030204" pitchFamily="18" charset="0"/>
                                </a:rPr>
                              </m:ctrlPr>
                            </m:dPr>
                            <m:e>
                              <m:r>
                                <a:rPr lang="en-US" sz="2400" b="0" i="1" smtClean="0">
                                  <a:solidFill>
                                    <a:schemeClr val="accent2"/>
                                  </a:solidFill>
                                  <a:latin typeface="Cambria Math" panose="02040503050406030204" pitchFamily="18" charset="0"/>
                                </a:rPr>
                                <m:t>𝑋</m:t>
                              </m:r>
                              <m:r>
                                <a:rPr lang="en-US" sz="2400" b="0" i="1" smtClean="0">
                                  <a:solidFill>
                                    <a:schemeClr val="accent2"/>
                                  </a:solidFill>
                                  <a:latin typeface="Cambria Math" panose="02040503050406030204" pitchFamily="18" charset="0"/>
                                </a:rPr>
                                <m:t>−</m:t>
                              </m:r>
                              <m:r>
                                <a:rPr lang="en-US" sz="2400" b="0" i="1" smtClean="0">
                                  <a:solidFill>
                                    <a:schemeClr val="accent2"/>
                                  </a:solidFill>
                                  <a:latin typeface="Cambria Math" panose="02040503050406030204" pitchFamily="18" charset="0"/>
                                </a:rPr>
                                <m:t>𝜇</m:t>
                              </m:r>
                            </m:e>
                          </m:d>
                          <m:r>
                            <a:rPr lang="en-US" sz="2400" b="0" i="1" smtClean="0">
                              <a:solidFill>
                                <a:schemeClr val="accent2"/>
                              </a:solidFill>
                              <a:latin typeface="Cambria Math" panose="02040503050406030204" pitchFamily="18" charset="0"/>
                            </a:rPr>
                            <m:t>≥</m:t>
                          </m:r>
                          <m:r>
                            <a:rPr lang="en-US" sz="2400" b="0" i="1" smtClean="0">
                              <a:solidFill>
                                <a:schemeClr val="accent2"/>
                              </a:solidFill>
                              <a:latin typeface="Cambria Math" panose="02040503050406030204" pitchFamily="18" charset="0"/>
                            </a:rPr>
                            <m:t>𝑐</m:t>
                          </m:r>
                          <m:r>
                            <a:rPr lang="en-US" sz="2400" b="0" i="1" smtClean="0">
                              <a:solidFill>
                                <a:schemeClr val="accent2"/>
                              </a:solidFill>
                              <a:latin typeface="Cambria Math" panose="02040503050406030204" pitchFamily="18" charset="0"/>
                            </a:rPr>
                            <m:t> </m:t>
                          </m:r>
                        </m:e>
                      </m:d>
                      <m:r>
                        <a:rPr lang="en-US" sz="2400" i="1">
                          <a:latin typeface="Cambria Math" panose="02040503050406030204" pitchFamily="18" charset="0"/>
                        </a:rPr>
                        <m:t>=</m:t>
                      </m:r>
                      <m:r>
                        <a:rPr lang="en-US" sz="2400" i="1" smtClean="0">
                          <a:solidFill>
                            <a:schemeClr val="accent2"/>
                          </a:solidFill>
                          <a:latin typeface="Cambria Math" panose="02040503050406030204" pitchFamily="18" charset="0"/>
                        </a:rPr>
                        <m:t>𝑃</m:t>
                      </m:r>
                      <m:d>
                        <m:dPr>
                          <m:ctrlPr>
                            <a:rPr lang="en-US" sz="2400" i="1">
                              <a:solidFill>
                                <a:schemeClr val="accent2"/>
                              </a:solidFill>
                              <a:latin typeface="Cambria Math" panose="02040503050406030204" pitchFamily="18" charset="0"/>
                            </a:rPr>
                          </m:ctrlPr>
                        </m:dPr>
                        <m:e>
                          <m:sSup>
                            <m:sSupPr>
                              <m:ctrlPr>
                                <a:rPr lang="en-US" sz="2400" b="0" i="1" smtClean="0">
                                  <a:solidFill>
                                    <a:schemeClr val="accent2"/>
                                  </a:solidFill>
                                  <a:latin typeface="Cambria Math" panose="02040503050406030204" pitchFamily="18" charset="0"/>
                                </a:rPr>
                              </m:ctrlPr>
                            </m:sSupPr>
                            <m:e>
                              <m:d>
                                <m:dPr>
                                  <m:ctrlPr>
                                    <a:rPr lang="en-US" sz="2400" b="0" i="1" smtClean="0">
                                      <a:solidFill>
                                        <a:schemeClr val="accent2"/>
                                      </a:solidFill>
                                      <a:latin typeface="Cambria Math" panose="02040503050406030204" pitchFamily="18" charset="0"/>
                                    </a:rPr>
                                  </m:ctrlPr>
                                </m:dPr>
                                <m:e>
                                  <m:r>
                                    <a:rPr lang="en-US" sz="2400" b="0" i="1" smtClean="0">
                                      <a:solidFill>
                                        <a:schemeClr val="accent2"/>
                                      </a:solidFill>
                                      <a:latin typeface="Cambria Math" panose="02040503050406030204" pitchFamily="18" charset="0"/>
                                    </a:rPr>
                                    <m:t>𝑋</m:t>
                                  </m:r>
                                  <m:r>
                                    <a:rPr lang="en-US" sz="2400" b="0" i="1" smtClean="0">
                                      <a:solidFill>
                                        <a:schemeClr val="accent2"/>
                                      </a:solidFill>
                                      <a:latin typeface="Cambria Math" panose="02040503050406030204" pitchFamily="18" charset="0"/>
                                    </a:rPr>
                                    <m:t>−</m:t>
                                  </m:r>
                                  <m:r>
                                    <a:rPr lang="en-US" sz="2400" b="0" i="1" smtClean="0">
                                      <a:solidFill>
                                        <a:schemeClr val="accent2"/>
                                      </a:solidFill>
                                      <a:latin typeface="Cambria Math" panose="02040503050406030204" pitchFamily="18" charset="0"/>
                                    </a:rPr>
                                    <m:t>𝜇</m:t>
                                  </m:r>
                                </m:e>
                              </m:d>
                            </m:e>
                            <m:sup>
                              <m:r>
                                <a:rPr lang="en-US" sz="2400" b="0" i="1" smtClean="0">
                                  <a:solidFill>
                                    <a:schemeClr val="accent2"/>
                                  </a:solidFill>
                                  <a:latin typeface="Cambria Math" panose="02040503050406030204" pitchFamily="18" charset="0"/>
                                </a:rPr>
                                <m:t>2</m:t>
                              </m:r>
                            </m:sup>
                          </m:sSup>
                          <m:r>
                            <a:rPr lang="en-US" sz="2400" b="0" i="1" smtClean="0">
                              <a:solidFill>
                                <a:schemeClr val="accent2"/>
                              </a:solidFill>
                              <a:latin typeface="Cambria Math" panose="02040503050406030204" pitchFamily="18" charset="0"/>
                            </a:rPr>
                            <m:t>≥</m:t>
                          </m:r>
                          <m:sSup>
                            <m:sSupPr>
                              <m:ctrlPr>
                                <a:rPr lang="en-US" sz="2400" b="0" i="1" smtClean="0">
                                  <a:solidFill>
                                    <a:schemeClr val="accent2"/>
                                  </a:solidFill>
                                  <a:latin typeface="Cambria Math" panose="02040503050406030204" pitchFamily="18" charset="0"/>
                                </a:rPr>
                              </m:ctrlPr>
                            </m:sSupPr>
                            <m:e>
                              <m:r>
                                <a:rPr lang="en-US" sz="2400" i="1">
                                  <a:solidFill>
                                    <a:schemeClr val="accent2"/>
                                  </a:solidFill>
                                  <a:latin typeface="Cambria Math" panose="02040503050406030204" pitchFamily="18" charset="0"/>
                                </a:rPr>
                                <m:t>𝑐</m:t>
                              </m:r>
                            </m:e>
                            <m:sup>
                              <m:r>
                                <a:rPr lang="en-US" sz="2400" b="0" i="1" smtClean="0">
                                  <a:solidFill>
                                    <a:schemeClr val="accent2"/>
                                  </a:solidFill>
                                  <a:latin typeface="Cambria Math" panose="02040503050406030204" pitchFamily="18" charset="0"/>
                                </a:rPr>
                                <m:t>2</m:t>
                              </m:r>
                            </m:sup>
                          </m:sSup>
                          <m:r>
                            <a:rPr lang="en-US" sz="2400" i="1">
                              <a:solidFill>
                                <a:schemeClr val="accent2"/>
                              </a:solidFill>
                              <a:latin typeface="Cambria Math" panose="02040503050406030204" pitchFamily="18" charset="0"/>
                            </a:rPr>
                            <m:t> </m:t>
                          </m:r>
                        </m:e>
                      </m:d>
                    </m:oMath>
                  </m:oMathPara>
                </a14:m>
                <a:endParaRPr lang="en-US" sz="2400"/>
              </a:p>
            </p:txBody>
          </p:sp>
        </mc:Choice>
        <mc:Fallback>
          <p:sp>
            <p:nvSpPr>
              <p:cNvPr id="5" name="TextBox 4">
                <a:extLst>
                  <a:ext uri="{FF2B5EF4-FFF2-40B4-BE49-F238E27FC236}">
                    <a16:creationId xmlns:a16="http://schemas.microsoft.com/office/drawing/2014/main" id="{CD50AD26-058E-75F9-722A-6C2259CF2887}"/>
                  </a:ext>
                </a:extLst>
              </p:cNvPr>
              <p:cNvSpPr txBox="1">
                <a:spLocks noRot="1" noChangeAspect="1" noMove="1" noResize="1" noEditPoints="1" noAdjustHandles="1" noChangeArrowheads="1" noChangeShapeType="1" noTextEdit="1"/>
              </p:cNvSpPr>
              <p:nvPr/>
            </p:nvSpPr>
            <p:spPr>
              <a:xfrm>
                <a:off x="3022600" y="4493552"/>
                <a:ext cx="6146800" cy="50917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04A499A9-B567-470E-B0A5-FEAFAE0F50BE}"/>
                  </a:ext>
                </a:extLst>
              </p:cNvPr>
              <p:cNvSpPr txBox="1"/>
              <p:nvPr/>
            </p:nvSpPr>
            <p:spPr>
              <a:xfrm>
                <a:off x="4337050" y="5618478"/>
                <a:ext cx="3517900" cy="8100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2"/>
                          </a:solidFill>
                          <a:latin typeface="Cambria Math" panose="02040503050406030204" pitchFamily="18" charset="0"/>
                        </a:rPr>
                        <m:t>𝑃</m:t>
                      </m:r>
                      <m:d>
                        <m:dPr>
                          <m:ctrlPr>
                            <a:rPr lang="en-US" sz="2400" b="0" i="1" smtClean="0">
                              <a:solidFill>
                                <a:schemeClr val="accent2"/>
                              </a:solidFill>
                              <a:latin typeface="Cambria Math" panose="02040503050406030204" pitchFamily="18" charset="0"/>
                            </a:rPr>
                          </m:ctrlPr>
                        </m:dPr>
                        <m:e>
                          <m:r>
                            <a:rPr lang="en-US" sz="2400" b="0" i="1" smtClean="0">
                              <a:solidFill>
                                <a:schemeClr val="accent2"/>
                              </a:solidFill>
                              <a:latin typeface="Cambria Math" panose="02040503050406030204" pitchFamily="18" charset="0"/>
                            </a:rPr>
                            <m:t>𝑌</m:t>
                          </m:r>
                          <m:r>
                            <a:rPr lang="en-US" sz="2400" b="0" i="1" smtClean="0">
                              <a:solidFill>
                                <a:schemeClr val="accent2"/>
                              </a:solidFill>
                              <a:latin typeface="Cambria Math" panose="02040503050406030204" pitchFamily="18" charset="0"/>
                            </a:rPr>
                            <m:t>≥</m:t>
                          </m:r>
                          <m:sSup>
                            <m:sSupPr>
                              <m:ctrlPr>
                                <a:rPr lang="en-US" sz="2400" b="0" i="1" smtClean="0">
                                  <a:solidFill>
                                    <a:schemeClr val="accent2"/>
                                  </a:solidFill>
                                  <a:latin typeface="Cambria Math" panose="02040503050406030204" pitchFamily="18" charset="0"/>
                                </a:rPr>
                              </m:ctrlPr>
                            </m:sSupPr>
                            <m:e>
                              <m:r>
                                <a:rPr lang="en-US" sz="2400" b="0" i="1" smtClean="0">
                                  <a:solidFill>
                                    <a:schemeClr val="accent2"/>
                                  </a:solidFill>
                                  <a:latin typeface="Cambria Math" panose="02040503050406030204" pitchFamily="18" charset="0"/>
                                </a:rPr>
                                <m:t>𝑐</m:t>
                              </m:r>
                            </m:e>
                            <m:sup>
                              <m:r>
                                <a:rPr lang="en-US" sz="2400" b="0" i="1" smtClean="0">
                                  <a:solidFill>
                                    <a:schemeClr val="accent2"/>
                                  </a:solidFill>
                                  <a:latin typeface="Cambria Math" panose="02040503050406030204" pitchFamily="18" charset="0"/>
                                </a:rPr>
                                <m:t>2</m:t>
                              </m:r>
                            </m:sup>
                          </m:sSup>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i="1">
                              <a:latin typeface="Cambria Math" panose="02040503050406030204" pitchFamily="18" charset="0"/>
                            </a:rPr>
                            <m:t>𝔼</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𝑌</m:t>
                              </m:r>
                            </m:e>
                          </m:d>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𝑐</m:t>
                              </m:r>
                            </m:e>
                            <m:sup>
                              <m:r>
                                <a:rPr lang="en-US" sz="2400" b="0" i="1" smtClean="0">
                                  <a:latin typeface="Cambria Math" panose="02040503050406030204" pitchFamily="18" charset="0"/>
                                </a:rPr>
                                <m:t>2</m:t>
                              </m:r>
                            </m:sup>
                          </m:sSup>
                        </m:den>
                      </m:f>
                    </m:oMath>
                  </m:oMathPara>
                </a14:m>
                <a:endParaRPr lang="en-US" sz="2400"/>
              </a:p>
            </p:txBody>
          </p:sp>
        </mc:Choice>
        <mc:Fallback>
          <p:sp>
            <p:nvSpPr>
              <p:cNvPr id="4" name="TextBox 3">
                <a:extLst>
                  <a:ext uri="{FF2B5EF4-FFF2-40B4-BE49-F238E27FC236}">
                    <a16:creationId xmlns:a16="http://schemas.microsoft.com/office/drawing/2014/main" id="{04A499A9-B567-470E-B0A5-FEAFAE0F50BE}"/>
                  </a:ext>
                </a:extLst>
              </p:cNvPr>
              <p:cNvSpPr txBox="1">
                <a:spLocks noRot="1" noChangeAspect="1" noMove="1" noResize="1" noEditPoints="1" noAdjustHandles="1" noChangeArrowheads="1" noChangeShapeType="1" noTextEdit="1"/>
              </p:cNvSpPr>
              <p:nvPr/>
            </p:nvSpPr>
            <p:spPr>
              <a:xfrm>
                <a:off x="4337050" y="5618478"/>
                <a:ext cx="3517900" cy="81003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6776FF96-698A-1844-533F-C4AE97A5E287}"/>
                  </a:ext>
                </a:extLst>
              </p:cNvPr>
              <p:cNvSpPr txBox="1"/>
              <p:nvPr/>
            </p:nvSpPr>
            <p:spPr>
              <a:xfrm>
                <a:off x="7073900" y="5619247"/>
                <a:ext cx="1841500" cy="8092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m:rPr>
                              <m:sty m:val="p"/>
                            </m:rPr>
                            <a:rPr lang="en-US" sz="2400" b="0" i="0" smtClean="0">
                              <a:latin typeface="Cambria Math" panose="02040503050406030204" pitchFamily="18" charset="0"/>
                            </a:rPr>
                            <m:t>var</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e>
                          </m:d>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𝑐</m:t>
                              </m:r>
                            </m:e>
                            <m:sup>
                              <m:r>
                                <a:rPr lang="en-US" sz="2400" b="0" i="1" smtClean="0">
                                  <a:latin typeface="Cambria Math" panose="02040503050406030204" pitchFamily="18" charset="0"/>
                                </a:rPr>
                                <m:t>2</m:t>
                              </m:r>
                            </m:sup>
                          </m:sSup>
                        </m:den>
                      </m:f>
                    </m:oMath>
                  </m:oMathPara>
                </a14:m>
                <a:endParaRPr lang="en-US" sz="2400"/>
              </a:p>
            </p:txBody>
          </p:sp>
        </mc:Choice>
        <mc:Fallback>
          <p:sp>
            <p:nvSpPr>
              <p:cNvPr id="9" name="TextBox 8">
                <a:extLst>
                  <a:ext uri="{FF2B5EF4-FFF2-40B4-BE49-F238E27FC236}">
                    <a16:creationId xmlns:a16="http://schemas.microsoft.com/office/drawing/2014/main" id="{6776FF96-698A-1844-533F-C4AE97A5E287}"/>
                  </a:ext>
                </a:extLst>
              </p:cNvPr>
              <p:cNvSpPr txBox="1">
                <a:spLocks noRot="1" noChangeAspect="1" noMove="1" noResize="1" noEditPoints="1" noAdjustHandles="1" noChangeArrowheads="1" noChangeShapeType="1" noTextEdit="1"/>
              </p:cNvSpPr>
              <p:nvPr/>
            </p:nvSpPr>
            <p:spPr>
              <a:xfrm>
                <a:off x="7073900" y="5619247"/>
                <a:ext cx="1841500" cy="809261"/>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8029582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FF10D-E343-D00D-57C4-145C9BA012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05B234-2DEA-A2A5-BC1E-2692CF554AC2}"/>
              </a:ext>
            </a:extLst>
          </p:cNvPr>
          <p:cNvSpPr>
            <a:spLocks noGrp="1"/>
          </p:cNvSpPr>
          <p:nvPr>
            <p:ph type="title"/>
          </p:nvPr>
        </p:nvSpPr>
        <p:spPr/>
        <p:txBody>
          <a:bodyPr/>
          <a:lstStyle/>
          <a:p>
            <a:r>
              <a:rPr lang="en-US"/>
              <a:t>Chebyshev’s Inequality and Markov’s Inequality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5DBD0D3-50A3-40DA-75E9-0F3F6745EC08}"/>
                  </a:ext>
                </a:extLst>
              </p:cNvPr>
              <p:cNvSpPr>
                <a:spLocks noGrp="1"/>
              </p:cNvSpPr>
              <p:nvPr>
                <p:ph idx="1"/>
              </p:nvPr>
            </p:nvSpPr>
            <p:spPr/>
            <p:txBody>
              <a:bodyPr/>
              <a:lstStyle/>
              <a:p>
                <a:r>
                  <a:rPr lang="en-US"/>
                  <a:t>Even though Markov’s Inequality is weak for understanding </a:t>
                </a:r>
                <a14:m>
                  <m:oMath xmlns:m="http://schemas.openxmlformats.org/officeDocument/2006/math">
                    <m:r>
                      <a:rPr lang="en-US" b="0" i="1" smtClean="0">
                        <a:latin typeface="Cambria Math" panose="02040503050406030204" pitchFamily="18" charset="0"/>
                      </a:rPr>
                      <m:t>𝑋</m:t>
                    </m:r>
                  </m:oMath>
                </a14:m>
                <a:r>
                  <a:rPr lang="en-US"/>
                  <a:t>, we were able to enhance its power by considering a new random variable </a:t>
                </a:r>
                <a14:m>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𝜇</m:t>
                            </m:r>
                          </m:e>
                        </m:d>
                      </m:e>
                      <m:sup>
                        <m:r>
                          <a:rPr lang="en-US" b="0" i="1" smtClean="0">
                            <a:latin typeface="Cambria Math" panose="02040503050406030204" pitchFamily="18" charset="0"/>
                          </a:rPr>
                          <m:t>2</m:t>
                        </m:r>
                      </m:sup>
                    </m:sSup>
                  </m:oMath>
                </a14:m>
                <a:r>
                  <a:rPr lang="en-US"/>
                  <a:t> and applying Markov’s Inequality bound on this new variable.</a:t>
                </a:r>
              </a:p>
              <a:p>
                <a:pPr marL="342900" indent="-342900">
                  <a:buFont typeface="Arial" panose="020B0604020202020204" pitchFamily="34" charset="0"/>
                  <a:buChar char="•"/>
                </a:pPr>
                <a:r>
                  <a:rPr lang="en-US"/>
                  <a:t>Since </a:t>
                </a:r>
                <a14:m>
                  <m:oMath xmlns:m="http://schemas.openxmlformats.org/officeDocument/2006/math">
                    <m:r>
                      <a:rPr lang="en-US" i="1">
                        <a:latin typeface="Cambria Math" panose="02040503050406030204" pitchFamily="18" charset="0"/>
                      </a:rPr>
                      <m:t>𝔼</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𝑌</m:t>
                        </m:r>
                      </m:e>
                    </m:d>
                    <m:r>
                      <a:rPr lang="en-US" b="0" i="1" smtClean="0">
                        <a:latin typeface="Cambria Math" panose="02040503050406030204" pitchFamily="18" charset="0"/>
                      </a:rPr>
                      <m:t>=</m:t>
                    </m:r>
                    <m:r>
                      <a:rPr lang="en-US" i="1">
                        <a:latin typeface="Cambria Math" panose="02040503050406030204" pitchFamily="18" charset="0"/>
                      </a:rPr>
                      <m:t>𝔼</m:t>
                    </m:r>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𝜇</m:t>
                                </m:r>
                              </m:e>
                            </m:d>
                          </m:e>
                          <m:sup>
                            <m:r>
                              <a:rPr lang="en-US" i="1">
                                <a:latin typeface="Cambria Math" panose="02040503050406030204" pitchFamily="18" charset="0"/>
                              </a:rPr>
                              <m:t>2</m:t>
                            </m:r>
                          </m:sup>
                        </m:sSup>
                      </m:e>
                    </m:d>
                    <m:r>
                      <a:rPr lang="en-US" b="0" i="1" smtClean="0">
                        <a:latin typeface="Cambria Math" panose="02040503050406030204" pitchFamily="18" charset="0"/>
                      </a:rPr>
                      <m:t>=</m:t>
                    </m:r>
                    <m:r>
                      <m:rPr>
                        <m:sty m:val="p"/>
                      </m:rPr>
                      <a:rPr lang="en-US" b="0" i="0" smtClean="0">
                        <a:latin typeface="Cambria Math" panose="02040503050406030204" pitchFamily="18" charset="0"/>
                      </a:rPr>
                      <m:t>var</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oMath>
                </a14:m>
                <a:r>
                  <a:rPr lang="en-US"/>
                  <a:t>, our resulting bound was in terms of the variance.</a:t>
                </a:r>
              </a:p>
            </p:txBody>
          </p:sp>
        </mc:Choice>
        <mc:Fallback>
          <p:sp>
            <p:nvSpPr>
              <p:cNvPr id="3" name="Content Placeholder 2">
                <a:extLst>
                  <a:ext uri="{FF2B5EF4-FFF2-40B4-BE49-F238E27FC236}">
                    <a16:creationId xmlns:a16="http://schemas.microsoft.com/office/drawing/2014/main" id="{55DBD0D3-50A3-40DA-75E9-0F3F6745EC08}"/>
                  </a:ext>
                </a:extLst>
              </p:cNvPr>
              <p:cNvSpPr>
                <a:spLocks noGrp="1" noRot="1" noChangeAspect="1" noMove="1" noResize="1" noEditPoints="1" noAdjustHandles="1" noChangeArrowheads="1" noChangeShapeType="1" noTextEdit="1"/>
              </p:cNvSpPr>
              <p:nvPr>
                <p:ph idx="1"/>
              </p:nvPr>
            </p:nvSpPr>
            <p:spPr>
              <a:blipFill>
                <a:blip r:embed="rId2"/>
                <a:stretch>
                  <a:fillRect l="-796" t="-541" r="-37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5" name="Table 4">
                <a:extLst>
                  <a:ext uri="{FF2B5EF4-FFF2-40B4-BE49-F238E27FC236}">
                    <a16:creationId xmlns:a16="http://schemas.microsoft.com/office/drawing/2014/main" id="{7527751D-8026-B210-8F6C-DB5DE9A42FC4}"/>
                  </a:ext>
                </a:extLst>
              </p:cNvPr>
              <p:cNvGraphicFramePr>
                <a:graphicFrameLocks noGrp="1"/>
              </p:cNvGraphicFramePr>
              <p:nvPr>
                <p:extLst>
                  <p:ext uri="{D42A27DB-BD31-4B8C-83A1-F6EECF244321}">
                    <p14:modId xmlns:p14="http://schemas.microsoft.com/office/powerpoint/2010/main" val="3142135056"/>
                  </p:ext>
                </p:extLst>
              </p:nvPr>
            </p:nvGraphicFramePr>
            <p:xfrm>
              <a:off x="169013" y="4057115"/>
              <a:ext cx="11615637" cy="2468880"/>
            </p:xfrm>
            <a:graphic>
              <a:graphicData uri="http://schemas.openxmlformats.org/drawingml/2006/table">
                <a:tbl>
                  <a:tblPr firstRow="1" bandRow="1">
                    <a:tableStyleId>{5940675A-B579-460E-94D1-54222C63F5DA}</a:tableStyleId>
                  </a:tblPr>
                  <a:tblGrid>
                    <a:gridCol w="1600885">
                      <a:extLst>
                        <a:ext uri="{9D8B030D-6E8A-4147-A177-3AD203B41FA5}">
                          <a16:colId xmlns:a16="http://schemas.microsoft.com/office/drawing/2014/main" val="2091227575"/>
                        </a:ext>
                      </a:extLst>
                    </a:gridCol>
                    <a:gridCol w="2977291">
                      <a:extLst>
                        <a:ext uri="{9D8B030D-6E8A-4147-A177-3AD203B41FA5}">
                          <a16:colId xmlns:a16="http://schemas.microsoft.com/office/drawing/2014/main" val="1183393883"/>
                        </a:ext>
                      </a:extLst>
                    </a:gridCol>
                    <a:gridCol w="2864239">
                      <a:extLst>
                        <a:ext uri="{9D8B030D-6E8A-4147-A177-3AD203B41FA5}">
                          <a16:colId xmlns:a16="http://schemas.microsoft.com/office/drawing/2014/main" val="3914813623"/>
                        </a:ext>
                      </a:extLst>
                    </a:gridCol>
                    <a:gridCol w="1513318">
                      <a:extLst>
                        <a:ext uri="{9D8B030D-6E8A-4147-A177-3AD203B41FA5}">
                          <a16:colId xmlns:a16="http://schemas.microsoft.com/office/drawing/2014/main" val="4110579076"/>
                        </a:ext>
                      </a:extLst>
                    </a:gridCol>
                    <a:gridCol w="1215665">
                      <a:extLst>
                        <a:ext uri="{9D8B030D-6E8A-4147-A177-3AD203B41FA5}">
                          <a16:colId xmlns:a16="http://schemas.microsoft.com/office/drawing/2014/main" val="1805466029"/>
                        </a:ext>
                      </a:extLst>
                    </a:gridCol>
                    <a:gridCol w="1444239">
                      <a:extLst>
                        <a:ext uri="{9D8B030D-6E8A-4147-A177-3AD203B41FA5}">
                          <a16:colId xmlns:a16="http://schemas.microsoft.com/office/drawing/2014/main" val="1332730735"/>
                        </a:ext>
                      </a:extLst>
                    </a:gridCol>
                  </a:tblGrid>
                  <a:tr h="370840">
                    <a:tc>
                      <a:txBody>
                        <a:bodyPr/>
                        <a:lstStyle/>
                        <a:p>
                          <a:endParaRPr lang="en-US">
                            <a:latin typeface="Inter Light" panose="02000403000000020004"/>
                          </a:endParaRPr>
                        </a:p>
                      </a:txBody>
                      <a:tcPr/>
                    </a:tc>
                    <a:tc>
                      <a:txBody>
                        <a:bodyPr/>
                        <a:lstStyle/>
                        <a:p>
                          <a:r>
                            <a:rPr lang="en-US">
                              <a:latin typeface="Inter Light" panose="02000403000000020004"/>
                            </a:rPr>
                            <a:t>Equation</a:t>
                          </a:r>
                        </a:p>
                      </a:txBody>
                      <a:tcPr/>
                    </a:tc>
                    <a:tc>
                      <a:txBody>
                        <a:bodyPr/>
                        <a:lstStyle/>
                        <a:p>
                          <a:r>
                            <a:rPr lang="en-US">
                              <a:latin typeface="Inter Light" panose="02000403000000020004"/>
                            </a:rPr>
                            <a:t>Interpretation</a:t>
                          </a:r>
                        </a:p>
                      </a:txBody>
                      <a:tcPr/>
                    </a:tc>
                    <a:tc>
                      <a:txBody>
                        <a:bodyPr/>
                        <a:lstStyle/>
                        <a:p>
                          <a:r>
                            <a:rPr lang="en-US">
                              <a:latin typeface="Inter Light" panose="02000403000000020004"/>
                            </a:rPr>
                            <a:t>Tight?</a:t>
                          </a:r>
                        </a:p>
                      </a:txBody>
                      <a:tcPr/>
                    </a:tc>
                    <a:tc>
                      <a:txBody>
                        <a:bodyPr/>
                        <a:lstStyle/>
                        <a:p>
                          <a:r>
                            <a:rPr lang="en-US">
                              <a:latin typeface="Inter Light" panose="02000403000000020004"/>
                            </a:rPr>
                            <a:t>Condition</a:t>
                          </a:r>
                        </a:p>
                      </a:txBody>
                      <a:tcPr/>
                    </a:tc>
                    <a:tc>
                      <a:txBody>
                        <a:bodyPr/>
                        <a:lstStyle/>
                        <a:p>
                          <a:r>
                            <a:rPr lang="en-US">
                              <a:latin typeface="Inter Light" panose="02000403000000020004"/>
                            </a:rPr>
                            <a:t>Requires Computing</a:t>
                          </a:r>
                        </a:p>
                      </a:txBody>
                      <a:tcPr/>
                    </a:tc>
                    <a:extLst>
                      <a:ext uri="{0D108BD9-81ED-4DB2-BD59-A6C34878D82A}">
                        <a16:rowId xmlns:a16="http://schemas.microsoft.com/office/drawing/2014/main" val="1162367978"/>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atin typeface="Inter Light" panose="02000403000000020004"/>
                            </a:rPr>
                            <a:t>Markov’s Inequality</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𝑐</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smtClean="0">
                                        <a:latin typeface="Cambria Math" panose="02040503050406030204" pitchFamily="18" charset="0"/>
                                      </a:rPr>
                                      <m:t>𝜇</m:t>
                                    </m:r>
                                  </m:num>
                                  <m:den>
                                    <m:r>
                                      <a:rPr lang="en-US" b="0" i="1" smtClean="0">
                                        <a:latin typeface="Cambria Math" panose="02040503050406030204" pitchFamily="18" charset="0"/>
                                      </a:rPr>
                                      <m:t>𝑐</m:t>
                                    </m:r>
                                  </m:den>
                                </m:f>
                              </m:oMath>
                            </m:oMathPara>
                          </a14:m>
                          <a:endParaRPr lang="en-US">
                            <a:latin typeface="Inter Light" panose="02000403000000020004"/>
                          </a:endParaRPr>
                        </a:p>
                        <a:p>
                          <a:pPr algn="l"/>
                          <a:endParaRPr lang="en-US">
                            <a:latin typeface="Inter Light" panose="02000403000000020004"/>
                          </a:endParaRPr>
                        </a:p>
                      </a:txBody>
                      <a:tcPr anchor="b"/>
                    </a:tc>
                    <a:tc>
                      <a:txBody>
                        <a:bodyPr/>
                        <a:lstStyle/>
                        <a:p>
                          <a:r>
                            <a:rPr lang="en-US">
                              <a:latin typeface="Inter Light" panose="02000403000000020004"/>
                            </a:rPr>
                            <a:t>Gives probability that a random variable exceeds some value.</a:t>
                          </a:r>
                        </a:p>
                      </a:txBody>
                      <a:tcPr/>
                    </a:tc>
                    <a:tc>
                      <a:txBody>
                        <a:bodyPr/>
                        <a:lstStyle/>
                        <a:p>
                          <a:r>
                            <a:rPr lang="en-US">
                              <a:latin typeface="Inter Light" panose="02000403000000020004"/>
                            </a:rPr>
                            <a:t>Very loose</a:t>
                          </a:r>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≥0</m:t>
                                </m:r>
                              </m:oMath>
                            </m:oMathPara>
                          </a14:m>
                          <a:endParaRPr lang="en-US">
                            <a:latin typeface="Inter Light" panose="02000403000000020004"/>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𝜇</m:t>
                                </m:r>
                              </m:oMath>
                            </m:oMathPara>
                          </a14:m>
                          <a:endParaRPr lang="en-US">
                            <a:latin typeface="Inter Light" panose="02000403000000020004"/>
                          </a:endParaRPr>
                        </a:p>
                      </a:txBody>
                      <a:tcPr/>
                    </a:tc>
                    <a:extLst>
                      <a:ext uri="{0D108BD9-81ED-4DB2-BD59-A6C34878D82A}">
                        <a16:rowId xmlns:a16="http://schemas.microsoft.com/office/drawing/2014/main" val="3682722687"/>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atin typeface="Inter Light" panose="02000403000000020004"/>
                            </a:rPr>
                            <a:t>Chebyshev’s Inequality</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𝜇</m:t>
                                        </m:r>
                                      </m:e>
                                    </m:d>
                                    <m:r>
                                      <a:rPr lang="en-US" b="0" i="1" smtClean="0">
                                        <a:latin typeface="Cambria Math" panose="02040503050406030204" pitchFamily="18" charset="0"/>
                                      </a:rPr>
                                      <m:t>≥</m:t>
                                    </m:r>
                                    <m:r>
                                      <a:rPr lang="en-US" b="0" i="1" smtClean="0">
                                        <a:latin typeface="Cambria Math" panose="02040503050406030204" pitchFamily="18" charset="0"/>
                                      </a:rPr>
                                      <m:t>𝑐</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i="0" smtClean="0">
                                        <a:latin typeface="Cambria Math" panose="02040503050406030204" pitchFamily="18" charset="0"/>
                                      </a:rPr>
                                      <m:t>v</m:t>
                                    </m:r>
                                    <m:r>
                                      <m:rPr>
                                        <m:sty m:val="p"/>
                                      </m:rPr>
                                      <a:rPr lang="en-US" b="0" i="0" smtClean="0">
                                        <a:latin typeface="Cambria Math" panose="02040503050406030204" pitchFamily="18" charset="0"/>
                                      </a:rPr>
                                      <m:t>ar</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oMath>
                            </m:oMathPara>
                          </a14:m>
                          <a:endParaRPr lang="en-US">
                            <a:latin typeface="Inter Light" panose="02000403000000020004"/>
                          </a:endParaRPr>
                        </a:p>
                        <a:p>
                          <a:pPr algn="l"/>
                          <a:endParaRPr lang="en-US">
                            <a:latin typeface="Inter Light" panose="02000403000000020004"/>
                          </a:endParaRPr>
                        </a:p>
                      </a:txBody>
                      <a:tcPr anchor="b"/>
                    </a:tc>
                    <a:tc>
                      <a:txBody>
                        <a:bodyPr/>
                        <a:lstStyle/>
                        <a:p>
                          <a:r>
                            <a:rPr lang="en-US">
                              <a:latin typeface="Inter Light" panose="02000403000000020004"/>
                            </a:rPr>
                            <a:t>Gives probability that a random variable deviates from the mean by at least c.</a:t>
                          </a:r>
                        </a:p>
                      </a:txBody>
                      <a:tcPr/>
                    </a:tc>
                    <a:tc>
                      <a:txBody>
                        <a:bodyPr/>
                        <a:lstStyle/>
                        <a:p>
                          <a:r>
                            <a:rPr lang="en-US">
                              <a:latin typeface="Inter Light" panose="02000403000000020004"/>
                            </a:rPr>
                            <a:t>Loose</a:t>
                          </a:r>
                        </a:p>
                      </a:txBody>
                      <a:tcPr/>
                    </a:tc>
                    <a:tc>
                      <a:txBody>
                        <a:bodyPr/>
                        <a:lstStyle/>
                        <a:p>
                          <a14:m>
                            <m:oMath xmlns:m="http://schemas.openxmlformats.org/officeDocument/2006/math">
                              <m:r>
                                <m:rPr>
                                  <m:sty m:val="p"/>
                                </m:rPr>
                                <a:rPr lang="en-US" b="0" i="0" smtClean="0">
                                  <a:latin typeface="Cambria Math" panose="02040503050406030204" pitchFamily="18" charset="0"/>
                                </a:rPr>
                                <m:t>var</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oMath>
                          </a14:m>
                          <a:r>
                            <a:rPr lang="en-US">
                              <a:latin typeface="Inter Light" panose="02000403000000020004"/>
                            </a:rPr>
                            <a:t> is finite</a:t>
                          </a:r>
                        </a:p>
                      </a:txBody>
                      <a:tcPr/>
                    </a:tc>
                    <a:tc>
                      <a:txBody>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𝔼</m:t>
                                </m:r>
                                <m:d>
                                  <m:dPr>
                                    <m:begChr m:val="["/>
                                    <m:endChr m:val="]"/>
                                    <m:ctrlPr>
                                      <a:rPr lang="en-US" b="0" i="1" smtClean="0">
                                        <a:latin typeface="Cambria Math" panose="02040503050406030204" pitchFamily="18" charset="0"/>
                                      </a:rPr>
                                    </m:ctrlPr>
                                  </m:dPr>
                                  <m:e>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𝜇</m:t>
                                            </m:r>
                                          </m:e>
                                        </m:d>
                                      </m:e>
                                      <m:sup>
                                        <m:r>
                                          <a:rPr lang="en-US" b="0" i="1" smtClean="0">
                                            <a:latin typeface="Cambria Math" panose="02040503050406030204" pitchFamily="18" charset="0"/>
                                          </a:rPr>
                                          <m:t>2</m:t>
                                        </m:r>
                                      </m:sup>
                                    </m:sSup>
                                  </m:e>
                                </m:d>
                                <m:r>
                                  <a:rPr lang="en-US" b="0" i="1" smtClean="0">
                                    <a:latin typeface="Cambria Math" panose="02040503050406030204" pitchFamily="18" charset="0"/>
                                  </a:rPr>
                                  <m:t>=</m:t>
                                </m:r>
                                <m:r>
                                  <m:rPr>
                                    <m:sty m:val="p"/>
                                  </m:rPr>
                                  <a:rPr lang="en-US" b="0" i="0" smtClean="0">
                                    <a:latin typeface="Cambria Math" panose="02040503050406030204" pitchFamily="18" charset="0"/>
                                  </a:rPr>
                                  <m:t>var</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oMath>
                            </m:oMathPara>
                          </a14:m>
                          <a:endParaRPr lang="en-US">
                            <a:latin typeface="Inter Light" panose="02000403000000020004"/>
                          </a:endParaRPr>
                        </a:p>
                      </a:txBody>
                      <a:tcPr/>
                    </a:tc>
                    <a:extLst>
                      <a:ext uri="{0D108BD9-81ED-4DB2-BD59-A6C34878D82A}">
                        <a16:rowId xmlns:a16="http://schemas.microsoft.com/office/drawing/2014/main" val="4277117354"/>
                      </a:ext>
                    </a:extLst>
                  </a:tr>
                </a:tbl>
              </a:graphicData>
            </a:graphic>
          </p:graphicFrame>
        </mc:Choice>
        <mc:Fallback>
          <p:graphicFrame>
            <p:nvGraphicFramePr>
              <p:cNvPr id="5" name="Table 4">
                <a:extLst>
                  <a:ext uri="{FF2B5EF4-FFF2-40B4-BE49-F238E27FC236}">
                    <a16:creationId xmlns:a16="http://schemas.microsoft.com/office/drawing/2014/main" id="{7527751D-8026-B210-8F6C-DB5DE9A42FC4}"/>
                  </a:ext>
                </a:extLst>
              </p:cNvPr>
              <p:cNvGraphicFramePr>
                <a:graphicFrameLocks noGrp="1"/>
              </p:cNvGraphicFramePr>
              <p:nvPr>
                <p:extLst>
                  <p:ext uri="{D42A27DB-BD31-4B8C-83A1-F6EECF244321}">
                    <p14:modId xmlns:p14="http://schemas.microsoft.com/office/powerpoint/2010/main" val="3142135056"/>
                  </p:ext>
                </p:extLst>
              </p:nvPr>
            </p:nvGraphicFramePr>
            <p:xfrm>
              <a:off x="169013" y="4057115"/>
              <a:ext cx="11615637" cy="2468880"/>
            </p:xfrm>
            <a:graphic>
              <a:graphicData uri="http://schemas.openxmlformats.org/drawingml/2006/table">
                <a:tbl>
                  <a:tblPr firstRow="1" bandRow="1">
                    <a:tableStyleId>{5940675A-B579-460E-94D1-54222C63F5DA}</a:tableStyleId>
                  </a:tblPr>
                  <a:tblGrid>
                    <a:gridCol w="1600885">
                      <a:extLst>
                        <a:ext uri="{9D8B030D-6E8A-4147-A177-3AD203B41FA5}">
                          <a16:colId xmlns:a16="http://schemas.microsoft.com/office/drawing/2014/main" val="2091227575"/>
                        </a:ext>
                      </a:extLst>
                    </a:gridCol>
                    <a:gridCol w="2977291">
                      <a:extLst>
                        <a:ext uri="{9D8B030D-6E8A-4147-A177-3AD203B41FA5}">
                          <a16:colId xmlns:a16="http://schemas.microsoft.com/office/drawing/2014/main" val="1183393883"/>
                        </a:ext>
                      </a:extLst>
                    </a:gridCol>
                    <a:gridCol w="2864239">
                      <a:extLst>
                        <a:ext uri="{9D8B030D-6E8A-4147-A177-3AD203B41FA5}">
                          <a16:colId xmlns:a16="http://schemas.microsoft.com/office/drawing/2014/main" val="3914813623"/>
                        </a:ext>
                      </a:extLst>
                    </a:gridCol>
                    <a:gridCol w="1513318">
                      <a:extLst>
                        <a:ext uri="{9D8B030D-6E8A-4147-A177-3AD203B41FA5}">
                          <a16:colId xmlns:a16="http://schemas.microsoft.com/office/drawing/2014/main" val="4110579076"/>
                        </a:ext>
                      </a:extLst>
                    </a:gridCol>
                    <a:gridCol w="1215665">
                      <a:extLst>
                        <a:ext uri="{9D8B030D-6E8A-4147-A177-3AD203B41FA5}">
                          <a16:colId xmlns:a16="http://schemas.microsoft.com/office/drawing/2014/main" val="1805466029"/>
                        </a:ext>
                      </a:extLst>
                    </a:gridCol>
                    <a:gridCol w="1444239">
                      <a:extLst>
                        <a:ext uri="{9D8B030D-6E8A-4147-A177-3AD203B41FA5}">
                          <a16:colId xmlns:a16="http://schemas.microsoft.com/office/drawing/2014/main" val="1332730735"/>
                        </a:ext>
                      </a:extLst>
                    </a:gridCol>
                  </a:tblGrid>
                  <a:tr h="640080">
                    <a:tc>
                      <a:txBody>
                        <a:bodyPr/>
                        <a:lstStyle/>
                        <a:p>
                          <a:endParaRPr lang="en-US">
                            <a:latin typeface="Inter Light" panose="02000403000000020004"/>
                          </a:endParaRPr>
                        </a:p>
                      </a:txBody>
                      <a:tcPr/>
                    </a:tc>
                    <a:tc>
                      <a:txBody>
                        <a:bodyPr/>
                        <a:lstStyle/>
                        <a:p>
                          <a:r>
                            <a:rPr lang="en-US">
                              <a:latin typeface="Inter Light" panose="02000403000000020004"/>
                            </a:rPr>
                            <a:t>Equation</a:t>
                          </a:r>
                        </a:p>
                      </a:txBody>
                      <a:tcPr/>
                    </a:tc>
                    <a:tc>
                      <a:txBody>
                        <a:bodyPr/>
                        <a:lstStyle/>
                        <a:p>
                          <a:r>
                            <a:rPr lang="en-US">
                              <a:latin typeface="Inter Light" panose="02000403000000020004"/>
                            </a:rPr>
                            <a:t>Interpretation</a:t>
                          </a:r>
                        </a:p>
                      </a:txBody>
                      <a:tcPr/>
                    </a:tc>
                    <a:tc>
                      <a:txBody>
                        <a:bodyPr/>
                        <a:lstStyle/>
                        <a:p>
                          <a:r>
                            <a:rPr lang="en-US">
                              <a:latin typeface="Inter Light" panose="02000403000000020004"/>
                            </a:rPr>
                            <a:t>Tight?</a:t>
                          </a:r>
                        </a:p>
                      </a:txBody>
                      <a:tcPr/>
                    </a:tc>
                    <a:tc>
                      <a:txBody>
                        <a:bodyPr/>
                        <a:lstStyle/>
                        <a:p>
                          <a:r>
                            <a:rPr lang="en-US">
                              <a:latin typeface="Inter Light" panose="02000403000000020004"/>
                            </a:rPr>
                            <a:t>Condition</a:t>
                          </a:r>
                        </a:p>
                      </a:txBody>
                      <a:tcPr/>
                    </a:tc>
                    <a:tc>
                      <a:txBody>
                        <a:bodyPr/>
                        <a:lstStyle/>
                        <a:p>
                          <a:r>
                            <a:rPr lang="en-US">
                              <a:latin typeface="Inter Light" panose="02000403000000020004"/>
                            </a:rPr>
                            <a:t>Requires Computing</a:t>
                          </a:r>
                        </a:p>
                      </a:txBody>
                      <a:tcPr/>
                    </a:tc>
                    <a:extLst>
                      <a:ext uri="{0D108BD9-81ED-4DB2-BD59-A6C34878D82A}">
                        <a16:rowId xmlns:a16="http://schemas.microsoft.com/office/drawing/2014/main" val="1162367978"/>
                      </a:ext>
                    </a:extLst>
                  </a:tr>
                  <a:tr h="91440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atin typeface="Inter Light" panose="02000403000000020004"/>
                            </a:rPr>
                            <a:t>Markov’s Inequality</a:t>
                          </a:r>
                        </a:p>
                      </a:txBody>
                      <a:tcPr/>
                    </a:tc>
                    <a:tc>
                      <a:txBody>
                        <a:bodyPr/>
                        <a:lstStyle/>
                        <a:p>
                          <a:endParaRPr lang="en-US"/>
                        </a:p>
                      </a:txBody>
                      <a:tcPr anchor="b">
                        <a:blipFill>
                          <a:blip r:embed="rId3"/>
                          <a:stretch>
                            <a:fillRect l="-53988" t="-72848" r="-236605" b="-109934"/>
                          </a:stretch>
                        </a:blipFill>
                      </a:tcPr>
                    </a:tc>
                    <a:tc>
                      <a:txBody>
                        <a:bodyPr/>
                        <a:lstStyle/>
                        <a:p>
                          <a:r>
                            <a:rPr lang="en-US">
                              <a:latin typeface="Inter Light" panose="02000403000000020004"/>
                            </a:rPr>
                            <a:t>Gives probability that a random variable exceeds some value.</a:t>
                          </a:r>
                        </a:p>
                      </a:txBody>
                      <a:tcPr/>
                    </a:tc>
                    <a:tc>
                      <a:txBody>
                        <a:bodyPr/>
                        <a:lstStyle/>
                        <a:p>
                          <a:r>
                            <a:rPr lang="en-US">
                              <a:latin typeface="Inter Light" panose="02000403000000020004"/>
                            </a:rPr>
                            <a:t>Very loose</a:t>
                          </a:r>
                        </a:p>
                      </a:txBody>
                      <a:tcPr/>
                    </a:tc>
                    <a:tc>
                      <a:txBody>
                        <a:bodyPr/>
                        <a:lstStyle/>
                        <a:p>
                          <a:endParaRPr lang="en-US"/>
                        </a:p>
                      </a:txBody>
                      <a:tcPr>
                        <a:blipFill>
                          <a:blip r:embed="rId3"/>
                          <a:stretch>
                            <a:fillRect l="-735500" t="-72848" r="-119500" b="-109934"/>
                          </a:stretch>
                        </a:blipFill>
                      </a:tcPr>
                    </a:tc>
                    <a:tc>
                      <a:txBody>
                        <a:bodyPr/>
                        <a:lstStyle/>
                        <a:p>
                          <a:endParaRPr lang="en-US"/>
                        </a:p>
                      </a:txBody>
                      <a:tcPr>
                        <a:blipFill>
                          <a:blip r:embed="rId3"/>
                          <a:stretch>
                            <a:fillRect l="-705063" t="-72848" r="-844" b="-109934"/>
                          </a:stretch>
                        </a:blipFill>
                      </a:tcPr>
                    </a:tc>
                    <a:extLst>
                      <a:ext uri="{0D108BD9-81ED-4DB2-BD59-A6C34878D82A}">
                        <a16:rowId xmlns:a16="http://schemas.microsoft.com/office/drawing/2014/main" val="3682722687"/>
                      </a:ext>
                    </a:extLst>
                  </a:tr>
                  <a:tr h="91440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atin typeface="Inter Light" panose="02000403000000020004"/>
                            </a:rPr>
                            <a:t>Chebyshev’s Inequality</a:t>
                          </a:r>
                        </a:p>
                      </a:txBody>
                      <a:tcPr/>
                    </a:tc>
                    <a:tc>
                      <a:txBody>
                        <a:bodyPr/>
                        <a:lstStyle/>
                        <a:p>
                          <a:endParaRPr lang="en-US"/>
                        </a:p>
                      </a:txBody>
                      <a:tcPr anchor="b">
                        <a:blipFill>
                          <a:blip r:embed="rId3"/>
                          <a:stretch>
                            <a:fillRect l="-53988" t="-174000" r="-236605" b="-10667"/>
                          </a:stretch>
                        </a:blipFill>
                      </a:tcPr>
                    </a:tc>
                    <a:tc>
                      <a:txBody>
                        <a:bodyPr/>
                        <a:lstStyle/>
                        <a:p>
                          <a:r>
                            <a:rPr lang="en-US">
                              <a:latin typeface="Inter Light" panose="02000403000000020004"/>
                            </a:rPr>
                            <a:t>Gives probability that a random variable deviates from the mean by at least c.</a:t>
                          </a:r>
                        </a:p>
                      </a:txBody>
                      <a:tcPr/>
                    </a:tc>
                    <a:tc>
                      <a:txBody>
                        <a:bodyPr/>
                        <a:lstStyle/>
                        <a:p>
                          <a:r>
                            <a:rPr lang="en-US">
                              <a:latin typeface="Inter Light" panose="02000403000000020004"/>
                            </a:rPr>
                            <a:t>Loose</a:t>
                          </a:r>
                        </a:p>
                      </a:txBody>
                      <a:tcPr/>
                    </a:tc>
                    <a:tc>
                      <a:txBody>
                        <a:bodyPr/>
                        <a:lstStyle/>
                        <a:p>
                          <a:endParaRPr lang="en-US"/>
                        </a:p>
                      </a:txBody>
                      <a:tcPr>
                        <a:blipFill>
                          <a:blip r:embed="rId3"/>
                          <a:stretch>
                            <a:fillRect l="-735500" t="-174000" r="-119500" b="-10667"/>
                          </a:stretch>
                        </a:blipFill>
                      </a:tcPr>
                    </a:tc>
                    <a:tc>
                      <a:txBody>
                        <a:bodyPr/>
                        <a:lstStyle/>
                        <a:p>
                          <a:endParaRPr lang="en-US"/>
                        </a:p>
                      </a:txBody>
                      <a:tcPr>
                        <a:blipFill>
                          <a:blip r:embed="rId3"/>
                          <a:stretch>
                            <a:fillRect l="-705063" t="-174000" r="-844" b="-10667"/>
                          </a:stretch>
                        </a:blipFill>
                      </a:tcPr>
                    </a:tc>
                    <a:extLst>
                      <a:ext uri="{0D108BD9-81ED-4DB2-BD59-A6C34878D82A}">
                        <a16:rowId xmlns:a16="http://schemas.microsoft.com/office/drawing/2014/main" val="4277117354"/>
                      </a:ext>
                    </a:extLst>
                  </a:tr>
                </a:tbl>
              </a:graphicData>
            </a:graphic>
          </p:graphicFrame>
        </mc:Fallback>
      </mc:AlternateContent>
    </p:spTree>
    <p:extLst>
      <p:ext uri="{BB962C8B-B14F-4D97-AF65-F5344CB8AC3E}">
        <p14:creationId xmlns:p14="http://schemas.microsoft.com/office/powerpoint/2010/main" val="154460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83D77-C5FE-4844-5E5B-B22C2ED9DEC3}"/>
              </a:ext>
            </a:extLst>
          </p:cNvPr>
          <p:cNvSpPr>
            <a:spLocks noGrp="1"/>
          </p:cNvSpPr>
          <p:nvPr>
            <p:ph type="title"/>
          </p:nvPr>
        </p:nvSpPr>
        <p:spPr/>
        <p:txBody>
          <a:bodyPr/>
          <a:lstStyle/>
          <a:p>
            <a:r>
              <a:rPr lang="en-US"/>
              <a:t>Chebyshev’s Inequality and Markov’s Inequality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8476D12-F11D-C007-6F6B-DCE280B63F9D}"/>
                  </a:ext>
                </a:extLst>
              </p:cNvPr>
              <p:cNvSpPr>
                <a:spLocks noGrp="1"/>
              </p:cNvSpPr>
              <p:nvPr>
                <p:ph idx="1"/>
              </p:nvPr>
            </p:nvSpPr>
            <p:spPr/>
            <p:txBody>
              <a:bodyPr/>
              <a:lstStyle/>
              <a:p>
                <a:r>
                  <a:rPr lang="en-US"/>
                  <a:t>Even though Markov’s Inequality is weak for understanding </a:t>
                </a:r>
                <a14:m>
                  <m:oMath xmlns:m="http://schemas.openxmlformats.org/officeDocument/2006/math">
                    <m:r>
                      <a:rPr lang="en-US" i="1">
                        <a:latin typeface="Cambria Math" panose="02040503050406030204" pitchFamily="18" charset="0"/>
                      </a:rPr>
                      <m:t>𝑋</m:t>
                    </m:r>
                  </m:oMath>
                </a14:m>
                <a:r>
                  <a:rPr lang="en-US"/>
                  <a:t>, we were able to enhance its power by considering a new random variable </a:t>
                </a:r>
                <a14:m>
                  <m:oMath xmlns:m="http://schemas.openxmlformats.org/officeDocument/2006/math">
                    <m:r>
                      <a:rPr lang="en-US" i="1">
                        <a:latin typeface="Cambria Math" panose="02040503050406030204" pitchFamily="18" charset="0"/>
                      </a:rPr>
                      <m:t>𝑌</m:t>
                    </m:r>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𝜇</m:t>
                            </m:r>
                          </m:e>
                        </m:d>
                      </m:e>
                      <m:sup>
                        <m:r>
                          <a:rPr lang="en-US" i="1">
                            <a:latin typeface="Cambria Math" panose="02040503050406030204" pitchFamily="18" charset="0"/>
                          </a:rPr>
                          <m:t>2</m:t>
                        </m:r>
                      </m:sup>
                    </m:sSup>
                  </m:oMath>
                </a14:m>
                <a:r>
                  <a:rPr lang="en-US"/>
                  <a:t> and applying Markov’s Inequality bound on this new variable.</a:t>
                </a:r>
              </a:p>
              <a:p>
                <a:pPr marL="342900" indent="-342900">
                  <a:buFont typeface="Arial" panose="020B0604020202020204" pitchFamily="34" charset="0"/>
                  <a:buChar char="•"/>
                </a:pPr>
                <a:r>
                  <a:rPr lang="en-US"/>
                  <a:t>Yes, you can enhance the bound further by making up new random variables such as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𝑍</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𝜇</m:t>
                            </m:r>
                          </m:e>
                        </m:d>
                      </m:e>
                      <m:sup>
                        <m:r>
                          <a:rPr lang="en-US" b="0" i="1" smtClean="0">
                            <a:latin typeface="Cambria Math" panose="02040503050406030204" pitchFamily="18" charset="0"/>
                          </a:rPr>
                          <m:t>10</m:t>
                        </m:r>
                      </m:sup>
                    </m:sSup>
                  </m:oMath>
                </a14:m>
                <a:r>
                  <a:rPr lang="en-US"/>
                  <a:t>, but then you need to be able to compute </a:t>
                </a:r>
                <a14:m>
                  <m:oMath xmlns:m="http://schemas.openxmlformats.org/officeDocument/2006/math">
                    <m:r>
                      <a:rPr lang="en-US" i="1">
                        <a:latin typeface="Cambria Math" panose="02040503050406030204" pitchFamily="18" charset="0"/>
                      </a:rPr>
                      <m:t>𝔼</m:t>
                    </m:r>
                    <m:d>
                      <m:dPr>
                        <m:begChr m:val="["/>
                        <m:endChr m:val="]"/>
                        <m:ctrlPr>
                          <a:rPr lang="en-US" b="0" i="1" smtClean="0">
                            <a:latin typeface="Cambria Math" panose="02040503050406030204" pitchFamily="18" charset="0"/>
                          </a:rPr>
                        </m:ctrlPr>
                      </m:dPr>
                      <m:e>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𝜇</m:t>
                                </m:r>
                              </m:e>
                            </m:d>
                          </m:e>
                          <m:sup>
                            <m:r>
                              <a:rPr lang="en-US" i="1">
                                <a:latin typeface="Cambria Math" panose="02040503050406030204" pitchFamily="18" charset="0"/>
                              </a:rPr>
                              <m:t>10</m:t>
                            </m:r>
                          </m:sup>
                        </m:sSup>
                      </m:e>
                    </m:d>
                  </m:oMath>
                </a14:m>
                <a:r>
                  <a:rPr lang="en-US"/>
                  <a:t>.</a:t>
                </a:r>
              </a:p>
              <a:p>
                <a:pPr marL="342900" indent="-342900">
                  <a:buFont typeface="Arial" panose="020B0604020202020204" pitchFamily="34" charset="0"/>
                  <a:buChar char="•"/>
                </a:pPr>
                <a:r>
                  <a:rPr lang="en-US"/>
                  <a:t>We call </a:t>
                </a:r>
                <a14:m>
                  <m:oMath xmlns:m="http://schemas.openxmlformats.org/officeDocument/2006/math">
                    <m:r>
                      <a:rPr lang="en-US" i="1">
                        <a:latin typeface="Cambria Math" panose="02040503050406030204" pitchFamily="18" charset="0"/>
                      </a:rPr>
                      <m:t>𝔼</m:t>
                    </m:r>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𝜇</m:t>
                                </m:r>
                              </m:e>
                            </m:d>
                          </m:e>
                          <m:sup>
                            <m:r>
                              <a:rPr lang="en-US" b="0" i="1" smtClean="0">
                                <a:latin typeface="Cambria Math" panose="02040503050406030204" pitchFamily="18" charset="0"/>
                              </a:rPr>
                              <m:t>𝑖</m:t>
                            </m:r>
                          </m:sup>
                        </m:sSup>
                      </m:e>
                    </m:d>
                  </m:oMath>
                </a14:m>
                <a:r>
                  <a:rPr lang="en-US"/>
                  <a:t> the </a:t>
                </a:r>
                <a:r>
                  <a:rPr lang="en-US" err="1"/>
                  <a:t>ith</a:t>
                </a:r>
                <a:r>
                  <a:rPr lang="en-US"/>
                  <a:t> “moment” of </a:t>
                </a:r>
                <a14:m>
                  <m:oMath xmlns:m="http://schemas.openxmlformats.org/officeDocument/2006/math">
                    <m:r>
                      <a:rPr lang="en-US" i="1">
                        <a:latin typeface="Cambria Math" panose="02040503050406030204" pitchFamily="18" charset="0"/>
                      </a:rPr>
                      <m:t>𝑋</m:t>
                    </m:r>
                  </m:oMath>
                </a14:m>
                <a:r>
                  <a:rPr lang="en-US"/>
                  <a:t> (beyond the scope of 70).</a:t>
                </a:r>
              </a:p>
              <a:p>
                <a:pPr marL="342900" indent="-342900">
                  <a:buFont typeface="Arial" panose="020B0604020202020204" pitchFamily="34" charset="0"/>
                  <a:buChar char="•"/>
                </a:pPr>
                <a:r>
                  <a:rPr lang="en-US"/>
                  <a:t>On the homework you’ll derive the bound if you use infinite moments from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={1,2…}</m:t>
                    </m:r>
                  </m:oMath>
                </a14:m>
                <a:endParaRPr lang="en-US"/>
              </a:p>
            </p:txBody>
          </p:sp>
        </mc:Choice>
        <mc:Fallback>
          <p:sp>
            <p:nvSpPr>
              <p:cNvPr id="3" name="Content Placeholder 2">
                <a:extLst>
                  <a:ext uri="{FF2B5EF4-FFF2-40B4-BE49-F238E27FC236}">
                    <a16:creationId xmlns:a16="http://schemas.microsoft.com/office/drawing/2014/main" id="{58476D12-F11D-C007-6F6B-DCE280B63F9D}"/>
                  </a:ext>
                </a:extLst>
              </p:cNvPr>
              <p:cNvSpPr>
                <a:spLocks noGrp="1" noRot="1" noChangeAspect="1" noMove="1" noResize="1" noEditPoints="1" noAdjustHandles="1" noChangeArrowheads="1" noChangeShapeType="1" noTextEdit="1"/>
              </p:cNvSpPr>
              <p:nvPr>
                <p:ph idx="1"/>
              </p:nvPr>
            </p:nvSpPr>
            <p:spPr>
              <a:blipFill>
                <a:blip r:embed="rId2"/>
                <a:stretch>
                  <a:fillRect l="-796" t="-541" r="-37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3DD4BC2D-DC18-47C6-F92F-FCEDF0C2F23F}"/>
                  </a:ext>
                </a:extLst>
              </p:cNvPr>
              <p:cNvGraphicFramePr>
                <a:graphicFrameLocks noGrp="1"/>
              </p:cNvGraphicFramePr>
              <p:nvPr>
                <p:extLst>
                  <p:ext uri="{D42A27DB-BD31-4B8C-83A1-F6EECF244321}">
                    <p14:modId xmlns:p14="http://schemas.microsoft.com/office/powerpoint/2010/main" val="5432100"/>
                  </p:ext>
                </p:extLst>
              </p:nvPr>
            </p:nvGraphicFramePr>
            <p:xfrm>
              <a:off x="169013" y="4057115"/>
              <a:ext cx="11615637" cy="2468880"/>
            </p:xfrm>
            <a:graphic>
              <a:graphicData uri="http://schemas.openxmlformats.org/drawingml/2006/table">
                <a:tbl>
                  <a:tblPr firstRow="1" bandRow="1">
                    <a:tableStyleId>{5940675A-B579-460E-94D1-54222C63F5DA}</a:tableStyleId>
                  </a:tblPr>
                  <a:tblGrid>
                    <a:gridCol w="1600885">
                      <a:extLst>
                        <a:ext uri="{9D8B030D-6E8A-4147-A177-3AD203B41FA5}">
                          <a16:colId xmlns:a16="http://schemas.microsoft.com/office/drawing/2014/main" val="2091227575"/>
                        </a:ext>
                      </a:extLst>
                    </a:gridCol>
                    <a:gridCol w="2977291">
                      <a:extLst>
                        <a:ext uri="{9D8B030D-6E8A-4147-A177-3AD203B41FA5}">
                          <a16:colId xmlns:a16="http://schemas.microsoft.com/office/drawing/2014/main" val="1183393883"/>
                        </a:ext>
                      </a:extLst>
                    </a:gridCol>
                    <a:gridCol w="2864239">
                      <a:extLst>
                        <a:ext uri="{9D8B030D-6E8A-4147-A177-3AD203B41FA5}">
                          <a16:colId xmlns:a16="http://schemas.microsoft.com/office/drawing/2014/main" val="3914813623"/>
                        </a:ext>
                      </a:extLst>
                    </a:gridCol>
                    <a:gridCol w="1513318">
                      <a:extLst>
                        <a:ext uri="{9D8B030D-6E8A-4147-A177-3AD203B41FA5}">
                          <a16:colId xmlns:a16="http://schemas.microsoft.com/office/drawing/2014/main" val="4110579076"/>
                        </a:ext>
                      </a:extLst>
                    </a:gridCol>
                    <a:gridCol w="1215665">
                      <a:extLst>
                        <a:ext uri="{9D8B030D-6E8A-4147-A177-3AD203B41FA5}">
                          <a16:colId xmlns:a16="http://schemas.microsoft.com/office/drawing/2014/main" val="1805466029"/>
                        </a:ext>
                      </a:extLst>
                    </a:gridCol>
                    <a:gridCol w="1444239">
                      <a:extLst>
                        <a:ext uri="{9D8B030D-6E8A-4147-A177-3AD203B41FA5}">
                          <a16:colId xmlns:a16="http://schemas.microsoft.com/office/drawing/2014/main" val="1332730735"/>
                        </a:ext>
                      </a:extLst>
                    </a:gridCol>
                  </a:tblGrid>
                  <a:tr h="370840">
                    <a:tc>
                      <a:txBody>
                        <a:bodyPr/>
                        <a:lstStyle/>
                        <a:p>
                          <a:endParaRPr lang="en-US">
                            <a:latin typeface="Inter Light" panose="02000403000000020004"/>
                          </a:endParaRPr>
                        </a:p>
                      </a:txBody>
                      <a:tcPr/>
                    </a:tc>
                    <a:tc>
                      <a:txBody>
                        <a:bodyPr/>
                        <a:lstStyle/>
                        <a:p>
                          <a:r>
                            <a:rPr lang="en-US">
                              <a:latin typeface="Inter Light" panose="02000403000000020004"/>
                            </a:rPr>
                            <a:t>Equation</a:t>
                          </a:r>
                        </a:p>
                      </a:txBody>
                      <a:tcPr/>
                    </a:tc>
                    <a:tc>
                      <a:txBody>
                        <a:bodyPr/>
                        <a:lstStyle/>
                        <a:p>
                          <a:r>
                            <a:rPr lang="en-US">
                              <a:latin typeface="Inter Light" panose="02000403000000020004"/>
                            </a:rPr>
                            <a:t>Interpretation</a:t>
                          </a:r>
                        </a:p>
                      </a:txBody>
                      <a:tcPr/>
                    </a:tc>
                    <a:tc>
                      <a:txBody>
                        <a:bodyPr/>
                        <a:lstStyle/>
                        <a:p>
                          <a:r>
                            <a:rPr lang="en-US">
                              <a:latin typeface="Inter Light" panose="02000403000000020004"/>
                            </a:rPr>
                            <a:t>Tight?</a:t>
                          </a:r>
                        </a:p>
                      </a:txBody>
                      <a:tcPr/>
                    </a:tc>
                    <a:tc>
                      <a:txBody>
                        <a:bodyPr/>
                        <a:lstStyle/>
                        <a:p>
                          <a:r>
                            <a:rPr lang="en-US">
                              <a:latin typeface="Inter Light" panose="02000403000000020004"/>
                            </a:rPr>
                            <a:t>Condition</a:t>
                          </a:r>
                        </a:p>
                      </a:txBody>
                      <a:tcPr/>
                    </a:tc>
                    <a:tc>
                      <a:txBody>
                        <a:bodyPr/>
                        <a:lstStyle/>
                        <a:p>
                          <a:r>
                            <a:rPr lang="en-US">
                              <a:latin typeface="Inter Light" panose="02000403000000020004"/>
                            </a:rPr>
                            <a:t>Requires Computing</a:t>
                          </a:r>
                        </a:p>
                      </a:txBody>
                      <a:tcPr/>
                    </a:tc>
                    <a:extLst>
                      <a:ext uri="{0D108BD9-81ED-4DB2-BD59-A6C34878D82A}">
                        <a16:rowId xmlns:a16="http://schemas.microsoft.com/office/drawing/2014/main" val="1162367978"/>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atin typeface="Inter Light" panose="02000403000000020004"/>
                            </a:rPr>
                            <a:t>Markov’s Inequality</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𝑐</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smtClean="0">
                                        <a:latin typeface="Cambria Math" panose="02040503050406030204" pitchFamily="18" charset="0"/>
                                      </a:rPr>
                                      <m:t>𝜇</m:t>
                                    </m:r>
                                  </m:num>
                                  <m:den>
                                    <m:r>
                                      <a:rPr lang="en-US" b="0" i="1" smtClean="0">
                                        <a:latin typeface="Cambria Math" panose="02040503050406030204" pitchFamily="18" charset="0"/>
                                      </a:rPr>
                                      <m:t>𝑐</m:t>
                                    </m:r>
                                  </m:den>
                                </m:f>
                              </m:oMath>
                            </m:oMathPara>
                          </a14:m>
                          <a:endParaRPr lang="en-US">
                            <a:latin typeface="Inter Light" panose="02000403000000020004"/>
                          </a:endParaRPr>
                        </a:p>
                      </a:txBody>
                      <a:tcPr anchor="b"/>
                    </a:tc>
                    <a:tc>
                      <a:txBody>
                        <a:bodyPr/>
                        <a:lstStyle/>
                        <a:p>
                          <a:r>
                            <a:rPr lang="en-US">
                              <a:latin typeface="Inter Light" panose="02000403000000020004"/>
                            </a:rPr>
                            <a:t>Gives probability that a random variable exceeds some value.</a:t>
                          </a:r>
                        </a:p>
                      </a:txBody>
                      <a:tcPr/>
                    </a:tc>
                    <a:tc>
                      <a:txBody>
                        <a:bodyPr/>
                        <a:lstStyle/>
                        <a:p>
                          <a:r>
                            <a:rPr lang="en-US">
                              <a:latin typeface="Inter Light" panose="02000403000000020004"/>
                            </a:rPr>
                            <a:t>Very loose</a:t>
                          </a:r>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≥0</m:t>
                                </m:r>
                              </m:oMath>
                            </m:oMathPara>
                          </a14:m>
                          <a:endParaRPr lang="en-US">
                            <a:latin typeface="Inter Light" panose="02000403000000020004"/>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𝜇</m:t>
                                </m:r>
                              </m:oMath>
                            </m:oMathPara>
                          </a14:m>
                          <a:endParaRPr lang="en-US">
                            <a:latin typeface="Inter Light" panose="02000403000000020004"/>
                          </a:endParaRPr>
                        </a:p>
                      </a:txBody>
                      <a:tcPr/>
                    </a:tc>
                    <a:extLst>
                      <a:ext uri="{0D108BD9-81ED-4DB2-BD59-A6C34878D82A}">
                        <a16:rowId xmlns:a16="http://schemas.microsoft.com/office/drawing/2014/main" val="3682722687"/>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atin typeface="Inter Light" panose="02000403000000020004"/>
                            </a:rPr>
                            <a:t>Chebyshev’s Inequality</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𝜇</m:t>
                                        </m:r>
                                      </m:e>
                                    </m:d>
                                    <m:r>
                                      <a:rPr lang="en-US" b="0" i="1" smtClean="0">
                                        <a:latin typeface="Cambria Math" panose="02040503050406030204" pitchFamily="18" charset="0"/>
                                      </a:rPr>
                                      <m:t>≥</m:t>
                                    </m:r>
                                    <m:r>
                                      <a:rPr lang="en-US" b="0" i="1" smtClean="0">
                                        <a:latin typeface="Cambria Math" panose="02040503050406030204" pitchFamily="18" charset="0"/>
                                      </a:rPr>
                                      <m:t>𝑐</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i="0" smtClean="0">
                                        <a:latin typeface="Cambria Math" panose="02040503050406030204" pitchFamily="18" charset="0"/>
                                      </a:rPr>
                                      <m:t>v</m:t>
                                    </m:r>
                                    <m:r>
                                      <m:rPr>
                                        <m:sty m:val="p"/>
                                      </m:rPr>
                                      <a:rPr lang="en-US" b="0" i="0" smtClean="0">
                                        <a:latin typeface="Cambria Math" panose="02040503050406030204" pitchFamily="18" charset="0"/>
                                      </a:rPr>
                                      <m:t>ar</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oMath>
                            </m:oMathPara>
                          </a14:m>
                          <a:endParaRPr lang="en-US">
                            <a:latin typeface="Inter Light" panose="02000403000000020004"/>
                          </a:endParaRPr>
                        </a:p>
                      </a:txBody>
                      <a:tcPr anchor="b"/>
                    </a:tc>
                    <a:tc>
                      <a:txBody>
                        <a:bodyPr/>
                        <a:lstStyle/>
                        <a:p>
                          <a:r>
                            <a:rPr lang="en-US">
                              <a:latin typeface="Inter Light" panose="02000403000000020004"/>
                            </a:rPr>
                            <a:t>Gives probability that a random variable deviates from the mean by at least c.</a:t>
                          </a:r>
                        </a:p>
                      </a:txBody>
                      <a:tcPr/>
                    </a:tc>
                    <a:tc>
                      <a:txBody>
                        <a:bodyPr/>
                        <a:lstStyle/>
                        <a:p>
                          <a:r>
                            <a:rPr lang="en-US">
                              <a:latin typeface="Inter Light" panose="02000403000000020004"/>
                            </a:rPr>
                            <a:t>Loose</a:t>
                          </a:r>
                        </a:p>
                      </a:txBody>
                      <a:tcPr/>
                    </a:tc>
                    <a:tc>
                      <a:txBody>
                        <a:bodyPr/>
                        <a:lstStyle/>
                        <a:p>
                          <a14:m>
                            <m:oMath xmlns:m="http://schemas.openxmlformats.org/officeDocument/2006/math">
                              <m:r>
                                <m:rPr>
                                  <m:sty m:val="p"/>
                                </m:rPr>
                                <a:rPr lang="en-US" b="0" i="0" smtClean="0">
                                  <a:latin typeface="Cambria Math" panose="02040503050406030204" pitchFamily="18" charset="0"/>
                                </a:rPr>
                                <m:t>var</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oMath>
                          </a14:m>
                          <a:r>
                            <a:rPr lang="en-US">
                              <a:latin typeface="Inter Light" panose="02000403000000020004"/>
                            </a:rPr>
                            <a:t> is finite</a:t>
                          </a:r>
                        </a:p>
                      </a:txBody>
                      <a:tcPr/>
                    </a:tc>
                    <a:tc>
                      <a:txBody>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𝔼</m:t>
                                </m:r>
                                <m:d>
                                  <m:dPr>
                                    <m:begChr m:val="["/>
                                    <m:endChr m:val="]"/>
                                    <m:ctrlPr>
                                      <a:rPr lang="en-US" b="0" i="1" smtClean="0">
                                        <a:latin typeface="Cambria Math" panose="02040503050406030204" pitchFamily="18" charset="0"/>
                                      </a:rPr>
                                    </m:ctrlPr>
                                  </m:dPr>
                                  <m:e>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𝜇</m:t>
                                            </m:r>
                                          </m:e>
                                        </m:d>
                                      </m:e>
                                      <m:sup>
                                        <m:r>
                                          <a:rPr lang="en-US" b="0" i="1" smtClean="0">
                                            <a:latin typeface="Cambria Math" panose="02040503050406030204" pitchFamily="18" charset="0"/>
                                          </a:rPr>
                                          <m:t>2</m:t>
                                        </m:r>
                                      </m:sup>
                                    </m:sSup>
                                  </m:e>
                                </m:d>
                                <m:r>
                                  <a:rPr lang="en-US" b="0" i="1" smtClean="0">
                                    <a:latin typeface="Cambria Math" panose="02040503050406030204" pitchFamily="18" charset="0"/>
                                  </a:rPr>
                                  <m:t>=</m:t>
                                </m:r>
                                <m:r>
                                  <m:rPr>
                                    <m:sty m:val="p"/>
                                  </m:rPr>
                                  <a:rPr lang="en-US" b="0" i="0" smtClean="0">
                                    <a:latin typeface="Cambria Math" panose="02040503050406030204" pitchFamily="18" charset="0"/>
                                  </a:rPr>
                                  <m:t>var</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oMath>
                            </m:oMathPara>
                          </a14:m>
                          <a:endParaRPr lang="en-US">
                            <a:latin typeface="Inter Light" panose="02000403000000020004"/>
                          </a:endParaRPr>
                        </a:p>
                      </a:txBody>
                      <a:tcPr/>
                    </a:tc>
                    <a:extLst>
                      <a:ext uri="{0D108BD9-81ED-4DB2-BD59-A6C34878D82A}">
                        <a16:rowId xmlns:a16="http://schemas.microsoft.com/office/drawing/2014/main" val="4277117354"/>
                      </a:ext>
                    </a:extLst>
                  </a:tr>
                </a:tbl>
              </a:graphicData>
            </a:graphic>
          </p:graphicFrame>
        </mc:Choice>
        <mc:Fallback>
          <p:graphicFrame>
            <p:nvGraphicFramePr>
              <p:cNvPr id="4" name="Table 3">
                <a:extLst>
                  <a:ext uri="{FF2B5EF4-FFF2-40B4-BE49-F238E27FC236}">
                    <a16:creationId xmlns:a16="http://schemas.microsoft.com/office/drawing/2014/main" id="{3DD4BC2D-DC18-47C6-F92F-FCEDF0C2F23F}"/>
                  </a:ext>
                </a:extLst>
              </p:cNvPr>
              <p:cNvGraphicFramePr>
                <a:graphicFrameLocks noGrp="1"/>
              </p:cNvGraphicFramePr>
              <p:nvPr>
                <p:extLst>
                  <p:ext uri="{D42A27DB-BD31-4B8C-83A1-F6EECF244321}">
                    <p14:modId xmlns:p14="http://schemas.microsoft.com/office/powerpoint/2010/main" val="5432100"/>
                  </p:ext>
                </p:extLst>
              </p:nvPr>
            </p:nvGraphicFramePr>
            <p:xfrm>
              <a:off x="169013" y="4057115"/>
              <a:ext cx="11615637" cy="2468880"/>
            </p:xfrm>
            <a:graphic>
              <a:graphicData uri="http://schemas.openxmlformats.org/drawingml/2006/table">
                <a:tbl>
                  <a:tblPr firstRow="1" bandRow="1">
                    <a:tableStyleId>{5940675A-B579-460E-94D1-54222C63F5DA}</a:tableStyleId>
                  </a:tblPr>
                  <a:tblGrid>
                    <a:gridCol w="1600885">
                      <a:extLst>
                        <a:ext uri="{9D8B030D-6E8A-4147-A177-3AD203B41FA5}">
                          <a16:colId xmlns:a16="http://schemas.microsoft.com/office/drawing/2014/main" val="2091227575"/>
                        </a:ext>
                      </a:extLst>
                    </a:gridCol>
                    <a:gridCol w="2977291">
                      <a:extLst>
                        <a:ext uri="{9D8B030D-6E8A-4147-A177-3AD203B41FA5}">
                          <a16:colId xmlns:a16="http://schemas.microsoft.com/office/drawing/2014/main" val="1183393883"/>
                        </a:ext>
                      </a:extLst>
                    </a:gridCol>
                    <a:gridCol w="2864239">
                      <a:extLst>
                        <a:ext uri="{9D8B030D-6E8A-4147-A177-3AD203B41FA5}">
                          <a16:colId xmlns:a16="http://schemas.microsoft.com/office/drawing/2014/main" val="3914813623"/>
                        </a:ext>
                      </a:extLst>
                    </a:gridCol>
                    <a:gridCol w="1513318">
                      <a:extLst>
                        <a:ext uri="{9D8B030D-6E8A-4147-A177-3AD203B41FA5}">
                          <a16:colId xmlns:a16="http://schemas.microsoft.com/office/drawing/2014/main" val="4110579076"/>
                        </a:ext>
                      </a:extLst>
                    </a:gridCol>
                    <a:gridCol w="1215665">
                      <a:extLst>
                        <a:ext uri="{9D8B030D-6E8A-4147-A177-3AD203B41FA5}">
                          <a16:colId xmlns:a16="http://schemas.microsoft.com/office/drawing/2014/main" val="1805466029"/>
                        </a:ext>
                      </a:extLst>
                    </a:gridCol>
                    <a:gridCol w="1444239">
                      <a:extLst>
                        <a:ext uri="{9D8B030D-6E8A-4147-A177-3AD203B41FA5}">
                          <a16:colId xmlns:a16="http://schemas.microsoft.com/office/drawing/2014/main" val="1332730735"/>
                        </a:ext>
                      </a:extLst>
                    </a:gridCol>
                  </a:tblGrid>
                  <a:tr h="640080">
                    <a:tc>
                      <a:txBody>
                        <a:bodyPr/>
                        <a:lstStyle/>
                        <a:p>
                          <a:endParaRPr lang="en-US">
                            <a:latin typeface="Inter Light" panose="02000403000000020004"/>
                          </a:endParaRPr>
                        </a:p>
                      </a:txBody>
                      <a:tcPr/>
                    </a:tc>
                    <a:tc>
                      <a:txBody>
                        <a:bodyPr/>
                        <a:lstStyle/>
                        <a:p>
                          <a:r>
                            <a:rPr lang="en-US">
                              <a:latin typeface="Inter Light" panose="02000403000000020004"/>
                            </a:rPr>
                            <a:t>Equation</a:t>
                          </a:r>
                        </a:p>
                      </a:txBody>
                      <a:tcPr/>
                    </a:tc>
                    <a:tc>
                      <a:txBody>
                        <a:bodyPr/>
                        <a:lstStyle/>
                        <a:p>
                          <a:r>
                            <a:rPr lang="en-US">
                              <a:latin typeface="Inter Light" panose="02000403000000020004"/>
                            </a:rPr>
                            <a:t>Interpretation</a:t>
                          </a:r>
                        </a:p>
                      </a:txBody>
                      <a:tcPr/>
                    </a:tc>
                    <a:tc>
                      <a:txBody>
                        <a:bodyPr/>
                        <a:lstStyle/>
                        <a:p>
                          <a:r>
                            <a:rPr lang="en-US">
                              <a:latin typeface="Inter Light" panose="02000403000000020004"/>
                            </a:rPr>
                            <a:t>Tight?</a:t>
                          </a:r>
                        </a:p>
                      </a:txBody>
                      <a:tcPr/>
                    </a:tc>
                    <a:tc>
                      <a:txBody>
                        <a:bodyPr/>
                        <a:lstStyle/>
                        <a:p>
                          <a:r>
                            <a:rPr lang="en-US">
                              <a:latin typeface="Inter Light" panose="02000403000000020004"/>
                            </a:rPr>
                            <a:t>Condition</a:t>
                          </a:r>
                        </a:p>
                      </a:txBody>
                      <a:tcPr/>
                    </a:tc>
                    <a:tc>
                      <a:txBody>
                        <a:bodyPr/>
                        <a:lstStyle/>
                        <a:p>
                          <a:r>
                            <a:rPr lang="en-US">
                              <a:latin typeface="Inter Light" panose="02000403000000020004"/>
                            </a:rPr>
                            <a:t>Requires Computing</a:t>
                          </a:r>
                        </a:p>
                      </a:txBody>
                      <a:tcPr/>
                    </a:tc>
                    <a:extLst>
                      <a:ext uri="{0D108BD9-81ED-4DB2-BD59-A6C34878D82A}">
                        <a16:rowId xmlns:a16="http://schemas.microsoft.com/office/drawing/2014/main" val="1162367978"/>
                      </a:ext>
                    </a:extLst>
                  </a:tr>
                  <a:tr h="91440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atin typeface="Inter Light" panose="02000403000000020004"/>
                            </a:rPr>
                            <a:t>Markov’s Inequality</a:t>
                          </a:r>
                        </a:p>
                      </a:txBody>
                      <a:tcPr/>
                    </a:tc>
                    <a:tc>
                      <a:txBody>
                        <a:bodyPr/>
                        <a:lstStyle/>
                        <a:p>
                          <a:endParaRPr lang="en-US"/>
                        </a:p>
                      </a:txBody>
                      <a:tcPr anchor="b">
                        <a:blipFill>
                          <a:blip r:embed="rId3"/>
                          <a:stretch>
                            <a:fillRect l="-53988" t="-72848" r="-236605" b="-109934"/>
                          </a:stretch>
                        </a:blipFill>
                      </a:tcPr>
                    </a:tc>
                    <a:tc>
                      <a:txBody>
                        <a:bodyPr/>
                        <a:lstStyle/>
                        <a:p>
                          <a:r>
                            <a:rPr lang="en-US">
                              <a:latin typeface="Inter Light" panose="02000403000000020004"/>
                            </a:rPr>
                            <a:t>Gives probability that a random variable exceeds some value.</a:t>
                          </a:r>
                        </a:p>
                      </a:txBody>
                      <a:tcPr/>
                    </a:tc>
                    <a:tc>
                      <a:txBody>
                        <a:bodyPr/>
                        <a:lstStyle/>
                        <a:p>
                          <a:r>
                            <a:rPr lang="en-US">
                              <a:latin typeface="Inter Light" panose="02000403000000020004"/>
                            </a:rPr>
                            <a:t>Very loose</a:t>
                          </a:r>
                        </a:p>
                      </a:txBody>
                      <a:tcPr/>
                    </a:tc>
                    <a:tc>
                      <a:txBody>
                        <a:bodyPr/>
                        <a:lstStyle/>
                        <a:p>
                          <a:endParaRPr lang="en-US"/>
                        </a:p>
                      </a:txBody>
                      <a:tcPr>
                        <a:blipFill>
                          <a:blip r:embed="rId3"/>
                          <a:stretch>
                            <a:fillRect l="-735500" t="-72848" r="-119500" b="-109934"/>
                          </a:stretch>
                        </a:blipFill>
                      </a:tcPr>
                    </a:tc>
                    <a:tc>
                      <a:txBody>
                        <a:bodyPr/>
                        <a:lstStyle/>
                        <a:p>
                          <a:endParaRPr lang="en-US"/>
                        </a:p>
                      </a:txBody>
                      <a:tcPr>
                        <a:blipFill>
                          <a:blip r:embed="rId3"/>
                          <a:stretch>
                            <a:fillRect l="-705063" t="-72848" r="-844" b="-109934"/>
                          </a:stretch>
                        </a:blipFill>
                      </a:tcPr>
                    </a:tc>
                    <a:extLst>
                      <a:ext uri="{0D108BD9-81ED-4DB2-BD59-A6C34878D82A}">
                        <a16:rowId xmlns:a16="http://schemas.microsoft.com/office/drawing/2014/main" val="3682722687"/>
                      </a:ext>
                    </a:extLst>
                  </a:tr>
                  <a:tr h="91440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atin typeface="Inter Light" panose="02000403000000020004"/>
                            </a:rPr>
                            <a:t>Chebyshev’s Inequality</a:t>
                          </a:r>
                        </a:p>
                      </a:txBody>
                      <a:tcPr/>
                    </a:tc>
                    <a:tc>
                      <a:txBody>
                        <a:bodyPr/>
                        <a:lstStyle/>
                        <a:p>
                          <a:endParaRPr lang="en-US"/>
                        </a:p>
                      </a:txBody>
                      <a:tcPr anchor="b">
                        <a:blipFill>
                          <a:blip r:embed="rId3"/>
                          <a:stretch>
                            <a:fillRect l="-53988" t="-174000" r="-236605" b="-10667"/>
                          </a:stretch>
                        </a:blipFill>
                      </a:tcPr>
                    </a:tc>
                    <a:tc>
                      <a:txBody>
                        <a:bodyPr/>
                        <a:lstStyle/>
                        <a:p>
                          <a:r>
                            <a:rPr lang="en-US">
                              <a:latin typeface="Inter Light" panose="02000403000000020004"/>
                            </a:rPr>
                            <a:t>Gives probability that a random variable deviates from the mean by at least c.</a:t>
                          </a:r>
                        </a:p>
                      </a:txBody>
                      <a:tcPr/>
                    </a:tc>
                    <a:tc>
                      <a:txBody>
                        <a:bodyPr/>
                        <a:lstStyle/>
                        <a:p>
                          <a:r>
                            <a:rPr lang="en-US">
                              <a:latin typeface="Inter Light" panose="02000403000000020004"/>
                            </a:rPr>
                            <a:t>Loose</a:t>
                          </a:r>
                        </a:p>
                      </a:txBody>
                      <a:tcPr/>
                    </a:tc>
                    <a:tc>
                      <a:txBody>
                        <a:bodyPr/>
                        <a:lstStyle/>
                        <a:p>
                          <a:endParaRPr lang="en-US"/>
                        </a:p>
                      </a:txBody>
                      <a:tcPr>
                        <a:blipFill>
                          <a:blip r:embed="rId3"/>
                          <a:stretch>
                            <a:fillRect l="-735500" t="-174000" r="-119500" b="-10667"/>
                          </a:stretch>
                        </a:blipFill>
                      </a:tcPr>
                    </a:tc>
                    <a:tc>
                      <a:txBody>
                        <a:bodyPr/>
                        <a:lstStyle/>
                        <a:p>
                          <a:endParaRPr lang="en-US"/>
                        </a:p>
                      </a:txBody>
                      <a:tcPr>
                        <a:blipFill>
                          <a:blip r:embed="rId3"/>
                          <a:stretch>
                            <a:fillRect l="-705063" t="-174000" r="-844" b="-10667"/>
                          </a:stretch>
                        </a:blipFill>
                      </a:tcPr>
                    </a:tc>
                    <a:extLst>
                      <a:ext uri="{0D108BD9-81ED-4DB2-BD59-A6C34878D82A}">
                        <a16:rowId xmlns:a16="http://schemas.microsoft.com/office/drawing/2014/main" val="4277117354"/>
                      </a:ext>
                    </a:extLst>
                  </a:tr>
                </a:tbl>
              </a:graphicData>
            </a:graphic>
          </p:graphicFrame>
        </mc:Fallback>
      </mc:AlternateContent>
    </p:spTree>
    <p:extLst>
      <p:ext uri="{BB962C8B-B14F-4D97-AF65-F5344CB8AC3E}">
        <p14:creationId xmlns:p14="http://schemas.microsoft.com/office/powerpoint/2010/main" val="9126004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44330-A1F1-0EEC-6621-C3F1992A44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62A3F1-358E-1B6E-6E1D-302E0F4AFD9C}"/>
              </a:ext>
            </a:extLst>
          </p:cNvPr>
          <p:cNvSpPr>
            <a:spLocks noGrp="1"/>
          </p:cNvSpPr>
          <p:nvPr>
            <p:ph type="ctrTitle"/>
          </p:nvPr>
        </p:nvSpPr>
        <p:spPr/>
        <p:txBody>
          <a:bodyPr>
            <a:normAutofit fontScale="90000"/>
          </a:bodyPr>
          <a:lstStyle/>
          <a:p>
            <a:r>
              <a:rPr lang="en-US"/>
              <a:t>The Chebyshev Bound for Estimating Probability of a Coin Flip Event</a:t>
            </a:r>
          </a:p>
        </p:txBody>
      </p:sp>
      <p:sp>
        <p:nvSpPr>
          <p:cNvPr id="3" name="Subtitle 2">
            <a:extLst>
              <a:ext uri="{FF2B5EF4-FFF2-40B4-BE49-F238E27FC236}">
                <a16:creationId xmlns:a16="http://schemas.microsoft.com/office/drawing/2014/main" id="{C6E71590-A637-AE99-C1D9-3089DAA3BB9E}"/>
              </a:ext>
            </a:extLst>
          </p:cNvPr>
          <p:cNvSpPr>
            <a:spLocks noGrp="1"/>
          </p:cNvSpPr>
          <p:nvPr>
            <p:ph type="subTitle" idx="1"/>
          </p:nvPr>
        </p:nvSpPr>
        <p:spPr/>
        <p:txBody>
          <a:bodyPr/>
          <a:lstStyle/>
          <a:p>
            <a:r>
              <a:rPr lang="en-US"/>
              <a:t>Lecture 22, CS70 Fall 2025</a:t>
            </a:r>
          </a:p>
        </p:txBody>
      </p:sp>
      <p:sp>
        <p:nvSpPr>
          <p:cNvPr id="6" name="Content Placeholder 5">
            <a:extLst>
              <a:ext uri="{FF2B5EF4-FFF2-40B4-BE49-F238E27FC236}">
                <a16:creationId xmlns:a16="http://schemas.microsoft.com/office/drawing/2014/main" id="{6C2841E8-5A58-0161-F516-96FB49F0D2EA}"/>
              </a:ext>
            </a:extLst>
          </p:cNvPr>
          <p:cNvSpPr>
            <a:spLocks noGrp="1"/>
          </p:cNvSpPr>
          <p:nvPr>
            <p:ph sz="quarter" idx="10"/>
          </p:nvPr>
        </p:nvSpPr>
        <p:spPr/>
        <p:txBody>
          <a:bodyPr/>
          <a:lstStyle/>
          <a:p>
            <a:endParaRPr lang="en-US">
              <a:solidFill>
                <a:schemeClr val="bg1">
                  <a:lumMod val="65000"/>
                </a:schemeClr>
              </a:solidFill>
            </a:endParaRPr>
          </a:p>
          <a:p>
            <a:endParaRPr lang="en-US" b="1">
              <a:solidFill>
                <a:schemeClr val="accent3"/>
              </a:solidFill>
              <a:latin typeface="Inter" panose="02000503000000020004" pitchFamily="2" charset="0"/>
              <a:ea typeface="Inter" panose="02000503000000020004" pitchFamily="2" charset="0"/>
              <a:cs typeface="Inter" panose="02000503000000020004" pitchFamily="2" charset="0"/>
            </a:endParaRPr>
          </a:p>
        </p:txBody>
      </p:sp>
      <p:sp>
        <p:nvSpPr>
          <p:cNvPr id="4" name="Content Placeholder 5">
            <a:extLst>
              <a:ext uri="{FF2B5EF4-FFF2-40B4-BE49-F238E27FC236}">
                <a16:creationId xmlns:a16="http://schemas.microsoft.com/office/drawing/2014/main" id="{515DF428-D6C8-1455-DE65-81AC82B1FB17}"/>
              </a:ext>
            </a:extLst>
          </p:cNvPr>
          <p:cNvSpPr txBox="1">
            <a:spLocks/>
          </p:cNvSpPr>
          <p:nvPr/>
        </p:nvSpPr>
        <p:spPr>
          <a:xfrm>
            <a:off x="6248400" y="217487"/>
            <a:ext cx="6096000" cy="6716713"/>
          </a:xfrm>
          <a:prstGeom prst="rect">
            <a:avLst/>
          </a:prstGeom>
        </p:spPr>
        <p:txBody>
          <a:bodyPr anchor="ctr">
            <a:normAutofit/>
          </a:bodyPr>
          <a:lstStyle>
            <a:lvl1pPr marL="0" indent="0" algn="l" defTabSz="914377" rtl="0" eaLnBrk="1" latinLnBrk="0" hangingPunct="1">
              <a:lnSpc>
                <a:spcPct val="110000"/>
              </a:lnSpc>
              <a:spcBef>
                <a:spcPts val="1000"/>
              </a:spcBef>
              <a:buFont typeface="Arial" panose="020B0604020202020204" pitchFamily="34" charset="0"/>
              <a:buNone/>
              <a:defRPr sz="2400" b="0" i="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1pPr>
            <a:lvl2pPr marL="685783" indent="-228594" algn="l" defTabSz="914377" rtl="0" eaLnBrk="1" latinLnBrk="0" hangingPunct="1">
              <a:lnSpc>
                <a:spcPct val="90000"/>
              </a:lnSpc>
              <a:spcBef>
                <a:spcPts val="500"/>
              </a:spcBef>
              <a:buSzPct val="125000"/>
              <a:buFont typeface="Arial" panose="020B0604020202020204" pitchFamily="34" charset="0"/>
              <a:buChar char="•"/>
              <a:defRPr sz="2400" b="0" i="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2pPr>
            <a:lvl3pPr marL="1142971" indent="-228594" algn="l" defTabSz="914377" rtl="0" eaLnBrk="1" latinLnBrk="0" hangingPunct="1">
              <a:lnSpc>
                <a:spcPct val="90000"/>
              </a:lnSpc>
              <a:spcBef>
                <a:spcPts val="500"/>
              </a:spcBef>
              <a:buFont typeface="Courier New" panose="02070309020205020404" pitchFamily="49" charset="0"/>
              <a:buChar char="o"/>
              <a:defRPr sz="2400" b="0" i="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3pPr>
            <a:lvl4pPr marL="1600160" indent="-228594" algn="l" defTabSz="914377" rtl="0" eaLnBrk="1" latinLnBrk="0" hangingPunct="1">
              <a:lnSpc>
                <a:spcPct val="90000"/>
              </a:lnSpc>
              <a:spcBef>
                <a:spcPts val="500"/>
              </a:spcBef>
              <a:buFont typeface="Wingdings" pitchFamily="2" charset="2"/>
              <a:buChar char="§"/>
              <a:defRPr sz="2400" b="0" i="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4pPr>
            <a:lvl5pPr marL="2057349" indent="-228594" algn="l" defTabSz="914377" rtl="0" eaLnBrk="1" latinLnBrk="0" hangingPunct="1">
              <a:lnSpc>
                <a:spcPct val="90000"/>
              </a:lnSpc>
              <a:spcBef>
                <a:spcPts val="500"/>
              </a:spcBef>
              <a:buFont typeface="Arial" panose="020B0604020202020204" pitchFamily="34" charset="0"/>
              <a:buChar char="•"/>
              <a:defRPr sz="2400" b="0" i="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chemeClr val="bg1">
                    <a:lumMod val="65000"/>
                  </a:schemeClr>
                </a:solidFill>
              </a:rPr>
              <a:t>Estimating p for </a:t>
            </a:r>
            <a:r>
              <a:rPr lang="en-US" err="1">
                <a:solidFill>
                  <a:schemeClr val="bg1">
                    <a:lumMod val="65000"/>
                  </a:schemeClr>
                </a:solidFill>
              </a:rPr>
              <a:t>X~Bernoulli</a:t>
            </a:r>
            <a:r>
              <a:rPr lang="en-US">
                <a:solidFill>
                  <a:schemeClr val="bg1">
                    <a:lumMod val="65000"/>
                  </a:schemeClr>
                </a:solidFill>
              </a:rPr>
              <a:t>(p)</a:t>
            </a:r>
          </a:p>
          <a:p>
            <a:r>
              <a:rPr lang="en-US">
                <a:solidFill>
                  <a:schemeClr val="bg1">
                    <a:lumMod val="65000"/>
                  </a:schemeClr>
                </a:solidFill>
              </a:rPr>
              <a:t>Markov’s Inequality</a:t>
            </a:r>
          </a:p>
          <a:p>
            <a:r>
              <a:rPr lang="en-US">
                <a:solidFill>
                  <a:schemeClr val="bg1">
                    <a:lumMod val="65000"/>
                  </a:schemeClr>
                </a:solidFill>
              </a:rPr>
              <a:t>Chebyshev’s Inequality</a:t>
            </a:r>
          </a:p>
          <a:p>
            <a:r>
              <a:rPr lang="en-US" b="1">
                <a:solidFill>
                  <a:schemeClr val="accent3"/>
                </a:solidFill>
                <a:latin typeface="Inter" panose="02000503000000020004" pitchFamily="2" charset="0"/>
                <a:ea typeface="Inter" panose="02000503000000020004" pitchFamily="2" charset="0"/>
                <a:cs typeface="Inter" panose="02000503000000020004" pitchFamily="2" charset="0"/>
              </a:rPr>
              <a:t>The Chebyshev Bound for Number of Heads</a:t>
            </a:r>
          </a:p>
          <a:p>
            <a:r>
              <a:rPr lang="en-US">
                <a:solidFill>
                  <a:schemeClr val="tx2"/>
                </a:solidFill>
              </a:rPr>
              <a:t>The Chebyshev Bound for Estimating the Fairness of a Coin</a:t>
            </a:r>
            <a:endParaRPr lang="en-US">
              <a:solidFill>
                <a:schemeClr val="tx2"/>
              </a:solidFill>
              <a:latin typeface="Inter" panose="02000503000000020004" pitchFamily="2" charset="0"/>
              <a:ea typeface="Inter" panose="02000503000000020004" pitchFamily="2" charset="0"/>
              <a:cs typeface="Inter" panose="02000503000000020004" pitchFamily="2" charset="0"/>
            </a:endParaRPr>
          </a:p>
          <a:p>
            <a:r>
              <a:rPr lang="en-US">
                <a:solidFill>
                  <a:schemeClr val="bg1">
                    <a:lumMod val="65000"/>
                  </a:schemeClr>
                </a:solidFill>
              </a:rPr>
              <a:t>Weak Law of Large Numbers</a:t>
            </a:r>
          </a:p>
          <a:p>
            <a:r>
              <a:rPr lang="en-US">
                <a:solidFill>
                  <a:schemeClr val="bg1">
                    <a:lumMod val="65000"/>
                  </a:schemeClr>
                </a:solidFill>
              </a:rPr>
              <a:t>Bounds Beyond CS70</a:t>
            </a:r>
          </a:p>
        </p:txBody>
      </p:sp>
    </p:spTree>
    <p:extLst>
      <p:ext uri="{BB962C8B-B14F-4D97-AF65-F5344CB8AC3E}">
        <p14:creationId xmlns:p14="http://schemas.microsoft.com/office/powerpoint/2010/main" val="17737058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2198F-182B-B63C-9B22-A250D08F8215}"/>
              </a:ext>
            </a:extLst>
          </p:cNvPr>
          <p:cNvSpPr>
            <a:spLocks noGrp="1"/>
          </p:cNvSpPr>
          <p:nvPr>
            <p:ph type="title"/>
          </p:nvPr>
        </p:nvSpPr>
        <p:spPr/>
        <p:txBody>
          <a:bodyPr/>
          <a:lstStyle/>
          <a:p>
            <a:r>
              <a:rPr lang="en-US"/>
              <a:t>Application: Probability of Coin Toss Outcomes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997DCAD-5633-7C18-3D8A-51129497B0A7}"/>
                  </a:ext>
                </a:extLst>
              </p:cNvPr>
              <p:cNvSpPr>
                <a:spLocks noGrp="1"/>
              </p:cNvSpPr>
              <p:nvPr>
                <p:ph idx="1"/>
              </p:nvPr>
            </p:nvSpPr>
            <p:spPr/>
            <p:txBody>
              <a:bodyPr/>
              <a:lstStyle/>
              <a:p>
                <a:r>
                  <a:rPr lang="en-US"/>
                  <a:t>Earlier, we tried to use Markov’s Inequality to understand the behavior of </a:t>
                </a: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r>
                      <m:rPr>
                        <m:sty m:val="p"/>
                      </m:rPr>
                      <a:rPr lang="en-US" b="0" i="0" smtClean="0">
                        <a:latin typeface="Cambria Math" panose="02040503050406030204" pitchFamily="18" charset="0"/>
                      </a:rPr>
                      <m:t>Binomial</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 0.5)</m:t>
                    </m:r>
                  </m:oMath>
                </a14:m>
                <a:r>
                  <a:rPr lang="en-US"/>
                  <a:t>. </a:t>
                </a:r>
              </a:p>
              <a:p>
                <a:endParaRPr lang="en-US"/>
              </a:p>
              <a:p>
                <a:r>
                  <a:rPr lang="en-US"/>
                  <a:t>Specifically, we asked: What is the chance that at least 3/4s of our flips come up heads.</a:t>
                </a:r>
              </a:p>
              <a:p>
                <a:br>
                  <a:rPr lang="en-US"/>
                </a:br>
                <a:r>
                  <a:rPr lang="en-US"/>
                  <a:t>Using Markov’s Inequality, we found that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r>
                          <a:rPr lang="en-US" b="0" i="1" smtClean="0">
                            <a:latin typeface="Cambria Math" panose="02040503050406030204" pitchFamily="18" charset="0"/>
                          </a:rPr>
                          <m:t>𝑛</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oMath>
                </a14:m>
                <a:r>
                  <a:rPr lang="en-US"/>
                  <a:t>.</a:t>
                </a:r>
              </a:p>
              <a:p>
                <a:endParaRPr lang="en-US"/>
              </a:p>
              <a:p>
                <a:r>
                  <a:rPr lang="en-US"/>
                  <a:t>This bound was not useful! As we flip more coins, the actual probability drops.</a:t>
                </a:r>
              </a:p>
              <a:p>
                <a:pPr marL="342900" indent="-342900">
                  <a:buFont typeface="Arial" panose="020B0604020202020204" pitchFamily="34" charset="0"/>
                  <a:buChar char="•"/>
                </a:pPr>
                <a:r>
                  <a:rPr lang="en-US"/>
                  <a:t>If we use Chebyshev’s Inequality instead, we’ll see a dependence on </a:t>
                </a:r>
                <a14:m>
                  <m:oMath xmlns:m="http://schemas.openxmlformats.org/officeDocument/2006/math">
                    <m:r>
                      <a:rPr lang="en-US" i="1" dirty="0" smtClean="0">
                        <a:latin typeface="Cambria Math" panose="02040503050406030204" pitchFamily="18" charset="0"/>
                      </a:rPr>
                      <m:t>𝑛</m:t>
                    </m:r>
                  </m:oMath>
                </a14:m>
                <a:r>
                  <a:rPr lang="en-US"/>
                  <a:t>.</a:t>
                </a:r>
              </a:p>
            </p:txBody>
          </p:sp>
        </mc:Choice>
        <mc:Fallback>
          <p:sp>
            <p:nvSpPr>
              <p:cNvPr id="3" name="Content Placeholder 2">
                <a:extLst>
                  <a:ext uri="{FF2B5EF4-FFF2-40B4-BE49-F238E27FC236}">
                    <a16:creationId xmlns:a16="http://schemas.microsoft.com/office/drawing/2014/main" id="{F997DCAD-5633-7C18-3D8A-51129497B0A7}"/>
                  </a:ext>
                </a:extLst>
              </p:cNvPr>
              <p:cNvSpPr>
                <a:spLocks noGrp="1" noRot="1" noChangeAspect="1" noMove="1" noResize="1" noEditPoints="1" noAdjustHandles="1" noChangeArrowheads="1" noChangeShapeType="1" noTextEdit="1"/>
              </p:cNvSpPr>
              <p:nvPr>
                <p:ph idx="1"/>
              </p:nvPr>
            </p:nvSpPr>
            <p:spPr>
              <a:blipFill>
                <a:blip r:embed="rId2"/>
                <a:stretch>
                  <a:fillRect l="-796" t="-541"/>
                </a:stretch>
              </a:blipFill>
            </p:spPr>
            <p:txBody>
              <a:bodyPr/>
              <a:lstStyle/>
              <a:p>
                <a:r>
                  <a:rPr lang="en-US">
                    <a:noFill/>
                  </a:rPr>
                  <a:t> </a:t>
                </a:r>
              </a:p>
            </p:txBody>
          </p:sp>
        </mc:Fallback>
      </mc:AlternateContent>
    </p:spTree>
    <p:extLst>
      <p:ext uri="{BB962C8B-B14F-4D97-AF65-F5344CB8AC3E}">
        <p14:creationId xmlns:p14="http://schemas.microsoft.com/office/powerpoint/2010/main" val="11185540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CAB16-05EC-106F-7F0D-5EA349EAC7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CE2BC9-6D46-BA44-416F-79EA11903E44}"/>
              </a:ext>
            </a:extLst>
          </p:cNvPr>
          <p:cNvSpPr>
            <a:spLocks noGrp="1"/>
          </p:cNvSpPr>
          <p:nvPr>
            <p:ph type="title"/>
          </p:nvPr>
        </p:nvSpPr>
        <p:spPr/>
        <p:txBody>
          <a:bodyPr/>
          <a:lstStyle/>
          <a:p>
            <a:r>
              <a:rPr lang="en-US"/>
              <a:t>Application: Probability of Coin Toss Outcomes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54A01FE-02AF-9C13-D37E-86A7528C0CB9}"/>
                  </a:ext>
                </a:extLst>
              </p:cNvPr>
              <p:cNvSpPr>
                <a:spLocks noGrp="1"/>
              </p:cNvSpPr>
              <p:nvPr>
                <p:ph idx="1"/>
              </p:nvPr>
            </p:nvSpPr>
            <p:spPr/>
            <p:txBody>
              <a:bodyPr/>
              <a:lstStyle/>
              <a:p>
                <a:r>
                  <a:rPr lang="en-US"/>
                  <a:t>For </a:t>
                </a:r>
                <a14:m>
                  <m:oMath xmlns:m="http://schemas.openxmlformats.org/officeDocument/2006/math">
                    <m:r>
                      <a:rPr lang="en-US" i="1">
                        <a:latin typeface="Cambria Math" panose="02040503050406030204" pitchFamily="18" charset="0"/>
                      </a:rPr>
                      <m:t>𝑋</m:t>
                    </m:r>
                    <m:r>
                      <a:rPr lang="en-US" i="1">
                        <a:latin typeface="Cambria Math" panose="02040503050406030204" pitchFamily="18" charset="0"/>
                      </a:rPr>
                      <m:t>~</m:t>
                    </m:r>
                    <m:r>
                      <m:rPr>
                        <m:sty m:val="p"/>
                      </m:rPr>
                      <a:rPr lang="en-US">
                        <a:latin typeface="Cambria Math" panose="02040503050406030204" pitchFamily="18" charset="0"/>
                      </a:rPr>
                      <m:t>Binomial</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 0.5)</m:t>
                    </m:r>
                  </m:oMath>
                </a14:m>
                <a:r>
                  <a:rPr lang="en-US"/>
                  <a:t>, let’s bound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r>
                          <a:rPr lang="en-US" b="0" i="1" smtClean="0">
                            <a:latin typeface="Cambria Math" panose="02040503050406030204" pitchFamily="18" charset="0"/>
                          </a:rPr>
                          <m:t>𝑛</m:t>
                        </m:r>
                      </m:e>
                    </m:d>
                  </m:oMath>
                </a14:m>
                <a:r>
                  <a:rPr lang="en-US"/>
                  <a:t>, using Chebyshev’s Inequality: If </a:t>
                </a:r>
                <a14:m>
                  <m:oMath xmlns:m="http://schemas.openxmlformats.org/officeDocument/2006/math">
                    <m:r>
                      <a:rPr lang="en-US" b="0" i="1" smtClean="0">
                        <a:latin typeface="Cambria Math" panose="02040503050406030204" pitchFamily="18" charset="0"/>
                      </a:rPr>
                      <m:t>𝑋</m:t>
                    </m:r>
                  </m:oMath>
                </a14:m>
                <a:r>
                  <a:rPr lang="en-US"/>
                  <a:t> is a random variable with </a:t>
                </a:r>
                <a14:m>
                  <m:oMath xmlns:m="http://schemas.openxmlformats.org/officeDocument/2006/math">
                    <m:r>
                      <a:rPr lang="en-US" i="1">
                        <a:latin typeface="Cambria Math" panose="02040503050406030204" pitchFamily="18" charset="0"/>
                      </a:rPr>
                      <m:t>𝔼</m:t>
                    </m:r>
                    <m:d>
                      <m:dPr>
                        <m:begChr m:val="["/>
                        <m:endChr m:val="]"/>
                        <m:ctrlPr>
                          <a:rPr lang="en-US" i="1">
                            <a:latin typeface="Cambria Math" panose="02040503050406030204" pitchFamily="18" charset="0"/>
                          </a:rPr>
                        </m:ctrlPr>
                      </m:dPr>
                      <m:e>
                        <m:r>
                          <a:rPr lang="en-US" i="1">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𝜇</m:t>
                    </m:r>
                  </m:oMath>
                </a14:m>
                <a:r>
                  <a:rPr lang="en-US"/>
                  <a:t>, then for any constant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r>
                      <a:rPr lang="en-US" b="0" i="0" smtClean="0">
                        <a:latin typeface="Cambria Math" panose="02040503050406030204" pitchFamily="18" charset="0"/>
                      </a:rPr>
                      <m:t>:</m:t>
                    </m:r>
                  </m:oMath>
                </a14:m>
                <a:endParaRPr lang="en-US"/>
              </a:p>
              <a:p>
                <a:pPr/>
                <a14:m>
                  <m:oMathPara xmlns:m="http://schemas.openxmlformats.org/officeDocument/2006/math">
                    <m:oMathParaPr>
                      <m:jc m:val="centerGroup"/>
                    </m:oMathParaPr>
                    <m:oMath xmlns:m="http://schemas.openxmlformats.org/officeDocument/2006/math">
                      <m:r>
                        <a:rPr lang="en-US" b="0" i="1" smtClean="0">
                          <a:solidFill>
                            <a:schemeClr val="accent3"/>
                          </a:solidFill>
                          <a:latin typeface="Cambria Math" panose="02040503050406030204" pitchFamily="18" charset="0"/>
                        </a:rPr>
                        <m:t>𝑃</m:t>
                      </m:r>
                      <m:d>
                        <m:dPr>
                          <m:ctrlPr>
                            <a:rPr lang="en-US" b="0" i="1" smtClean="0">
                              <a:solidFill>
                                <a:schemeClr val="accent3"/>
                              </a:solidFill>
                              <a:latin typeface="Cambria Math" panose="02040503050406030204" pitchFamily="18" charset="0"/>
                            </a:rPr>
                          </m:ctrlPr>
                        </m:dPr>
                        <m:e>
                          <m:d>
                            <m:dPr>
                              <m:begChr m:val="|"/>
                              <m:endChr m:val="|"/>
                              <m:ctrlPr>
                                <a:rPr lang="en-US" b="0" i="1" smtClean="0">
                                  <a:solidFill>
                                    <a:schemeClr val="accent3"/>
                                  </a:solidFill>
                                  <a:latin typeface="Cambria Math" panose="02040503050406030204" pitchFamily="18" charset="0"/>
                                </a:rPr>
                              </m:ctrlPr>
                            </m:dPr>
                            <m:e>
                              <m:r>
                                <a:rPr lang="en-US" b="0" i="1" smtClean="0">
                                  <a:solidFill>
                                    <a:schemeClr val="accent3"/>
                                  </a:solidFill>
                                  <a:latin typeface="Cambria Math" panose="02040503050406030204" pitchFamily="18" charset="0"/>
                                </a:rPr>
                                <m:t>𝑋</m:t>
                              </m:r>
                              <m:r>
                                <a:rPr lang="en-US" b="0" i="1" smtClean="0">
                                  <a:solidFill>
                                    <a:schemeClr val="accent3"/>
                                  </a:solidFill>
                                  <a:latin typeface="Cambria Math" panose="02040503050406030204" pitchFamily="18" charset="0"/>
                                </a:rPr>
                                <m:t>−</m:t>
                              </m:r>
                              <m:r>
                                <a:rPr lang="en-US" b="0" i="1" smtClean="0">
                                  <a:solidFill>
                                    <a:schemeClr val="accent3"/>
                                  </a:solidFill>
                                  <a:latin typeface="Cambria Math" panose="02040503050406030204" pitchFamily="18" charset="0"/>
                                </a:rPr>
                                <m:t>𝜇</m:t>
                              </m:r>
                            </m:e>
                          </m:d>
                          <m:r>
                            <a:rPr lang="en-US" b="0" i="1" smtClean="0">
                              <a:solidFill>
                                <a:schemeClr val="accent3"/>
                              </a:solidFill>
                              <a:latin typeface="Cambria Math" panose="02040503050406030204" pitchFamily="18" charset="0"/>
                            </a:rPr>
                            <m:t>≥</m:t>
                          </m:r>
                          <m:r>
                            <a:rPr lang="en-US" b="0" i="1" smtClean="0">
                              <a:solidFill>
                                <a:schemeClr val="accent3"/>
                              </a:solidFill>
                              <a:latin typeface="Cambria Math" panose="02040503050406030204" pitchFamily="18" charset="0"/>
                            </a:rPr>
                            <m:t>𝑐</m:t>
                          </m:r>
                        </m:e>
                      </m:d>
                      <m:r>
                        <a:rPr lang="en-US" b="0" i="1" smtClean="0">
                          <a:latin typeface="Cambria Math" panose="02040503050406030204" pitchFamily="18" charset="0"/>
                        </a:rPr>
                        <m:t>≤</m:t>
                      </m:r>
                      <m:f>
                        <m:fPr>
                          <m:ctrlPr>
                            <a:rPr lang="en-US" b="0" i="1" smtClean="0">
                              <a:solidFill>
                                <a:schemeClr val="accent2"/>
                              </a:solidFill>
                              <a:latin typeface="Cambria Math" panose="02040503050406030204" pitchFamily="18" charset="0"/>
                            </a:rPr>
                          </m:ctrlPr>
                        </m:fPr>
                        <m:num>
                          <m:r>
                            <m:rPr>
                              <m:sty m:val="p"/>
                            </m:rPr>
                            <a:rPr lang="en-US" b="0" i="0" smtClean="0">
                              <a:solidFill>
                                <a:schemeClr val="accent2"/>
                              </a:solidFill>
                              <a:latin typeface="Cambria Math" panose="02040503050406030204" pitchFamily="18" charset="0"/>
                            </a:rPr>
                            <m:t>var</m:t>
                          </m:r>
                          <m:d>
                            <m:dPr>
                              <m:ctrlPr>
                                <a:rPr lang="en-US" b="0" i="1" smtClean="0">
                                  <a:solidFill>
                                    <a:schemeClr val="accent2"/>
                                  </a:solidFill>
                                  <a:latin typeface="Cambria Math" panose="02040503050406030204" pitchFamily="18" charset="0"/>
                                </a:rPr>
                              </m:ctrlPr>
                            </m:dPr>
                            <m:e>
                              <m:r>
                                <a:rPr lang="en-US" b="0" i="1" smtClean="0">
                                  <a:solidFill>
                                    <a:schemeClr val="accent2"/>
                                  </a:solidFill>
                                  <a:latin typeface="Cambria Math" panose="02040503050406030204" pitchFamily="18" charset="0"/>
                                </a:rPr>
                                <m:t>𝑋</m:t>
                              </m:r>
                            </m:e>
                          </m:d>
                        </m:num>
                        <m:den>
                          <m:sSup>
                            <m:sSupPr>
                              <m:ctrlPr>
                                <a:rPr lang="en-US" b="0" i="1" smtClean="0">
                                  <a:solidFill>
                                    <a:schemeClr val="accent2"/>
                                  </a:solidFill>
                                  <a:latin typeface="Cambria Math" panose="02040503050406030204" pitchFamily="18" charset="0"/>
                                </a:rPr>
                              </m:ctrlPr>
                            </m:sSupPr>
                            <m:e>
                              <m:r>
                                <a:rPr lang="en-US" b="0" i="1" smtClean="0">
                                  <a:solidFill>
                                    <a:schemeClr val="accent2"/>
                                  </a:solidFill>
                                  <a:latin typeface="Cambria Math" panose="02040503050406030204" pitchFamily="18" charset="0"/>
                                </a:rPr>
                                <m:t>𝑐</m:t>
                              </m:r>
                            </m:e>
                            <m:sup>
                              <m:r>
                                <a:rPr lang="en-US" b="0" i="1" smtClean="0">
                                  <a:solidFill>
                                    <a:schemeClr val="accent2"/>
                                  </a:solidFill>
                                  <a:latin typeface="Cambria Math" panose="02040503050406030204" pitchFamily="18" charset="0"/>
                                </a:rPr>
                                <m:t>2</m:t>
                              </m:r>
                            </m:sup>
                          </m:sSup>
                        </m:den>
                      </m:f>
                    </m:oMath>
                  </m:oMathPara>
                </a14:m>
                <a:endParaRPr lang="en-US"/>
              </a:p>
              <a:p>
                <a:br>
                  <a:rPr lang="en-US"/>
                </a:br>
                <a:r>
                  <a:rPr lang="en-US"/>
                  <a:t>First, we write expectation and variance:                </a:t>
                </a:r>
              </a:p>
              <a:p>
                <a:endParaRPr lang="en-US"/>
              </a:p>
              <a:p>
                <a:r>
                  <a:rPr lang="en-US"/>
                  <a:t>Then, get </a:t>
                </a:r>
              </a:p>
            </p:txBody>
          </p:sp>
        </mc:Choice>
        <mc:Fallback>
          <p:sp>
            <p:nvSpPr>
              <p:cNvPr id="3" name="Content Placeholder 2">
                <a:extLst>
                  <a:ext uri="{FF2B5EF4-FFF2-40B4-BE49-F238E27FC236}">
                    <a16:creationId xmlns:a16="http://schemas.microsoft.com/office/drawing/2014/main" id="{954A01FE-02AF-9C13-D37E-86A7528C0CB9}"/>
                  </a:ext>
                </a:extLst>
              </p:cNvPr>
              <p:cNvSpPr>
                <a:spLocks noGrp="1" noRot="1" noChangeAspect="1" noMove="1" noResize="1" noEditPoints="1" noAdjustHandles="1" noChangeArrowheads="1" noChangeShapeType="1" noTextEdit="1"/>
              </p:cNvSpPr>
              <p:nvPr>
                <p:ph idx="1"/>
              </p:nvPr>
            </p:nvSpPr>
            <p:spPr>
              <a:blipFill>
                <a:blip r:embed="rId2"/>
                <a:stretch>
                  <a:fillRect l="-7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13E27735-099A-5F46-85B5-0F2E6735F36A}"/>
                  </a:ext>
                </a:extLst>
              </p:cNvPr>
              <p:cNvSpPr txBox="1"/>
              <p:nvPr/>
            </p:nvSpPr>
            <p:spPr>
              <a:xfrm>
                <a:off x="6096000" y="2737240"/>
                <a:ext cx="1962728" cy="7224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𝔼</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𝑋</m:t>
                          </m:r>
                        </m:e>
                      </m:d>
                      <m:r>
                        <a:rPr lang="en-US" sz="2400" b="0" i="1" smtClean="0">
                          <a:latin typeface="Cambria Math" panose="02040503050406030204" pitchFamily="18" charset="0"/>
                        </a:rPr>
                        <m:t>=</m:t>
                      </m:r>
                      <m:r>
                        <a:rPr lang="en-US" sz="2400" b="0" i="1" smtClean="0">
                          <a:latin typeface="Cambria Math" panose="02040503050406030204" pitchFamily="18" charset="0"/>
                        </a:rPr>
                        <m:t>𝜇</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num>
                        <m:den>
                          <m:r>
                            <a:rPr lang="en-US" sz="2400" b="0" i="1" smtClean="0">
                              <a:latin typeface="Cambria Math" panose="02040503050406030204" pitchFamily="18" charset="0"/>
                            </a:rPr>
                            <m:t>2</m:t>
                          </m:r>
                        </m:den>
                      </m:f>
                    </m:oMath>
                  </m:oMathPara>
                </a14:m>
                <a:endParaRPr lang="en-US" sz="2400"/>
              </a:p>
            </p:txBody>
          </p:sp>
        </mc:Choice>
        <mc:Fallback>
          <p:sp>
            <p:nvSpPr>
              <p:cNvPr id="6" name="TextBox 5">
                <a:extLst>
                  <a:ext uri="{FF2B5EF4-FFF2-40B4-BE49-F238E27FC236}">
                    <a16:creationId xmlns:a16="http://schemas.microsoft.com/office/drawing/2014/main" id="{13E27735-099A-5F46-85B5-0F2E6735F36A}"/>
                  </a:ext>
                </a:extLst>
              </p:cNvPr>
              <p:cNvSpPr txBox="1">
                <a:spLocks noRot="1" noChangeAspect="1" noMove="1" noResize="1" noEditPoints="1" noAdjustHandles="1" noChangeArrowheads="1" noChangeShapeType="1" noTextEdit="1"/>
              </p:cNvSpPr>
              <p:nvPr/>
            </p:nvSpPr>
            <p:spPr>
              <a:xfrm>
                <a:off x="6096000" y="2737240"/>
                <a:ext cx="1962728" cy="72244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DEC8DE29-A8AF-47EF-5821-EA2B1A3026D0}"/>
                  </a:ext>
                </a:extLst>
              </p:cNvPr>
              <p:cNvSpPr txBox="1"/>
              <p:nvPr/>
            </p:nvSpPr>
            <p:spPr>
              <a:xfrm>
                <a:off x="7771387" y="2737240"/>
                <a:ext cx="4615873" cy="7224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latin typeface="Cambria Math" panose="02040503050406030204" pitchFamily="18" charset="0"/>
                        </a:rPr>
                        <m:t>var</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e>
                      </m:d>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r>
                        <m:rPr>
                          <m:sty m:val="p"/>
                        </m:rPr>
                        <a:rPr lang="en-US" sz="2400" b="0" i="1" smtClean="0">
                          <a:latin typeface="Cambria Math" panose="02040503050406030204" pitchFamily="18" charset="0"/>
                        </a:rPr>
                        <m:t>p</m:t>
                      </m:r>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rPr>
                            <m:t>𝑝</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num>
                        <m:den>
                          <m:r>
                            <a:rPr lang="en-US" sz="2400" b="0" i="1" smtClean="0">
                              <a:latin typeface="Cambria Math" panose="02040503050406030204" pitchFamily="18" charset="0"/>
                            </a:rPr>
                            <m:t>4</m:t>
                          </m:r>
                        </m:den>
                      </m:f>
                    </m:oMath>
                  </m:oMathPara>
                </a14:m>
                <a:endParaRPr lang="en-US" sz="2400"/>
              </a:p>
            </p:txBody>
          </p:sp>
        </mc:Choice>
        <mc:Fallback>
          <p:sp>
            <p:nvSpPr>
              <p:cNvPr id="7" name="TextBox 6">
                <a:extLst>
                  <a:ext uri="{FF2B5EF4-FFF2-40B4-BE49-F238E27FC236}">
                    <a16:creationId xmlns:a16="http://schemas.microsoft.com/office/drawing/2014/main" id="{DEC8DE29-A8AF-47EF-5821-EA2B1A3026D0}"/>
                  </a:ext>
                </a:extLst>
              </p:cNvPr>
              <p:cNvSpPr txBox="1">
                <a:spLocks noRot="1" noChangeAspect="1" noMove="1" noResize="1" noEditPoints="1" noAdjustHandles="1" noChangeArrowheads="1" noChangeShapeType="1" noTextEdit="1"/>
              </p:cNvSpPr>
              <p:nvPr/>
            </p:nvSpPr>
            <p:spPr>
              <a:xfrm>
                <a:off x="7771387" y="2737240"/>
                <a:ext cx="4615873" cy="72244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AC1D93BF-3E6D-AF73-5E8A-B1FD2A4D7A60}"/>
                  </a:ext>
                </a:extLst>
              </p:cNvPr>
              <p:cNvSpPr txBox="1"/>
              <p:nvPr/>
            </p:nvSpPr>
            <p:spPr>
              <a:xfrm>
                <a:off x="1398159" y="3714638"/>
                <a:ext cx="2104734" cy="9221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3</m:t>
                              </m:r>
                            </m:num>
                            <m:den>
                              <m:r>
                                <a:rPr lang="en-US" sz="2400" b="0" i="1" smtClean="0">
                                  <a:latin typeface="Cambria Math" panose="02040503050406030204" pitchFamily="18" charset="0"/>
                                </a:rPr>
                                <m:t>4</m:t>
                              </m:r>
                            </m:den>
                          </m:f>
                          <m:r>
                            <a:rPr lang="en-US" sz="2400" b="0" i="1" smtClean="0">
                              <a:latin typeface="Cambria Math" panose="02040503050406030204" pitchFamily="18" charset="0"/>
                            </a:rPr>
                            <m:t>𝑛</m:t>
                          </m:r>
                        </m:e>
                      </m:d>
                    </m:oMath>
                  </m:oMathPara>
                </a14:m>
                <a:endParaRPr lang="en-US" sz="2400"/>
              </a:p>
            </p:txBody>
          </p:sp>
        </mc:Choice>
        <mc:Fallback>
          <p:sp>
            <p:nvSpPr>
              <p:cNvPr id="8" name="TextBox 7">
                <a:extLst>
                  <a:ext uri="{FF2B5EF4-FFF2-40B4-BE49-F238E27FC236}">
                    <a16:creationId xmlns:a16="http://schemas.microsoft.com/office/drawing/2014/main" id="{AC1D93BF-3E6D-AF73-5E8A-B1FD2A4D7A60}"/>
                  </a:ext>
                </a:extLst>
              </p:cNvPr>
              <p:cNvSpPr txBox="1">
                <a:spLocks noRot="1" noChangeAspect="1" noMove="1" noResize="1" noEditPoints="1" noAdjustHandles="1" noChangeArrowheads="1" noChangeShapeType="1" noTextEdit="1"/>
              </p:cNvSpPr>
              <p:nvPr/>
            </p:nvSpPr>
            <p:spPr>
              <a:xfrm>
                <a:off x="1398159" y="3714638"/>
                <a:ext cx="2104734" cy="92217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79D41DED-D761-2F90-2034-4CC34669C586}"/>
                  </a:ext>
                </a:extLst>
              </p:cNvPr>
              <p:cNvSpPr txBox="1"/>
              <p:nvPr/>
            </p:nvSpPr>
            <p:spPr>
              <a:xfrm>
                <a:off x="1627911" y="7991223"/>
                <a:ext cx="3567545" cy="7146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i="1">
                              <a:latin typeface="Cambria Math" panose="02040503050406030204" pitchFamily="18" charset="0"/>
                            </a:rPr>
                            <m:t>𝔼</m:t>
                          </m:r>
                          <m:d>
                            <m:dPr>
                              <m:begChr m:val="["/>
                              <m:endChr m:val="]"/>
                              <m:ctrlPr>
                                <a:rPr lang="en-US" i="1">
                                  <a:latin typeface="Cambria Math" panose="02040503050406030204" pitchFamily="18" charset="0"/>
                                </a:rPr>
                              </m:ctrlPr>
                            </m:dPr>
                            <m:e>
                              <m:r>
                                <a:rPr lang="en-US" i="1">
                                  <a:latin typeface="Cambria Math" panose="02040503050406030204" pitchFamily="18" charset="0"/>
                                </a:rPr>
                                <m:t>𝑋</m:t>
                              </m:r>
                            </m:e>
                          </m:d>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0" smtClean="0">
                                  <a:latin typeface="Cambria Math" panose="02040503050406030204" pitchFamily="18" charset="0"/>
                                </a:rPr>
                                <m:t>1</m:t>
                              </m:r>
                            </m:num>
                            <m:den>
                              <m:r>
                                <a:rPr lang="en-US" b="0" i="0" smtClean="0">
                                  <a:latin typeface="Cambria Math" panose="02040503050406030204" pitchFamily="18" charset="0"/>
                                </a:rPr>
                                <m:t>4</m:t>
                              </m:r>
                            </m:den>
                          </m:f>
                          <m:r>
                            <m:rPr>
                              <m:sty m:val="p"/>
                            </m:rPr>
                            <a:rPr lang="en-US" b="0" i="0" smtClean="0">
                              <a:latin typeface="Cambria Math" panose="02040503050406030204" pitchFamily="18" charset="0"/>
                            </a:rPr>
                            <m:t>n</m:t>
                          </m:r>
                        </m:e>
                      </m:d>
                    </m:oMath>
                  </m:oMathPara>
                </a14:m>
                <a:endParaRPr lang="en-US"/>
              </a:p>
            </p:txBody>
          </p:sp>
        </mc:Choice>
        <mc:Fallback>
          <p:sp>
            <p:nvSpPr>
              <p:cNvPr id="10" name="TextBox 9">
                <a:extLst>
                  <a:ext uri="{FF2B5EF4-FFF2-40B4-BE49-F238E27FC236}">
                    <a16:creationId xmlns:a16="http://schemas.microsoft.com/office/drawing/2014/main" id="{79D41DED-D761-2F90-2034-4CC34669C586}"/>
                  </a:ext>
                </a:extLst>
              </p:cNvPr>
              <p:cNvSpPr txBox="1">
                <a:spLocks noRot="1" noChangeAspect="1" noMove="1" noResize="1" noEditPoints="1" noAdjustHandles="1" noChangeArrowheads="1" noChangeShapeType="1" noTextEdit="1"/>
              </p:cNvSpPr>
              <p:nvPr/>
            </p:nvSpPr>
            <p:spPr>
              <a:xfrm>
                <a:off x="1627911" y="7991223"/>
                <a:ext cx="3567545" cy="714683"/>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C28AE19F-068C-26F1-DF0F-4F57B26920F9}"/>
                  </a:ext>
                </a:extLst>
              </p:cNvPr>
              <p:cNvSpPr txBox="1"/>
              <p:nvPr/>
            </p:nvSpPr>
            <p:spPr>
              <a:xfrm>
                <a:off x="5195456" y="7796416"/>
                <a:ext cx="3567545" cy="87998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𝑣𝑎𝑟</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num>
                        <m:den>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4</m:t>
                                      </m:r>
                                    </m:den>
                                  </m:f>
                                </m:e>
                              </m:d>
                            </m:e>
                            <m:sup>
                              <m:r>
                                <a:rPr lang="en-US" b="0" i="1" smtClean="0">
                                  <a:latin typeface="Cambria Math" panose="02040503050406030204" pitchFamily="18" charset="0"/>
                                </a:rPr>
                                <m:t>2</m:t>
                              </m:r>
                            </m:sup>
                          </m:sSup>
                        </m:den>
                      </m:f>
                    </m:oMath>
                  </m:oMathPara>
                </a14:m>
                <a:endParaRPr lang="en-US"/>
              </a:p>
            </p:txBody>
          </p:sp>
        </mc:Choice>
        <mc:Fallback>
          <p:sp>
            <p:nvSpPr>
              <p:cNvPr id="12" name="TextBox 11">
                <a:extLst>
                  <a:ext uri="{FF2B5EF4-FFF2-40B4-BE49-F238E27FC236}">
                    <a16:creationId xmlns:a16="http://schemas.microsoft.com/office/drawing/2014/main" id="{C28AE19F-068C-26F1-DF0F-4F57B26920F9}"/>
                  </a:ext>
                </a:extLst>
              </p:cNvPr>
              <p:cNvSpPr txBox="1">
                <a:spLocks noRot="1" noChangeAspect="1" noMove="1" noResize="1" noEditPoints="1" noAdjustHandles="1" noChangeArrowheads="1" noChangeShapeType="1" noTextEdit="1"/>
              </p:cNvSpPr>
              <p:nvPr/>
            </p:nvSpPr>
            <p:spPr>
              <a:xfrm>
                <a:off x="5195456" y="7796416"/>
                <a:ext cx="3567545" cy="879984"/>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C944DB9F-B8E7-F508-CC18-7E15665C0162}"/>
                  </a:ext>
                </a:extLst>
              </p:cNvPr>
              <p:cNvSpPr txBox="1"/>
              <p:nvPr/>
            </p:nvSpPr>
            <p:spPr>
              <a:xfrm>
                <a:off x="7420265" y="8430005"/>
                <a:ext cx="3567545" cy="6117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4</m:t>
                          </m:r>
                        </m:num>
                        <m:den>
                          <m:r>
                            <a:rPr lang="en-US" b="0" i="1" smtClean="0">
                              <a:latin typeface="Cambria Math" panose="02040503050406030204" pitchFamily="18" charset="0"/>
                            </a:rPr>
                            <m:t>𝑛</m:t>
                          </m:r>
                        </m:den>
                      </m:f>
                    </m:oMath>
                  </m:oMathPara>
                </a14:m>
                <a:endParaRPr lang="en-US"/>
              </a:p>
            </p:txBody>
          </p:sp>
        </mc:Choice>
        <mc:Fallback>
          <p:sp>
            <p:nvSpPr>
              <p:cNvPr id="13" name="TextBox 12">
                <a:extLst>
                  <a:ext uri="{FF2B5EF4-FFF2-40B4-BE49-F238E27FC236}">
                    <a16:creationId xmlns:a16="http://schemas.microsoft.com/office/drawing/2014/main" id="{C944DB9F-B8E7-F508-CC18-7E15665C0162}"/>
                  </a:ext>
                </a:extLst>
              </p:cNvPr>
              <p:cNvSpPr txBox="1">
                <a:spLocks noRot="1" noChangeAspect="1" noMove="1" noResize="1" noEditPoints="1" noAdjustHandles="1" noChangeArrowheads="1" noChangeShapeType="1" noTextEdit="1"/>
              </p:cNvSpPr>
              <p:nvPr/>
            </p:nvSpPr>
            <p:spPr>
              <a:xfrm>
                <a:off x="7420265" y="8430005"/>
                <a:ext cx="3567545" cy="611706"/>
              </a:xfrm>
              <a:prstGeom prst="rect">
                <a:avLst/>
              </a:prstGeom>
              <a:blipFill>
                <a:blip r:embed="rId8"/>
                <a:stretch>
                  <a:fillRect/>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3B064C1F-ED6D-9188-3B39-8A91F61DF2D0}"/>
              </a:ext>
            </a:extLst>
          </p:cNvPr>
          <p:cNvSpPr txBox="1"/>
          <p:nvPr/>
        </p:nvSpPr>
        <p:spPr>
          <a:xfrm>
            <a:off x="3429000" y="3944894"/>
            <a:ext cx="7405256" cy="461665"/>
          </a:xfrm>
          <a:prstGeom prst="rect">
            <a:avLst/>
          </a:prstGeom>
          <a:noFill/>
        </p:spPr>
        <p:txBody>
          <a:bodyPr wrap="square">
            <a:spAutoFit/>
          </a:bodyPr>
          <a:lstStyle/>
          <a:p>
            <a:r>
              <a:rPr lang="en-US" sz="2400">
                <a:latin typeface="Inter Light" panose="02000403000000020004" pitchFamily="2" charset="0"/>
                <a:ea typeface="Inter Light" panose="02000403000000020004" pitchFamily="2" charset="0"/>
                <a:cs typeface="Inter Light" panose="02000403000000020004" pitchFamily="2" charset="0"/>
              </a:rPr>
              <a:t>into the appropriate form to apply Chebyshev:</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D7B64587-1421-80EC-651C-D859315A84FF}"/>
                  </a:ext>
                </a:extLst>
              </p:cNvPr>
              <p:cNvSpPr txBox="1"/>
              <p:nvPr/>
            </p:nvSpPr>
            <p:spPr>
              <a:xfrm>
                <a:off x="1441454" y="4832747"/>
                <a:ext cx="6797382" cy="7940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3</m:t>
                              </m:r>
                            </m:num>
                            <m:den>
                              <m:r>
                                <a:rPr lang="en-US" sz="2400" b="0" i="1" smtClean="0">
                                  <a:latin typeface="Cambria Math" panose="02040503050406030204" pitchFamily="18" charset="0"/>
                                </a:rPr>
                                <m:t>4</m:t>
                              </m:r>
                            </m:den>
                          </m:f>
                          <m:r>
                            <a:rPr lang="en-US" sz="2400" b="0" i="1" smtClean="0">
                              <a:latin typeface="Cambria Math" panose="02040503050406030204" pitchFamily="18" charset="0"/>
                            </a:rPr>
                            <m:t>𝑛</m:t>
                          </m:r>
                        </m:e>
                      </m:d>
                      <m:r>
                        <a:rPr lang="en-US" sz="2400" b="0" i="1" smtClean="0">
                          <a:latin typeface="Cambria Math" panose="02040503050406030204" pitchFamily="18" charset="0"/>
                        </a:rPr>
                        <m:t>=</m:t>
                      </m:r>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𝑋</m:t>
                          </m:r>
                          <m:r>
                            <a:rPr lang="en-US" sz="2400" i="1">
                              <a:latin typeface="Cambria Math" panose="02040503050406030204" pitchFamily="18" charset="0"/>
                            </a:rPr>
                            <m:t>−</m:t>
                          </m:r>
                          <m:r>
                            <a:rPr lang="en-US" sz="2400" b="0" i="1" smtClean="0">
                              <a:latin typeface="Cambria Math" panose="02040503050406030204" pitchFamily="18" charset="0"/>
                            </a:rPr>
                            <m:t>𝜇</m:t>
                          </m:r>
                          <m:r>
                            <a:rPr lang="en-US" sz="2400">
                              <a:latin typeface="Cambria Math" panose="02040503050406030204" pitchFamily="18" charset="0"/>
                            </a:rPr>
                            <m:t>≥</m:t>
                          </m:r>
                          <m:f>
                            <m:fPr>
                              <m:ctrlPr>
                                <a:rPr lang="en-US" sz="2400" i="1">
                                  <a:latin typeface="Cambria Math" panose="02040503050406030204" pitchFamily="18" charset="0"/>
                                </a:rPr>
                              </m:ctrlPr>
                            </m:fPr>
                            <m:num>
                              <m:r>
                                <a:rPr lang="en-US" sz="2400" b="0" i="0" smtClean="0">
                                  <a:latin typeface="Cambria Math" panose="02040503050406030204" pitchFamily="18" charset="0"/>
                                </a:rPr>
                                <m:t>3</m:t>
                              </m:r>
                            </m:num>
                            <m:den>
                              <m:r>
                                <a:rPr lang="en-US" sz="2400">
                                  <a:latin typeface="Cambria Math" panose="02040503050406030204" pitchFamily="18" charset="0"/>
                                </a:rPr>
                                <m:t>4</m:t>
                              </m:r>
                            </m:den>
                          </m:f>
                          <m:r>
                            <m:rPr>
                              <m:sty m:val="p"/>
                            </m:rPr>
                            <a:rPr lang="en-US" sz="2400">
                              <a:latin typeface="Cambria Math" panose="02040503050406030204" pitchFamily="18" charset="0"/>
                            </a:rPr>
                            <m:t>n</m:t>
                          </m:r>
                          <m:r>
                            <a:rPr lang="en-US" sz="2400" i="1">
                              <a:latin typeface="Cambria Math" panose="02040503050406030204" pitchFamily="18" charset="0"/>
                            </a:rPr>
                            <m:t>−</m:t>
                          </m:r>
                          <m:r>
                            <a:rPr lang="en-US" sz="2400" b="0" i="1" smtClean="0">
                              <a:latin typeface="Cambria Math" panose="02040503050406030204" pitchFamily="18" charset="0"/>
                            </a:rPr>
                            <m:t>𝜇</m:t>
                          </m:r>
                        </m:e>
                      </m:d>
                    </m:oMath>
                  </m:oMathPara>
                </a14:m>
                <a:endParaRPr lang="en-US" sz="2400"/>
              </a:p>
            </p:txBody>
          </p:sp>
        </mc:Choice>
        <mc:Fallback>
          <p:sp>
            <p:nvSpPr>
              <p:cNvPr id="9" name="TextBox 8">
                <a:extLst>
                  <a:ext uri="{FF2B5EF4-FFF2-40B4-BE49-F238E27FC236}">
                    <a16:creationId xmlns:a16="http://schemas.microsoft.com/office/drawing/2014/main" id="{D7B64587-1421-80EC-651C-D859315A84FF}"/>
                  </a:ext>
                </a:extLst>
              </p:cNvPr>
              <p:cNvSpPr txBox="1">
                <a:spLocks noRot="1" noChangeAspect="1" noMove="1" noResize="1" noEditPoints="1" noAdjustHandles="1" noChangeArrowheads="1" noChangeShapeType="1" noTextEdit="1"/>
              </p:cNvSpPr>
              <p:nvPr/>
            </p:nvSpPr>
            <p:spPr>
              <a:xfrm>
                <a:off x="1441454" y="4832747"/>
                <a:ext cx="6797382" cy="794064"/>
              </a:xfrm>
              <a:prstGeom prst="rect">
                <a:avLst/>
              </a:prstGeom>
              <a:blipFill>
                <a:blip r:embed="rId9"/>
                <a:stretch>
                  <a:fillRect b="-923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E778695E-634E-54B1-C536-A065F2599226}"/>
                  </a:ext>
                </a:extLst>
              </p:cNvPr>
              <p:cNvSpPr txBox="1"/>
              <p:nvPr/>
            </p:nvSpPr>
            <p:spPr>
              <a:xfrm>
                <a:off x="6019794" y="4959804"/>
                <a:ext cx="4767260" cy="7454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𝑋</m:t>
                          </m:r>
                          <m:r>
                            <a:rPr lang="en-US" sz="2400" i="1">
                              <a:latin typeface="Cambria Math" panose="02040503050406030204" pitchFamily="18" charset="0"/>
                            </a:rPr>
                            <m:t>−</m:t>
                          </m:r>
                          <m:r>
                            <a:rPr lang="en-US" sz="2400" b="0" i="1" smtClean="0">
                              <a:latin typeface="Cambria Math" panose="02040503050406030204" pitchFamily="18" charset="0"/>
                            </a:rPr>
                            <m:t>𝜇</m:t>
                          </m:r>
                          <m:r>
                            <a:rPr lang="en-US" sz="2400">
                              <a:latin typeface="Cambria Math" panose="02040503050406030204" pitchFamily="18" charset="0"/>
                            </a:rPr>
                            <m:t>≥</m:t>
                          </m:r>
                          <m:f>
                            <m:fPr>
                              <m:ctrlPr>
                                <a:rPr lang="en-US" sz="2400" b="0" i="1" smtClean="0">
                                  <a:latin typeface="Cambria Math" panose="02040503050406030204" pitchFamily="18" charset="0"/>
                                </a:rPr>
                              </m:ctrlPr>
                            </m:fPr>
                            <m:num>
                              <m:r>
                                <a:rPr lang="en-US" sz="2400" i="1" smtClean="0">
                                  <a:latin typeface="Cambria Math" panose="02040503050406030204" pitchFamily="18" charset="0"/>
                                </a:rPr>
                                <m:t>𝑛</m:t>
                              </m:r>
                            </m:num>
                            <m:den>
                              <m:r>
                                <a:rPr lang="en-US" sz="2400" b="0" i="1" smtClean="0">
                                  <a:latin typeface="Cambria Math" panose="02040503050406030204" pitchFamily="18" charset="0"/>
                                </a:rPr>
                                <m:t>4</m:t>
                              </m:r>
                            </m:den>
                          </m:f>
                        </m:e>
                      </m:d>
                    </m:oMath>
                  </m:oMathPara>
                </a14:m>
                <a:endParaRPr lang="en-US" sz="2400"/>
              </a:p>
            </p:txBody>
          </p:sp>
        </mc:Choice>
        <mc:Fallback>
          <p:sp>
            <p:nvSpPr>
              <p:cNvPr id="16" name="TextBox 15">
                <a:extLst>
                  <a:ext uri="{FF2B5EF4-FFF2-40B4-BE49-F238E27FC236}">
                    <a16:creationId xmlns:a16="http://schemas.microsoft.com/office/drawing/2014/main" id="{E778695E-634E-54B1-C536-A065F2599226}"/>
                  </a:ext>
                </a:extLst>
              </p:cNvPr>
              <p:cNvSpPr txBox="1">
                <a:spLocks noRot="1" noChangeAspect="1" noMove="1" noResize="1" noEditPoints="1" noAdjustHandles="1" noChangeArrowheads="1" noChangeShapeType="1" noTextEdit="1"/>
              </p:cNvSpPr>
              <p:nvPr/>
            </p:nvSpPr>
            <p:spPr>
              <a:xfrm>
                <a:off x="6019794" y="4959804"/>
                <a:ext cx="4767260" cy="745460"/>
              </a:xfrm>
              <a:prstGeom prst="rect">
                <a:avLst/>
              </a:prstGeom>
              <a:blipFill>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90925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5" grpId="0"/>
      <p:bldP spid="9" grpId="0"/>
      <p:bldP spid="1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EC428-A7D7-357B-28F5-771BD6DAA9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C563A9-2DD7-BB25-CF8C-3AD7CA27864B}"/>
              </a:ext>
            </a:extLst>
          </p:cNvPr>
          <p:cNvSpPr>
            <a:spLocks noGrp="1"/>
          </p:cNvSpPr>
          <p:nvPr>
            <p:ph type="title"/>
          </p:nvPr>
        </p:nvSpPr>
        <p:spPr/>
        <p:txBody>
          <a:bodyPr/>
          <a:lstStyle/>
          <a:p>
            <a:r>
              <a:rPr lang="en-US"/>
              <a:t>Application: Probability of Coin Toss Outcomes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A1527D1-F205-215A-1BE2-CFA4815C2068}"/>
                  </a:ext>
                </a:extLst>
              </p:cNvPr>
              <p:cNvSpPr>
                <a:spLocks noGrp="1"/>
              </p:cNvSpPr>
              <p:nvPr>
                <p:ph idx="1"/>
              </p:nvPr>
            </p:nvSpPr>
            <p:spPr/>
            <p:txBody>
              <a:bodyPr/>
              <a:lstStyle/>
              <a:p>
                <a:r>
                  <a:rPr lang="en-US"/>
                  <a:t>For </a:t>
                </a:r>
                <a14:m>
                  <m:oMath xmlns:m="http://schemas.openxmlformats.org/officeDocument/2006/math">
                    <m:r>
                      <a:rPr lang="en-US" i="1">
                        <a:latin typeface="Cambria Math" panose="02040503050406030204" pitchFamily="18" charset="0"/>
                      </a:rPr>
                      <m:t>𝑋</m:t>
                    </m:r>
                    <m:r>
                      <a:rPr lang="en-US" i="1">
                        <a:latin typeface="Cambria Math" panose="02040503050406030204" pitchFamily="18" charset="0"/>
                      </a:rPr>
                      <m:t>~</m:t>
                    </m:r>
                    <m:r>
                      <m:rPr>
                        <m:sty m:val="p"/>
                      </m:rPr>
                      <a:rPr lang="en-US">
                        <a:latin typeface="Cambria Math" panose="02040503050406030204" pitchFamily="18" charset="0"/>
                      </a:rPr>
                      <m:t>Binomial</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 0.5)</m:t>
                    </m:r>
                  </m:oMath>
                </a14:m>
                <a:r>
                  <a:rPr lang="en-US"/>
                  <a:t>, let’s bound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r>
                          <a:rPr lang="en-US" b="0" i="1" smtClean="0">
                            <a:latin typeface="Cambria Math" panose="02040503050406030204" pitchFamily="18" charset="0"/>
                          </a:rPr>
                          <m:t>𝑛</m:t>
                        </m:r>
                      </m:e>
                    </m:d>
                  </m:oMath>
                </a14:m>
                <a:r>
                  <a:rPr lang="en-US"/>
                  <a:t>, using Chebyshev’s Inequality: If </a:t>
                </a:r>
                <a14:m>
                  <m:oMath xmlns:m="http://schemas.openxmlformats.org/officeDocument/2006/math">
                    <m:r>
                      <a:rPr lang="en-US" b="0" i="1" smtClean="0">
                        <a:latin typeface="Cambria Math" panose="02040503050406030204" pitchFamily="18" charset="0"/>
                      </a:rPr>
                      <m:t>𝑋</m:t>
                    </m:r>
                  </m:oMath>
                </a14:m>
                <a:r>
                  <a:rPr lang="en-US"/>
                  <a:t> is a random variable with </a:t>
                </a:r>
                <a14:m>
                  <m:oMath xmlns:m="http://schemas.openxmlformats.org/officeDocument/2006/math">
                    <m:r>
                      <a:rPr lang="en-US" i="1">
                        <a:latin typeface="Cambria Math" panose="02040503050406030204" pitchFamily="18" charset="0"/>
                      </a:rPr>
                      <m:t>𝔼</m:t>
                    </m:r>
                    <m:d>
                      <m:dPr>
                        <m:begChr m:val="["/>
                        <m:endChr m:val="]"/>
                        <m:ctrlPr>
                          <a:rPr lang="en-US" i="1">
                            <a:latin typeface="Cambria Math" panose="02040503050406030204" pitchFamily="18" charset="0"/>
                          </a:rPr>
                        </m:ctrlPr>
                      </m:dPr>
                      <m:e>
                        <m:r>
                          <a:rPr lang="en-US" i="1">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𝜇</m:t>
                    </m:r>
                  </m:oMath>
                </a14:m>
                <a:r>
                  <a:rPr lang="en-US"/>
                  <a:t>, then for any constant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r>
                      <a:rPr lang="en-US" b="0" i="0" smtClean="0">
                        <a:latin typeface="Cambria Math" panose="02040503050406030204" pitchFamily="18" charset="0"/>
                      </a:rPr>
                      <m:t>:</m:t>
                    </m:r>
                  </m:oMath>
                </a14:m>
                <a:endParaRPr lang="en-US"/>
              </a:p>
              <a:p>
                <a:pPr/>
                <a14:m>
                  <m:oMathPara xmlns:m="http://schemas.openxmlformats.org/officeDocument/2006/math">
                    <m:oMathParaPr>
                      <m:jc m:val="centerGroup"/>
                    </m:oMathParaPr>
                    <m:oMath xmlns:m="http://schemas.openxmlformats.org/officeDocument/2006/math">
                      <m:r>
                        <a:rPr lang="en-US" i="1">
                          <a:solidFill>
                            <a:schemeClr val="accent3"/>
                          </a:solidFill>
                          <a:latin typeface="Cambria Math" panose="02040503050406030204" pitchFamily="18" charset="0"/>
                        </a:rPr>
                        <m:t>𝑃</m:t>
                      </m:r>
                      <m:d>
                        <m:dPr>
                          <m:ctrlPr>
                            <a:rPr lang="en-US" i="1">
                              <a:solidFill>
                                <a:schemeClr val="accent3"/>
                              </a:solidFill>
                              <a:latin typeface="Cambria Math" panose="02040503050406030204" pitchFamily="18" charset="0"/>
                            </a:rPr>
                          </m:ctrlPr>
                        </m:dPr>
                        <m:e>
                          <m:d>
                            <m:dPr>
                              <m:begChr m:val="|"/>
                              <m:endChr m:val="|"/>
                              <m:ctrlPr>
                                <a:rPr lang="en-US" i="1">
                                  <a:solidFill>
                                    <a:schemeClr val="accent3"/>
                                  </a:solidFill>
                                  <a:latin typeface="Cambria Math" panose="02040503050406030204" pitchFamily="18" charset="0"/>
                                </a:rPr>
                              </m:ctrlPr>
                            </m:dPr>
                            <m:e>
                              <m:r>
                                <a:rPr lang="en-US" i="1">
                                  <a:solidFill>
                                    <a:schemeClr val="accent3"/>
                                  </a:solidFill>
                                  <a:latin typeface="Cambria Math" panose="02040503050406030204" pitchFamily="18" charset="0"/>
                                </a:rPr>
                                <m:t>𝑋</m:t>
                              </m:r>
                              <m:r>
                                <a:rPr lang="en-US" i="1">
                                  <a:solidFill>
                                    <a:schemeClr val="accent3"/>
                                  </a:solidFill>
                                  <a:latin typeface="Cambria Math" panose="02040503050406030204" pitchFamily="18" charset="0"/>
                                </a:rPr>
                                <m:t>−</m:t>
                              </m:r>
                              <m:r>
                                <a:rPr lang="en-US" i="1">
                                  <a:solidFill>
                                    <a:schemeClr val="accent3"/>
                                  </a:solidFill>
                                  <a:latin typeface="Cambria Math" panose="02040503050406030204" pitchFamily="18" charset="0"/>
                                </a:rPr>
                                <m:t>𝜇</m:t>
                              </m:r>
                            </m:e>
                          </m:d>
                          <m:r>
                            <a:rPr lang="en-US" i="1">
                              <a:solidFill>
                                <a:schemeClr val="accent3"/>
                              </a:solidFill>
                              <a:latin typeface="Cambria Math" panose="02040503050406030204" pitchFamily="18" charset="0"/>
                            </a:rPr>
                            <m:t>≥</m:t>
                          </m:r>
                          <m:r>
                            <a:rPr lang="en-US" i="1">
                              <a:solidFill>
                                <a:schemeClr val="accent3"/>
                              </a:solidFill>
                              <a:latin typeface="Cambria Math" panose="02040503050406030204" pitchFamily="18" charset="0"/>
                            </a:rPr>
                            <m:t>𝑐</m:t>
                          </m:r>
                        </m:e>
                      </m:d>
                      <m:r>
                        <a:rPr lang="en-US" i="1">
                          <a:latin typeface="Cambria Math" panose="02040503050406030204" pitchFamily="18" charset="0"/>
                        </a:rPr>
                        <m:t>≤</m:t>
                      </m:r>
                      <m:f>
                        <m:fPr>
                          <m:ctrlPr>
                            <a:rPr lang="en-US" i="1">
                              <a:solidFill>
                                <a:schemeClr val="accent2"/>
                              </a:solidFill>
                              <a:latin typeface="Cambria Math" panose="02040503050406030204" pitchFamily="18" charset="0"/>
                            </a:rPr>
                          </m:ctrlPr>
                        </m:fPr>
                        <m:num>
                          <m:r>
                            <m:rPr>
                              <m:sty m:val="p"/>
                            </m:rPr>
                            <a:rPr lang="en-US">
                              <a:solidFill>
                                <a:schemeClr val="accent2"/>
                              </a:solidFill>
                              <a:latin typeface="Cambria Math" panose="02040503050406030204" pitchFamily="18" charset="0"/>
                            </a:rPr>
                            <m:t>var</m:t>
                          </m:r>
                          <m:d>
                            <m:dPr>
                              <m:ctrlPr>
                                <a:rPr lang="en-US" i="1">
                                  <a:solidFill>
                                    <a:schemeClr val="accent2"/>
                                  </a:solidFill>
                                  <a:latin typeface="Cambria Math" panose="02040503050406030204" pitchFamily="18" charset="0"/>
                                </a:rPr>
                              </m:ctrlPr>
                            </m:dPr>
                            <m:e>
                              <m:r>
                                <a:rPr lang="en-US" i="1">
                                  <a:solidFill>
                                    <a:schemeClr val="accent2"/>
                                  </a:solidFill>
                                  <a:latin typeface="Cambria Math" panose="02040503050406030204" pitchFamily="18" charset="0"/>
                                </a:rPr>
                                <m:t>𝑋</m:t>
                              </m:r>
                            </m:e>
                          </m:d>
                        </m:num>
                        <m:den>
                          <m:sSup>
                            <m:sSupPr>
                              <m:ctrlPr>
                                <a:rPr lang="en-US" i="1">
                                  <a:solidFill>
                                    <a:schemeClr val="accent2"/>
                                  </a:solidFill>
                                  <a:latin typeface="Cambria Math" panose="02040503050406030204" pitchFamily="18" charset="0"/>
                                </a:rPr>
                              </m:ctrlPr>
                            </m:sSupPr>
                            <m:e>
                              <m:r>
                                <a:rPr lang="en-US" i="1">
                                  <a:solidFill>
                                    <a:schemeClr val="accent2"/>
                                  </a:solidFill>
                                  <a:latin typeface="Cambria Math" panose="02040503050406030204" pitchFamily="18" charset="0"/>
                                </a:rPr>
                                <m:t>𝑐</m:t>
                              </m:r>
                            </m:e>
                            <m:sup>
                              <m:r>
                                <a:rPr lang="en-US" i="1">
                                  <a:solidFill>
                                    <a:schemeClr val="accent2"/>
                                  </a:solidFill>
                                  <a:latin typeface="Cambria Math" panose="02040503050406030204" pitchFamily="18" charset="0"/>
                                </a:rPr>
                                <m:t>2</m:t>
                              </m:r>
                            </m:sup>
                          </m:sSup>
                        </m:den>
                      </m:f>
                    </m:oMath>
                  </m:oMathPara>
                </a14:m>
                <a:endParaRPr lang="en-US"/>
              </a:p>
              <a:p>
                <a:br>
                  <a:rPr lang="en-US"/>
                </a:br>
                <a:r>
                  <a:rPr lang="en-US"/>
                  <a:t>First, we write expectation and variance:                </a:t>
                </a:r>
              </a:p>
              <a:p>
                <a:endParaRPr lang="en-US"/>
              </a:p>
              <a:p>
                <a:r>
                  <a:rPr lang="en-US"/>
                  <a:t>Then, get </a:t>
                </a:r>
              </a:p>
            </p:txBody>
          </p:sp>
        </mc:Choice>
        <mc:Fallback>
          <p:sp>
            <p:nvSpPr>
              <p:cNvPr id="3" name="Content Placeholder 2">
                <a:extLst>
                  <a:ext uri="{FF2B5EF4-FFF2-40B4-BE49-F238E27FC236}">
                    <a16:creationId xmlns:a16="http://schemas.microsoft.com/office/drawing/2014/main" id="{DA1527D1-F205-215A-1BE2-CFA4815C2068}"/>
                  </a:ext>
                </a:extLst>
              </p:cNvPr>
              <p:cNvSpPr>
                <a:spLocks noGrp="1" noRot="1" noChangeAspect="1" noMove="1" noResize="1" noEditPoints="1" noAdjustHandles="1" noChangeArrowheads="1" noChangeShapeType="1" noTextEdit="1"/>
              </p:cNvSpPr>
              <p:nvPr>
                <p:ph idx="1"/>
              </p:nvPr>
            </p:nvSpPr>
            <p:spPr>
              <a:blipFill>
                <a:blip r:embed="rId2"/>
                <a:stretch>
                  <a:fillRect l="-7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3B2C6887-578A-2FD3-56B8-000E1276C664}"/>
                  </a:ext>
                </a:extLst>
              </p:cNvPr>
              <p:cNvSpPr txBox="1"/>
              <p:nvPr/>
            </p:nvSpPr>
            <p:spPr>
              <a:xfrm>
                <a:off x="6096000" y="2737240"/>
                <a:ext cx="1962728" cy="7224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𝔼</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𝑋</m:t>
                          </m:r>
                        </m:e>
                      </m:d>
                      <m:r>
                        <a:rPr lang="en-US" sz="2400" b="0" i="1" smtClean="0">
                          <a:latin typeface="Cambria Math" panose="02040503050406030204" pitchFamily="18" charset="0"/>
                        </a:rPr>
                        <m:t>=</m:t>
                      </m:r>
                      <m:r>
                        <a:rPr lang="en-US" sz="2400" b="0" i="1" smtClean="0">
                          <a:latin typeface="Cambria Math" panose="02040503050406030204" pitchFamily="18" charset="0"/>
                        </a:rPr>
                        <m:t>𝜇</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num>
                        <m:den>
                          <m:r>
                            <a:rPr lang="en-US" sz="2400" b="0" i="1" smtClean="0">
                              <a:latin typeface="Cambria Math" panose="02040503050406030204" pitchFamily="18" charset="0"/>
                            </a:rPr>
                            <m:t>2</m:t>
                          </m:r>
                        </m:den>
                      </m:f>
                    </m:oMath>
                  </m:oMathPara>
                </a14:m>
                <a:endParaRPr lang="en-US" sz="2400"/>
              </a:p>
            </p:txBody>
          </p:sp>
        </mc:Choice>
        <mc:Fallback>
          <p:sp>
            <p:nvSpPr>
              <p:cNvPr id="6" name="TextBox 5">
                <a:extLst>
                  <a:ext uri="{FF2B5EF4-FFF2-40B4-BE49-F238E27FC236}">
                    <a16:creationId xmlns:a16="http://schemas.microsoft.com/office/drawing/2014/main" id="{3B2C6887-578A-2FD3-56B8-000E1276C664}"/>
                  </a:ext>
                </a:extLst>
              </p:cNvPr>
              <p:cNvSpPr txBox="1">
                <a:spLocks noRot="1" noChangeAspect="1" noMove="1" noResize="1" noEditPoints="1" noAdjustHandles="1" noChangeArrowheads="1" noChangeShapeType="1" noTextEdit="1"/>
              </p:cNvSpPr>
              <p:nvPr/>
            </p:nvSpPr>
            <p:spPr>
              <a:xfrm>
                <a:off x="6096000" y="2737240"/>
                <a:ext cx="1962728" cy="72244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8AD7B0D8-F43E-C2F4-6F71-1E22218AC593}"/>
                  </a:ext>
                </a:extLst>
              </p:cNvPr>
              <p:cNvSpPr txBox="1"/>
              <p:nvPr/>
            </p:nvSpPr>
            <p:spPr>
              <a:xfrm>
                <a:off x="7771387" y="2737240"/>
                <a:ext cx="4615873" cy="7224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latin typeface="Cambria Math" panose="02040503050406030204" pitchFamily="18" charset="0"/>
                        </a:rPr>
                        <m:t>var</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e>
                      </m:d>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r>
                        <m:rPr>
                          <m:sty m:val="p"/>
                        </m:rPr>
                        <a:rPr lang="en-US" sz="2400" b="0" i="1" smtClean="0">
                          <a:latin typeface="Cambria Math" panose="02040503050406030204" pitchFamily="18" charset="0"/>
                        </a:rPr>
                        <m:t>p</m:t>
                      </m:r>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rPr>
                            <m:t>𝑝</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num>
                        <m:den>
                          <m:r>
                            <a:rPr lang="en-US" sz="2400" b="0" i="1" smtClean="0">
                              <a:latin typeface="Cambria Math" panose="02040503050406030204" pitchFamily="18" charset="0"/>
                            </a:rPr>
                            <m:t>4</m:t>
                          </m:r>
                        </m:den>
                      </m:f>
                    </m:oMath>
                  </m:oMathPara>
                </a14:m>
                <a:endParaRPr lang="en-US" sz="2400"/>
              </a:p>
            </p:txBody>
          </p:sp>
        </mc:Choice>
        <mc:Fallback>
          <p:sp>
            <p:nvSpPr>
              <p:cNvPr id="7" name="TextBox 6">
                <a:extLst>
                  <a:ext uri="{FF2B5EF4-FFF2-40B4-BE49-F238E27FC236}">
                    <a16:creationId xmlns:a16="http://schemas.microsoft.com/office/drawing/2014/main" id="{8AD7B0D8-F43E-C2F4-6F71-1E22218AC593}"/>
                  </a:ext>
                </a:extLst>
              </p:cNvPr>
              <p:cNvSpPr txBox="1">
                <a:spLocks noRot="1" noChangeAspect="1" noMove="1" noResize="1" noEditPoints="1" noAdjustHandles="1" noChangeArrowheads="1" noChangeShapeType="1" noTextEdit="1"/>
              </p:cNvSpPr>
              <p:nvPr/>
            </p:nvSpPr>
            <p:spPr>
              <a:xfrm>
                <a:off x="7771387" y="2737240"/>
                <a:ext cx="4615873" cy="72244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C823DE0B-406B-1CD6-C75E-5802CD5BCDD8}"/>
                  </a:ext>
                </a:extLst>
              </p:cNvPr>
              <p:cNvSpPr txBox="1"/>
              <p:nvPr/>
            </p:nvSpPr>
            <p:spPr>
              <a:xfrm>
                <a:off x="1398159" y="3714638"/>
                <a:ext cx="2104734" cy="9221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3</m:t>
                              </m:r>
                            </m:num>
                            <m:den>
                              <m:r>
                                <a:rPr lang="en-US" sz="2400" b="0" i="1" smtClean="0">
                                  <a:latin typeface="Cambria Math" panose="02040503050406030204" pitchFamily="18" charset="0"/>
                                </a:rPr>
                                <m:t>4</m:t>
                              </m:r>
                            </m:den>
                          </m:f>
                          <m:r>
                            <a:rPr lang="en-US" sz="2400" b="0" i="1" smtClean="0">
                              <a:latin typeface="Cambria Math" panose="02040503050406030204" pitchFamily="18" charset="0"/>
                            </a:rPr>
                            <m:t>𝑛</m:t>
                          </m:r>
                        </m:e>
                      </m:d>
                    </m:oMath>
                  </m:oMathPara>
                </a14:m>
                <a:endParaRPr lang="en-US" sz="2400"/>
              </a:p>
            </p:txBody>
          </p:sp>
        </mc:Choice>
        <mc:Fallback>
          <p:sp>
            <p:nvSpPr>
              <p:cNvPr id="8" name="TextBox 7">
                <a:extLst>
                  <a:ext uri="{FF2B5EF4-FFF2-40B4-BE49-F238E27FC236}">
                    <a16:creationId xmlns:a16="http://schemas.microsoft.com/office/drawing/2014/main" id="{C823DE0B-406B-1CD6-C75E-5802CD5BCDD8}"/>
                  </a:ext>
                </a:extLst>
              </p:cNvPr>
              <p:cNvSpPr txBox="1">
                <a:spLocks noRot="1" noChangeAspect="1" noMove="1" noResize="1" noEditPoints="1" noAdjustHandles="1" noChangeArrowheads="1" noChangeShapeType="1" noTextEdit="1"/>
              </p:cNvSpPr>
              <p:nvPr/>
            </p:nvSpPr>
            <p:spPr>
              <a:xfrm>
                <a:off x="1398159" y="3714638"/>
                <a:ext cx="2104734" cy="92217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2DFC0E10-D726-4B80-EC4B-A423BA08EEB6}"/>
                  </a:ext>
                </a:extLst>
              </p:cNvPr>
              <p:cNvSpPr txBox="1"/>
              <p:nvPr/>
            </p:nvSpPr>
            <p:spPr>
              <a:xfrm>
                <a:off x="1627911" y="7991223"/>
                <a:ext cx="3567545" cy="7146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i="1">
                              <a:latin typeface="Cambria Math" panose="02040503050406030204" pitchFamily="18" charset="0"/>
                            </a:rPr>
                            <m:t>𝔼</m:t>
                          </m:r>
                          <m:d>
                            <m:dPr>
                              <m:begChr m:val="["/>
                              <m:endChr m:val="]"/>
                              <m:ctrlPr>
                                <a:rPr lang="en-US" i="1">
                                  <a:latin typeface="Cambria Math" panose="02040503050406030204" pitchFamily="18" charset="0"/>
                                </a:rPr>
                              </m:ctrlPr>
                            </m:dPr>
                            <m:e>
                              <m:r>
                                <a:rPr lang="en-US" i="1">
                                  <a:latin typeface="Cambria Math" panose="02040503050406030204" pitchFamily="18" charset="0"/>
                                </a:rPr>
                                <m:t>𝑋</m:t>
                              </m:r>
                            </m:e>
                          </m:d>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0" smtClean="0">
                                  <a:latin typeface="Cambria Math" panose="02040503050406030204" pitchFamily="18" charset="0"/>
                                </a:rPr>
                                <m:t>1</m:t>
                              </m:r>
                            </m:num>
                            <m:den>
                              <m:r>
                                <a:rPr lang="en-US" b="0" i="0" smtClean="0">
                                  <a:latin typeface="Cambria Math" panose="02040503050406030204" pitchFamily="18" charset="0"/>
                                </a:rPr>
                                <m:t>4</m:t>
                              </m:r>
                            </m:den>
                          </m:f>
                          <m:r>
                            <m:rPr>
                              <m:sty m:val="p"/>
                            </m:rPr>
                            <a:rPr lang="en-US" b="0" i="0" smtClean="0">
                              <a:latin typeface="Cambria Math" panose="02040503050406030204" pitchFamily="18" charset="0"/>
                            </a:rPr>
                            <m:t>n</m:t>
                          </m:r>
                        </m:e>
                      </m:d>
                    </m:oMath>
                  </m:oMathPara>
                </a14:m>
                <a:endParaRPr lang="en-US"/>
              </a:p>
            </p:txBody>
          </p:sp>
        </mc:Choice>
        <mc:Fallback>
          <p:sp>
            <p:nvSpPr>
              <p:cNvPr id="10" name="TextBox 9">
                <a:extLst>
                  <a:ext uri="{FF2B5EF4-FFF2-40B4-BE49-F238E27FC236}">
                    <a16:creationId xmlns:a16="http://schemas.microsoft.com/office/drawing/2014/main" id="{2DFC0E10-D726-4B80-EC4B-A423BA08EEB6}"/>
                  </a:ext>
                </a:extLst>
              </p:cNvPr>
              <p:cNvSpPr txBox="1">
                <a:spLocks noRot="1" noChangeAspect="1" noMove="1" noResize="1" noEditPoints="1" noAdjustHandles="1" noChangeArrowheads="1" noChangeShapeType="1" noTextEdit="1"/>
              </p:cNvSpPr>
              <p:nvPr/>
            </p:nvSpPr>
            <p:spPr>
              <a:xfrm>
                <a:off x="1627911" y="7991223"/>
                <a:ext cx="3567545" cy="714683"/>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B3467DC3-76A1-F98A-4692-B7AB930F75DA}"/>
                  </a:ext>
                </a:extLst>
              </p:cNvPr>
              <p:cNvSpPr txBox="1"/>
              <p:nvPr/>
            </p:nvSpPr>
            <p:spPr>
              <a:xfrm>
                <a:off x="5195456" y="7796416"/>
                <a:ext cx="3567545" cy="87998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𝑣𝑎𝑟</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num>
                        <m:den>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4</m:t>
                                      </m:r>
                                    </m:den>
                                  </m:f>
                                </m:e>
                              </m:d>
                            </m:e>
                            <m:sup>
                              <m:r>
                                <a:rPr lang="en-US" b="0" i="1" smtClean="0">
                                  <a:latin typeface="Cambria Math" panose="02040503050406030204" pitchFamily="18" charset="0"/>
                                </a:rPr>
                                <m:t>2</m:t>
                              </m:r>
                            </m:sup>
                          </m:sSup>
                        </m:den>
                      </m:f>
                    </m:oMath>
                  </m:oMathPara>
                </a14:m>
                <a:endParaRPr lang="en-US"/>
              </a:p>
            </p:txBody>
          </p:sp>
        </mc:Choice>
        <mc:Fallback>
          <p:sp>
            <p:nvSpPr>
              <p:cNvPr id="12" name="TextBox 11">
                <a:extLst>
                  <a:ext uri="{FF2B5EF4-FFF2-40B4-BE49-F238E27FC236}">
                    <a16:creationId xmlns:a16="http://schemas.microsoft.com/office/drawing/2014/main" id="{B3467DC3-76A1-F98A-4692-B7AB930F75DA}"/>
                  </a:ext>
                </a:extLst>
              </p:cNvPr>
              <p:cNvSpPr txBox="1">
                <a:spLocks noRot="1" noChangeAspect="1" noMove="1" noResize="1" noEditPoints="1" noAdjustHandles="1" noChangeArrowheads="1" noChangeShapeType="1" noTextEdit="1"/>
              </p:cNvSpPr>
              <p:nvPr/>
            </p:nvSpPr>
            <p:spPr>
              <a:xfrm>
                <a:off x="5195456" y="7796416"/>
                <a:ext cx="3567545" cy="879984"/>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38F70260-72CD-49B2-764C-7E8323184981}"/>
                  </a:ext>
                </a:extLst>
              </p:cNvPr>
              <p:cNvSpPr txBox="1"/>
              <p:nvPr/>
            </p:nvSpPr>
            <p:spPr>
              <a:xfrm>
                <a:off x="7420265" y="8430005"/>
                <a:ext cx="3567545" cy="6117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4</m:t>
                          </m:r>
                        </m:num>
                        <m:den>
                          <m:r>
                            <a:rPr lang="en-US" b="0" i="1" smtClean="0">
                              <a:latin typeface="Cambria Math" panose="02040503050406030204" pitchFamily="18" charset="0"/>
                            </a:rPr>
                            <m:t>𝑛</m:t>
                          </m:r>
                        </m:den>
                      </m:f>
                    </m:oMath>
                  </m:oMathPara>
                </a14:m>
                <a:endParaRPr lang="en-US"/>
              </a:p>
            </p:txBody>
          </p:sp>
        </mc:Choice>
        <mc:Fallback>
          <p:sp>
            <p:nvSpPr>
              <p:cNvPr id="13" name="TextBox 12">
                <a:extLst>
                  <a:ext uri="{FF2B5EF4-FFF2-40B4-BE49-F238E27FC236}">
                    <a16:creationId xmlns:a16="http://schemas.microsoft.com/office/drawing/2014/main" id="{38F70260-72CD-49B2-764C-7E8323184981}"/>
                  </a:ext>
                </a:extLst>
              </p:cNvPr>
              <p:cNvSpPr txBox="1">
                <a:spLocks noRot="1" noChangeAspect="1" noMove="1" noResize="1" noEditPoints="1" noAdjustHandles="1" noChangeArrowheads="1" noChangeShapeType="1" noTextEdit="1"/>
              </p:cNvSpPr>
              <p:nvPr/>
            </p:nvSpPr>
            <p:spPr>
              <a:xfrm>
                <a:off x="7420265" y="8430005"/>
                <a:ext cx="3567545" cy="611706"/>
              </a:xfrm>
              <a:prstGeom prst="rect">
                <a:avLst/>
              </a:prstGeom>
              <a:blipFill>
                <a:blip r:embed="rId8"/>
                <a:stretch>
                  <a:fillRect/>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EE411502-FAF5-7FF9-B3A5-161A05A236FB}"/>
              </a:ext>
            </a:extLst>
          </p:cNvPr>
          <p:cNvSpPr txBox="1"/>
          <p:nvPr/>
        </p:nvSpPr>
        <p:spPr>
          <a:xfrm>
            <a:off x="3429000" y="3944894"/>
            <a:ext cx="7405256" cy="461665"/>
          </a:xfrm>
          <a:prstGeom prst="rect">
            <a:avLst/>
          </a:prstGeom>
          <a:noFill/>
        </p:spPr>
        <p:txBody>
          <a:bodyPr wrap="square">
            <a:spAutoFit/>
          </a:bodyPr>
          <a:lstStyle/>
          <a:p>
            <a:r>
              <a:rPr lang="en-US" sz="2400">
                <a:latin typeface="Inter Light" panose="02000403000000020004" pitchFamily="2" charset="0"/>
                <a:ea typeface="Inter Light" panose="02000403000000020004" pitchFamily="2" charset="0"/>
                <a:cs typeface="Inter Light" panose="02000403000000020004" pitchFamily="2" charset="0"/>
              </a:rPr>
              <a:t>into the appropriate form to apply Chebyshev:</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27ACDD58-98D9-AE14-0C6F-2A6742B33026}"/>
                  </a:ext>
                </a:extLst>
              </p:cNvPr>
              <p:cNvSpPr txBox="1"/>
              <p:nvPr/>
            </p:nvSpPr>
            <p:spPr>
              <a:xfrm>
                <a:off x="1441454" y="4832747"/>
                <a:ext cx="6797382" cy="7940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3</m:t>
                              </m:r>
                            </m:num>
                            <m:den>
                              <m:r>
                                <a:rPr lang="en-US" sz="2400" b="0" i="1" smtClean="0">
                                  <a:latin typeface="Cambria Math" panose="02040503050406030204" pitchFamily="18" charset="0"/>
                                </a:rPr>
                                <m:t>4</m:t>
                              </m:r>
                            </m:den>
                          </m:f>
                          <m:r>
                            <a:rPr lang="en-US" sz="2400" b="0" i="1" smtClean="0">
                              <a:latin typeface="Cambria Math" panose="02040503050406030204" pitchFamily="18" charset="0"/>
                            </a:rPr>
                            <m:t>𝑛</m:t>
                          </m:r>
                        </m:e>
                      </m:d>
                      <m:r>
                        <a:rPr lang="en-US" sz="2400" b="0" i="1" smtClean="0">
                          <a:latin typeface="Cambria Math" panose="02040503050406030204" pitchFamily="18" charset="0"/>
                        </a:rPr>
                        <m:t>=</m:t>
                      </m:r>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𝑋</m:t>
                          </m:r>
                          <m:r>
                            <a:rPr lang="en-US" sz="2400" i="1">
                              <a:latin typeface="Cambria Math" panose="02040503050406030204" pitchFamily="18" charset="0"/>
                            </a:rPr>
                            <m:t>−</m:t>
                          </m:r>
                          <m:r>
                            <a:rPr lang="en-US" sz="2400" b="0" i="1" smtClean="0">
                              <a:latin typeface="Cambria Math" panose="02040503050406030204" pitchFamily="18" charset="0"/>
                            </a:rPr>
                            <m:t>𝜇</m:t>
                          </m:r>
                          <m:r>
                            <a:rPr lang="en-US" sz="2400">
                              <a:latin typeface="Cambria Math" panose="02040503050406030204" pitchFamily="18" charset="0"/>
                            </a:rPr>
                            <m:t>≥</m:t>
                          </m:r>
                          <m:f>
                            <m:fPr>
                              <m:ctrlPr>
                                <a:rPr lang="en-US" sz="2400" i="1">
                                  <a:latin typeface="Cambria Math" panose="02040503050406030204" pitchFamily="18" charset="0"/>
                                </a:rPr>
                              </m:ctrlPr>
                            </m:fPr>
                            <m:num>
                              <m:r>
                                <a:rPr lang="en-US" sz="2400" b="0" i="0" smtClean="0">
                                  <a:latin typeface="Cambria Math" panose="02040503050406030204" pitchFamily="18" charset="0"/>
                                </a:rPr>
                                <m:t>3</m:t>
                              </m:r>
                            </m:num>
                            <m:den>
                              <m:r>
                                <a:rPr lang="en-US" sz="2400">
                                  <a:latin typeface="Cambria Math" panose="02040503050406030204" pitchFamily="18" charset="0"/>
                                </a:rPr>
                                <m:t>4</m:t>
                              </m:r>
                            </m:den>
                          </m:f>
                          <m:r>
                            <m:rPr>
                              <m:sty m:val="p"/>
                            </m:rPr>
                            <a:rPr lang="en-US" sz="2400">
                              <a:latin typeface="Cambria Math" panose="02040503050406030204" pitchFamily="18" charset="0"/>
                            </a:rPr>
                            <m:t>n</m:t>
                          </m:r>
                          <m:r>
                            <a:rPr lang="en-US" sz="2400" i="1">
                              <a:latin typeface="Cambria Math" panose="02040503050406030204" pitchFamily="18" charset="0"/>
                            </a:rPr>
                            <m:t>−</m:t>
                          </m:r>
                          <m:r>
                            <a:rPr lang="en-US" sz="2400" b="0" i="1" smtClean="0">
                              <a:latin typeface="Cambria Math" panose="02040503050406030204" pitchFamily="18" charset="0"/>
                            </a:rPr>
                            <m:t>𝜇</m:t>
                          </m:r>
                        </m:e>
                      </m:d>
                    </m:oMath>
                  </m:oMathPara>
                </a14:m>
                <a:endParaRPr lang="en-US" sz="2400"/>
              </a:p>
            </p:txBody>
          </p:sp>
        </mc:Choice>
        <mc:Fallback>
          <p:sp>
            <p:nvSpPr>
              <p:cNvPr id="9" name="TextBox 8">
                <a:extLst>
                  <a:ext uri="{FF2B5EF4-FFF2-40B4-BE49-F238E27FC236}">
                    <a16:creationId xmlns:a16="http://schemas.microsoft.com/office/drawing/2014/main" id="{27ACDD58-98D9-AE14-0C6F-2A6742B33026}"/>
                  </a:ext>
                </a:extLst>
              </p:cNvPr>
              <p:cNvSpPr txBox="1">
                <a:spLocks noRot="1" noChangeAspect="1" noMove="1" noResize="1" noEditPoints="1" noAdjustHandles="1" noChangeArrowheads="1" noChangeShapeType="1" noTextEdit="1"/>
              </p:cNvSpPr>
              <p:nvPr/>
            </p:nvSpPr>
            <p:spPr>
              <a:xfrm>
                <a:off x="1441454" y="4832747"/>
                <a:ext cx="6797382" cy="794064"/>
              </a:xfrm>
              <a:prstGeom prst="rect">
                <a:avLst/>
              </a:prstGeom>
              <a:blipFill>
                <a:blip r:embed="rId9"/>
                <a:stretch>
                  <a:fillRect b="-923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AA16E194-196B-4DD0-F0C0-67B0374057B2}"/>
                  </a:ext>
                </a:extLst>
              </p:cNvPr>
              <p:cNvSpPr txBox="1"/>
              <p:nvPr/>
            </p:nvSpPr>
            <p:spPr>
              <a:xfrm>
                <a:off x="6019794" y="4959804"/>
                <a:ext cx="4767260" cy="7454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𝑋</m:t>
                          </m:r>
                          <m:r>
                            <a:rPr lang="en-US" sz="2400" i="1">
                              <a:latin typeface="Cambria Math" panose="02040503050406030204" pitchFamily="18" charset="0"/>
                            </a:rPr>
                            <m:t>−</m:t>
                          </m:r>
                          <m:r>
                            <a:rPr lang="en-US" sz="2400" b="0" i="1" smtClean="0">
                              <a:latin typeface="Cambria Math" panose="02040503050406030204" pitchFamily="18" charset="0"/>
                            </a:rPr>
                            <m:t>𝜇</m:t>
                          </m:r>
                          <m:r>
                            <a:rPr lang="en-US" sz="2400">
                              <a:latin typeface="Cambria Math" panose="02040503050406030204" pitchFamily="18" charset="0"/>
                            </a:rPr>
                            <m:t>≥</m:t>
                          </m:r>
                          <m:f>
                            <m:fPr>
                              <m:ctrlPr>
                                <a:rPr lang="en-US" sz="2400" b="0" i="1" smtClean="0">
                                  <a:latin typeface="Cambria Math" panose="02040503050406030204" pitchFamily="18" charset="0"/>
                                </a:rPr>
                              </m:ctrlPr>
                            </m:fPr>
                            <m:num>
                              <m:r>
                                <a:rPr lang="en-US" sz="2400" i="1" smtClean="0">
                                  <a:latin typeface="Cambria Math" panose="02040503050406030204" pitchFamily="18" charset="0"/>
                                </a:rPr>
                                <m:t>𝑛</m:t>
                              </m:r>
                            </m:num>
                            <m:den>
                              <m:r>
                                <a:rPr lang="en-US" sz="2400" b="0" i="1" smtClean="0">
                                  <a:latin typeface="Cambria Math" panose="02040503050406030204" pitchFamily="18" charset="0"/>
                                </a:rPr>
                                <m:t>4</m:t>
                              </m:r>
                            </m:den>
                          </m:f>
                        </m:e>
                      </m:d>
                    </m:oMath>
                  </m:oMathPara>
                </a14:m>
                <a:endParaRPr lang="en-US" sz="2400"/>
              </a:p>
            </p:txBody>
          </p:sp>
        </mc:Choice>
        <mc:Fallback>
          <p:sp>
            <p:nvSpPr>
              <p:cNvPr id="16" name="TextBox 15">
                <a:extLst>
                  <a:ext uri="{FF2B5EF4-FFF2-40B4-BE49-F238E27FC236}">
                    <a16:creationId xmlns:a16="http://schemas.microsoft.com/office/drawing/2014/main" id="{AA16E194-196B-4DD0-F0C0-67B0374057B2}"/>
                  </a:ext>
                </a:extLst>
              </p:cNvPr>
              <p:cNvSpPr txBox="1">
                <a:spLocks noRot="1" noChangeAspect="1" noMove="1" noResize="1" noEditPoints="1" noAdjustHandles="1" noChangeArrowheads="1" noChangeShapeType="1" noTextEdit="1"/>
              </p:cNvSpPr>
              <p:nvPr/>
            </p:nvSpPr>
            <p:spPr>
              <a:xfrm>
                <a:off x="6019794" y="4959804"/>
                <a:ext cx="4767260" cy="74546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B7F72C1F-8BBC-BC89-B6D9-35A745A593AF}"/>
                  </a:ext>
                </a:extLst>
              </p:cNvPr>
              <p:cNvSpPr txBox="1"/>
              <p:nvPr/>
            </p:nvSpPr>
            <p:spPr>
              <a:xfrm>
                <a:off x="233082" y="5980526"/>
                <a:ext cx="11681012" cy="645048"/>
              </a:xfrm>
              <a:prstGeom prst="rect">
                <a:avLst/>
              </a:prstGeom>
              <a:noFill/>
            </p:spPr>
            <p:txBody>
              <a:bodyPr wrap="square">
                <a:spAutoFit/>
              </a:bodyPr>
              <a:lstStyle/>
              <a:p>
                <a:r>
                  <a:rPr lang="en-US" sz="2400">
                    <a:latin typeface="Inter Light" panose="02000403000000020004" pitchFamily="2" charset="0"/>
                    <a:ea typeface="Inter Light" panose="02000403000000020004" pitchFamily="2" charset="0"/>
                    <a:cs typeface="Inter Light" panose="02000403000000020004" pitchFamily="2" charset="0"/>
                  </a:rPr>
                  <a:t>We are close! What is the relationship between </a:t>
                </a:r>
                <a14:m>
                  <m:oMath xmlns:m="http://schemas.openxmlformats.org/officeDocument/2006/math">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𝑋</m:t>
                        </m:r>
                        <m:r>
                          <a:rPr lang="en-US" sz="2400" i="1">
                            <a:latin typeface="Cambria Math" panose="02040503050406030204" pitchFamily="18" charset="0"/>
                          </a:rPr>
                          <m:t>−</m:t>
                        </m:r>
                        <m:r>
                          <a:rPr lang="en-US" sz="2400" i="1">
                            <a:latin typeface="Cambria Math" panose="02040503050406030204" pitchFamily="18" charset="0"/>
                          </a:rPr>
                          <m:t>𝜇</m:t>
                        </m:r>
                        <m:r>
                          <a:rPr lang="en-US" sz="240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𝑛</m:t>
                            </m:r>
                          </m:num>
                          <m:den>
                            <m:r>
                              <a:rPr lang="en-US" sz="2400" i="1">
                                <a:latin typeface="Cambria Math" panose="02040503050406030204" pitchFamily="18" charset="0"/>
                              </a:rPr>
                              <m:t>4</m:t>
                            </m:r>
                          </m:den>
                        </m:f>
                      </m:e>
                    </m:d>
                  </m:oMath>
                </a14:m>
                <a:r>
                  <a:rPr lang="en-US" sz="2400">
                    <a:latin typeface="Inter Light" panose="02000403000000020004" pitchFamily="2" charset="0"/>
                    <a:ea typeface="Inter Light" panose="02000403000000020004" pitchFamily="2" charset="0"/>
                    <a:cs typeface="Inter Light" panose="02000403000000020004" pitchFamily="2" charset="0"/>
                  </a:rPr>
                  <a:t> and </a:t>
                </a:r>
                <a14:m>
                  <m:oMath xmlns:m="http://schemas.openxmlformats.org/officeDocument/2006/math">
                    <m:r>
                      <a:rPr lang="en-US" sz="2400" i="1" smtClean="0">
                        <a:solidFill>
                          <a:schemeClr val="accent3"/>
                        </a:solidFill>
                        <a:latin typeface="Cambria Math" panose="02040503050406030204" pitchFamily="18" charset="0"/>
                      </a:rPr>
                      <m:t>𝑃</m:t>
                    </m:r>
                    <m:d>
                      <m:dPr>
                        <m:ctrlPr>
                          <a:rPr lang="en-US" sz="2400" i="1">
                            <a:solidFill>
                              <a:schemeClr val="accent3"/>
                            </a:solidFill>
                            <a:latin typeface="Cambria Math" panose="02040503050406030204" pitchFamily="18" charset="0"/>
                          </a:rPr>
                        </m:ctrlPr>
                      </m:dPr>
                      <m:e>
                        <m:d>
                          <m:dPr>
                            <m:begChr m:val="|"/>
                            <m:endChr m:val="|"/>
                            <m:ctrlPr>
                              <a:rPr lang="en-US" sz="2400" b="0" i="1" smtClean="0">
                                <a:solidFill>
                                  <a:schemeClr val="accent3"/>
                                </a:solidFill>
                                <a:latin typeface="Cambria Math" panose="02040503050406030204" pitchFamily="18" charset="0"/>
                              </a:rPr>
                            </m:ctrlPr>
                          </m:dPr>
                          <m:e>
                            <m:r>
                              <a:rPr lang="en-US" sz="2400" i="1">
                                <a:solidFill>
                                  <a:schemeClr val="accent3"/>
                                </a:solidFill>
                                <a:latin typeface="Cambria Math" panose="02040503050406030204" pitchFamily="18" charset="0"/>
                              </a:rPr>
                              <m:t>𝑋</m:t>
                            </m:r>
                            <m:r>
                              <a:rPr lang="en-US" sz="2400" i="1">
                                <a:solidFill>
                                  <a:schemeClr val="accent3"/>
                                </a:solidFill>
                                <a:latin typeface="Cambria Math" panose="02040503050406030204" pitchFamily="18" charset="0"/>
                              </a:rPr>
                              <m:t>−</m:t>
                            </m:r>
                            <m:r>
                              <a:rPr lang="en-US" sz="2400" i="1">
                                <a:solidFill>
                                  <a:schemeClr val="accent3"/>
                                </a:solidFill>
                                <a:latin typeface="Cambria Math" panose="02040503050406030204" pitchFamily="18" charset="0"/>
                              </a:rPr>
                              <m:t>𝜇</m:t>
                            </m:r>
                          </m:e>
                        </m:d>
                        <m:r>
                          <a:rPr lang="en-US" sz="2400">
                            <a:solidFill>
                              <a:schemeClr val="accent3"/>
                            </a:solidFill>
                            <a:latin typeface="Cambria Math" panose="02040503050406030204" pitchFamily="18" charset="0"/>
                          </a:rPr>
                          <m:t>≥</m:t>
                        </m:r>
                        <m:f>
                          <m:fPr>
                            <m:ctrlPr>
                              <a:rPr lang="en-US" sz="2400" i="1">
                                <a:solidFill>
                                  <a:schemeClr val="accent3"/>
                                </a:solidFill>
                                <a:latin typeface="Cambria Math" panose="02040503050406030204" pitchFamily="18" charset="0"/>
                              </a:rPr>
                            </m:ctrlPr>
                          </m:fPr>
                          <m:num>
                            <m:r>
                              <a:rPr lang="en-US" sz="2400" i="1">
                                <a:solidFill>
                                  <a:schemeClr val="accent3"/>
                                </a:solidFill>
                                <a:latin typeface="Cambria Math" panose="02040503050406030204" pitchFamily="18" charset="0"/>
                              </a:rPr>
                              <m:t>𝑛</m:t>
                            </m:r>
                          </m:num>
                          <m:den>
                            <m:r>
                              <a:rPr lang="en-US" sz="2400" i="1">
                                <a:solidFill>
                                  <a:schemeClr val="accent3"/>
                                </a:solidFill>
                                <a:latin typeface="Cambria Math" panose="02040503050406030204" pitchFamily="18" charset="0"/>
                              </a:rPr>
                              <m:t>4</m:t>
                            </m:r>
                          </m:den>
                        </m:f>
                      </m:e>
                    </m:d>
                  </m:oMath>
                </a14:m>
                <a:r>
                  <a:rPr lang="en-US" sz="2400">
                    <a:latin typeface="Inter Light" panose="02000403000000020004" pitchFamily="2" charset="0"/>
                    <a:ea typeface="Inter Light" panose="02000403000000020004" pitchFamily="2" charset="0"/>
                    <a:cs typeface="Inter Light" panose="02000403000000020004" pitchFamily="2" charset="0"/>
                  </a:rPr>
                  <a:t>? </a:t>
                </a:r>
              </a:p>
            </p:txBody>
          </p:sp>
        </mc:Choice>
        <mc:Fallback>
          <p:sp>
            <p:nvSpPr>
              <p:cNvPr id="4" name="TextBox 3">
                <a:extLst>
                  <a:ext uri="{FF2B5EF4-FFF2-40B4-BE49-F238E27FC236}">
                    <a16:creationId xmlns:a16="http://schemas.microsoft.com/office/drawing/2014/main" id="{B7F72C1F-8BBC-BC89-B6D9-35A745A593AF}"/>
                  </a:ext>
                </a:extLst>
              </p:cNvPr>
              <p:cNvSpPr txBox="1">
                <a:spLocks noRot="1" noChangeAspect="1" noMove="1" noResize="1" noEditPoints="1" noAdjustHandles="1" noChangeArrowheads="1" noChangeShapeType="1" noTextEdit="1"/>
              </p:cNvSpPr>
              <p:nvPr/>
            </p:nvSpPr>
            <p:spPr>
              <a:xfrm>
                <a:off x="233082" y="5980526"/>
                <a:ext cx="11681012" cy="645048"/>
              </a:xfrm>
              <a:prstGeom prst="rect">
                <a:avLst/>
              </a:prstGeom>
              <a:blipFill>
                <a:blip r:embed="rId11"/>
                <a:stretch>
                  <a:fillRect l="-783" b="-7547"/>
                </a:stretch>
              </a:blipFill>
            </p:spPr>
            <p:txBody>
              <a:bodyPr/>
              <a:lstStyle/>
              <a:p>
                <a:r>
                  <a:rPr lang="en-US">
                    <a:noFill/>
                  </a:rPr>
                  <a:t> </a:t>
                </a:r>
              </a:p>
            </p:txBody>
          </p:sp>
        </mc:Fallback>
      </mc:AlternateContent>
    </p:spTree>
    <p:extLst>
      <p:ext uri="{BB962C8B-B14F-4D97-AF65-F5344CB8AC3E}">
        <p14:creationId xmlns:p14="http://schemas.microsoft.com/office/powerpoint/2010/main" val="3180215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B97D6-6080-FD44-A9D2-28E053EFB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811AF7-180C-4946-4E4F-94714D309D06}"/>
              </a:ext>
            </a:extLst>
          </p:cNvPr>
          <p:cNvSpPr>
            <a:spLocks noGrp="1"/>
          </p:cNvSpPr>
          <p:nvPr>
            <p:ph type="title"/>
          </p:nvPr>
        </p:nvSpPr>
        <p:spPr/>
        <p:txBody>
          <a:bodyPr/>
          <a:lstStyle/>
          <a:p>
            <a:r>
              <a:rPr lang="en-US"/>
              <a:t>Application: Probability of Coin Toss Outcomes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76B7194-3479-7BE1-05EA-47637EE32733}"/>
                  </a:ext>
                </a:extLst>
              </p:cNvPr>
              <p:cNvSpPr>
                <a:spLocks noGrp="1"/>
              </p:cNvSpPr>
              <p:nvPr>
                <p:ph idx="1"/>
              </p:nvPr>
            </p:nvSpPr>
            <p:spPr/>
            <p:txBody>
              <a:bodyPr/>
              <a:lstStyle/>
              <a:p>
                <a:r>
                  <a:rPr lang="en-US"/>
                  <a:t>For </a:t>
                </a:r>
                <a14:m>
                  <m:oMath xmlns:m="http://schemas.openxmlformats.org/officeDocument/2006/math">
                    <m:r>
                      <a:rPr lang="en-US" i="1">
                        <a:latin typeface="Cambria Math" panose="02040503050406030204" pitchFamily="18" charset="0"/>
                      </a:rPr>
                      <m:t>𝑋</m:t>
                    </m:r>
                    <m:r>
                      <a:rPr lang="en-US" i="1">
                        <a:latin typeface="Cambria Math" panose="02040503050406030204" pitchFamily="18" charset="0"/>
                      </a:rPr>
                      <m:t>~</m:t>
                    </m:r>
                    <m:r>
                      <m:rPr>
                        <m:sty m:val="p"/>
                      </m:rPr>
                      <a:rPr lang="en-US">
                        <a:latin typeface="Cambria Math" panose="02040503050406030204" pitchFamily="18" charset="0"/>
                      </a:rPr>
                      <m:t>Binomial</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 0.5)</m:t>
                    </m:r>
                  </m:oMath>
                </a14:m>
                <a:r>
                  <a:rPr lang="en-US"/>
                  <a:t>, let’s bound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r>
                          <a:rPr lang="en-US" b="0" i="1" smtClean="0">
                            <a:latin typeface="Cambria Math" panose="02040503050406030204" pitchFamily="18" charset="0"/>
                          </a:rPr>
                          <m:t>𝑛</m:t>
                        </m:r>
                      </m:e>
                    </m:d>
                  </m:oMath>
                </a14:m>
                <a:r>
                  <a:rPr lang="en-US"/>
                  <a:t>, using Chebyshev’s Inequality: If </a:t>
                </a:r>
                <a14:m>
                  <m:oMath xmlns:m="http://schemas.openxmlformats.org/officeDocument/2006/math">
                    <m:r>
                      <a:rPr lang="en-US" b="0" i="1" smtClean="0">
                        <a:latin typeface="Cambria Math" panose="02040503050406030204" pitchFamily="18" charset="0"/>
                      </a:rPr>
                      <m:t>𝑋</m:t>
                    </m:r>
                  </m:oMath>
                </a14:m>
                <a:r>
                  <a:rPr lang="en-US"/>
                  <a:t> is a random variable with </a:t>
                </a:r>
                <a14:m>
                  <m:oMath xmlns:m="http://schemas.openxmlformats.org/officeDocument/2006/math">
                    <m:r>
                      <a:rPr lang="en-US" i="1">
                        <a:latin typeface="Cambria Math" panose="02040503050406030204" pitchFamily="18" charset="0"/>
                      </a:rPr>
                      <m:t>𝔼</m:t>
                    </m:r>
                    <m:d>
                      <m:dPr>
                        <m:begChr m:val="["/>
                        <m:endChr m:val="]"/>
                        <m:ctrlPr>
                          <a:rPr lang="en-US" i="1">
                            <a:latin typeface="Cambria Math" panose="02040503050406030204" pitchFamily="18" charset="0"/>
                          </a:rPr>
                        </m:ctrlPr>
                      </m:dPr>
                      <m:e>
                        <m:r>
                          <a:rPr lang="en-US" i="1">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𝜇</m:t>
                    </m:r>
                  </m:oMath>
                </a14:m>
                <a:r>
                  <a:rPr lang="en-US"/>
                  <a:t>, then for any constant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r>
                      <a:rPr lang="en-US" b="0" i="0" smtClean="0">
                        <a:latin typeface="Cambria Math" panose="02040503050406030204" pitchFamily="18" charset="0"/>
                      </a:rPr>
                      <m:t>:</m:t>
                    </m:r>
                  </m:oMath>
                </a14:m>
                <a:endParaRPr lang="en-US"/>
              </a:p>
              <a:p>
                <a:pPr/>
                <a14:m>
                  <m:oMathPara xmlns:m="http://schemas.openxmlformats.org/officeDocument/2006/math">
                    <m:oMathParaPr>
                      <m:jc m:val="centerGroup"/>
                    </m:oMathParaPr>
                    <m:oMath xmlns:m="http://schemas.openxmlformats.org/officeDocument/2006/math">
                      <m:r>
                        <a:rPr lang="en-US" i="1">
                          <a:solidFill>
                            <a:schemeClr val="accent3"/>
                          </a:solidFill>
                          <a:latin typeface="Cambria Math" panose="02040503050406030204" pitchFamily="18" charset="0"/>
                        </a:rPr>
                        <m:t>𝑃</m:t>
                      </m:r>
                      <m:d>
                        <m:dPr>
                          <m:ctrlPr>
                            <a:rPr lang="en-US" i="1">
                              <a:solidFill>
                                <a:schemeClr val="accent3"/>
                              </a:solidFill>
                              <a:latin typeface="Cambria Math" panose="02040503050406030204" pitchFamily="18" charset="0"/>
                            </a:rPr>
                          </m:ctrlPr>
                        </m:dPr>
                        <m:e>
                          <m:d>
                            <m:dPr>
                              <m:begChr m:val="|"/>
                              <m:endChr m:val="|"/>
                              <m:ctrlPr>
                                <a:rPr lang="en-US" i="1">
                                  <a:solidFill>
                                    <a:schemeClr val="accent3"/>
                                  </a:solidFill>
                                  <a:latin typeface="Cambria Math" panose="02040503050406030204" pitchFamily="18" charset="0"/>
                                </a:rPr>
                              </m:ctrlPr>
                            </m:dPr>
                            <m:e>
                              <m:r>
                                <a:rPr lang="en-US" i="1">
                                  <a:solidFill>
                                    <a:schemeClr val="accent3"/>
                                  </a:solidFill>
                                  <a:latin typeface="Cambria Math" panose="02040503050406030204" pitchFamily="18" charset="0"/>
                                </a:rPr>
                                <m:t>𝑋</m:t>
                              </m:r>
                              <m:r>
                                <a:rPr lang="en-US" i="1">
                                  <a:solidFill>
                                    <a:schemeClr val="accent3"/>
                                  </a:solidFill>
                                  <a:latin typeface="Cambria Math" panose="02040503050406030204" pitchFamily="18" charset="0"/>
                                </a:rPr>
                                <m:t>−</m:t>
                              </m:r>
                              <m:r>
                                <a:rPr lang="en-US" i="1">
                                  <a:solidFill>
                                    <a:schemeClr val="accent3"/>
                                  </a:solidFill>
                                  <a:latin typeface="Cambria Math" panose="02040503050406030204" pitchFamily="18" charset="0"/>
                                </a:rPr>
                                <m:t>𝜇</m:t>
                              </m:r>
                            </m:e>
                          </m:d>
                          <m:r>
                            <a:rPr lang="en-US" i="1">
                              <a:solidFill>
                                <a:schemeClr val="accent3"/>
                              </a:solidFill>
                              <a:latin typeface="Cambria Math" panose="02040503050406030204" pitchFamily="18" charset="0"/>
                            </a:rPr>
                            <m:t>≥</m:t>
                          </m:r>
                          <m:r>
                            <a:rPr lang="en-US" i="1">
                              <a:solidFill>
                                <a:schemeClr val="accent3"/>
                              </a:solidFill>
                              <a:latin typeface="Cambria Math" panose="02040503050406030204" pitchFamily="18" charset="0"/>
                            </a:rPr>
                            <m:t>𝑐</m:t>
                          </m:r>
                        </m:e>
                      </m:d>
                      <m:r>
                        <a:rPr lang="en-US" i="1">
                          <a:latin typeface="Cambria Math" panose="02040503050406030204" pitchFamily="18" charset="0"/>
                        </a:rPr>
                        <m:t>≤</m:t>
                      </m:r>
                      <m:f>
                        <m:fPr>
                          <m:ctrlPr>
                            <a:rPr lang="en-US" i="1">
                              <a:solidFill>
                                <a:schemeClr val="accent2"/>
                              </a:solidFill>
                              <a:latin typeface="Cambria Math" panose="02040503050406030204" pitchFamily="18" charset="0"/>
                            </a:rPr>
                          </m:ctrlPr>
                        </m:fPr>
                        <m:num>
                          <m:r>
                            <m:rPr>
                              <m:sty m:val="p"/>
                            </m:rPr>
                            <a:rPr lang="en-US">
                              <a:solidFill>
                                <a:schemeClr val="accent2"/>
                              </a:solidFill>
                              <a:latin typeface="Cambria Math" panose="02040503050406030204" pitchFamily="18" charset="0"/>
                            </a:rPr>
                            <m:t>var</m:t>
                          </m:r>
                          <m:d>
                            <m:dPr>
                              <m:ctrlPr>
                                <a:rPr lang="en-US" i="1">
                                  <a:solidFill>
                                    <a:schemeClr val="accent2"/>
                                  </a:solidFill>
                                  <a:latin typeface="Cambria Math" panose="02040503050406030204" pitchFamily="18" charset="0"/>
                                </a:rPr>
                              </m:ctrlPr>
                            </m:dPr>
                            <m:e>
                              <m:r>
                                <a:rPr lang="en-US" i="1">
                                  <a:solidFill>
                                    <a:schemeClr val="accent2"/>
                                  </a:solidFill>
                                  <a:latin typeface="Cambria Math" panose="02040503050406030204" pitchFamily="18" charset="0"/>
                                </a:rPr>
                                <m:t>𝑋</m:t>
                              </m:r>
                            </m:e>
                          </m:d>
                        </m:num>
                        <m:den>
                          <m:sSup>
                            <m:sSupPr>
                              <m:ctrlPr>
                                <a:rPr lang="en-US" i="1">
                                  <a:solidFill>
                                    <a:schemeClr val="accent2"/>
                                  </a:solidFill>
                                  <a:latin typeface="Cambria Math" panose="02040503050406030204" pitchFamily="18" charset="0"/>
                                </a:rPr>
                              </m:ctrlPr>
                            </m:sSupPr>
                            <m:e>
                              <m:r>
                                <a:rPr lang="en-US" i="1">
                                  <a:solidFill>
                                    <a:schemeClr val="accent2"/>
                                  </a:solidFill>
                                  <a:latin typeface="Cambria Math" panose="02040503050406030204" pitchFamily="18" charset="0"/>
                                </a:rPr>
                                <m:t>𝑐</m:t>
                              </m:r>
                            </m:e>
                            <m:sup>
                              <m:r>
                                <a:rPr lang="en-US" i="1">
                                  <a:solidFill>
                                    <a:schemeClr val="accent2"/>
                                  </a:solidFill>
                                  <a:latin typeface="Cambria Math" panose="02040503050406030204" pitchFamily="18" charset="0"/>
                                </a:rPr>
                                <m:t>2</m:t>
                              </m:r>
                            </m:sup>
                          </m:sSup>
                        </m:den>
                      </m:f>
                    </m:oMath>
                  </m:oMathPara>
                </a14:m>
                <a:endParaRPr lang="en-US"/>
              </a:p>
              <a:p>
                <a:br>
                  <a:rPr lang="en-US"/>
                </a:br>
                <a:r>
                  <a:rPr lang="en-US"/>
                  <a:t>First, we write expectation and variance:                </a:t>
                </a:r>
              </a:p>
              <a:p>
                <a:endParaRPr lang="en-US"/>
              </a:p>
              <a:p>
                <a:r>
                  <a:rPr lang="en-US"/>
                  <a:t>Then, get </a:t>
                </a:r>
              </a:p>
            </p:txBody>
          </p:sp>
        </mc:Choice>
        <mc:Fallback>
          <p:sp>
            <p:nvSpPr>
              <p:cNvPr id="3" name="Content Placeholder 2">
                <a:extLst>
                  <a:ext uri="{FF2B5EF4-FFF2-40B4-BE49-F238E27FC236}">
                    <a16:creationId xmlns:a16="http://schemas.microsoft.com/office/drawing/2014/main" id="{176B7194-3479-7BE1-05EA-47637EE32733}"/>
                  </a:ext>
                </a:extLst>
              </p:cNvPr>
              <p:cNvSpPr>
                <a:spLocks noGrp="1" noRot="1" noChangeAspect="1" noMove="1" noResize="1" noEditPoints="1" noAdjustHandles="1" noChangeArrowheads="1" noChangeShapeType="1" noTextEdit="1"/>
              </p:cNvSpPr>
              <p:nvPr>
                <p:ph idx="1"/>
              </p:nvPr>
            </p:nvSpPr>
            <p:spPr>
              <a:blipFill>
                <a:blip r:embed="rId2"/>
                <a:stretch>
                  <a:fillRect l="-7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2EDEA228-B540-9065-241E-26A1F38B0A73}"/>
                  </a:ext>
                </a:extLst>
              </p:cNvPr>
              <p:cNvSpPr txBox="1"/>
              <p:nvPr/>
            </p:nvSpPr>
            <p:spPr>
              <a:xfrm>
                <a:off x="6096000" y="2737240"/>
                <a:ext cx="1962728" cy="7224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𝔼</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𝑋</m:t>
                          </m:r>
                        </m:e>
                      </m:d>
                      <m:r>
                        <a:rPr lang="en-US" sz="2400" b="0" i="1" smtClean="0">
                          <a:latin typeface="Cambria Math" panose="02040503050406030204" pitchFamily="18" charset="0"/>
                        </a:rPr>
                        <m:t>=</m:t>
                      </m:r>
                      <m:r>
                        <a:rPr lang="en-US" sz="2400" b="0" i="1" smtClean="0">
                          <a:latin typeface="Cambria Math" panose="02040503050406030204" pitchFamily="18" charset="0"/>
                        </a:rPr>
                        <m:t>𝜇</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num>
                        <m:den>
                          <m:r>
                            <a:rPr lang="en-US" sz="2400" b="0" i="1" smtClean="0">
                              <a:latin typeface="Cambria Math" panose="02040503050406030204" pitchFamily="18" charset="0"/>
                            </a:rPr>
                            <m:t>2</m:t>
                          </m:r>
                        </m:den>
                      </m:f>
                    </m:oMath>
                  </m:oMathPara>
                </a14:m>
                <a:endParaRPr lang="en-US" sz="2400"/>
              </a:p>
            </p:txBody>
          </p:sp>
        </mc:Choice>
        <mc:Fallback>
          <p:sp>
            <p:nvSpPr>
              <p:cNvPr id="6" name="TextBox 5">
                <a:extLst>
                  <a:ext uri="{FF2B5EF4-FFF2-40B4-BE49-F238E27FC236}">
                    <a16:creationId xmlns:a16="http://schemas.microsoft.com/office/drawing/2014/main" id="{2EDEA228-B540-9065-241E-26A1F38B0A73}"/>
                  </a:ext>
                </a:extLst>
              </p:cNvPr>
              <p:cNvSpPr txBox="1">
                <a:spLocks noRot="1" noChangeAspect="1" noMove="1" noResize="1" noEditPoints="1" noAdjustHandles="1" noChangeArrowheads="1" noChangeShapeType="1" noTextEdit="1"/>
              </p:cNvSpPr>
              <p:nvPr/>
            </p:nvSpPr>
            <p:spPr>
              <a:xfrm>
                <a:off x="6096000" y="2737240"/>
                <a:ext cx="1962728" cy="72244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6247122F-4024-1F3E-5CBC-F8F3A3950AA7}"/>
                  </a:ext>
                </a:extLst>
              </p:cNvPr>
              <p:cNvSpPr txBox="1"/>
              <p:nvPr/>
            </p:nvSpPr>
            <p:spPr>
              <a:xfrm>
                <a:off x="7771387" y="2737240"/>
                <a:ext cx="4615873" cy="7224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latin typeface="Cambria Math" panose="02040503050406030204" pitchFamily="18" charset="0"/>
                        </a:rPr>
                        <m:t>var</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e>
                      </m:d>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r>
                        <m:rPr>
                          <m:sty m:val="p"/>
                        </m:rPr>
                        <a:rPr lang="en-US" sz="2400" b="0" i="1" smtClean="0">
                          <a:latin typeface="Cambria Math" panose="02040503050406030204" pitchFamily="18" charset="0"/>
                        </a:rPr>
                        <m:t>p</m:t>
                      </m:r>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rPr>
                            <m:t>𝑝</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num>
                        <m:den>
                          <m:r>
                            <a:rPr lang="en-US" sz="2400" b="0" i="1" smtClean="0">
                              <a:latin typeface="Cambria Math" panose="02040503050406030204" pitchFamily="18" charset="0"/>
                            </a:rPr>
                            <m:t>4</m:t>
                          </m:r>
                        </m:den>
                      </m:f>
                    </m:oMath>
                  </m:oMathPara>
                </a14:m>
                <a:endParaRPr lang="en-US" sz="2400"/>
              </a:p>
            </p:txBody>
          </p:sp>
        </mc:Choice>
        <mc:Fallback>
          <p:sp>
            <p:nvSpPr>
              <p:cNvPr id="7" name="TextBox 6">
                <a:extLst>
                  <a:ext uri="{FF2B5EF4-FFF2-40B4-BE49-F238E27FC236}">
                    <a16:creationId xmlns:a16="http://schemas.microsoft.com/office/drawing/2014/main" id="{6247122F-4024-1F3E-5CBC-F8F3A3950AA7}"/>
                  </a:ext>
                </a:extLst>
              </p:cNvPr>
              <p:cNvSpPr txBox="1">
                <a:spLocks noRot="1" noChangeAspect="1" noMove="1" noResize="1" noEditPoints="1" noAdjustHandles="1" noChangeArrowheads="1" noChangeShapeType="1" noTextEdit="1"/>
              </p:cNvSpPr>
              <p:nvPr/>
            </p:nvSpPr>
            <p:spPr>
              <a:xfrm>
                <a:off x="7771387" y="2737240"/>
                <a:ext cx="4615873" cy="72244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A1C655BE-63C2-4D52-4D07-D52DDD2A0C12}"/>
                  </a:ext>
                </a:extLst>
              </p:cNvPr>
              <p:cNvSpPr txBox="1"/>
              <p:nvPr/>
            </p:nvSpPr>
            <p:spPr>
              <a:xfrm>
                <a:off x="1398159" y="3714638"/>
                <a:ext cx="2104734" cy="9221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3</m:t>
                              </m:r>
                            </m:num>
                            <m:den>
                              <m:r>
                                <a:rPr lang="en-US" sz="2400" b="0" i="1" smtClean="0">
                                  <a:latin typeface="Cambria Math" panose="02040503050406030204" pitchFamily="18" charset="0"/>
                                </a:rPr>
                                <m:t>4</m:t>
                              </m:r>
                            </m:den>
                          </m:f>
                          <m:r>
                            <a:rPr lang="en-US" sz="2400" b="0" i="1" smtClean="0">
                              <a:latin typeface="Cambria Math" panose="02040503050406030204" pitchFamily="18" charset="0"/>
                            </a:rPr>
                            <m:t>𝑛</m:t>
                          </m:r>
                        </m:e>
                      </m:d>
                    </m:oMath>
                  </m:oMathPara>
                </a14:m>
                <a:endParaRPr lang="en-US" sz="2400"/>
              </a:p>
            </p:txBody>
          </p:sp>
        </mc:Choice>
        <mc:Fallback>
          <p:sp>
            <p:nvSpPr>
              <p:cNvPr id="8" name="TextBox 7">
                <a:extLst>
                  <a:ext uri="{FF2B5EF4-FFF2-40B4-BE49-F238E27FC236}">
                    <a16:creationId xmlns:a16="http://schemas.microsoft.com/office/drawing/2014/main" id="{A1C655BE-63C2-4D52-4D07-D52DDD2A0C12}"/>
                  </a:ext>
                </a:extLst>
              </p:cNvPr>
              <p:cNvSpPr txBox="1">
                <a:spLocks noRot="1" noChangeAspect="1" noMove="1" noResize="1" noEditPoints="1" noAdjustHandles="1" noChangeArrowheads="1" noChangeShapeType="1" noTextEdit="1"/>
              </p:cNvSpPr>
              <p:nvPr/>
            </p:nvSpPr>
            <p:spPr>
              <a:xfrm>
                <a:off x="1398159" y="3714638"/>
                <a:ext cx="2104734" cy="92217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EA265328-90A7-A2FC-C35D-F7DDC9929413}"/>
                  </a:ext>
                </a:extLst>
              </p:cNvPr>
              <p:cNvSpPr txBox="1"/>
              <p:nvPr/>
            </p:nvSpPr>
            <p:spPr>
              <a:xfrm>
                <a:off x="1627911" y="7991223"/>
                <a:ext cx="3567545" cy="7146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i="1">
                              <a:latin typeface="Cambria Math" panose="02040503050406030204" pitchFamily="18" charset="0"/>
                            </a:rPr>
                            <m:t>𝔼</m:t>
                          </m:r>
                          <m:d>
                            <m:dPr>
                              <m:begChr m:val="["/>
                              <m:endChr m:val="]"/>
                              <m:ctrlPr>
                                <a:rPr lang="en-US" i="1">
                                  <a:latin typeface="Cambria Math" panose="02040503050406030204" pitchFamily="18" charset="0"/>
                                </a:rPr>
                              </m:ctrlPr>
                            </m:dPr>
                            <m:e>
                              <m:r>
                                <a:rPr lang="en-US" i="1">
                                  <a:latin typeface="Cambria Math" panose="02040503050406030204" pitchFamily="18" charset="0"/>
                                </a:rPr>
                                <m:t>𝑋</m:t>
                              </m:r>
                            </m:e>
                          </m:d>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0" smtClean="0">
                                  <a:latin typeface="Cambria Math" panose="02040503050406030204" pitchFamily="18" charset="0"/>
                                </a:rPr>
                                <m:t>1</m:t>
                              </m:r>
                            </m:num>
                            <m:den>
                              <m:r>
                                <a:rPr lang="en-US" b="0" i="0" smtClean="0">
                                  <a:latin typeface="Cambria Math" panose="02040503050406030204" pitchFamily="18" charset="0"/>
                                </a:rPr>
                                <m:t>4</m:t>
                              </m:r>
                            </m:den>
                          </m:f>
                          <m:r>
                            <m:rPr>
                              <m:sty m:val="p"/>
                            </m:rPr>
                            <a:rPr lang="en-US" b="0" i="0" smtClean="0">
                              <a:latin typeface="Cambria Math" panose="02040503050406030204" pitchFamily="18" charset="0"/>
                            </a:rPr>
                            <m:t>n</m:t>
                          </m:r>
                        </m:e>
                      </m:d>
                    </m:oMath>
                  </m:oMathPara>
                </a14:m>
                <a:endParaRPr lang="en-US"/>
              </a:p>
            </p:txBody>
          </p:sp>
        </mc:Choice>
        <mc:Fallback>
          <p:sp>
            <p:nvSpPr>
              <p:cNvPr id="10" name="TextBox 9">
                <a:extLst>
                  <a:ext uri="{FF2B5EF4-FFF2-40B4-BE49-F238E27FC236}">
                    <a16:creationId xmlns:a16="http://schemas.microsoft.com/office/drawing/2014/main" id="{EA265328-90A7-A2FC-C35D-F7DDC9929413}"/>
                  </a:ext>
                </a:extLst>
              </p:cNvPr>
              <p:cNvSpPr txBox="1">
                <a:spLocks noRot="1" noChangeAspect="1" noMove="1" noResize="1" noEditPoints="1" noAdjustHandles="1" noChangeArrowheads="1" noChangeShapeType="1" noTextEdit="1"/>
              </p:cNvSpPr>
              <p:nvPr/>
            </p:nvSpPr>
            <p:spPr>
              <a:xfrm>
                <a:off x="1627911" y="7991223"/>
                <a:ext cx="3567545" cy="714683"/>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0E0607AA-2EC2-9B5D-3B25-51A218B39B5A}"/>
                  </a:ext>
                </a:extLst>
              </p:cNvPr>
              <p:cNvSpPr txBox="1"/>
              <p:nvPr/>
            </p:nvSpPr>
            <p:spPr>
              <a:xfrm>
                <a:off x="5195456" y="7796416"/>
                <a:ext cx="3567545" cy="87998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𝑣𝑎𝑟</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num>
                        <m:den>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4</m:t>
                                      </m:r>
                                    </m:den>
                                  </m:f>
                                </m:e>
                              </m:d>
                            </m:e>
                            <m:sup>
                              <m:r>
                                <a:rPr lang="en-US" b="0" i="1" smtClean="0">
                                  <a:latin typeface="Cambria Math" panose="02040503050406030204" pitchFamily="18" charset="0"/>
                                </a:rPr>
                                <m:t>2</m:t>
                              </m:r>
                            </m:sup>
                          </m:sSup>
                        </m:den>
                      </m:f>
                    </m:oMath>
                  </m:oMathPara>
                </a14:m>
                <a:endParaRPr lang="en-US"/>
              </a:p>
            </p:txBody>
          </p:sp>
        </mc:Choice>
        <mc:Fallback>
          <p:sp>
            <p:nvSpPr>
              <p:cNvPr id="12" name="TextBox 11">
                <a:extLst>
                  <a:ext uri="{FF2B5EF4-FFF2-40B4-BE49-F238E27FC236}">
                    <a16:creationId xmlns:a16="http://schemas.microsoft.com/office/drawing/2014/main" id="{0E0607AA-2EC2-9B5D-3B25-51A218B39B5A}"/>
                  </a:ext>
                </a:extLst>
              </p:cNvPr>
              <p:cNvSpPr txBox="1">
                <a:spLocks noRot="1" noChangeAspect="1" noMove="1" noResize="1" noEditPoints="1" noAdjustHandles="1" noChangeArrowheads="1" noChangeShapeType="1" noTextEdit="1"/>
              </p:cNvSpPr>
              <p:nvPr/>
            </p:nvSpPr>
            <p:spPr>
              <a:xfrm>
                <a:off x="5195456" y="7796416"/>
                <a:ext cx="3567545" cy="879984"/>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33949C5F-5F56-EF95-949F-211D891E58DF}"/>
                  </a:ext>
                </a:extLst>
              </p:cNvPr>
              <p:cNvSpPr txBox="1"/>
              <p:nvPr/>
            </p:nvSpPr>
            <p:spPr>
              <a:xfrm>
                <a:off x="7420265" y="8430005"/>
                <a:ext cx="3567545" cy="6117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4</m:t>
                          </m:r>
                        </m:num>
                        <m:den>
                          <m:r>
                            <a:rPr lang="en-US" b="0" i="1" smtClean="0">
                              <a:latin typeface="Cambria Math" panose="02040503050406030204" pitchFamily="18" charset="0"/>
                            </a:rPr>
                            <m:t>𝑛</m:t>
                          </m:r>
                        </m:den>
                      </m:f>
                    </m:oMath>
                  </m:oMathPara>
                </a14:m>
                <a:endParaRPr lang="en-US"/>
              </a:p>
            </p:txBody>
          </p:sp>
        </mc:Choice>
        <mc:Fallback>
          <p:sp>
            <p:nvSpPr>
              <p:cNvPr id="13" name="TextBox 12">
                <a:extLst>
                  <a:ext uri="{FF2B5EF4-FFF2-40B4-BE49-F238E27FC236}">
                    <a16:creationId xmlns:a16="http://schemas.microsoft.com/office/drawing/2014/main" id="{33949C5F-5F56-EF95-949F-211D891E58DF}"/>
                  </a:ext>
                </a:extLst>
              </p:cNvPr>
              <p:cNvSpPr txBox="1">
                <a:spLocks noRot="1" noChangeAspect="1" noMove="1" noResize="1" noEditPoints="1" noAdjustHandles="1" noChangeArrowheads="1" noChangeShapeType="1" noTextEdit="1"/>
              </p:cNvSpPr>
              <p:nvPr/>
            </p:nvSpPr>
            <p:spPr>
              <a:xfrm>
                <a:off x="7420265" y="8430005"/>
                <a:ext cx="3567545" cy="611706"/>
              </a:xfrm>
              <a:prstGeom prst="rect">
                <a:avLst/>
              </a:prstGeom>
              <a:blipFill>
                <a:blip r:embed="rId8"/>
                <a:stretch>
                  <a:fillRect/>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78CAFF21-B9AF-0054-5F4A-C82DB744D6CA}"/>
              </a:ext>
            </a:extLst>
          </p:cNvPr>
          <p:cNvSpPr txBox="1"/>
          <p:nvPr/>
        </p:nvSpPr>
        <p:spPr>
          <a:xfrm>
            <a:off x="3429000" y="3944894"/>
            <a:ext cx="7405256" cy="461665"/>
          </a:xfrm>
          <a:prstGeom prst="rect">
            <a:avLst/>
          </a:prstGeom>
          <a:noFill/>
        </p:spPr>
        <p:txBody>
          <a:bodyPr wrap="square">
            <a:spAutoFit/>
          </a:bodyPr>
          <a:lstStyle/>
          <a:p>
            <a:r>
              <a:rPr lang="en-US" sz="2400">
                <a:latin typeface="Inter Light" panose="02000403000000020004" pitchFamily="2" charset="0"/>
                <a:ea typeface="Inter Light" panose="02000403000000020004" pitchFamily="2" charset="0"/>
                <a:cs typeface="Inter Light" panose="02000403000000020004" pitchFamily="2" charset="0"/>
              </a:rPr>
              <a:t>into the appropriate form to apply Chebyshev:</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C385A3B9-0E13-3617-499D-4CC9B6BE89E1}"/>
                  </a:ext>
                </a:extLst>
              </p:cNvPr>
              <p:cNvSpPr txBox="1"/>
              <p:nvPr/>
            </p:nvSpPr>
            <p:spPr>
              <a:xfrm>
                <a:off x="1441454" y="4832747"/>
                <a:ext cx="6797382" cy="7940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3</m:t>
                              </m:r>
                            </m:num>
                            <m:den>
                              <m:r>
                                <a:rPr lang="en-US" sz="2400" b="0" i="1" smtClean="0">
                                  <a:latin typeface="Cambria Math" panose="02040503050406030204" pitchFamily="18" charset="0"/>
                                </a:rPr>
                                <m:t>4</m:t>
                              </m:r>
                            </m:den>
                          </m:f>
                          <m:r>
                            <a:rPr lang="en-US" sz="2400" b="0" i="1" smtClean="0">
                              <a:latin typeface="Cambria Math" panose="02040503050406030204" pitchFamily="18" charset="0"/>
                            </a:rPr>
                            <m:t>𝑛</m:t>
                          </m:r>
                        </m:e>
                      </m:d>
                      <m:r>
                        <a:rPr lang="en-US" sz="2400" b="0" i="1" smtClean="0">
                          <a:latin typeface="Cambria Math" panose="02040503050406030204" pitchFamily="18" charset="0"/>
                        </a:rPr>
                        <m:t>=</m:t>
                      </m:r>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𝑋</m:t>
                          </m:r>
                          <m:r>
                            <a:rPr lang="en-US" sz="2400" i="1">
                              <a:latin typeface="Cambria Math" panose="02040503050406030204" pitchFamily="18" charset="0"/>
                            </a:rPr>
                            <m:t>−</m:t>
                          </m:r>
                          <m:r>
                            <a:rPr lang="en-US" sz="2400" b="0" i="1" smtClean="0">
                              <a:latin typeface="Cambria Math" panose="02040503050406030204" pitchFamily="18" charset="0"/>
                            </a:rPr>
                            <m:t>𝜇</m:t>
                          </m:r>
                          <m:r>
                            <a:rPr lang="en-US" sz="2400">
                              <a:latin typeface="Cambria Math" panose="02040503050406030204" pitchFamily="18" charset="0"/>
                            </a:rPr>
                            <m:t>≥</m:t>
                          </m:r>
                          <m:f>
                            <m:fPr>
                              <m:ctrlPr>
                                <a:rPr lang="en-US" sz="2400" i="1">
                                  <a:latin typeface="Cambria Math" panose="02040503050406030204" pitchFamily="18" charset="0"/>
                                </a:rPr>
                              </m:ctrlPr>
                            </m:fPr>
                            <m:num>
                              <m:r>
                                <a:rPr lang="en-US" sz="2400" b="0" i="0" smtClean="0">
                                  <a:latin typeface="Cambria Math" panose="02040503050406030204" pitchFamily="18" charset="0"/>
                                </a:rPr>
                                <m:t>3</m:t>
                              </m:r>
                            </m:num>
                            <m:den>
                              <m:r>
                                <a:rPr lang="en-US" sz="2400">
                                  <a:latin typeface="Cambria Math" panose="02040503050406030204" pitchFamily="18" charset="0"/>
                                </a:rPr>
                                <m:t>4</m:t>
                              </m:r>
                            </m:den>
                          </m:f>
                          <m:r>
                            <m:rPr>
                              <m:sty m:val="p"/>
                            </m:rPr>
                            <a:rPr lang="en-US" sz="2400">
                              <a:latin typeface="Cambria Math" panose="02040503050406030204" pitchFamily="18" charset="0"/>
                            </a:rPr>
                            <m:t>n</m:t>
                          </m:r>
                          <m:r>
                            <a:rPr lang="en-US" sz="2400" i="1">
                              <a:latin typeface="Cambria Math" panose="02040503050406030204" pitchFamily="18" charset="0"/>
                            </a:rPr>
                            <m:t>−</m:t>
                          </m:r>
                          <m:r>
                            <a:rPr lang="en-US" sz="2400" b="0" i="1" smtClean="0">
                              <a:latin typeface="Cambria Math" panose="02040503050406030204" pitchFamily="18" charset="0"/>
                            </a:rPr>
                            <m:t>𝜇</m:t>
                          </m:r>
                        </m:e>
                      </m:d>
                    </m:oMath>
                  </m:oMathPara>
                </a14:m>
                <a:endParaRPr lang="en-US" sz="2400"/>
              </a:p>
            </p:txBody>
          </p:sp>
        </mc:Choice>
        <mc:Fallback>
          <p:sp>
            <p:nvSpPr>
              <p:cNvPr id="9" name="TextBox 8">
                <a:extLst>
                  <a:ext uri="{FF2B5EF4-FFF2-40B4-BE49-F238E27FC236}">
                    <a16:creationId xmlns:a16="http://schemas.microsoft.com/office/drawing/2014/main" id="{C385A3B9-0E13-3617-499D-4CC9B6BE89E1}"/>
                  </a:ext>
                </a:extLst>
              </p:cNvPr>
              <p:cNvSpPr txBox="1">
                <a:spLocks noRot="1" noChangeAspect="1" noMove="1" noResize="1" noEditPoints="1" noAdjustHandles="1" noChangeArrowheads="1" noChangeShapeType="1" noTextEdit="1"/>
              </p:cNvSpPr>
              <p:nvPr/>
            </p:nvSpPr>
            <p:spPr>
              <a:xfrm>
                <a:off x="1441454" y="4832747"/>
                <a:ext cx="6797382" cy="794064"/>
              </a:xfrm>
              <a:prstGeom prst="rect">
                <a:avLst/>
              </a:prstGeom>
              <a:blipFill>
                <a:blip r:embed="rId9"/>
                <a:stretch>
                  <a:fillRect b="-923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604AB32C-5301-94BA-AA0A-8EEEB501F849}"/>
                  </a:ext>
                </a:extLst>
              </p:cNvPr>
              <p:cNvSpPr txBox="1"/>
              <p:nvPr/>
            </p:nvSpPr>
            <p:spPr>
              <a:xfrm>
                <a:off x="6019794" y="4959804"/>
                <a:ext cx="4767260" cy="7454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𝑋</m:t>
                          </m:r>
                          <m:r>
                            <a:rPr lang="en-US" sz="2400" i="1">
                              <a:latin typeface="Cambria Math" panose="02040503050406030204" pitchFamily="18" charset="0"/>
                            </a:rPr>
                            <m:t>−</m:t>
                          </m:r>
                          <m:r>
                            <a:rPr lang="en-US" sz="2400" b="0" i="1" smtClean="0">
                              <a:latin typeface="Cambria Math" panose="02040503050406030204" pitchFamily="18" charset="0"/>
                            </a:rPr>
                            <m:t>𝜇</m:t>
                          </m:r>
                          <m:r>
                            <a:rPr lang="en-US" sz="2400">
                              <a:latin typeface="Cambria Math" panose="02040503050406030204" pitchFamily="18" charset="0"/>
                            </a:rPr>
                            <m:t>≥</m:t>
                          </m:r>
                          <m:f>
                            <m:fPr>
                              <m:ctrlPr>
                                <a:rPr lang="en-US" sz="2400" b="0" i="1" smtClean="0">
                                  <a:latin typeface="Cambria Math" panose="02040503050406030204" pitchFamily="18" charset="0"/>
                                </a:rPr>
                              </m:ctrlPr>
                            </m:fPr>
                            <m:num>
                              <m:r>
                                <a:rPr lang="en-US" sz="2400" i="1" smtClean="0">
                                  <a:latin typeface="Cambria Math" panose="02040503050406030204" pitchFamily="18" charset="0"/>
                                </a:rPr>
                                <m:t>𝑛</m:t>
                              </m:r>
                            </m:num>
                            <m:den>
                              <m:r>
                                <a:rPr lang="en-US" sz="2400" b="0" i="1" smtClean="0">
                                  <a:latin typeface="Cambria Math" panose="02040503050406030204" pitchFamily="18" charset="0"/>
                                </a:rPr>
                                <m:t>4</m:t>
                              </m:r>
                            </m:den>
                          </m:f>
                        </m:e>
                      </m:d>
                    </m:oMath>
                  </m:oMathPara>
                </a14:m>
                <a:endParaRPr lang="en-US" sz="2400"/>
              </a:p>
            </p:txBody>
          </p:sp>
        </mc:Choice>
        <mc:Fallback>
          <p:sp>
            <p:nvSpPr>
              <p:cNvPr id="16" name="TextBox 15">
                <a:extLst>
                  <a:ext uri="{FF2B5EF4-FFF2-40B4-BE49-F238E27FC236}">
                    <a16:creationId xmlns:a16="http://schemas.microsoft.com/office/drawing/2014/main" id="{604AB32C-5301-94BA-AA0A-8EEEB501F849}"/>
                  </a:ext>
                </a:extLst>
              </p:cNvPr>
              <p:cNvSpPr txBox="1">
                <a:spLocks noRot="1" noChangeAspect="1" noMove="1" noResize="1" noEditPoints="1" noAdjustHandles="1" noChangeArrowheads="1" noChangeShapeType="1" noTextEdit="1"/>
              </p:cNvSpPr>
              <p:nvPr/>
            </p:nvSpPr>
            <p:spPr>
              <a:xfrm>
                <a:off x="6019794" y="4959804"/>
                <a:ext cx="4767260" cy="74546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01A69F0C-5646-A5E1-2B17-F812A6730F37}"/>
                  </a:ext>
                </a:extLst>
              </p:cNvPr>
              <p:cNvSpPr txBox="1"/>
              <p:nvPr/>
            </p:nvSpPr>
            <p:spPr>
              <a:xfrm>
                <a:off x="4508836" y="5980526"/>
                <a:ext cx="7405257" cy="645048"/>
              </a:xfrm>
              <a:prstGeom prst="rect">
                <a:avLst/>
              </a:prstGeom>
              <a:noFill/>
            </p:spPr>
            <p:txBody>
              <a:bodyPr wrap="square">
                <a:spAutoFit/>
              </a:bodyPr>
              <a:lstStyle/>
              <a:p>
                <a:r>
                  <a:rPr lang="en-US" sz="2400">
                    <a:latin typeface="Inter Light" panose="02000403000000020004" pitchFamily="2" charset="0"/>
                    <a:ea typeface="Inter Light" panose="02000403000000020004" pitchFamily="2" charset="0"/>
                    <a:cs typeface="Inter Light" panose="02000403000000020004" pitchFamily="2" charset="0"/>
                  </a:rPr>
                  <a:t>We know that </a:t>
                </a:r>
                <a14:m>
                  <m:oMath xmlns:m="http://schemas.openxmlformats.org/officeDocument/2006/math">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𝑋</m:t>
                        </m:r>
                        <m:r>
                          <a:rPr lang="en-US" sz="2400" i="1">
                            <a:latin typeface="Cambria Math" panose="02040503050406030204" pitchFamily="18" charset="0"/>
                          </a:rPr>
                          <m:t>−</m:t>
                        </m:r>
                        <m:r>
                          <a:rPr lang="en-US" sz="2400" i="1">
                            <a:latin typeface="Cambria Math" panose="02040503050406030204" pitchFamily="18" charset="0"/>
                          </a:rPr>
                          <m:t>𝜇</m:t>
                        </m:r>
                        <m:r>
                          <a:rPr lang="en-US" sz="240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𝑛</m:t>
                            </m:r>
                          </m:num>
                          <m:den>
                            <m:r>
                              <a:rPr lang="en-US" sz="2400" i="1">
                                <a:latin typeface="Cambria Math" panose="02040503050406030204" pitchFamily="18" charset="0"/>
                              </a:rPr>
                              <m:t>4</m:t>
                            </m:r>
                          </m:den>
                        </m:f>
                      </m:e>
                    </m:d>
                    <m:r>
                      <a:rPr lang="en-US" sz="2400" b="0" i="1" smtClean="0">
                        <a:latin typeface="Cambria Math" panose="02040503050406030204" pitchFamily="18" charset="0"/>
                      </a:rPr>
                      <m:t>≤</m:t>
                    </m:r>
                    <m:r>
                      <a:rPr lang="en-US" sz="2400" i="1" smtClean="0">
                        <a:solidFill>
                          <a:schemeClr val="accent3"/>
                        </a:solidFill>
                        <a:latin typeface="Cambria Math" panose="02040503050406030204" pitchFamily="18" charset="0"/>
                      </a:rPr>
                      <m:t>𝑃</m:t>
                    </m:r>
                    <m:d>
                      <m:dPr>
                        <m:ctrlPr>
                          <a:rPr lang="en-US" sz="2400" i="1">
                            <a:solidFill>
                              <a:schemeClr val="accent3"/>
                            </a:solidFill>
                            <a:latin typeface="Cambria Math" panose="02040503050406030204" pitchFamily="18" charset="0"/>
                          </a:rPr>
                        </m:ctrlPr>
                      </m:dPr>
                      <m:e>
                        <m:d>
                          <m:dPr>
                            <m:begChr m:val="|"/>
                            <m:endChr m:val="|"/>
                            <m:ctrlPr>
                              <a:rPr lang="en-US" sz="2400" b="0" i="1" smtClean="0">
                                <a:solidFill>
                                  <a:schemeClr val="accent3"/>
                                </a:solidFill>
                                <a:latin typeface="Cambria Math" panose="02040503050406030204" pitchFamily="18" charset="0"/>
                              </a:rPr>
                            </m:ctrlPr>
                          </m:dPr>
                          <m:e>
                            <m:r>
                              <a:rPr lang="en-US" sz="2400" i="1">
                                <a:solidFill>
                                  <a:schemeClr val="accent3"/>
                                </a:solidFill>
                                <a:latin typeface="Cambria Math" panose="02040503050406030204" pitchFamily="18" charset="0"/>
                              </a:rPr>
                              <m:t>𝑋</m:t>
                            </m:r>
                            <m:r>
                              <a:rPr lang="en-US" sz="2400" i="1">
                                <a:solidFill>
                                  <a:schemeClr val="accent3"/>
                                </a:solidFill>
                                <a:latin typeface="Cambria Math" panose="02040503050406030204" pitchFamily="18" charset="0"/>
                              </a:rPr>
                              <m:t>−</m:t>
                            </m:r>
                            <m:r>
                              <a:rPr lang="en-US" sz="2400" i="1">
                                <a:solidFill>
                                  <a:schemeClr val="accent3"/>
                                </a:solidFill>
                                <a:latin typeface="Cambria Math" panose="02040503050406030204" pitchFamily="18" charset="0"/>
                              </a:rPr>
                              <m:t>𝜇</m:t>
                            </m:r>
                          </m:e>
                        </m:d>
                        <m:r>
                          <a:rPr lang="en-US" sz="2400">
                            <a:solidFill>
                              <a:schemeClr val="accent3"/>
                            </a:solidFill>
                            <a:latin typeface="Cambria Math" panose="02040503050406030204" pitchFamily="18" charset="0"/>
                          </a:rPr>
                          <m:t>≥</m:t>
                        </m:r>
                        <m:f>
                          <m:fPr>
                            <m:ctrlPr>
                              <a:rPr lang="en-US" sz="2400" i="1">
                                <a:solidFill>
                                  <a:schemeClr val="accent3"/>
                                </a:solidFill>
                                <a:latin typeface="Cambria Math" panose="02040503050406030204" pitchFamily="18" charset="0"/>
                              </a:rPr>
                            </m:ctrlPr>
                          </m:fPr>
                          <m:num>
                            <m:r>
                              <a:rPr lang="en-US" sz="2400" i="1">
                                <a:solidFill>
                                  <a:schemeClr val="accent3"/>
                                </a:solidFill>
                                <a:latin typeface="Cambria Math" panose="02040503050406030204" pitchFamily="18" charset="0"/>
                              </a:rPr>
                              <m:t>𝑛</m:t>
                            </m:r>
                          </m:num>
                          <m:den>
                            <m:r>
                              <a:rPr lang="en-US" sz="2400" i="1">
                                <a:solidFill>
                                  <a:schemeClr val="accent3"/>
                                </a:solidFill>
                                <a:latin typeface="Cambria Math" panose="02040503050406030204" pitchFamily="18" charset="0"/>
                              </a:rPr>
                              <m:t>4</m:t>
                            </m:r>
                          </m:den>
                        </m:f>
                      </m:e>
                    </m:d>
                  </m:oMath>
                </a14:m>
                <a:r>
                  <a:rPr lang="en-US" sz="2400">
                    <a:latin typeface="Inter Light" panose="02000403000000020004" pitchFamily="2" charset="0"/>
                    <a:ea typeface="Inter Light" panose="02000403000000020004" pitchFamily="2" charset="0"/>
                    <a:cs typeface="Inter Light" panose="02000403000000020004" pitchFamily="2" charset="0"/>
                  </a:rPr>
                  <a:t>. </a:t>
                </a:r>
              </a:p>
            </p:txBody>
          </p:sp>
        </mc:Choice>
        <mc:Fallback>
          <p:sp>
            <p:nvSpPr>
              <p:cNvPr id="4" name="TextBox 3">
                <a:extLst>
                  <a:ext uri="{FF2B5EF4-FFF2-40B4-BE49-F238E27FC236}">
                    <a16:creationId xmlns:a16="http://schemas.microsoft.com/office/drawing/2014/main" id="{01A69F0C-5646-A5E1-2B17-F812A6730F37}"/>
                  </a:ext>
                </a:extLst>
              </p:cNvPr>
              <p:cNvSpPr txBox="1">
                <a:spLocks noRot="1" noChangeAspect="1" noMove="1" noResize="1" noEditPoints="1" noAdjustHandles="1" noChangeArrowheads="1" noChangeShapeType="1" noTextEdit="1"/>
              </p:cNvSpPr>
              <p:nvPr/>
            </p:nvSpPr>
            <p:spPr>
              <a:xfrm>
                <a:off x="4508836" y="5980526"/>
                <a:ext cx="7405257" cy="645048"/>
              </a:xfrm>
              <a:prstGeom prst="rect">
                <a:avLst/>
              </a:prstGeom>
              <a:blipFill>
                <a:blip r:embed="rId11"/>
                <a:stretch>
                  <a:fillRect l="-1318" b="-7547"/>
                </a:stretch>
              </a:blipFill>
            </p:spPr>
            <p:txBody>
              <a:bodyPr/>
              <a:lstStyle/>
              <a:p>
                <a:r>
                  <a:rPr lang="en-US">
                    <a:noFill/>
                  </a:rPr>
                  <a:t> </a:t>
                </a:r>
              </a:p>
            </p:txBody>
          </p:sp>
        </mc:Fallback>
      </mc:AlternateContent>
    </p:spTree>
    <p:extLst>
      <p:ext uri="{BB962C8B-B14F-4D97-AF65-F5344CB8AC3E}">
        <p14:creationId xmlns:p14="http://schemas.microsoft.com/office/powerpoint/2010/main" val="351703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A22AB-7398-7C88-67A0-071994B06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F31C0-534F-5241-ED4F-F1C85062FB37}"/>
              </a:ext>
            </a:extLst>
          </p:cNvPr>
          <p:cNvSpPr>
            <a:spLocks noGrp="1"/>
          </p:cNvSpPr>
          <p:nvPr>
            <p:ph type="title"/>
          </p:nvPr>
        </p:nvSpPr>
        <p:spPr/>
        <p:txBody>
          <a:bodyPr/>
          <a:lstStyle/>
          <a:p>
            <a:r>
              <a:rPr lang="en-US"/>
              <a:t>Application: Probability of Coin Toss Outcomes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11BE9C7-C4CA-91AA-B270-C6506FADAF28}"/>
                  </a:ext>
                </a:extLst>
              </p:cNvPr>
              <p:cNvSpPr>
                <a:spLocks noGrp="1"/>
              </p:cNvSpPr>
              <p:nvPr>
                <p:ph idx="1"/>
              </p:nvPr>
            </p:nvSpPr>
            <p:spPr/>
            <p:txBody>
              <a:bodyPr/>
              <a:lstStyle/>
              <a:p>
                <a:r>
                  <a:rPr lang="en-US"/>
                  <a:t>For </a:t>
                </a:r>
                <a14:m>
                  <m:oMath xmlns:m="http://schemas.openxmlformats.org/officeDocument/2006/math">
                    <m:r>
                      <a:rPr lang="en-US" i="1">
                        <a:latin typeface="Cambria Math" panose="02040503050406030204" pitchFamily="18" charset="0"/>
                      </a:rPr>
                      <m:t>𝑋</m:t>
                    </m:r>
                    <m:r>
                      <a:rPr lang="en-US" i="1">
                        <a:latin typeface="Cambria Math" panose="02040503050406030204" pitchFamily="18" charset="0"/>
                      </a:rPr>
                      <m:t>~</m:t>
                    </m:r>
                    <m:r>
                      <m:rPr>
                        <m:sty m:val="p"/>
                      </m:rPr>
                      <a:rPr lang="en-US">
                        <a:latin typeface="Cambria Math" panose="02040503050406030204" pitchFamily="18" charset="0"/>
                      </a:rPr>
                      <m:t>Binomial</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 0.5)</m:t>
                    </m:r>
                  </m:oMath>
                </a14:m>
                <a:r>
                  <a:rPr lang="en-US"/>
                  <a:t>, let’s bound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r>
                          <a:rPr lang="en-US" b="0" i="1" smtClean="0">
                            <a:latin typeface="Cambria Math" panose="02040503050406030204" pitchFamily="18" charset="0"/>
                          </a:rPr>
                          <m:t>𝑛</m:t>
                        </m:r>
                      </m:e>
                    </m:d>
                  </m:oMath>
                </a14:m>
                <a:r>
                  <a:rPr lang="en-US"/>
                  <a:t>, using Chebyshev’s Inequality: If </a:t>
                </a:r>
                <a14:m>
                  <m:oMath xmlns:m="http://schemas.openxmlformats.org/officeDocument/2006/math">
                    <m:r>
                      <a:rPr lang="en-US" b="0" i="1" smtClean="0">
                        <a:latin typeface="Cambria Math" panose="02040503050406030204" pitchFamily="18" charset="0"/>
                      </a:rPr>
                      <m:t>𝑋</m:t>
                    </m:r>
                  </m:oMath>
                </a14:m>
                <a:r>
                  <a:rPr lang="en-US"/>
                  <a:t> is a random variable with </a:t>
                </a:r>
                <a14:m>
                  <m:oMath xmlns:m="http://schemas.openxmlformats.org/officeDocument/2006/math">
                    <m:r>
                      <a:rPr lang="en-US" i="1">
                        <a:latin typeface="Cambria Math" panose="02040503050406030204" pitchFamily="18" charset="0"/>
                      </a:rPr>
                      <m:t>𝔼</m:t>
                    </m:r>
                    <m:d>
                      <m:dPr>
                        <m:begChr m:val="["/>
                        <m:endChr m:val="]"/>
                        <m:ctrlPr>
                          <a:rPr lang="en-US" i="1">
                            <a:latin typeface="Cambria Math" panose="02040503050406030204" pitchFamily="18" charset="0"/>
                          </a:rPr>
                        </m:ctrlPr>
                      </m:dPr>
                      <m:e>
                        <m:r>
                          <a:rPr lang="en-US" i="1">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𝜇</m:t>
                    </m:r>
                  </m:oMath>
                </a14:m>
                <a:r>
                  <a:rPr lang="en-US"/>
                  <a:t>, then for any constant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r>
                      <a:rPr lang="en-US" b="0" i="0" smtClean="0">
                        <a:latin typeface="Cambria Math" panose="02040503050406030204" pitchFamily="18" charset="0"/>
                      </a:rPr>
                      <m:t>:</m:t>
                    </m:r>
                  </m:oMath>
                </a14:m>
                <a:endParaRPr lang="en-US"/>
              </a:p>
              <a:p>
                <a:pPr/>
                <a14:m>
                  <m:oMathPara xmlns:m="http://schemas.openxmlformats.org/officeDocument/2006/math">
                    <m:oMathParaPr>
                      <m:jc m:val="centerGroup"/>
                    </m:oMathParaPr>
                    <m:oMath xmlns:m="http://schemas.openxmlformats.org/officeDocument/2006/math">
                      <m:r>
                        <a:rPr lang="en-US" i="1">
                          <a:solidFill>
                            <a:schemeClr val="accent3"/>
                          </a:solidFill>
                          <a:latin typeface="Cambria Math" panose="02040503050406030204" pitchFamily="18" charset="0"/>
                        </a:rPr>
                        <m:t>𝑃</m:t>
                      </m:r>
                      <m:d>
                        <m:dPr>
                          <m:ctrlPr>
                            <a:rPr lang="en-US" i="1">
                              <a:solidFill>
                                <a:schemeClr val="accent3"/>
                              </a:solidFill>
                              <a:latin typeface="Cambria Math" panose="02040503050406030204" pitchFamily="18" charset="0"/>
                            </a:rPr>
                          </m:ctrlPr>
                        </m:dPr>
                        <m:e>
                          <m:d>
                            <m:dPr>
                              <m:begChr m:val="|"/>
                              <m:endChr m:val="|"/>
                              <m:ctrlPr>
                                <a:rPr lang="en-US" i="1">
                                  <a:solidFill>
                                    <a:schemeClr val="accent3"/>
                                  </a:solidFill>
                                  <a:latin typeface="Cambria Math" panose="02040503050406030204" pitchFamily="18" charset="0"/>
                                </a:rPr>
                              </m:ctrlPr>
                            </m:dPr>
                            <m:e>
                              <m:r>
                                <a:rPr lang="en-US" i="1">
                                  <a:solidFill>
                                    <a:schemeClr val="accent3"/>
                                  </a:solidFill>
                                  <a:latin typeface="Cambria Math" panose="02040503050406030204" pitchFamily="18" charset="0"/>
                                </a:rPr>
                                <m:t>𝑋</m:t>
                              </m:r>
                              <m:r>
                                <a:rPr lang="en-US" i="1">
                                  <a:solidFill>
                                    <a:schemeClr val="accent3"/>
                                  </a:solidFill>
                                  <a:latin typeface="Cambria Math" panose="02040503050406030204" pitchFamily="18" charset="0"/>
                                </a:rPr>
                                <m:t>−</m:t>
                              </m:r>
                              <m:r>
                                <a:rPr lang="en-US" i="1">
                                  <a:solidFill>
                                    <a:schemeClr val="accent3"/>
                                  </a:solidFill>
                                  <a:latin typeface="Cambria Math" panose="02040503050406030204" pitchFamily="18" charset="0"/>
                                </a:rPr>
                                <m:t>𝜇</m:t>
                              </m:r>
                            </m:e>
                          </m:d>
                          <m:r>
                            <a:rPr lang="en-US" i="1">
                              <a:solidFill>
                                <a:schemeClr val="accent3"/>
                              </a:solidFill>
                              <a:latin typeface="Cambria Math" panose="02040503050406030204" pitchFamily="18" charset="0"/>
                            </a:rPr>
                            <m:t>≥</m:t>
                          </m:r>
                          <m:r>
                            <a:rPr lang="en-US" i="1">
                              <a:solidFill>
                                <a:schemeClr val="accent3"/>
                              </a:solidFill>
                              <a:latin typeface="Cambria Math" panose="02040503050406030204" pitchFamily="18" charset="0"/>
                            </a:rPr>
                            <m:t>𝑐</m:t>
                          </m:r>
                        </m:e>
                      </m:d>
                      <m:r>
                        <a:rPr lang="en-US" i="1">
                          <a:latin typeface="Cambria Math" panose="02040503050406030204" pitchFamily="18" charset="0"/>
                        </a:rPr>
                        <m:t>≤</m:t>
                      </m:r>
                      <m:f>
                        <m:fPr>
                          <m:ctrlPr>
                            <a:rPr lang="en-US" i="1">
                              <a:solidFill>
                                <a:schemeClr val="accent2"/>
                              </a:solidFill>
                              <a:latin typeface="Cambria Math" panose="02040503050406030204" pitchFamily="18" charset="0"/>
                            </a:rPr>
                          </m:ctrlPr>
                        </m:fPr>
                        <m:num>
                          <m:r>
                            <m:rPr>
                              <m:sty m:val="p"/>
                            </m:rPr>
                            <a:rPr lang="en-US">
                              <a:solidFill>
                                <a:schemeClr val="accent2"/>
                              </a:solidFill>
                              <a:latin typeface="Cambria Math" panose="02040503050406030204" pitchFamily="18" charset="0"/>
                            </a:rPr>
                            <m:t>var</m:t>
                          </m:r>
                          <m:d>
                            <m:dPr>
                              <m:ctrlPr>
                                <a:rPr lang="en-US" i="1">
                                  <a:solidFill>
                                    <a:schemeClr val="accent2"/>
                                  </a:solidFill>
                                  <a:latin typeface="Cambria Math" panose="02040503050406030204" pitchFamily="18" charset="0"/>
                                </a:rPr>
                              </m:ctrlPr>
                            </m:dPr>
                            <m:e>
                              <m:r>
                                <a:rPr lang="en-US" i="1">
                                  <a:solidFill>
                                    <a:schemeClr val="accent2"/>
                                  </a:solidFill>
                                  <a:latin typeface="Cambria Math" panose="02040503050406030204" pitchFamily="18" charset="0"/>
                                </a:rPr>
                                <m:t>𝑋</m:t>
                              </m:r>
                            </m:e>
                          </m:d>
                        </m:num>
                        <m:den>
                          <m:sSup>
                            <m:sSupPr>
                              <m:ctrlPr>
                                <a:rPr lang="en-US" i="1">
                                  <a:solidFill>
                                    <a:schemeClr val="accent2"/>
                                  </a:solidFill>
                                  <a:latin typeface="Cambria Math" panose="02040503050406030204" pitchFamily="18" charset="0"/>
                                </a:rPr>
                              </m:ctrlPr>
                            </m:sSupPr>
                            <m:e>
                              <m:r>
                                <a:rPr lang="en-US" i="1">
                                  <a:solidFill>
                                    <a:schemeClr val="accent2"/>
                                  </a:solidFill>
                                  <a:latin typeface="Cambria Math" panose="02040503050406030204" pitchFamily="18" charset="0"/>
                                </a:rPr>
                                <m:t>𝑐</m:t>
                              </m:r>
                            </m:e>
                            <m:sup>
                              <m:r>
                                <a:rPr lang="en-US" i="1">
                                  <a:solidFill>
                                    <a:schemeClr val="accent2"/>
                                  </a:solidFill>
                                  <a:latin typeface="Cambria Math" panose="02040503050406030204" pitchFamily="18" charset="0"/>
                                </a:rPr>
                                <m:t>2</m:t>
                              </m:r>
                            </m:sup>
                          </m:sSup>
                        </m:den>
                      </m:f>
                    </m:oMath>
                  </m:oMathPara>
                </a14:m>
                <a:endParaRPr lang="en-US"/>
              </a:p>
              <a:p>
                <a:br>
                  <a:rPr lang="en-US"/>
                </a:br>
                <a:r>
                  <a:rPr lang="en-US"/>
                  <a:t>First, we write expectation and variance:                </a:t>
                </a:r>
              </a:p>
              <a:p>
                <a:endParaRPr lang="en-US"/>
              </a:p>
              <a:p>
                <a:r>
                  <a:rPr lang="en-US"/>
                  <a:t>Then, </a:t>
                </a:r>
              </a:p>
            </p:txBody>
          </p:sp>
        </mc:Choice>
        <mc:Fallback>
          <p:sp>
            <p:nvSpPr>
              <p:cNvPr id="3" name="Content Placeholder 2">
                <a:extLst>
                  <a:ext uri="{FF2B5EF4-FFF2-40B4-BE49-F238E27FC236}">
                    <a16:creationId xmlns:a16="http://schemas.microsoft.com/office/drawing/2014/main" id="{B11BE9C7-C4CA-91AA-B270-C6506FADAF28}"/>
                  </a:ext>
                </a:extLst>
              </p:cNvPr>
              <p:cNvSpPr>
                <a:spLocks noGrp="1" noRot="1" noChangeAspect="1" noMove="1" noResize="1" noEditPoints="1" noAdjustHandles="1" noChangeArrowheads="1" noChangeShapeType="1" noTextEdit="1"/>
              </p:cNvSpPr>
              <p:nvPr>
                <p:ph idx="1"/>
              </p:nvPr>
            </p:nvSpPr>
            <p:spPr>
              <a:blipFill>
                <a:blip r:embed="rId2"/>
                <a:stretch>
                  <a:fillRect l="-7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BFD5CF6F-0EDC-2A08-704A-6FD83E0CDB4D}"/>
                  </a:ext>
                </a:extLst>
              </p:cNvPr>
              <p:cNvSpPr txBox="1"/>
              <p:nvPr/>
            </p:nvSpPr>
            <p:spPr>
              <a:xfrm>
                <a:off x="6096000" y="2737240"/>
                <a:ext cx="1962728" cy="7224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𝔼</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𝑋</m:t>
                          </m:r>
                        </m:e>
                      </m:d>
                      <m:r>
                        <a:rPr lang="en-US" sz="2400" b="0" i="1" smtClean="0">
                          <a:latin typeface="Cambria Math" panose="02040503050406030204" pitchFamily="18" charset="0"/>
                        </a:rPr>
                        <m:t>=</m:t>
                      </m:r>
                      <m:r>
                        <a:rPr lang="en-US" sz="2400" b="0" i="1" smtClean="0">
                          <a:latin typeface="Cambria Math" panose="02040503050406030204" pitchFamily="18" charset="0"/>
                        </a:rPr>
                        <m:t>𝜇</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num>
                        <m:den>
                          <m:r>
                            <a:rPr lang="en-US" sz="2400" b="0" i="1" smtClean="0">
                              <a:latin typeface="Cambria Math" panose="02040503050406030204" pitchFamily="18" charset="0"/>
                            </a:rPr>
                            <m:t>2</m:t>
                          </m:r>
                        </m:den>
                      </m:f>
                    </m:oMath>
                  </m:oMathPara>
                </a14:m>
                <a:endParaRPr lang="en-US" sz="2400"/>
              </a:p>
            </p:txBody>
          </p:sp>
        </mc:Choice>
        <mc:Fallback>
          <p:sp>
            <p:nvSpPr>
              <p:cNvPr id="6" name="TextBox 5">
                <a:extLst>
                  <a:ext uri="{FF2B5EF4-FFF2-40B4-BE49-F238E27FC236}">
                    <a16:creationId xmlns:a16="http://schemas.microsoft.com/office/drawing/2014/main" id="{BFD5CF6F-0EDC-2A08-704A-6FD83E0CDB4D}"/>
                  </a:ext>
                </a:extLst>
              </p:cNvPr>
              <p:cNvSpPr txBox="1">
                <a:spLocks noRot="1" noChangeAspect="1" noMove="1" noResize="1" noEditPoints="1" noAdjustHandles="1" noChangeArrowheads="1" noChangeShapeType="1" noTextEdit="1"/>
              </p:cNvSpPr>
              <p:nvPr/>
            </p:nvSpPr>
            <p:spPr>
              <a:xfrm>
                <a:off x="6096000" y="2737240"/>
                <a:ext cx="1962728" cy="72244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6BEE2B77-6001-AB04-2FA7-342E2AFBE9F2}"/>
                  </a:ext>
                </a:extLst>
              </p:cNvPr>
              <p:cNvSpPr txBox="1"/>
              <p:nvPr/>
            </p:nvSpPr>
            <p:spPr>
              <a:xfrm>
                <a:off x="7771387" y="2737240"/>
                <a:ext cx="4615873" cy="7224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latin typeface="Cambria Math" panose="02040503050406030204" pitchFamily="18" charset="0"/>
                        </a:rPr>
                        <m:t>var</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e>
                      </m:d>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r>
                        <m:rPr>
                          <m:sty m:val="p"/>
                        </m:rPr>
                        <a:rPr lang="en-US" sz="2400" b="0" i="1" smtClean="0">
                          <a:latin typeface="Cambria Math" panose="02040503050406030204" pitchFamily="18" charset="0"/>
                        </a:rPr>
                        <m:t>p</m:t>
                      </m:r>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rPr>
                            <m:t>𝑝</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num>
                        <m:den>
                          <m:r>
                            <a:rPr lang="en-US" sz="2400" b="0" i="1" smtClean="0">
                              <a:latin typeface="Cambria Math" panose="02040503050406030204" pitchFamily="18" charset="0"/>
                            </a:rPr>
                            <m:t>4</m:t>
                          </m:r>
                        </m:den>
                      </m:f>
                    </m:oMath>
                  </m:oMathPara>
                </a14:m>
                <a:endParaRPr lang="en-US" sz="2400"/>
              </a:p>
            </p:txBody>
          </p:sp>
        </mc:Choice>
        <mc:Fallback>
          <p:sp>
            <p:nvSpPr>
              <p:cNvPr id="7" name="TextBox 6">
                <a:extLst>
                  <a:ext uri="{FF2B5EF4-FFF2-40B4-BE49-F238E27FC236}">
                    <a16:creationId xmlns:a16="http://schemas.microsoft.com/office/drawing/2014/main" id="{6BEE2B77-6001-AB04-2FA7-342E2AFBE9F2}"/>
                  </a:ext>
                </a:extLst>
              </p:cNvPr>
              <p:cNvSpPr txBox="1">
                <a:spLocks noRot="1" noChangeAspect="1" noMove="1" noResize="1" noEditPoints="1" noAdjustHandles="1" noChangeArrowheads="1" noChangeShapeType="1" noTextEdit="1"/>
              </p:cNvSpPr>
              <p:nvPr/>
            </p:nvSpPr>
            <p:spPr>
              <a:xfrm>
                <a:off x="7771387" y="2737240"/>
                <a:ext cx="4615873" cy="72244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B8E18442-B3E2-292E-A100-5FF9F7ABE87F}"/>
                  </a:ext>
                </a:extLst>
              </p:cNvPr>
              <p:cNvSpPr txBox="1"/>
              <p:nvPr/>
            </p:nvSpPr>
            <p:spPr>
              <a:xfrm>
                <a:off x="917868" y="3685127"/>
                <a:ext cx="2104734" cy="9221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3</m:t>
                              </m:r>
                            </m:num>
                            <m:den>
                              <m:r>
                                <a:rPr lang="en-US" sz="2400" b="0" i="1" smtClean="0">
                                  <a:latin typeface="Cambria Math" panose="02040503050406030204" pitchFamily="18" charset="0"/>
                                </a:rPr>
                                <m:t>4</m:t>
                              </m:r>
                            </m:den>
                          </m:f>
                          <m:r>
                            <a:rPr lang="en-US" sz="2400" b="0" i="1" smtClean="0">
                              <a:latin typeface="Cambria Math" panose="02040503050406030204" pitchFamily="18" charset="0"/>
                            </a:rPr>
                            <m:t>𝑛</m:t>
                          </m:r>
                        </m:e>
                      </m:d>
                    </m:oMath>
                  </m:oMathPara>
                </a14:m>
                <a:endParaRPr lang="en-US" sz="2400"/>
              </a:p>
            </p:txBody>
          </p:sp>
        </mc:Choice>
        <mc:Fallback>
          <p:sp>
            <p:nvSpPr>
              <p:cNvPr id="8" name="TextBox 7">
                <a:extLst>
                  <a:ext uri="{FF2B5EF4-FFF2-40B4-BE49-F238E27FC236}">
                    <a16:creationId xmlns:a16="http://schemas.microsoft.com/office/drawing/2014/main" id="{B8E18442-B3E2-292E-A100-5FF9F7ABE87F}"/>
                  </a:ext>
                </a:extLst>
              </p:cNvPr>
              <p:cNvSpPr txBox="1">
                <a:spLocks noRot="1" noChangeAspect="1" noMove="1" noResize="1" noEditPoints="1" noAdjustHandles="1" noChangeArrowheads="1" noChangeShapeType="1" noTextEdit="1"/>
              </p:cNvSpPr>
              <p:nvPr/>
            </p:nvSpPr>
            <p:spPr>
              <a:xfrm>
                <a:off x="917868" y="3685127"/>
                <a:ext cx="2104734" cy="92217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DABC5EE2-7880-0346-5806-4C8CB7D2001B}"/>
                  </a:ext>
                </a:extLst>
              </p:cNvPr>
              <p:cNvSpPr txBox="1"/>
              <p:nvPr/>
            </p:nvSpPr>
            <p:spPr>
              <a:xfrm>
                <a:off x="2596717" y="3773484"/>
                <a:ext cx="3567545" cy="7454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3"/>
                          </a:solidFill>
                          <a:latin typeface="Cambria Math" panose="02040503050406030204" pitchFamily="18" charset="0"/>
                        </a:rPr>
                        <m:t>≤</m:t>
                      </m:r>
                      <m:r>
                        <a:rPr lang="en-US" sz="2400" b="0" i="1" smtClean="0">
                          <a:solidFill>
                            <a:schemeClr val="accent3"/>
                          </a:solidFill>
                          <a:latin typeface="Cambria Math" panose="02040503050406030204" pitchFamily="18" charset="0"/>
                        </a:rPr>
                        <m:t>𝑃</m:t>
                      </m:r>
                      <m:d>
                        <m:dPr>
                          <m:ctrlPr>
                            <a:rPr lang="en-US" sz="2400" b="0" i="1" smtClean="0">
                              <a:solidFill>
                                <a:schemeClr val="accent3"/>
                              </a:solidFill>
                              <a:latin typeface="Cambria Math" panose="02040503050406030204" pitchFamily="18" charset="0"/>
                            </a:rPr>
                          </m:ctrlPr>
                        </m:dPr>
                        <m:e>
                          <m:d>
                            <m:dPr>
                              <m:begChr m:val="|"/>
                              <m:endChr m:val="|"/>
                              <m:ctrlPr>
                                <a:rPr lang="en-US" sz="2400" b="0" i="1" smtClean="0">
                                  <a:solidFill>
                                    <a:schemeClr val="accent3"/>
                                  </a:solidFill>
                                  <a:latin typeface="Cambria Math" panose="02040503050406030204" pitchFamily="18" charset="0"/>
                                </a:rPr>
                              </m:ctrlPr>
                            </m:dPr>
                            <m:e>
                              <m:r>
                                <a:rPr lang="en-US" sz="2400" b="0" i="1" smtClean="0">
                                  <a:solidFill>
                                    <a:schemeClr val="accent3"/>
                                  </a:solidFill>
                                  <a:latin typeface="Cambria Math" panose="02040503050406030204" pitchFamily="18" charset="0"/>
                                </a:rPr>
                                <m:t>𝑋</m:t>
                              </m:r>
                              <m:r>
                                <a:rPr lang="en-US" sz="2400" b="0" i="1" smtClean="0">
                                  <a:solidFill>
                                    <a:schemeClr val="accent3"/>
                                  </a:solidFill>
                                  <a:latin typeface="Cambria Math" panose="02040503050406030204" pitchFamily="18" charset="0"/>
                                </a:rPr>
                                <m:t>−</m:t>
                              </m:r>
                              <m:r>
                                <a:rPr lang="en-US" sz="2400" b="0" i="1" smtClean="0">
                                  <a:solidFill>
                                    <a:schemeClr val="accent3"/>
                                  </a:solidFill>
                                  <a:latin typeface="Cambria Math" panose="02040503050406030204" pitchFamily="18" charset="0"/>
                                </a:rPr>
                                <m:t>𝜇</m:t>
                              </m:r>
                            </m:e>
                          </m:d>
                          <m:r>
                            <a:rPr lang="en-US" sz="2400" b="0" i="1" smtClean="0">
                              <a:solidFill>
                                <a:schemeClr val="accent3"/>
                              </a:solidFill>
                              <a:latin typeface="Cambria Math" panose="02040503050406030204" pitchFamily="18" charset="0"/>
                            </a:rPr>
                            <m:t>≥</m:t>
                          </m:r>
                          <m:f>
                            <m:fPr>
                              <m:ctrlPr>
                                <a:rPr lang="en-US" sz="2400" b="0" i="1" smtClean="0">
                                  <a:solidFill>
                                    <a:schemeClr val="accent3"/>
                                  </a:solidFill>
                                  <a:latin typeface="Cambria Math" panose="02040503050406030204" pitchFamily="18" charset="0"/>
                                </a:rPr>
                              </m:ctrlPr>
                            </m:fPr>
                            <m:num>
                              <m:r>
                                <a:rPr lang="en-US" sz="2400" b="0" i="1" smtClean="0">
                                  <a:solidFill>
                                    <a:schemeClr val="accent3"/>
                                  </a:solidFill>
                                  <a:latin typeface="Cambria Math" panose="02040503050406030204" pitchFamily="18" charset="0"/>
                                </a:rPr>
                                <m:t>𝑛</m:t>
                              </m:r>
                            </m:num>
                            <m:den>
                              <m:r>
                                <a:rPr lang="en-US" sz="2400" b="0" i="1" smtClean="0">
                                  <a:solidFill>
                                    <a:schemeClr val="accent3"/>
                                  </a:solidFill>
                                  <a:latin typeface="Cambria Math" panose="02040503050406030204" pitchFamily="18" charset="0"/>
                                </a:rPr>
                                <m:t>4</m:t>
                              </m:r>
                            </m:den>
                          </m:f>
                        </m:e>
                      </m:d>
                    </m:oMath>
                  </m:oMathPara>
                </a14:m>
                <a:endParaRPr lang="en-US" sz="2400"/>
              </a:p>
            </p:txBody>
          </p:sp>
        </mc:Choice>
        <mc:Fallback>
          <p:sp>
            <p:nvSpPr>
              <p:cNvPr id="11" name="TextBox 10">
                <a:extLst>
                  <a:ext uri="{FF2B5EF4-FFF2-40B4-BE49-F238E27FC236}">
                    <a16:creationId xmlns:a16="http://schemas.microsoft.com/office/drawing/2014/main" id="{DABC5EE2-7880-0346-5806-4C8CB7D2001B}"/>
                  </a:ext>
                </a:extLst>
              </p:cNvPr>
              <p:cNvSpPr txBox="1">
                <a:spLocks noRot="1" noChangeAspect="1" noMove="1" noResize="1" noEditPoints="1" noAdjustHandles="1" noChangeArrowheads="1" noChangeShapeType="1" noTextEdit="1"/>
              </p:cNvSpPr>
              <p:nvPr/>
            </p:nvSpPr>
            <p:spPr>
              <a:xfrm>
                <a:off x="2596717" y="3773484"/>
                <a:ext cx="3567545" cy="74546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6AA5911D-441A-08E7-2E18-9F4BAB53848E}"/>
                  </a:ext>
                </a:extLst>
              </p:cNvPr>
              <p:cNvSpPr txBox="1"/>
              <p:nvPr/>
            </p:nvSpPr>
            <p:spPr>
              <a:xfrm>
                <a:off x="4102507" y="5029575"/>
                <a:ext cx="2013786" cy="11425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m:t>
                      </m:r>
                      <m:f>
                        <m:fPr>
                          <m:ctrlPr>
                            <a:rPr lang="en-US" sz="2400" b="0" i="1" smtClean="0">
                              <a:latin typeface="Cambria Math" panose="02040503050406030204" pitchFamily="18" charset="0"/>
                            </a:rPr>
                          </m:ctrlPr>
                        </m:fPr>
                        <m:num>
                          <m:r>
                            <m:rPr>
                              <m:sty m:val="p"/>
                            </m:rPr>
                            <a:rPr lang="en-US" sz="2400" b="0" i="0" smtClean="0">
                              <a:latin typeface="Cambria Math" panose="02040503050406030204" pitchFamily="18" charset="0"/>
                            </a:rPr>
                            <m:t>var</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e>
                          </m:d>
                        </m:num>
                        <m:den>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num>
                                    <m:den>
                                      <m:r>
                                        <a:rPr lang="en-US" sz="2400" b="0" i="1" smtClean="0">
                                          <a:latin typeface="Cambria Math" panose="02040503050406030204" pitchFamily="18" charset="0"/>
                                        </a:rPr>
                                        <m:t>4</m:t>
                                      </m:r>
                                    </m:den>
                                  </m:f>
                                </m:e>
                              </m:d>
                            </m:e>
                            <m:sup>
                              <m:r>
                                <a:rPr lang="en-US" sz="2400" b="0" i="1" smtClean="0">
                                  <a:latin typeface="Cambria Math" panose="02040503050406030204" pitchFamily="18" charset="0"/>
                                </a:rPr>
                                <m:t>2</m:t>
                              </m:r>
                            </m:sup>
                          </m:sSup>
                        </m:den>
                      </m:f>
                    </m:oMath>
                  </m:oMathPara>
                </a14:m>
                <a:endParaRPr lang="en-US" sz="2400"/>
              </a:p>
            </p:txBody>
          </p:sp>
        </mc:Choice>
        <mc:Fallback>
          <p:sp>
            <p:nvSpPr>
              <p:cNvPr id="12" name="TextBox 11">
                <a:extLst>
                  <a:ext uri="{FF2B5EF4-FFF2-40B4-BE49-F238E27FC236}">
                    <a16:creationId xmlns:a16="http://schemas.microsoft.com/office/drawing/2014/main" id="{6AA5911D-441A-08E7-2E18-9F4BAB53848E}"/>
                  </a:ext>
                </a:extLst>
              </p:cNvPr>
              <p:cNvSpPr txBox="1">
                <a:spLocks noRot="1" noChangeAspect="1" noMove="1" noResize="1" noEditPoints="1" noAdjustHandles="1" noChangeArrowheads="1" noChangeShapeType="1" noTextEdit="1"/>
              </p:cNvSpPr>
              <p:nvPr/>
            </p:nvSpPr>
            <p:spPr>
              <a:xfrm>
                <a:off x="4102507" y="5029575"/>
                <a:ext cx="2013786" cy="114255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23F99FF5-CFD3-9EDD-3ABE-A0B15FBFC69B}"/>
                  </a:ext>
                </a:extLst>
              </p:cNvPr>
              <p:cNvSpPr txBox="1"/>
              <p:nvPr/>
            </p:nvSpPr>
            <p:spPr>
              <a:xfrm>
                <a:off x="5600912" y="5029574"/>
                <a:ext cx="1664286" cy="11271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r>
                            <a:rPr lang="en-US" sz="2400" b="0" i="1" smtClean="0">
                              <a:latin typeface="Cambria Math" panose="02040503050406030204" pitchFamily="18" charset="0"/>
                            </a:rPr>
                            <m:t>/4</m:t>
                          </m:r>
                        </m:num>
                        <m:den>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num>
                                    <m:den>
                                      <m:r>
                                        <a:rPr lang="en-US" sz="2400" b="0" i="1" smtClean="0">
                                          <a:latin typeface="Cambria Math" panose="02040503050406030204" pitchFamily="18" charset="0"/>
                                        </a:rPr>
                                        <m:t>4</m:t>
                                      </m:r>
                                    </m:den>
                                  </m:f>
                                </m:e>
                              </m:d>
                            </m:e>
                            <m:sup>
                              <m:r>
                                <a:rPr lang="en-US" sz="2400" b="0" i="1" smtClean="0">
                                  <a:latin typeface="Cambria Math" panose="02040503050406030204" pitchFamily="18" charset="0"/>
                                </a:rPr>
                                <m:t>2</m:t>
                              </m:r>
                            </m:sup>
                          </m:sSup>
                        </m:den>
                      </m:f>
                    </m:oMath>
                  </m:oMathPara>
                </a14:m>
                <a:endParaRPr lang="en-US" sz="2400"/>
              </a:p>
            </p:txBody>
          </p:sp>
        </mc:Choice>
        <mc:Fallback>
          <p:sp>
            <p:nvSpPr>
              <p:cNvPr id="4" name="TextBox 3">
                <a:extLst>
                  <a:ext uri="{FF2B5EF4-FFF2-40B4-BE49-F238E27FC236}">
                    <a16:creationId xmlns:a16="http://schemas.microsoft.com/office/drawing/2014/main" id="{23F99FF5-CFD3-9EDD-3ABE-A0B15FBFC69B}"/>
                  </a:ext>
                </a:extLst>
              </p:cNvPr>
              <p:cNvSpPr txBox="1">
                <a:spLocks noRot="1" noChangeAspect="1" noMove="1" noResize="1" noEditPoints="1" noAdjustHandles="1" noChangeArrowheads="1" noChangeShapeType="1" noTextEdit="1"/>
              </p:cNvSpPr>
              <p:nvPr/>
            </p:nvSpPr>
            <p:spPr>
              <a:xfrm>
                <a:off x="5600912" y="5029574"/>
                <a:ext cx="1664286" cy="112716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B712FD7F-7545-023D-93F2-59D324906420}"/>
                  </a:ext>
                </a:extLst>
              </p:cNvPr>
              <p:cNvSpPr txBox="1"/>
              <p:nvPr/>
            </p:nvSpPr>
            <p:spPr>
              <a:xfrm>
                <a:off x="6774348" y="5056280"/>
                <a:ext cx="1250403" cy="7848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4</m:t>
                          </m:r>
                        </m:num>
                        <m:den>
                          <m:r>
                            <a:rPr lang="en-US" sz="2400" b="0" i="1" smtClean="0">
                              <a:latin typeface="Cambria Math" panose="02040503050406030204" pitchFamily="18" charset="0"/>
                            </a:rPr>
                            <m:t>𝑛</m:t>
                          </m:r>
                        </m:den>
                      </m:f>
                    </m:oMath>
                  </m:oMathPara>
                </a14:m>
                <a:endParaRPr lang="en-US" sz="2400"/>
              </a:p>
            </p:txBody>
          </p:sp>
        </mc:Choice>
        <mc:Fallback>
          <p:sp>
            <p:nvSpPr>
              <p:cNvPr id="14" name="TextBox 13">
                <a:extLst>
                  <a:ext uri="{FF2B5EF4-FFF2-40B4-BE49-F238E27FC236}">
                    <a16:creationId xmlns:a16="http://schemas.microsoft.com/office/drawing/2014/main" id="{B712FD7F-7545-023D-93F2-59D324906420}"/>
                  </a:ext>
                </a:extLst>
              </p:cNvPr>
              <p:cNvSpPr txBox="1">
                <a:spLocks noRot="1" noChangeAspect="1" noMove="1" noResize="1" noEditPoints="1" noAdjustHandles="1" noChangeArrowheads="1" noChangeShapeType="1" noTextEdit="1"/>
              </p:cNvSpPr>
              <p:nvPr/>
            </p:nvSpPr>
            <p:spPr>
              <a:xfrm>
                <a:off x="6774348" y="5056280"/>
                <a:ext cx="1250403" cy="784895"/>
              </a:xfrm>
              <a:prstGeom prst="rect">
                <a:avLst/>
              </a:prstGeom>
              <a:blipFill>
                <a:blip r:embed="rId9"/>
                <a:stretch>
                  <a:fillRect/>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71658B9E-3A2F-E8CD-528A-C56254A17754}"/>
              </a:ext>
            </a:extLst>
          </p:cNvPr>
          <p:cNvSpPr txBox="1"/>
          <p:nvPr/>
        </p:nvSpPr>
        <p:spPr>
          <a:xfrm>
            <a:off x="6804893" y="3693435"/>
            <a:ext cx="4777509" cy="830997"/>
          </a:xfrm>
          <a:prstGeom prst="rect">
            <a:avLst/>
          </a:prstGeom>
          <a:noFill/>
        </p:spPr>
        <p:txBody>
          <a:bodyPr wrap="square" rtlCol="0">
            <a:spAutoFit/>
          </a:bodyPr>
          <a:lstStyle/>
          <a:p>
            <a:r>
              <a:rPr lang="en-US" sz="2400"/>
              <a:t>We’re in the right form, so now we just apply Chebyshev’s Inequality.</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121C9E61-8E8D-73EA-BAEC-CAF96D9FAD76}"/>
                  </a:ext>
                </a:extLst>
              </p:cNvPr>
              <p:cNvSpPr txBox="1"/>
              <p:nvPr/>
            </p:nvSpPr>
            <p:spPr>
              <a:xfrm>
                <a:off x="2782268" y="5021879"/>
                <a:ext cx="2013786" cy="8092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m:t>
                      </m:r>
                      <m:f>
                        <m:fPr>
                          <m:ctrlPr>
                            <a:rPr lang="en-US" sz="2400" b="0" i="1" smtClean="0">
                              <a:solidFill>
                                <a:schemeClr val="accent2"/>
                              </a:solidFill>
                              <a:latin typeface="Cambria Math" panose="02040503050406030204" pitchFamily="18" charset="0"/>
                            </a:rPr>
                          </m:ctrlPr>
                        </m:fPr>
                        <m:num>
                          <m:r>
                            <m:rPr>
                              <m:sty m:val="p"/>
                            </m:rPr>
                            <a:rPr lang="en-US" sz="2400" b="0" i="0" smtClean="0">
                              <a:solidFill>
                                <a:schemeClr val="accent2"/>
                              </a:solidFill>
                              <a:latin typeface="Cambria Math" panose="02040503050406030204" pitchFamily="18" charset="0"/>
                            </a:rPr>
                            <m:t>var</m:t>
                          </m:r>
                          <m:d>
                            <m:dPr>
                              <m:ctrlPr>
                                <a:rPr lang="en-US" sz="2400" b="0" i="1" smtClean="0">
                                  <a:solidFill>
                                    <a:schemeClr val="accent2"/>
                                  </a:solidFill>
                                  <a:latin typeface="Cambria Math" panose="02040503050406030204" pitchFamily="18" charset="0"/>
                                </a:rPr>
                              </m:ctrlPr>
                            </m:dPr>
                            <m:e>
                              <m:r>
                                <a:rPr lang="en-US" sz="2400" b="0" i="1" smtClean="0">
                                  <a:solidFill>
                                    <a:schemeClr val="accent2"/>
                                  </a:solidFill>
                                  <a:latin typeface="Cambria Math" panose="02040503050406030204" pitchFamily="18" charset="0"/>
                                </a:rPr>
                                <m:t>𝑋</m:t>
                              </m:r>
                            </m:e>
                          </m:d>
                        </m:num>
                        <m:den>
                          <m:sSup>
                            <m:sSupPr>
                              <m:ctrlPr>
                                <a:rPr lang="en-US" sz="2400" b="0" i="1" smtClean="0">
                                  <a:solidFill>
                                    <a:schemeClr val="accent2"/>
                                  </a:solidFill>
                                  <a:latin typeface="Cambria Math" panose="02040503050406030204" pitchFamily="18" charset="0"/>
                                </a:rPr>
                              </m:ctrlPr>
                            </m:sSupPr>
                            <m:e>
                              <m:r>
                                <a:rPr lang="en-US" sz="2400" b="0" i="1" smtClean="0">
                                  <a:solidFill>
                                    <a:schemeClr val="accent2"/>
                                  </a:solidFill>
                                  <a:latin typeface="Cambria Math" panose="02040503050406030204" pitchFamily="18" charset="0"/>
                                </a:rPr>
                                <m:t>𝑐</m:t>
                              </m:r>
                            </m:e>
                            <m:sup>
                              <m:r>
                                <a:rPr lang="en-US" sz="2400" b="0" i="1" smtClean="0">
                                  <a:solidFill>
                                    <a:schemeClr val="accent2"/>
                                  </a:solidFill>
                                  <a:latin typeface="Cambria Math" panose="02040503050406030204" pitchFamily="18" charset="0"/>
                                </a:rPr>
                                <m:t>2</m:t>
                              </m:r>
                            </m:sup>
                          </m:sSup>
                        </m:den>
                      </m:f>
                    </m:oMath>
                  </m:oMathPara>
                </a14:m>
                <a:endParaRPr lang="en-US" sz="2400"/>
              </a:p>
            </p:txBody>
          </p:sp>
        </mc:Choice>
        <mc:Fallback>
          <p:sp>
            <p:nvSpPr>
              <p:cNvPr id="9" name="TextBox 8">
                <a:extLst>
                  <a:ext uri="{FF2B5EF4-FFF2-40B4-BE49-F238E27FC236}">
                    <a16:creationId xmlns:a16="http://schemas.microsoft.com/office/drawing/2014/main" id="{121C9E61-8E8D-73EA-BAEC-CAF96D9FAD76}"/>
                  </a:ext>
                </a:extLst>
              </p:cNvPr>
              <p:cNvSpPr txBox="1">
                <a:spLocks noRot="1" noChangeAspect="1" noMove="1" noResize="1" noEditPoints="1" noAdjustHandles="1" noChangeArrowheads="1" noChangeShapeType="1" noTextEdit="1"/>
              </p:cNvSpPr>
              <p:nvPr/>
            </p:nvSpPr>
            <p:spPr>
              <a:xfrm>
                <a:off x="2782268" y="5021879"/>
                <a:ext cx="2013786" cy="809261"/>
              </a:xfrm>
              <a:prstGeom prst="rect">
                <a:avLst/>
              </a:prstGeom>
              <a:blipFill>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8655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1" presetClass="entr" presetSubtype="0" fill="hold" grpId="0" nodeType="clickEffect">
                                  <p:stCondLst>
                                    <p:cond delay="0"/>
                                  </p:stCondLst>
                                  <p:iterate type="lt">
                                    <p:tmPct val="10000"/>
                                  </p:iterate>
                                  <p:childTnLst>
                                    <p:set>
                                      <p:cBhvr>
                                        <p:cTn id="22" dur="1" fill="hold">
                                          <p:stCondLst>
                                            <p:cond delay="0"/>
                                          </p:stCondLst>
                                        </p:cTn>
                                        <p:tgtEl>
                                          <p:spTgt spid="14"/>
                                        </p:tgtEl>
                                        <p:attrNameLst>
                                          <p:attrName>style.visibility</p:attrName>
                                        </p:attrNameLst>
                                      </p:cBhvr>
                                      <p:to>
                                        <p:strVal val="visible"/>
                                      </p:to>
                                    </p:set>
                                    <p:anim calcmode="lin" valueType="num">
                                      <p:cBhvr>
                                        <p:cTn id="23" dur="500" fill="hold"/>
                                        <p:tgtEl>
                                          <p:spTgt spid="14"/>
                                        </p:tgtEl>
                                        <p:attrNameLst>
                                          <p:attrName>ppt_x</p:attrName>
                                        </p:attrNameLst>
                                      </p:cBhvr>
                                      <p:tavLst>
                                        <p:tav tm="0">
                                          <p:val>
                                            <p:strVal val="#ppt_x"/>
                                          </p:val>
                                        </p:tav>
                                        <p:tav tm="50000">
                                          <p:val>
                                            <p:strVal val="#ppt_x+.1"/>
                                          </p:val>
                                        </p:tav>
                                        <p:tav tm="100000">
                                          <p:val>
                                            <p:strVal val="#ppt_x"/>
                                          </p:val>
                                        </p:tav>
                                      </p:tavLst>
                                    </p:anim>
                                    <p:anim calcmode="lin" valueType="num">
                                      <p:cBhvr>
                                        <p:cTn id="24" dur="500" fill="hold"/>
                                        <p:tgtEl>
                                          <p:spTgt spid="14"/>
                                        </p:tgtEl>
                                        <p:attrNameLst>
                                          <p:attrName>ppt_y</p:attrName>
                                        </p:attrNameLst>
                                      </p:cBhvr>
                                      <p:tavLst>
                                        <p:tav tm="0">
                                          <p:val>
                                            <p:strVal val="#ppt_y"/>
                                          </p:val>
                                        </p:tav>
                                        <p:tav tm="100000">
                                          <p:val>
                                            <p:strVal val="#ppt_y"/>
                                          </p:val>
                                        </p:tav>
                                      </p:tavLst>
                                    </p:anim>
                                    <p:anim calcmode="lin" valueType="num">
                                      <p:cBhvr>
                                        <p:cTn id="25" dur="500" fill="hold"/>
                                        <p:tgtEl>
                                          <p:spTgt spid="14"/>
                                        </p:tgtEl>
                                        <p:attrNameLst>
                                          <p:attrName>ppt_h</p:attrName>
                                        </p:attrNameLst>
                                      </p:cBhvr>
                                      <p:tavLst>
                                        <p:tav tm="0">
                                          <p:val>
                                            <p:strVal val="#ppt_h/10"/>
                                          </p:val>
                                        </p:tav>
                                        <p:tav tm="50000">
                                          <p:val>
                                            <p:strVal val="#ppt_h+.01"/>
                                          </p:val>
                                        </p:tav>
                                        <p:tav tm="100000">
                                          <p:val>
                                            <p:strVal val="#ppt_h"/>
                                          </p:val>
                                        </p:tav>
                                      </p:tavLst>
                                    </p:anim>
                                    <p:anim calcmode="lin" valueType="num">
                                      <p:cBhvr>
                                        <p:cTn id="26" dur="500" fill="hold"/>
                                        <p:tgtEl>
                                          <p:spTgt spid="14"/>
                                        </p:tgtEl>
                                        <p:attrNameLst>
                                          <p:attrName>ppt_w</p:attrName>
                                        </p:attrNameLst>
                                      </p:cBhvr>
                                      <p:tavLst>
                                        <p:tav tm="0">
                                          <p:val>
                                            <p:strVal val="#ppt_w/10"/>
                                          </p:val>
                                        </p:tav>
                                        <p:tav tm="50000">
                                          <p:val>
                                            <p:strVal val="#ppt_w+.01"/>
                                          </p:val>
                                        </p:tav>
                                        <p:tav tm="100000">
                                          <p:val>
                                            <p:strVal val="#ppt_w"/>
                                          </p:val>
                                        </p:tav>
                                      </p:tavLst>
                                    </p:anim>
                                    <p:animEffect transition="in" filter="fade">
                                      <p:cBhvr>
                                        <p:cTn id="27" dur="500" tmFilter="0,0; .5, 1; 1, 1"/>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4" grpId="0"/>
      <p:bldP spid="14" grpId="0"/>
      <p:bldP spid="5" grpId="0"/>
      <p:bldP spid="9"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70833-51E8-F5B8-EF5D-2367BD39B6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DA7340-32BB-956B-9C3E-3339F9AF1425}"/>
              </a:ext>
            </a:extLst>
          </p:cNvPr>
          <p:cNvSpPr>
            <a:spLocks noGrp="1"/>
          </p:cNvSpPr>
          <p:nvPr>
            <p:ph type="title"/>
          </p:nvPr>
        </p:nvSpPr>
        <p:spPr/>
        <p:txBody>
          <a:bodyPr/>
          <a:lstStyle/>
          <a:p>
            <a:r>
              <a:rPr lang="en-US"/>
              <a:t>Interpretation in Terms of Voting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82A2F46-18BD-4E2F-F1F8-0AADEFA41773}"/>
                  </a:ext>
                </a:extLst>
              </p:cNvPr>
              <p:cNvSpPr>
                <a:spLocks noGrp="1"/>
              </p:cNvSpPr>
              <p:nvPr>
                <p:ph idx="1"/>
              </p:nvPr>
            </p:nvSpPr>
            <p:spPr/>
            <p:txBody>
              <a:bodyPr/>
              <a:lstStyle/>
              <a:p>
                <a:r>
                  <a:rPr lang="en-US"/>
                  <a:t>For </a:t>
                </a:r>
                <a14:m>
                  <m:oMath xmlns:m="http://schemas.openxmlformats.org/officeDocument/2006/math">
                    <m:r>
                      <a:rPr lang="en-US" i="1">
                        <a:latin typeface="Cambria Math" panose="02040503050406030204" pitchFamily="18" charset="0"/>
                      </a:rPr>
                      <m:t>𝑋</m:t>
                    </m:r>
                    <m:r>
                      <a:rPr lang="en-US" i="1">
                        <a:latin typeface="Cambria Math" panose="02040503050406030204" pitchFamily="18" charset="0"/>
                      </a:rPr>
                      <m:t>~</m:t>
                    </m:r>
                    <m:r>
                      <m:rPr>
                        <m:sty m:val="p"/>
                      </m:rPr>
                      <a:rPr lang="en-US">
                        <a:latin typeface="Cambria Math" panose="02040503050406030204" pitchFamily="18" charset="0"/>
                      </a:rPr>
                      <m:t>Binomial</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 0.5)</m:t>
                    </m:r>
                  </m:oMath>
                </a14:m>
                <a:r>
                  <a:rPr lang="en-US"/>
                  <a:t>, let’s bound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r>
                          <a:rPr lang="en-US" b="0" i="1" smtClean="0">
                            <a:latin typeface="Cambria Math" panose="02040503050406030204" pitchFamily="18" charset="0"/>
                          </a:rPr>
                          <m:t>𝑛</m:t>
                        </m:r>
                      </m:e>
                    </m:d>
                  </m:oMath>
                </a14:m>
                <a:r>
                  <a:rPr lang="en-US"/>
                  <a:t>, using Chebyshev’s Inequality: If </a:t>
                </a:r>
                <a14:m>
                  <m:oMath xmlns:m="http://schemas.openxmlformats.org/officeDocument/2006/math">
                    <m:r>
                      <a:rPr lang="en-US" b="0" i="1" smtClean="0">
                        <a:latin typeface="Cambria Math" panose="02040503050406030204" pitchFamily="18" charset="0"/>
                      </a:rPr>
                      <m:t>𝑋</m:t>
                    </m:r>
                  </m:oMath>
                </a14:m>
                <a:r>
                  <a:rPr lang="en-US"/>
                  <a:t> is a random variable with </a:t>
                </a:r>
                <a14:m>
                  <m:oMath xmlns:m="http://schemas.openxmlformats.org/officeDocument/2006/math">
                    <m:r>
                      <a:rPr lang="en-US" i="1">
                        <a:latin typeface="Cambria Math" panose="02040503050406030204" pitchFamily="18" charset="0"/>
                      </a:rPr>
                      <m:t>𝔼</m:t>
                    </m:r>
                    <m:d>
                      <m:dPr>
                        <m:begChr m:val="["/>
                        <m:endChr m:val="]"/>
                        <m:ctrlPr>
                          <a:rPr lang="en-US" i="1">
                            <a:latin typeface="Cambria Math" panose="02040503050406030204" pitchFamily="18" charset="0"/>
                          </a:rPr>
                        </m:ctrlPr>
                      </m:dPr>
                      <m:e>
                        <m:r>
                          <a:rPr lang="en-US" i="1">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𝜇</m:t>
                    </m:r>
                  </m:oMath>
                </a14:m>
                <a:r>
                  <a:rPr lang="en-US"/>
                  <a:t>, then for any constant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r>
                      <a:rPr lang="en-US" b="0" i="0" smtClean="0">
                        <a:latin typeface="Cambria Math" panose="02040503050406030204" pitchFamily="18" charset="0"/>
                      </a:rPr>
                      <m:t>:</m:t>
                    </m:r>
                  </m:oMath>
                </a14:m>
                <a:endParaRPr lang="en-US"/>
              </a:p>
              <a:p>
                <a:pPr/>
                <a14:m>
                  <m:oMathPara xmlns:m="http://schemas.openxmlformats.org/officeDocument/2006/math">
                    <m:oMathParaPr>
                      <m:jc m:val="centerGroup"/>
                    </m:oMathParaPr>
                    <m:oMath xmlns:m="http://schemas.openxmlformats.org/officeDocument/2006/math">
                      <m:r>
                        <a:rPr lang="en-US" i="1">
                          <a:solidFill>
                            <a:schemeClr val="accent3"/>
                          </a:solidFill>
                          <a:latin typeface="Cambria Math" panose="02040503050406030204" pitchFamily="18" charset="0"/>
                        </a:rPr>
                        <m:t>𝑃</m:t>
                      </m:r>
                      <m:d>
                        <m:dPr>
                          <m:ctrlPr>
                            <a:rPr lang="en-US" i="1">
                              <a:solidFill>
                                <a:schemeClr val="accent3"/>
                              </a:solidFill>
                              <a:latin typeface="Cambria Math" panose="02040503050406030204" pitchFamily="18" charset="0"/>
                            </a:rPr>
                          </m:ctrlPr>
                        </m:dPr>
                        <m:e>
                          <m:d>
                            <m:dPr>
                              <m:begChr m:val="|"/>
                              <m:endChr m:val="|"/>
                              <m:ctrlPr>
                                <a:rPr lang="en-US" i="1">
                                  <a:solidFill>
                                    <a:schemeClr val="accent3"/>
                                  </a:solidFill>
                                  <a:latin typeface="Cambria Math" panose="02040503050406030204" pitchFamily="18" charset="0"/>
                                </a:rPr>
                              </m:ctrlPr>
                            </m:dPr>
                            <m:e>
                              <m:r>
                                <a:rPr lang="en-US" i="1">
                                  <a:solidFill>
                                    <a:schemeClr val="accent3"/>
                                  </a:solidFill>
                                  <a:latin typeface="Cambria Math" panose="02040503050406030204" pitchFamily="18" charset="0"/>
                                </a:rPr>
                                <m:t>𝑋</m:t>
                              </m:r>
                              <m:r>
                                <a:rPr lang="en-US" i="1">
                                  <a:solidFill>
                                    <a:schemeClr val="accent3"/>
                                  </a:solidFill>
                                  <a:latin typeface="Cambria Math" panose="02040503050406030204" pitchFamily="18" charset="0"/>
                                </a:rPr>
                                <m:t>−</m:t>
                              </m:r>
                              <m:r>
                                <a:rPr lang="en-US" i="1">
                                  <a:solidFill>
                                    <a:schemeClr val="accent3"/>
                                  </a:solidFill>
                                  <a:latin typeface="Cambria Math" panose="02040503050406030204" pitchFamily="18" charset="0"/>
                                </a:rPr>
                                <m:t>𝜇</m:t>
                              </m:r>
                            </m:e>
                          </m:d>
                          <m:r>
                            <a:rPr lang="en-US" i="1">
                              <a:solidFill>
                                <a:schemeClr val="accent3"/>
                              </a:solidFill>
                              <a:latin typeface="Cambria Math" panose="02040503050406030204" pitchFamily="18" charset="0"/>
                            </a:rPr>
                            <m:t>≥</m:t>
                          </m:r>
                          <m:r>
                            <a:rPr lang="en-US" i="1">
                              <a:solidFill>
                                <a:schemeClr val="accent3"/>
                              </a:solidFill>
                              <a:latin typeface="Cambria Math" panose="02040503050406030204" pitchFamily="18" charset="0"/>
                            </a:rPr>
                            <m:t>𝑐</m:t>
                          </m:r>
                        </m:e>
                      </m:d>
                      <m:r>
                        <a:rPr lang="en-US" i="1">
                          <a:latin typeface="Cambria Math" panose="02040503050406030204" pitchFamily="18" charset="0"/>
                        </a:rPr>
                        <m:t>≤</m:t>
                      </m:r>
                      <m:f>
                        <m:fPr>
                          <m:ctrlPr>
                            <a:rPr lang="en-US" i="1">
                              <a:solidFill>
                                <a:schemeClr val="accent2"/>
                              </a:solidFill>
                              <a:latin typeface="Cambria Math" panose="02040503050406030204" pitchFamily="18" charset="0"/>
                            </a:rPr>
                          </m:ctrlPr>
                        </m:fPr>
                        <m:num>
                          <m:r>
                            <m:rPr>
                              <m:sty m:val="p"/>
                            </m:rPr>
                            <a:rPr lang="en-US">
                              <a:solidFill>
                                <a:schemeClr val="accent2"/>
                              </a:solidFill>
                              <a:latin typeface="Cambria Math" panose="02040503050406030204" pitchFamily="18" charset="0"/>
                            </a:rPr>
                            <m:t>var</m:t>
                          </m:r>
                          <m:d>
                            <m:dPr>
                              <m:ctrlPr>
                                <a:rPr lang="en-US" i="1">
                                  <a:solidFill>
                                    <a:schemeClr val="accent2"/>
                                  </a:solidFill>
                                  <a:latin typeface="Cambria Math" panose="02040503050406030204" pitchFamily="18" charset="0"/>
                                </a:rPr>
                              </m:ctrlPr>
                            </m:dPr>
                            <m:e>
                              <m:r>
                                <a:rPr lang="en-US" i="1">
                                  <a:solidFill>
                                    <a:schemeClr val="accent2"/>
                                  </a:solidFill>
                                  <a:latin typeface="Cambria Math" panose="02040503050406030204" pitchFamily="18" charset="0"/>
                                </a:rPr>
                                <m:t>𝑋</m:t>
                              </m:r>
                            </m:e>
                          </m:d>
                        </m:num>
                        <m:den>
                          <m:sSup>
                            <m:sSupPr>
                              <m:ctrlPr>
                                <a:rPr lang="en-US" i="1">
                                  <a:solidFill>
                                    <a:schemeClr val="accent2"/>
                                  </a:solidFill>
                                  <a:latin typeface="Cambria Math" panose="02040503050406030204" pitchFamily="18" charset="0"/>
                                </a:rPr>
                              </m:ctrlPr>
                            </m:sSupPr>
                            <m:e>
                              <m:r>
                                <a:rPr lang="en-US" i="1">
                                  <a:solidFill>
                                    <a:schemeClr val="accent2"/>
                                  </a:solidFill>
                                  <a:latin typeface="Cambria Math" panose="02040503050406030204" pitchFamily="18" charset="0"/>
                                </a:rPr>
                                <m:t>𝑐</m:t>
                              </m:r>
                            </m:e>
                            <m:sup>
                              <m:r>
                                <a:rPr lang="en-US" i="1">
                                  <a:solidFill>
                                    <a:schemeClr val="accent2"/>
                                  </a:solidFill>
                                  <a:latin typeface="Cambria Math" panose="02040503050406030204" pitchFamily="18" charset="0"/>
                                </a:rPr>
                                <m:t>2</m:t>
                              </m:r>
                            </m:sup>
                          </m:sSup>
                        </m:den>
                      </m:f>
                    </m:oMath>
                  </m:oMathPara>
                </a14:m>
                <a:endParaRPr lang="en-US"/>
              </a:p>
              <a:p>
                <a:endParaRPr lang="en-US"/>
              </a:p>
              <a:p>
                <a:r>
                  <a:rPr lang="en-US"/>
                  <a:t>Our Chebyshev bound is:</a:t>
                </a:r>
              </a:p>
              <a:p>
                <a:endParaRPr lang="en-US" sz="1100"/>
              </a:p>
              <a:p>
                <a:r>
                  <a:rPr lang="en-US"/>
                  <a:t>Example: In an election where the chance of voting for candidate A is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=0.5</m:t>
                    </m:r>
                  </m:oMath>
                </a14:m>
                <a:r>
                  <a:rPr lang="en-US"/>
                  <a:t>.</a:t>
                </a:r>
              </a:p>
              <a:p>
                <a:pPr marL="342900" indent="-342900">
                  <a:buFont typeface="Arial" panose="020B0604020202020204" pitchFamily="34" charset="0"/>
                  <a:buChar char="•"/>
                </a:pPr>
                <a:r>
                  <a:rPr lang="en-US"/>
                  <a:t>Chebyshev bound says the chance of getting 75% of the vote is less than 0.04% if 1000 people vote.</a:t>
                </a:r>
              </a:p>
              <a:p>
                <a:pPr marL="342900" indent="-342900">
                  <a:buFont typeface="Arial" panose="020B0604020202020204" pitchFamily="34" charset="0"/>
                  <a:buChar char="•"/>
                </a:pPr>
                <a:r>
                  <a:rPr lang="en-US"/>
                  <a:t>But this is a somewhat silly use of the Chebyshev bound, we already know how to compute this chance exactly (and it’s much smaller than 0.04%).</a:t>
                </a:r>
              </a:p>
              <a:p>
                <a:pPr marL="342900" indent="-342900">
                  <a:buFont typeface="Arial" panose="020B0604020202020204" pitchFamily="34" charset="0"/>
                  <a:buChar char="•"/>
                </a:pPr>
                <a:r>
                  <a:rPr lang="en-US"/>
                  <a:t>Let’s instead use Chebyshev in a more useful way: Estimating </a:t>
                </a:r>
                <a14:m>
                  <m:oMath xmlns:m="http://schemas.openxmlformats.org/officeDocument/2006/math">
                    <m:r>
                      <a:rPr lang="en-US" i="1" dirty="0" smtClean="0">
                        <a:latin typeface="Cambria Math" panose="02040503050406030204" pitchFamily="18" charset="0"/>
                      </a:rPr>
                      <m:t>𝑝</m:t>
                    </m:r>
                  </m:oMath>
                </a14:m>
                <a:r>
                  <a:rPr lang="en-US"/>
                  <a:t> itself.</a:t>
                </a:r>
              </a:p>
            </p:txBody>
          </p:sp>
        </mc:Choice>
        <mc:Fallback>
          <p:sp>
            <p:nvSpPr>
              <p:cNvPr id="3" name="Content Placeholder 2">
                <a:extLst>
                  <a:ext uri="{FF2B5EF4-FFF2-40B4-BE49-F238E27FC236}">
                    <a16:creationId xmlns:a16="http://schemas.microsoft.com/office/drawing/2014/main" id="{D82A2F46-18BD-4E2F-F1F8-0AADEFA41773}"/>
                  </a:ext>
                </a:extLst>
              </p:cNvPr>
              <p:cNvSpPr>
                <a:spLocks noGrp="1" noRot="1" noChangeAspect="1" noMove="1" noResize="1" noEditPoints="1" noAdjustHandles="1" noChangeArrowheads="1" noChangeShapeType="1" noTextEdit="1"/>
              </p:cNvSpPr>
              <p:nvPr>
                <p:ph idx="1"/>
              </p:nvPr>
            </p:nvSpPr>
            <p:spPr>
              <a:blipFill>
                <a:blip r:embed="rId2"/>
                <a:stretch>
                  <a:fillRect l="-796" b="-1147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9918A7A5-DB60-F887-2211-5A0921AEBED4}"/>
                  </a:ext>
                </a:extLst>
              </p:cNvPr>
              <p:cNvSpPr txBox="1"/>
              <p:nvPr/>
            </p:nvSpPr>
            <p:spPr>
              <a:xfrm>
                <a:off x="3673764" y="2778404"/>
                <a:ext cx="2828636" cy="9221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3</m:t>
                              </m:r>
                            </m:num>
                            <m:den>
                              <m:r>
                                <a:rPr lang="en-US" sz="2400" b="0" i="1" smtClean="0">
                                  <a:latin typeface="Cambria Math" panose="02040503050406030204" pitchFamily="18" charset="0"/>
                                </a:rPr>
                                <m:t>4</m:t>
                              </m:r>
                            </m:den>
                          </m:f>
                          <m:r>
                            <a:rPr lang="en-US" sz="2400" b="0" i="1" smtClean="0">
                              <a:latin typeface="Cambria Math" panose="02040503050406030204" pitchFamily="18" charset="0"/>
                            </a:rPr>
                            <m:t>𝑛</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4</m:t>
                          </m:r>
                        </m:num>
                        <m:den>
                          <m:r>
                            <a:rPr lang="en-US" sz="2400" b="0" i="1" smtClean="0">
                              <a:latin typeface="Cambria Math" panose="02040503050406030204" pitchFamily="18" charset="0"/>
                            </a:rPr>
                            <m:t>𝑛</m:t>
                          </m:r>
                        </m:den>
                      </m:f>
                    </m:oMath>
                  </m:oMathPara>
                </a14:m>
                <a:endParaRPr lang="en-US" sz="2400"/>
              </a:p>
            </p:txBody>
          </p:sp>
        </mc:Choice>
        <mc:Fallback>
          <p:sp>
            <p:nvSpPr>
              <p:cNvPr id="9" name="TextBox 8">
                <a:extLst>
                  <a:ext uri="{FF2B5EF4-FFF2-40B4-BE49-F238E27FC236}">
                    <a16:creationId xmlns:a16="http://schemas.microsoft.com/office/drawing/2014/main" id="{9918A7A5-DB60-F887-2211-5A0921AEBED4}"/>
                  </a:ext>
                </a:extLst>
              </p:cNvPr>
              <p:cNvSpPr txBox="1">
                <a:spLocks noRot="1" noChangeAspect="1" noMove="1" noResize="1" noEditPoints="1" noAdjustHandles="1" noChangeArrowheads="1" noChangeShapeType="1" noTextEdit="1"/>
              </p:cNvSpPr>
              <p:nvPr/>
            </p:nvSpPr>
            <p:spPr>
              <a:xfrm>
                <a:off x="3673764" y="2778404"/>
                <a:ext cx="2828636" cy="922176"/>
              </a:xfrm>
              <a:prstGeom prst="rect">
                <a:avLst/>
              </a:prstGeom>
              <a:blipFill>
                <a:blip r:embed="rId3"/>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2DF59ABD-A7A4-2395-9CB2-024AEE05E059}"/>
              </a:ext>
            </a:extLst>
          </p:cNvPr>
          <p:cNvSpPr txBox="1"/>
          <p:nvPr/>
        </p:nvSpPr>
        <p:spPr>
          <a:xfrm>
            <a:off x="5593976" y="3025588"/>
            <a:ext cx="65" cy="276999"/>
          </a:xfrm>
          <a:prstGeom prst="rect">
            <a:avLst/>
          </a:prstGeom>
          <a:noFill/>
        </p:spPr>
        <p:txBody>
          <a:bodyPr wrap="none" lIns="0" tIns="0" rIns="0" bIns="0" rtlCol="0">
            <a:spAutoFit/>
          </a:bodyPr>
          <a:lstStyle/>
          <a:p>
            <a:endParaRPr lang="en-US"/>
          </a:p>
        </p:txBody>
      </p:sp>
    </p:spTree>
    <p:extLst>
      <p:ext uri="{BB962C8B-B14F-4D97-AF65-F5344CB8AC3E}">
        <p14:creationId xmlns:p14="http://schemas.microsoft.com/office/powerpoint/2010/main" val="174602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9DBE28E-DDDC-85DD-6479-FEEE4F8D4DEF}"/>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8B176AE3-EA7C-CDE2-7287-E9A2FE8EC1F4}"/>
                  </a:ext>
                </a:extLst>
              </p:cNvPr>
              <p:cNvSpPr>
                <a:spLocks noGrp="1"/>
              </p:cNvSpPr>
              <p:nvPr>
                <p:ph type="title"/>
              </p:nvPr>
            </p:nvSpPr>
            <p:spPr/>
            <p:txBody>
              <a:bodyPr/>
              <a:lstStyle/>
              <a:p>
                <a:r>
                  <a:rPr lang="en-US"/>
                  <a:t>Back to Estimating </a:t>
                </a:r>
                <a14:m>
                  <m:oMath xmlns:m="http://schemas.openxmlformats.org/officeDocument/2006/math">
                    <m:r>
                      <a:rPr lang="en-US" b="0" i="1" smtClean="0">
                        <a:latin typeface="Cambria Math" panose="02040503050406030204" pitchFamily="18" charset="0"/>
                      </a:rPr>
                      <m:t>𝑝</m:t>
                    </m:r>
                  </m:oMath>
                </a14:m>
                <a:r>
                  <a:rPr lang="en-US"/>
                  <a:t> for a Coin</a:t>
                </a:r>
              </a:p>
            </p:txBody>
          </p:sp>
        </mc:Choice>
        <mc:Fallback>
          <p:sp>
            <p:nvSpPr>
              <p:cNvPr id="2" name="Title 1">
                <a:extLst>
                  <a:ext uri="{FF2B5EF4-FFF2-40B4-BE49-F238E27FC236}">
                    <a16:creationId xmlns:a16="http://schemas.microsoft.com/office/drawing/2014/main" id="{8B176AE3-EA7C-CDE2-7287-E9A2FE8EC1F4}"/>
                  </a:ext>
                </a:extLst>
              </p:cNvPr>
              <p:cNvSpPr>
                <a:spLocks noGrp="1" noRot="1" noChangeAspect="1" noMove="1" noResize="1" noEditPoints="1" noAdjustHandles="1" noChangeArrowheads="1" noChangeShapeType="1" noTextEdit="1"/>
              </p:cNvSpPr>
              <p:nvPr>
                <p:ph type="title"/>
              </p:nvPr>
            </p:nvSpPr>
            <p:spPr>
              <a:blipFill>
                <a:blip r:embed="rId2"/>
                <a:stretch>
                  <a:fillRect l="-870" t="-14667" b="-2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0CD4179-494B-647E-293B-6F13E9344AD8}"/>
                  </a:ext>
                </a:extLst>
              </p:cNvPr>
              <p:cNvSpPr>
                <a:spLocks noGrp="1"/>
              </p:cNvSpPr>
              <p:nvPr>
                <p:ph idx="1"/>
              </p:nvPr>
            </p:nvSpPr>
            <p:spPr/>
            <p:txBody>
              <a:bodyPr/>
              <a:lstStyle/>
              <a:p>
                <a:r>
                  <a:rPr lang="en-US"/>
                  <a:t>Let’s go back to where we started today. Suppose We have a coin with unknown heads probability </a:t>
                </a:r>
                <a14:m>
                  <m:oMath xmlns:m="http://schemas.openxmlformats.org/officeDocument/2006/math">
                    <m:r>
                      <a:rPr lang="en-US" b="0" i="1" smtClean="0">
                        <a:latin typeface="Cambria Math" panose="02040503050406030204" pitchFamily="18" charset="0"/>
                      </a:rPr>
                      <m:t>𝑝</m:t>
                    </m:r>
                  </m:oMath>
                </a14:m>
                <a:r>
                  <a:rPr lang="en-US"/>
                  <a:t>. We estimate it by tossing a coin n times.</a:t>
                </a:r>
              </a:p>
              <a:p>
                <a:pPr marL="342900" indent="-34290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𝑋</m:t>
                    </m:r>
                  </m:oMath>
                </a14:m>
                <a:r>
                  <a:rPr lang="en-US"/>
                  <a:t> is the number of heads. </a:t>
                </a: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oMath>
                </a14:m>
                <a:r>
                  <a:rPr lang="en-US"/>
                  <a:t>.</a:t>
                </a:r>
              </a:p>
              <a:p>
                <a:pPr marL="342900" indent="-342900">
                  <a:lnSpc>
                    <a:spcPct val="120000"/>
                  </a:lnSpc>
                  <a:buFont typeface="Arial" panose="020B0604020202020204" pitchFamily="34" charset="0"/>
                  <a:buChar char="•"/>
                </a:pPr>
                <a:r>
                  <a:rPr lang="en-US"/>
                  <a:t>Our empirical mean is </a:t>
                </a:r>
              </a:p>
              <a:p>
                <a:endParaRPr lang="en-US"/>
              </a:p>
              <a:p>
                <a:r>
                  <a:rPr lang="en-US"/>
                  <a:t>Goal: How big does </a:t>
                </a:r>
                <a14:m>
                  <m:oMath xmlns:m="http://schemas.openxmlformats.org/officeDocument/2006/math">
                    <m:r>
                      <a:rPr lang="en-US" b="0" i="1" smtClean="0">
                        <a:latin typeface="Cambria Math" panose="02040503050406030204" pitchFamily="18" charset="0"/>
                      </a:rPr>
                      <m:t>𝑛</m:t>
                    </m:r>
                  </m:oMath>
                </a14:m>
                <a:r>
                  <a:rPr lang="en-US"/>
                  <a:t> need to be so that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i="1">
                                <a:latin typeface="Cambria Math" panose="02040503050406030204" pitchFamily="18" charset="0"/>
                              </a:rPr>
                              <m:t>−</m:t>
                            </m:r>
                            <m:r>
                              <a:rPr lang="en-US" i="1">
                                <a:latin typeface="Cambria Math" panose="02040503050406030204" pitchFamily="18" charset="0"/>
                              </a:rPr>
                              <m:t>𝑝</m:t>
                            </m:r>
                          </m:e>
                        </m:d>
                        <m:r>
                          <a:rPr lang="en-US" i="1">
                            <a:latin typeface="Cambria Math" panose="02040503050406030204" pitchFamily="18" charset="0"/>
                          </a:rPr>
                          <m:t>≥</m:t>
                        </m:r>
                        <m:r>
                          <a:rPr lang="en-US" i="1">
                            <a:latin typeface="Cambria Math" panose="02040503050406030204" pitchFamily="18" charset="0"/>
                          </a:rPr>
                          <m:t>𝜖</m:t>
                        </m:r>
                      </m:e>
                    </m:d>
                    <m:r>
                      <a:rPr lang="en-US" b="0" i="0" smtClean="0">
                        <a:latin typeface="Cambria Math" panose="02040503050406030204" pitchFamily="18" charset="0"/>
                      </a:rPr>
                      <m:t>≤</m:t>
                    </m:r>
                    <m:r>
                      <a:rPr lang="en-US" b="0" i="1" smtClean="0">
                        <a:latin typeface="Cambria Math" panose="02040503050406030204" pitchFamily="18" charset="0"/>
                      </a:rPr>
                      <m:t>𝛿</m:t>
                    </m:r>
                  </m:oMath>
                </a14:m>
                <a:endParaRPr lang="en-US"/>
              </a:p>
              <a:p>
                <a:endParaRPr lang="en-US"/>
              </a:p>
              <a:p>
                <a:r>
                  <a:rPr lang="en-US"/>
                  <a:t>Observation, we can bound                         using Chebyshev’s inequality.</a:t>
                </a:r>
              </a:p>
              <a:p>
                <a:pPr marL="342900" indent="-342900">
                  <a:buFont typeface="Arial" panose="020B0604020202020204" pitchFamily="34" charset="0"/>
                  <a:buChar char="•"/>
                </a:pPr>
                <a:r>
                  <a:rPr lang="en-US"/>
                  <a:t>To show this, we’ll need </a:t>
                </a:r>
                <a14:m>
                  <m:oMath xmlns:m="http://schemas.openxmlformats.org/officeDocument/2006/math">
                    <m:r>
                      <a:rPr lang="en-US" i="1" smtClean="0">
                        <a:latin typeface="Cambria Math" panose="02040503050406030204" pitchFamily="18" charset="0"/>
                      </a:rPr>
                      <m:t>𝔼</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r>
                      <a:rPr lang="en-US" b="0" i="1" smtClean="0">
                        <a:latin typeface="Cambria Math" panose="02040503050406030204" pitchFamily="18" charset="0"/>
                      </a:rPr>
                      <m:t>]</m:t>
                    </m:r>
                  </m:oMath>
                </a14:m>
                <a:r>
                  <a:rPr lang="en-US"/>
                  <a:t>.</a:t>
                </a:r>
              </a:p>
              <a:p>
                <a:endParaRPr lang="en-US"/>
              </a:p>
            </p:txBody>
          </p:sp>
        </mc:Choice>
        <mc:Fallback>
          <p:sp>
            <p:nvSpPr>
              <p:cNvPr id="3" name="Content Placeholder 2">
                <a:extLst>
                  <a:ext uri="{FF2B5EF4-FFF2-40B4-BE49-F238E27FC236}">
                    <a16:creationId xmlns:a16="http://schemas.microsoft.com/office/drawing/2014/main" id="{10CD4179-494B-647E-293B-6F13E9344AD8}"/>
                  </a:ext>
                </a:extLst>
              </p:cNvPr>
              <p:cNvSpPr>
                <a:spLocks noGrp="1" noRot="1" noChangeAspect="1" noMove="1" noResize="1" noEditPoints="1" noAdjustHandles="1" noChangeArrowheads="1" noChangeShapeType="1" noTextEdit="1"/>
              </p:cNvSpPr>
              <p:nvPr>
                <p:ph idx="1"/>
              </p:nvPr>
            </p:nvSpPr>
            <p:spPr>
              <a:blipFill>
                <a:blip r:embed="rId3"/>
                <a:stretch>
                  <a:fillRect l="-796" t="-54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A8B7A26B-AF47-613E-5687-04CC2F313DA4}"/>
                  </a:ext>
                </a:extLst>
              </p:cNvPr>
              <p:cNvSpPr txBox="1"/>
              <p:nvPr/>
            </p:nvSpPr>
            <p:spPr>
              <a:xfrm>
                <a:off x="2207487" y="1859450"/>
                <a:ext cx="3823855"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𝑝</m:t>
                          </m:r>
                        </m:e>
                      </m:acc>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𝑋</m:t>
                          </m:r>
                        </m:num>
                        <m:den>
                          <m:r>
                            <a:rPr lang="en-US" sz="2400" b="0" i="1" smtClean="0">
                              <a:latin typeface="Cambria Math" panose="02040503050406030204" pitchFamily="18" charset="0"/>
                            </a:rPr>
                            <m:t>𝑛</m:t>
                          </m:r>
                        </m:den>
                      </m:f>
                    </m:oMath>
                  </m:oMathPara>
                </a14:m>
                <a:endParaRPr lang="en-US" sz="2400"/>
              </a:p>
            </p:txBody>
          </p:sp>
        </mc:Choice>
        <mc:Fallback>
          <p:sp>
            <p:nvSpPr>
              <p:cNvPr id="4" name="TextBox 3">
                <a:extLst>
                  <a:ext uri="{FF2B5EF4-FFF2-40B4-BE49-F238E27FC236}">
                    <a16:creationId xmlns:a16="http://schemas.microsoft.com/office/drawing/2014/main" id="{A8B7A26B-AF47-613E-5687-04CC2F313DA4}"/>
                  </a:ext>
                </a:extLst>
              </p:cNvPr>
              <p:cNvSpPr txBox="1">
                <a:spLocks noRot="1" noChangeAspect="1" noMove="1" noResize="1" noEditPoints="1" noAdjustHandles="1" noChangeArrowheads="1" noChangeShapeType="1" noTextEdit="1"/>
              </p:cNvSpPr>
              <p:nvPr/>
            </p:nvSpPr>
            <p:spPr>
              <a:xfrm>
                <a:off x="2207487" y="1859450"/>
                <a:ext cx="3823855" cy="78380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004A5BC2-DD98-52D6-F187-A3B9DD0FB39B}"/>
                  </a:ext>
                </a:extLst>
              </p:cNvPr>
              <p:cNvSpPr txBox="1"/>
              <p:nvPr/>
            </p:nvSpPr>
            <p:spPr>
              <a:xfrm>
                <a:off x="4147122" y="4151180"/>
                <a:ext cx="214348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d>
                            <m:dPr>
                              <m:begChr m:val="|"/>
                              <m:endChr m:val="|"/>
                              <m:ctrlPr>
                                <a:rPr lang="en-US" sz="2400" b="0" i="1" smtClean="0">
                                  <a:latin typeface="Cambria Math" panose="02040503050406030204" pitchFamily="18" charset="0"/>
                                </a:rPr>
                              </m:ctrlPr>
                            </m:d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𝑝</m:t>
                                  </m:r>
                                </m:e>
                              </m:acc>
                              <m:r>
                                <a:rPr lang="en-US" sz="2400" b="0" i="1" smtClean="0">
                                  <a:latin typeface="Cambria Math" panose="02040503050406030204" pitchFamily="18" charset="0"/>
                                </a:rPr>
                                <m:t>−</m:t>
                              </m:r>
                              <m:r>
                                <a:rPr lang="en-US" sz="2400" b="0" i="1" smtClean="0">
                                  <a:latin typeface="Cambria Math" panose="02040503050406030204" pitchFamily="18" charset="0"/>
                                </a:rPr>
                                <m:t>𝑝</m:t>
                              </m:r>
                            </m:e>
                          </m:d>
                          <m:r>
                            <a:rPr lang="en-US" sz="2400" b="0" i="1" smtClean="0">
                              <a:latin typeface="Cambria Math" panose="02040503050406030204" pitchFamily="18" charset="0"/>
                            </a:rPr>
                            <m:t>≥</m:t>
                          </m:r>
                          <m:r>
                            <a:rPr lang="en-US" sz="2400" b="0" i="1" smtClean="0">
                              <a:latin typeface="Cambria Math" panose="02040503050406030204" pitchFamily="18" charset="0"/>
                            </a:rPr>
                            <m:t>𝜖</m:t>
                          </m:r>
                        </m:e>
                      </m:d>
                    </m:oMath>
                  </m:oMathPara>
                </a14:m>
                <a:endParaRPr lang="en-US" sz="2400"/>
              </a:p>
            </p:txBody>
          </p:sp>
        </mc:Choice>
        <mc:Fallback>
          <p:sp>
            <p:nvSpPr>
              <p:cNvPr id="5" name="TextBox 4">
                <a:extLst>
                  <a:ext uri="{FF2B5EF4-FFF2-40B4-BE49-F238E27FC236}">
                    <a16:creationId xmlns:a16="http://schemas.microsoft.com/office/drawing/2014/main" id="{004A5BC2-DD98-52D6-F187-A3B9DD0FB39B}"/>
                  </a:ext>
                </a:extLst>
              </p:cNvPr>
              <p:cNvSpPr txBox="1">
                <a:spLocks noRot="1" noChangeAspect="1" noMove="1" noResize="1" noEditPoints="1" noAdjustHandles="1" noChangeArrowheads="1" noChangeShapeType="1" noTextEdit="1"/>
              </p:cNvSpPr>
              <p:nvPr/>
            </p:nvSpPr>
            <p:spPr>
              <a:xfrm>
                <a:off x="4147122" y="4151180"/>
                <a:ext cx="2143484" cy="461665"/>
              </a:xfrm>
              <a:prstGeom prst="rect">
                <a:avLst/>
              </a:prstGeom>
              <a:blipFill>
                <a:blip r:embed="rId5"/>
                <a:stretch>
                  <a:fillRect t="-3947" b="-921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C1417053-90FD-2E3B-2460-40777CB3894B}"/>
                  </a:ext>
                </a:extLst>
              </p:cNvPr>
              <p:cNvSpPr txBox="1"/>
              <p:nvPr/>
            </p:nvSpPr>
            <p:spPr>
              <a:xfrm>
                <a:off x="347514" y="5675499"/>
                <a:ext cx="127692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𝔼</m:t>
                      </m:r>
                      <m:d>
                        <m:dPr>
                          <m:begChr m:val="["/>
                          <m:endChr m:val="]"/>
                          <m:ctrlPr>
                            <a:rPr lang="en-US" sz="2400" i="1">
                              <a:latin typeface="Cambria Math" panose="02040503050406030204" pitchFamily="18" charset="0"/>
                            </a:rPr>
                          </m:ctrlPr>
                        </m:dPr>
                        <m:e>
                          <m:acc>
                            <m:accPr>
                              <m:chr m:val="̂"/>
                              <m:ctrlPr>
                                <a:rPr lang="en-US" sz="2400" i="1">
                                  <a:latin typeface="Cambria Math" panose="02040503050406030204" pitchFamily="18" charset="0"/>
                                </a:rPr>
                              </m:ctrlPr>
                            </m:accPr>
                            <m:e>
                              <m:r>
                                <a:rPr lang="en-US" sz="2400" i="1">
                                  <a:latin typeface="Cambria Math" panose="02040503050406030204" pitchFamily="18" charset="0"/>
                                </a:rPr>
                                <m:t>𝑝</m:t>
                              </m:r>
                            </m:e>
                          </m:acc>
                        </m:e>
                      </m:d>
                    </m:oMath>
                  </m:oMathPara>
                </a14:m>
                <a:endParaRPr lang="en-US" sz="2400"/>
              </a:p>
            </p:txBody>
          </p:sp>
        </mc:Choice>
        <mc:Fallback>
          <p:sp>
            <p:nvSpPr>
              <p:cNvPr id="6" name="TextBox 5">
                <a:extLst>
                  <a:ext uri="{FF2B5EF4-FFF2-40B4-BE49-F238E27FC236}">
                    <a16:creationId xmlns:a16="http://schemas.microsoft.com/office/drawing/2014/main" id="{C1417053-90FD-2E3B-2460-40777CB3894B}"/>
                  </a:ext>
                </a:extLst>
              </p:cNvPr>
              <p:cNvSpPr txBox="1">
                <a:spLocks noRot="1" noChangeAspect="1" noMove="1" noResize="1" noEditPoints="1" noAdjustHandles="1" noChangeArrowheads="1" noChangeShapeType="1" noTextEdit="1"/>
              </p:cNvSpPr>
              <p:nvPr/>
            </p:nvSpPr>
            <p:spPr>
              <a:xfrm>
                <a:off x="347514" y="5675499"/>
                <a:ext cx="1276927" cy="461665"/>
              </a:xfrm>
              <a:prstGeom prst="rect">
                <a:avLst/>
              </a:prstGeom>
              <a:blipFill>
                <a:blip r:embed="rId6"/>
                <a:stretch>
                  <a:fillRect t="-3947" b="-1052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2D2C8312-4E25-8641-8D0C-4DC9A4B63761}"/>
                  </a:ext>
                </a:extLst>
              </p:cNvPr>
              <p:cNvSpPr txBox="1"/>
              <p:nvPr/>
            </p:nvSpPr>
            <p:spPr>
              <a:xfrm>
                <a:off x="1231895" y="5449218"/>
                <a:ext cx="1276927" cy="91422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r>
                        <a:rPr lang="en-US" sz="2400" i="1">
                          <a:latin typeface="Cambria Math" panose="02040503050406030204" pitchFamily="18" charset="0"/>
                        </a:rPr>
                        <m:t>𝔼</m:t>
                      </m:r>
                      <m:d>
                        <m:dPr>
                          <m:begChr m:val="["/>
                          <m:endChr m:val="]"/>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𝑋</m:t>
                              </m:r>
                            </m:num>
                            <m:den>
                              <m:r>
                                <a:rPr lang="en-US" sz="2400" b="0" i="1" smtClean="0">
                                  <a:latin typeface="Cambria Math" panose="02040503050406030204" pitchFamily="18" charset="0"/>
                                </a:rPr>
                                <m:t>𝑛</m:t>
                              </m:r>
                            </m:den>
                          </m:f>
                        </m:e>
                      </m:d>
                    </m:oMath>
                  </m:oMathPara>
                </a14:m>
                <a:endParaRPr lang="en-US" sz="2400"/>
              </a:p>
            </p:txBody>
          </p:sp>
        </mc:Choice>
        <mc:Fallback>
          <p:sp>
            <p:nvSpPr>
              <p:cNvPr id="7" name="TextBox 6">
                <a:extLst>
                  <a:ext uri="{FF2B5EF4-FFF2-40B4-BE49-F238E27FC236}">
                    <a16:creationId xmlns:a16="http://schemas.microsoft.com/office/drawing/2014/main" id="{2D2C8312-4E25-8641-8D0C-4DC9A4B63761}"/>
                  </a:ext>
                </a:extLst>
              </p:cNvPr>
              <p:cNvSpPr txBox="1">
                <a:spLocks noRot="1" noChangeAspect="1" noMove="1" noResize="1" noEditPoints="1" noAdjustHandles="1" noChangeArrowheads="1" noChangeShapeType="1" noTextEdit="1"/>
              </p:cNvSpPr>
              <p:nvPr/>
            </p:nvSpPr>
            <p:spPr>
              <a:xfrm>
                <a:off x="1231895" y="5449218"/>
                <a:ext cx="1276927" cy="91422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461BA43F-547A-729D-837C-596695E3C463}"/>
                  </a:ext>
                </a:extLst>
              </p:cNvPr>
              <p:cNvSpPr txBox="1"/>
              <p:nvPr/>
            </p:nvSpPr>
            <p:spPr>
              <a:xfrm>
                <a:off x="2415165" y="5513209"/>
                <a:ext cx="1276927" cy="7862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𝑛</m:t>
                          </m:r>
                        </m:den>
                      </m:f>
                      <m:r>
                        <a:rPr lang="en-US" sz="2400" i="1">
                          <a:latin typeface="Cambria Math" panose="02040503050406030204" pitchFamily="18" charset="0"/>
                        </a:rPr>
                        <m:t>𝔼</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e>
                      </m:d>
                    </m:oMath>
                  </m:oMathPara>
                </a14:m>
                <a:endParaRPr lang="en-US" sz="2400"/>
              </a:p>
            </p:txBody>
          </p:sp>
        </mc:Choice>
        <mc:Fallback>
          <p:sp>
            <p:nvSpPr>
              <p:cNvPr id="8" name="TextBox 7">
                <a:extLst>
                  <a:ext uri="{FF2B5EF4-FFF2-40B4-BE49-F238E27FC236}">
                    <a16:creationId xmlns:a16="http://schemas.microsoft.com/office/drawing/2014/main" id="{461BA43F-547A-729D-837C-596695E3C463}"/>
                  </a:ext>
                </a:extLst>
              </p:cNvPr>
              <p:cNvSpPr txBox="1">
                <a:spLocks noRot="1" noChangeAspect="1" noMove="1" noResize="1" noEditPoints="1" noAdjustHandles="1" noChangeArrowheads="1" noChangeShapeType="1" noTextEdit="1"/>
              </p:cNvSpPr>
              <p:nvPr/>
            </p:nvSpPr>
            <p:spPr>
              <a:xfrm>
                <a:off x="2415165" y="5513209"/>
                <a:ext cx="1276927" cy="786241"/>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532E0494-C803-2236-717E-E36B0138DCA5}"/>
                  </a:ext>
                </a:extLst>
              </p:cNvPr>
              <p:cNvSpPr txBox="1"/>
              <p:nvPr/>
            </p:nvSpPr>
            <p:spPr>
              <a:xfrm>
                <a:off x="3415002" y="5578861"/>
                <a:ext cx="1276927" cy="72487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𝑝𝑛</m:t>
                          </m:r>
                        </m:num>
                        <m:den>
                          <m:r>
                            <a:rPr lang="en-US" sz="2400" b="0" i="1" smtClean="0">
                              <a:latin typeface="Cambria Math" panose="02040503050406030204" pitchFamily="18" charset="0"/>
                            </a:rPr>
                            <m:t>𝑛</m:t>
                          </m:r>
                        </m:den>
                      </m:f>
                    </m:oMath>
                  </m:oMathPara>
                </a14:m>
                <a:endParaRPr lang="en-US" sz="2400"/>
              </a:p>
            </p:txBody>
          </p:sp>
        </mc:Choice>
        <mc:Fallback>
          <p:sp>
            <p:nvSpPr>
              <p:cNvPr id="9" name="TextBox 8">
                <a:extLst>
                  <a:ext uri="{FF2B5EF4-FFF2-40B4-BE49-F238E27FC236}">
                    <a16:creationId xmlns:a16="http://schemas.microsoft.com/office/drawing/2014/main" id="{532E0494-C803-2236-717E-E36B0138DCA5}"/>
                  </a:ext>
                </a:extLst>
              </p:cNvPr>
              <p:cNvSpPr txBox="1">
                <a:spLocks noRot="1" noChangeAspect="1" noMove="1" noResize="1" noEditPoints="1" noAdjustHandles="1" noChangeArrowheads="1" noChangeShapeType="1" noTextEdit="1"/>
              </p:cNvSpPr>
              <p:nvPr/>
            </p:nvSpPr>
            <p:spPr>
              <a:xfrm>
                <a:off x="3415002" y="5578861"/>
                <a:ext cx="1276927" cy="724878"/>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3F01E9FE-B9E8-D8C4-77CA-0CE0B359F485}"/>
                  </a:ext>
                </a:extLst>
              </p:cNvPr>
              <p:cNvSpPr txBox="1"/>
              <p:nvPr/>
            </p:nvSpPr>
            <p:spPr>
              <a:xfrm>
                <a:off x="4147122" y="5710467"/>
                <a:ext cx="127692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rPr>
                        <m:t>𝑝</m:t>
                      </m:r>
                    </m:oMath>
                  </m:oMathPara>
                </a14:m>
                <a:endParaRPr lang="en-US" sz="2400"/>
              </a:p>
            </p:txBody>
          </p:sp>
        </mc:Choice>
        <mc:Fallback>
          <p:sp>
            <p:nvSpPr>
              <p:cNvPr id="10" name="TextBox 9">
                <a:extLst>
                  <a:ext uri="{FF2B5EF4-FFF2-40B4-BE49-F238E27FC236}">
                    <a16:creationId xmlns:a16="http://schemas.microsoft.com/office/drawing/2014/main" id="{3F01E9FE-B9E8-D8C4-77CA-0CE0B359F485}"/>
                  </a:ext>
                </a:extLst>
              </p:cNvPr>
              <p:cNvSpPr txBox="1">
                <a:spLocks noRot="1" noChangeAspect="1" noMove="1" noResize="1" noEditPoints="1" noAdjustHandles="1" noChangeArrowheads="1" noChangeShapeType="1" noTextEdit="1"/>
              </p:cNvSpPr>
              <p:nvPr/>
            </p:nvSpPr>
            <p:spPr>
              <a:xfrm>
                <a:off x="4147122" y="5710467"/>
                <a:ext cx="1276927" cy="461665"/>
              </a:xfrm>
              <a:prstGeom prst="rect">
                <a:avLst/>
              </a:prstGeom>
              <a:blipFill>
                <a:blip r:embed="rId10"/>
                <a:stretch>
                  <a:fillRect b="-10667"/>
                </a:stretch>
              </a:blipFill>
            </p:spPr>
            <p:txBody>
              <a:bodyPr/>
              <a:lstStyle/>
              <a:p>
                <a:r>
                  <a:rPr lang="en-US">
                    <a:noFill/>
                  </a:rPr>
                  <a:t> </a:t>
                </a:r>
              </a:p>
            </p:txBody>
          </p:sp>
        </mc:Fallback>
      </mc:AlternateContent>
    </p:spTree>
    <p:extLst>
      <p:ext uri="{BB962C8B-B14F-4D97-AF65-F5344CB8AC3E}">
        <p14:creationId xmlns:p14="http://schemas.microsoft.com/office/powerpoint/2010/main" val="3388428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46756-B96E-F02B-9C88-10C2D1B835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F97819-E39D-11D7-CE5E-F43AB74F90A2}"/>
              </a:ext>
            </a:extLst>
          </p:cNvPr>
          <p:cNvSpPr>
            <a:spLocks noGrp="1"/>
          </p:cNvSpPr>
          <p:nvPr>
            <p:ph type="ctrTitle"/>
          </p:nvPr>
        </p:nvSpPr>
        <p:spPr/>
        <p:txBody>
          <a:bodyPr>
            <a:normAutofit fontScale="90000"/>
          </a:bodyPr>
          <a:lstStyle/>
          <a:p>
            <a:r>
              <a:rPr lang="en-US"/>
              <a:t>The Chebyshev Bound for Estimating the Fairness of a Coin</a:t>
            </a:r>
          </a:p>
        </p:txBody>
      </p:sp>
      <p:sp>
        <p:nvSpPr>
          <p:cNvPr id="3" name="Subtitle 2">
            <a:extLst>
              <a:ext uri="{FF2B5EF4-FFF2-40B4-BE49-F238E27FC236}">
                <a16:creationId xmlns:a16="http://schemas.microsoft.com/office/drawing/2014/main" id="{D841E81E-7C83-9A27-7D78-313095EC1C20}"/>
              </a:ext>
            </a:extLst>
          </p:cNvPr>
          <p:cNvSpPr>
            <a:spLocks noGrp="1"/>
          </p:cNvSpPr>
          <p:nvPr>
            <p:ph type="subTitle" idx="1"/>
          </p:nvPr>
        </p:nvSpPr>
        <p:spPr/>
        <p:txBody>
          <a:bodyPr/>
          <a:lstStyle/>
          <a:p>
            <a:r>
              <a:rPr lang="en-US"/>
              <a:t>Lecture 22, CS70 Fall 2025</a:t>
            </a:r>
          </a:p>
        </p:txBody>
      </p:sp>
      <p:sp>
        <p:nvSpPr>
          <p:cNvPr id="6" name="Content Placeholder 5">
            <a:extLst>
              <a:ext uri="{FF2B5EF4-FFF2-40B4-BE49-F238E27FC236}">
                <a16:creationId xmlns:a16="http://schemas.microsoft.com/office/drawing/2014/main" id="{58675BD5-B68E-DDC3-81D0-8B0C401F4846}"/>
              </a:ext>
            </a:extLst>
          </p:cNvPr>
          <p:cNvSpPr>
            <a:spLocks noGrp="1"/>
          </p:cNvSpPr>
          <p:nvPr>
            <p:ph sz="quarter" idx="10"/>
          </p:nvPr>
        </p:nvSpPr>
        <p:spPr/>
        <p:txBody>
          <a:bodyPr/>
          <a:lstStyle/>
          <a:p>
            <a:endParaRPr lang="en-US">
              <a:solidFill>
                <a:schemeClr val="bg1">
                  <a:lumMod val="65000"/>
                </a:schemeClr>
              </a:solidFill>
            </a:endParaRPr>
          </a:p>
          <a:p>
            <a:endParaRPr lang="en-US" b="1">
              <a:solidFill>
                <a:schemeClr val="accent3"/>
              </a:solidFill>
              <a:latin typeface="Inter" panose="02000503000000020004" pitchFamily="2" charset="0"/>
              <a:ea typeface="Inter" panose="02000503000000020004" pitchFamily="2" charset="0"/>
              <a:cs typeface="Inter" panose="02000503000000020004" pitchFamily="2" charset="0"/>
            </a:endParaRPr>
          </a:p>
        </p:txBody>
      </p:sp>
      <p:sp>
        <p:nvSpPr>
          <p:cNvPr id="4" name="Content Placeholder 5">
            <a:extLst>
              <a:ext uri="{FF2B5EF4-FFF2-40B4-BE49-F238E27FC236}">
                <a16:creationId xmlns:a16="http://schemas.microsoft.com/office/drawing/2014/main" id="{1C7E5CBE-2F49-E3DE-9E69-08F231595166}"/>
              </a:ext>
            </a:extLst>
          </p:cNvPr>
          <p:cNvSpPr txBox="1">
            <a:spLocks/>
          </p:cNvSpPr>
          <p:nvPr/>
        </p:nvSpPr>
        <p:spPr>
          <a:xfrm>
            <a:off x="6248400" y="217487"/>
            <a:ext cx="6096000" cy="6716713"/>
          </a:xfrm>
          <a:prstGeom prst="rect">
            <a:avLst/>
          </a:prstGeom>
        </p:spPr>
        <p:txBody>
          <a:bodyPr anchor="ctr">
            <a:normAutofit/>
          </a:bodyPr>
          <a:lstStyle>
            <a:lvl1pPr marL="0" indent="0" algn="l" defTabSz="914377" rtl="0" eaLnBrk="1" latinLnBrk="0" hangingPunct="1">
              <a:lnSpc>
                <a:spcPct val="110000"/>
              </a:lnSpc>
              <a:spcBef>
                <a:spcPts val="1000"/>
              </a:spcBef>
              <a:buFont typeface="Arial" panose="020B0604020202020204" pitchFamily="34" charset="0"/>
              <a:buNone/>
              <a:defRPr sz="2400" b="0" i="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1pPr>
            <a:lvl2pPr marL="685783" indent="-228594" algn="l" defTabSz="914377" rtl="0" eaLnBrk="1" latinLnBrk="0" hangingPunct="1">
              <a:lnSpc>
                <a:spcPct val="90000"/>
              </a:lnSpc>
              <a:spcBef>
                <a:spcPts val="500"/>
              </a:spcBef>
              <a:buSzPct val="125000"/>
              <a:buFont typeface="Arial" panose="020B0604020202020204" pitchFamily="34" charset="0"/>
              <a:buChar char="•"/>
              <a:defRPr sz="2400" b="0" i="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2pPr>
            <a:lvl3pPr marL="1142971" indent="-228594" algn="l" defTabSz="914377" rtl="0" eaLnBrk="1" latinLnBrk="0" hangingPunct="1">
              <a:lnSpc>
                <a:spcPct val="90000"/>
              </a:lnSpc>
              <a:spcBef>
                <a:spcPts val="500"/>
              </a:spcBef>
              <a:buFont typeface="Courier New" panose="02070309020205020404" pitchFamily="49" charset="0"/>
              <a:buChar char="o"/>
              <a:defRPr sz="2400" b="0" i="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3pPr>
            <a:lvl4pPr marL="1600160" indent="-228594" algn="l" defTabSz="914377" rtl="0" eaLnBrk="1" latinLnBrk="0" hangingPunct="1">
              <a:lnSpc>
                <a:spcPct val="90000"/>
              </a:lnSpc>
              <a:spcBef>
                <a:spcPts val="500"/>
              </a:spcBef>
              <a:buFont typeface="Wingdings" pitchFamily="2" charset="2"/>
              <a:buChar char="§"/>
              <a:defRPr sz="2400" b="0" i="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4pPr>
            <a:lvl5pPr marL="2057349" indent="-228594" algn="l" defTabSz="914377" rtl="0" eaLnBrk="1" latinLnBrk="0" hangingPunct="1">
              <a:lnSpc>
                <a:spcPct val="90000"/>
              </a:lnSpc>
              <a:spcBef>
                <a:spcPts val="500"/>
              </a:spcBef>
              <a:buFont typeface="Arial" panose="020B0604020202020204" pitchFamily="34" charset="0"/>
              <a:buChar char="•"/>
              <a:defRPr sz="2400" b="0" i="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chemeClr val="bg1">
                    <a:lumMod val="65000"/>
                  </a:schemeClr>
                </a:solidFill>
              </a:rPr>
              <a:t>Estimating p for </a:t>
            </a:r>
            <a:r>
              <a:rPr lang="en-US" err="1">
                <a:solidFill>
                  <a:schemeClr val="bg1">
                    <a:lumMod val="65000"/>
                  </a:schemeClr>
                </a:solidFill>
              </a:rPr>
              <a:t>X~Bernoulli</a:t>
            </a:r>
            <a:r>
              <a:rPr lang="en-US">
                <a:solidFill>
                  <a:schemeClr val="bg1">
                    <a:lumMod val="65000"/>
                  </a:schemeClr>
                </a:solidFill>
              </a:rPr>
              <a:t>(p)</a:t>
            </a:r>
          </a:p>
          <a:p>
            <a:r>
              <a:rPr lang="en-US">
                <a:solidFill>
                  <a:schemeClr val="bg1">
                    <a:lumMod val="65000"/>
                  </a:schemeClr>
                </a:solidFill>
              </a:rPr>
              <a:t>Markov’s Inequality</a:t>
            </a:r>
          </a:p>
          <a:p>
            <a:r>
              <a:rPr lang="en-US">
                <a:solidFill>
                  <a:schemeClr val="bg1">
                    <a:lumMod val="65000"/>
                  </a:schemeClr>
                </a:solidFill>
              </a:rPr>
              <a:t>Chebyshev’s Inequality</a:t>
            </a:r>
          </a:p>
          <a:p>
            <a:r>
              <a:rPr lang="en-US">
                <a:solidFill>
                  <a:schemeClr val="tx2"/>
                </a:solidFill>
                <a:latin typeface="Inter" panose="02000503000000020004" pitchFamily="2" charset="0"/>
                <a:ea typeface="Inter" panose="02000503000000020004" pitchFamily="2" charset="0"/>
                <a:cs typeface="Inter" panose="02000503000000020004" pitchFamily="2" charset="0"/>
              </a:rPr>
              <a:t>The Chebyshev Bound for Number of Heads</a:t>
            </a:r>
          </a:p>
          <a:p>
            <a:r>
              <a:rPr lang="en-US" b="1">
                <a:solidFill>
                  <a:schemeClr val="accent3"/>
                </a:solidFill>
              </a:rPr>
              <a:t>The Chebyshev Bound for Estimating the Fairness of a Coin</a:t>
            </a:r>
            <a:endParaRPr lang="en-US" b="1">
              <a:solidFill>
                <a:schemeClr val="accent3"/>
              </a:solidFill>
              <a:latin typeface="Inter" panose="02000503000000020004" pitchFamily="2" charset="0"/>
              <a:ea typeface="Inter" panose="02000503000000020004" pitchFamily="2" charset="0"/>
              <a:cs typeface="Inter" panose="02000503000000020004" pitchFamily="2" charset="0"/>
            </a:endParaRPr>
          </a:p>
          <a:p>
            <a:r>
              <a:rPr lang="en-US">
                <a:solidFill>
                  <a:schemeClr val="bg1">
                    <a:lumMod val="65000"/>
                  </a:schemeClr>
                </a:solidFill>
              </a:rPr>
              <a:t>Weak Law of Large Numbers</a:t>
            </a:r>
          </a:p>
          <a:p>
            <a:r>
              <a:rPr lang="en-US">
                <a:solidFill>
                  <a:schemeClr val="bg1">
                    <a:lumMod val="65000"/>
                  </a:schemeClr>
                </a:solidFill>
              </a:rPr>
              <a:t>Bounds Beyond CS70</a:t>
            </a:r>
          </a:p>
        </p:txBody>
      </p:sp>
    </p:spTree>
    <p:extLst>
      <p:ext uri="{BB962C8B-B14F-4D97-AF65-F5344CB8AC3E}">
        <p14:creationId xmlns:p14="http://schemas.microsoft.com/office/powerpoint/2010/main" val="29745429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9058D4A-704E-748B-2914-74F3D50E880D}"/>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53743C7C-30EC-9DC8-E2D5-467ACF8BD94A}"/>
                  </a:ext>
                </a:extLst>
              </p:cNvPr>
              <p:cNvSpPr>
                <a:spLocks noGrp="1"/>
              </p:cNvSpPr>
              <p:nvPr>
                <p:ph type="title"/>
              </p:nvPr>
            </p:nvSpPr>
            <p:spPr/>
            <p:txBody>
              <a:bodyPr/>
              <a:lstStyle/>
              <a:p>
                <a:r>
                  <a:rPr lang="en-US"/>
                  <a:t>Back to Estimating </a:t>
                </a:r>
                <a14:m>
                  <m:oMath xmlns:m="http://schemas.openxmlformats.org/officeDocument/2006/math">
                    <m:r>
                      <a:rPr lang="en-US" b="0" i="1" smtClean="0">
                        <a:latin typeface="Cambria Math" panose="02040503050406030204" pitchFamily="18" charset="0"/>
                      </a:rPr>
                      <m:t>𝑝</m:t>
                    </m:r>
                  </m:oMath>
                </a14:m>
                <a:r>
                  <a:rPr lang="en-US"/>
                  <a:t> for a Coin</a:t>
                </a:r>
              </a:p>
            </p:txBody>
          </p:sp>
        </mc:Choice>
        <mc:Fallback>
          <p:sp>
            <p:nvSpPr>
              <p:cNvPr id="2" name="Title 1">
                <a:extLst>
                  <a:ext uri="{FF2B5EF4-FFF2-40B4-BE49-F238E27FC236}">
                    <a16:creationId xmlns:a16="http://schemas.microsoft.com/office/drawing/2014/main" id="{53743C7C-30EC-9DC8-E2D5-467ACF8BD94A}"/>
                  </a:ext>
                </a:extLst>
              </p:cNvPr>
              <p:cNvSpPr>
                <a:spLocks noGrp="1" noRot="1" noChangeAspect="1" noMove="1" noResize="1" noEditPoints="1" noAdjustHandles="1" noChangeArrowheads="1" noChangeShapeType="1" noTextEdit="1"/>
              </p:cNvSpPr>
              <p:nvPr>
                <p:ph type="title"/>
              </p:nvPr>
            </p:nvSpPr>
            <p:spPr>
              <a:blipFill>
                <a:blip r:embed="rId2"/>
                <a:stretch>
                  <a:fillRect l="-870" t="-14667" b="-2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20B77AE-2A30-BED3-744A-5F7B533012F0}"/>
                  </a:ext>
                </a:extLst>
              </p:cNvPr>
              <p:cNvSpPr>
                <a:spLocks noGrp="1"/>
              </p:cNvSpPr>
              <p:nvPr>
                <p:ph idx="1"/>
              </p:nvPr>
            </p:nvSpPr>
            <p:spPr/>
            <p:txBody>
              <a:bodyPr/>
              <a:lstStyle/>
              <a:p>
                <a:r>
                  <a:rPr lang="en-US"/>
                  <a:t>Let’s go back to where started today</a:t>
                </a:r>
              </a:p>
              <a:p>
                <a:pPr marL="342900" indent="-342900">
                  <a:buFont typeface="Arial" panose="020B0604020202020204" pitchFamily="34" charset="0"/>
                  <a:buChar char="•"/>
                </a:pPr>
                <a:r>
                  <a:rPr lang="en-US"/>
                  <a:t>Suppose we want to create an estimate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a:t> for the true heads probability </a:t>
                </a:r>
                <a14:m>
                  <m:oMath xmlns:m="http://schemas.openxmlformats.org/officeDocument/2006/math">
                    <m:r>
                      <a:rPr lang="en-US" i="1" dirty="0">
                        <a:latin typeface="Cambria Math" panose="02040503050406030204" pitchFamily="18" charset="0"/>
                      </a:rPr>
                      <m:t>𝑝</m:t>
                    </m:r>
                  </m:oMath>
                </a14:m>
                <a:r>
                  <a:rPr lang="en-US"/>
                  <a:t>.</a:t>
                </a:r>
              </a:p>
              <a:p>
                <a:pPr marL="342900" indent="-342900">
                  <a:buFont typeface="Arial" panose="020B0604020202020204" pitchFamily="34" charset="0"/>
                  <a:buChar char="•"/>
                </a:pPr>
                <a:r>
                  <a:rPr lang="en-US"/>
                  <a:t>How many times do we need to flip the coin so that we the chance </a:t>
                </a:r>
                <a14:m>
                  <m:oMath xmlns:m="http://schemas.openxmlformats.org/officeDocument/2006/math">
                    <m:r>
                      <a:rPr lang="en-US" i="1">
                        <a:latin typeface="Cambria Math" panose="02040503050406030204" pitchFamily="18" charset="0"/>
                      </a:rPr>
                      <m:t>𝐶</m:t>
                    </m:r>
                  </m:oMath>
                </a14:m>
                <a:r>
                  <a:rPr lang="en-US"/>
                  <a:t> of being within </a:t>
                </a:r>
                <a14:m>
                  <m:oMath xmlns:m="http://schemas.openxmlformats.org/officeDocument/2006/math">
                    <m:r>
                      <a:rPr lang="en-US" i="1">
                        <a:latin typeface="Cambria Math" panose="02040503050406030204" pitchFamily="18" charset="0"/>
                      </a:rPr>
                      <m:t>𝜖</m:t>
                    </m:r>
                  </m:oMath>
                </a14:m>
                <a:r>
                  <a:rPr lang="en-US"/>
                  <a:t> of the true p</a:t>
                </a:r>
              </a:p>
              <a:p>
                <a:endParaRPr lang="en-US"/>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i="1">
                                  <a:latin typeface="Cambria Math" panose="02040503050406030204" pitchFamily="18" charset="0"/>
                                </a:rPr>
                                <m:t>−</m:t>
                              </m:r>
                              <m:r>
                                <a:rPr lang="en-US" i="1">
                                  <a:latin typeface="Cambria Math" panose="02040503050406030204" pitchFamily="18" charset="0"/>
                                </a:rPr>
                                <m:t>𝑝</m:t>
                              </m:r>
                            </m:e>
                          </m:d>
                          <m:r>
                            <a:rPr lang="en-US" i="1">
                              <a:latin typeface="Cambria Math" panose="02040503050406030204" pitchFamily="18" charset="0"/>
                            </a:rPr>
                            <m:t>≥</m:t>
                          </m:r>
                          <m:r>
                            <a:rPr lang="en-US" i="1">
                              <a:latin typeface="Cambria Math" panose="02040503050406030204" pitchFamily="18" charset="0"/>
                            </a:rPr>
                            <m:t>𝜖</m:t>
                          </m:r>
                        </m:e>
                      </m:d>
                      <m:r>
                        <a:rPr lang="en-US" b="0" i="0" smtClean="0">
                          <a:latin typeface="Cambria Math" panose="02040503050406030204" pitchFamily="18" charset="0"/>
                        </a:rPr>
                        <m:t>≥</m:t>
                      </m:r>
                      <m:r>
                        <a:rPr lang="en-US" b="0" i="1" smtClean="0">
                          <a:latin typeface="Cambria Math" panose="02040503050406030204" pitchFamily="18" charset="0"/>
                        </a:rPr>
                        <m:t>𝐶</m:t>
                      </m:r>
                    </m:oMath>
                  </m:oMathPara>
                </a14:m>
                <a:endParaRPr lang="en-US"/>
              </a:p>
              <a:p>
                <a:endParaRPr lang="en-US"/>
              </a:p>
            </p:txBody>
          </p:sp>
        </mc:Choice>
        <mc:Fallback>
          <p:sp>
            <p:nvSpPr>
              <p:cNvPr id="3" name="Content Placeholder 2">
                <a:extLst>
                  <a:ext uri="{FF2B5EF4-FFF2-40B4-BE49-F238E27FC236}">
                    <a16:creationId xmlns:a16="http://schemas.microsoft.com/office/drawing/2014/main" id="{820B77AE-2A30-BED3-744A-5F7B533012F0}"/>
                  </a:ext>
                </a:extLst>
              </p:cNvPr>
              <p:cNvSpPr>
                <a:spLocks noGrp="1" noRot="1" noChangeAspect="1" noMove="1" noResize="1" noEditPoints="1" noAdjustHandles="1" noChangeArrowheads="1" noChangeShapeType="1" noTextEdit="1"/>
              </p:cNvSpPr>
              <p:nvPr>
                <p:ph idx="1"/>
              </p:nvPr>
            </p:nvSpPr>
            <p:spPr>
              <a:blipFill>
                <a:blip r:embed="rId3"/>
                <a:stretch>
                  <a:fillRect l="-796" t="-541" r="-1379"/>
                </a:stretch>
              </a:blipFill>
            </p:spPr>
            <p:txBody>
              <a:bodyPr/>
              <a:lstStyle/>
              <a:p>
                <a:r>
                  <a:rPr lang="en-US">
                    <a:noFill/>
                  </a:rPr>
                  <a:t> </a:t>
                </a:r>
              </a:p>
            </p:txBody>
          </p:sp>
        </mc:Fallback>
      </mc:AlternateContent>
    </p:spTree>
    <p:extLst>
      <p:ext uri="{BB962C8B-B14F-4D97-AF65-F5344CB8AC3E}">
        <p14:creationId xmlns:p14="http://schemas.microsoft.com/office/powerpoint/2010/main" val="2173533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0215B-BE0D-6A26-DD2F-45F8E4648623}"/>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21D3D9D4-68C4-866A-540F-C3D5ECAA4AF7}"/>
                  </a:ext>
                </a:extLst>
              </p:cNvPr>
              <p:cNvSpPr>
                <a:spLocks noGrp="1"/>
              </p:cNvSpPr>
              <p:nvPr>
                <p:ph type="title"/>
              </p:nvPr>
            </p:nvSpPr>
            <p:spPr/>
            <p:txBody>
              <a:bodyPr/>
              <a:lstStyle/>
              <a:p>
                <a:r>
                  <a:rPr lang="en-US"/>
                  <a:t>Back to Where We Started: Estimating </a:t>
                </a:r>
                <a14:m>
                  <m:oMath xmlns:m="http://schemas.openxmlformats.org/officeDocument/2006/math">
                    <m:r>
                      <a:rPr lang="en-US" b="0" i="1" smtClean="0">
                        <a:latin typeface="Cambria Math" panose="02040503050406030204" pitchFamily="18" charset="0"/>
                      </a:rPr>
                      <m:t>𝑝</m:t>
                    </m:r>
                  </m:oMath>
                </a14:m>
                <a:r>
                  <a:rPr lang="en-US"/>
                  <a:t> for a Coin</a:t>
                </a:r>
              </a:p>
            </p:txBody>
          </p:sp>
        </mc:Choice>
        <mc:Fallback>
          <p:sp>
            <p:nvSpPr>
              <p:cNvPr id="2" name="Title 1">
                <a:extLst>
                  <a:ext uri="{FF2B5EF4-FFF2-40B4-BE49-F238E27FC236}">
                    <a16:creationId xmlns:a16="http://schemas.microsoft.com/office/drawing/2014/main" id="{21D3D9D4-68C4-866A-540F-C3D5ECAA4AF7}"/>
                  </a:ext>
                </a:extLst>
              </p:cNvPr>
              <p:cNvSpPr>
                <a:spLocks noGrp="1" noRot="1" noChangeAspect="1" noMove="1" noResize="1" noEditPoints="1" noAdjustHandles="1" noChangeArrowheads="1" noChangeShapeType="1" noTextEdit="1"/>
              </p:cNvSpPr>
              <p:nvPr>
                <p:ph type="title"/>
              </p:nvPr>
            </p:nvSpPr>
            <p:spPr>
              <a:blipFill>
                <a:blip r:embed="rId2"/>
                <a:stretch>
                  <a:fillRect l="-870" t="-14667" b="-2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0785D4E-4CBF-71F8-C758-C39451A1F217}"/>
                  </a:ext>
                </a:extLst>
              </p:cNvPr>
              <p:cNvSpPr>
                <a:spLocks noGrp="1"/>
              </p:cNvSpPr>
              <p:nvPr>
                <p:ph idx="1"/>
              </p:nvPr>
            </p:nvSpPr>
            <p:spPr>
              <a:xfrm>
                <a:off x="93658" y="533400"/>
                <a:ext cx="11132428" cy="5638732"/>
              </a:xfrm>
            </p:spPr>
            <p:txBody>
              <a:bodyPr/>
              <a:lstStyle/>
              <a:p>
                <a:r>
                  <a:rPr lang="en-US"/>
                  <a:t>We have a coin with unknown heads probability </a:t>
                </a:r>
                <a14:m>
                  <m:oMath xmlns:m="http://schemas.openxmlformats.org/officeDocument/2006/math">
                    <m:r>
                      <a:rPr lang="en-US" b="0" i="1" smtClean="0">
                        <a:latin typeface="Cambria Math" panose="02040503050406030204" pitchFamily="18" charset="0"/>
                      </a:rPr>
                      <m:t>𝑝</m:t>
                    </m:r>
                  </m:oMath>
                </a14:m>
                <a:r>
                  <a:rPr lang="en-US"/>
                  <a:t>. We estimate it by tossing a coin n times.</a:t>
                </a:r>
              </a:p>
              <a:p>
                <a:pPr marL="342900" indent="-34290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𝑋</m:t>
                    </m:r>
                  </m:oMath>
                </a14:m>
                <a:r>
                  <a:rPr lang="en-US"/>
                  <a:t> is the number of heads. </a:t>
                </a: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oMath>
                </a14:m>
                <a:r>
                  <a:rPr lang="en-US"/>
                  <a:t>.</a:t>
                </a:r>
              </a:p>
              <a:p>
                <a:pPr marL="342900" indent="-342900">
                  <a:lnSpc>
                    <a:spcPct val="120000"/>
                  </a:lnSpc>
                  <a:buFont typeface="Arial" panose="020B0604020202020204" pitchFamily="34" charset="0"/>
                  <a:buChar char="•"/>
                </a:pPr>
                <a:r>
                  <a:rPr lang="en-US"/>
                  <a:t>Our empirical mean is </a:t>
                </a:r>
              </a:p>
              <a:p>
                <a:endParaRPr lang="en-US"/>
              </a:p>
              <a:p>
                <a:r>
                  <a:rPr lang="en-US"/>
                  <a:t>Goal: How big does </a:t>
                </a:r>
                <a14:m>
                  <m:oMath xmlns:m="http://schemas.openxmlformats.org/officeDocument/2006/math">
                    <m:r>
                      <a:rPr lang="en-US" b="0" i="1" smtClean="0">
                        <a:latin typeface="Cambria Math" panose="02040503050406030204" pitchFamily="18" charset="0"/>
                      </a:rPr>
                      <m:t>𝑛</m:t>
                    </m:r>
                  </m:oMath>
                </a14:m>
                <a:r>
                  <a:rPr lang="en-US"/>
                  <a:t> need to be so that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acc>
                              <m:accPr>
                                <m:chr m:val="̂"/>
                                <m:ctrlPr>
                                  <a:rPr lang="en-US" i="1" smtClean="0">
                                    <a:latin typeface="Cambria Math" panose="02040503050406030204" pitchFamily="18" charset="0"/>
                                  </a:rPr>
                                </m:ctrlPr>
                              </m:accPr>
                              <m:e>
                                <m:r>
                                  <a:rPr lang="en-US" i="1">
                                    <a:latin typeface="Cambria Math" panose="02040503050406030204" pitchFamily="18" charset="0"/>
                                  </a:rPr>
                                  <m:t>𝑝</m:t>
                                </m:r>
                              </m:e>
                            </m:acc>
                            <m:r>
                              <a:rPr lang="en-US" i="1" smtClean="0">
                                <a:latin typeface="Cambria Math" panose="02040503050406030204" pitchFamily="18" charset="0"/>
                              </a:rPr>
                              <m:t>−</m:t>
                            </m:r>
                            <m:r>
                              <a:rPr lang="en-US" i="1" smtClean="0">
                                <a:latin typeface="Cambria Math" panose="02040503050406030204" pitchFamily="18" charset="0"/>
                              </a:rPr>
                              <m:t>𝑝</m:t>
                            </m:r>
                          </m:e>
                        </m:d>
                        <m:r>
                          <a:rPr lang="en-US" b="0" i="1" smtClean="0">
                            <a:latin typeface="Cambria Math" panose="02040503050406030204" pitchFamily="18" charset="0"/>
                          </a:rPr>
                          <m:t>≤</m:t>
                        </m:r>
                        <m:r>
                          <a:rPr lang="en-US" i="1">
                            <a:latin typeface="Cambria Math" panose="02040503050406030204" pitchFamily="18" charset="0"/>
                          </a:rPr>
                          <m:t>𝜖</m:t>
                        </m:r>
                      </m:e>
                    </m:d>
                    <m:r>
                      <a:rPr lang="en-US" b="0" i="0" smtClean="0">
                        <a:latin typeface="Cambria Math" panose="02040503050406030204" pitchFamily="18" charset="0"/>
                      </a:rPr>
                      <m:t>≥</m:t>
                    </m:r>
                    <m:r>
                      <m:rPr>
                        <m:sty m:val="p"/>
                      </m:rPr>
                      <a:rPr lang="en-US" b="0" i="0" smtClean="0">
                        <a:latin typeface="Cambria Math" panose="02040503050406030204" pitchFamily="18" charset="0"/>
                      </a:rPr>
                      <m:t>C</m:t>
                    </m:r>
                  </m:oMath>
                </a14:m>
                <a:r>
                  <a:rPr lang="en-US"/>
                  <a:t>?</a:t>
                </a:r>
              </a:p>
              <a:p>
                <a:pPr marL="342900" indent="-342900">
                  <a:buFont typeface="Arial" panose="020B0604020202020204" pitchFamily="34" charset="0"/>
                  <a:buChar char="•"/>
                </a:pPr>
                <a:r>
                  <a:rPr lang="en-US"/>
                  <a:t>In other words, how big does </a:t>
                </a:r>
                <a14:m>
                  <m:oMath xmlns:m="http://schemas.openxmlformats.org/officeDocument/2006/math">
                    <m:r>
                      <a:rPr lang="en-US" i="1">
                        <a:latin typeface="Cambria Math" panose="02040503050406030204" pitchFamily="18" charset="0"/>
                      </a:rPr>
                      <m:t>𝑛</m:t>
                    </m:r>
                  </m:oMath>
                </a14:m>
                <a:r>
                  <a:rPr lang="en-US"/>
                  <a:t> need to be so that we have at least a </a:t>
                </a:r>
                <a14:m>
                  <m:oMath xmlns:m="http://schemas.openxmlformats.org/officeDocument/2006/math">
                    <m:r>
                      <m:rPr>
                        <m:sty m:val="p"/>
                      </m:rPr>
                      <a:rPr lang="en-US">
                        <a:latin typeface="Cambria Math" panose="02040503050406030204" pitchFamily="18" charset="0"/>
                      </a:rPr>
                      <m:t>C</m:t>
                    </m:r>
                  </m:oMath>
                </a14:m>
                <a:r>
                  <a:rPr lang="en-US"/>
                  <a:t> chance of being within </a:t>
                </a:r>
                <a14:m>
                  <m:oMath xmlns:m="http://schemas.openxmlformats.org/officeDocument/2006/math">
                    <m:r>
                      <a:rPr lang="en-US" i="1">
                        <a:latin typeface="Cambria Math" panose="02040503050406030204" pitchFamily="18" charset="0"/>
                      </a:rPr>
                      <m:t>𝜖</m:t>
                    </m:r>
                  </m:oMath>
                </a14:m>
                <a:r>
                  <a:rPr lang="en-US"/>
                  <a:t> of the true </a:t>
                </a:r>
                <a14:m>
                  <m:oMath xmlns:m="http://schemas.openxmlformats.org/officeDocument/2006/math">
                    <m:r>
                      <a:rPr lang="en-US" i="1">
                        <a:latin typeface="Cambria Math" panose="02040503050406030204" pitchFamily="18" charset="0"/>
                      </a:rPr>
                      <m:t>𝑝</m:t>
                    </m:r>
                  </m:oMath>
                </a14:m>
                <a:r>
                  <a:rPr lang="en-US"/>
                  <a:t>?</a:t>
                </a:r>
              </a:p>
              <a:p>
                <a:pPr marL="342900" indent="-342900">
                  <a:buFont typeface="Arial" panose="020B0604020202020204" pitchFamily="34" charset="0"/>
                  <a:buChar char="•"/>
                </a:pPr>
                <a:endParaRPr lang="en-US"/>
              </a:p>
              <a:p>
                <a:r>
                  <a:rPr lang="en-US"/>
                  <a:t>Can reframe as finding </a:t>
                </a:r>
                <a14:m>
                  <m:oMath xmlns:m="http://schemas.openxmlformats.org/officeDocument/2006/math">
                    <m:r>
                      <a:rPr lang="en-US" i="1">
                        <a:latin typeface="Cambria Math" panose="02040503050406030204" pitchFamily="18" charset="0"/>
                      </a:rPr>
                      <m:t>𝑛</m:t>
                    </m:r>
                  </m:oMath>
                </a14:m>
                <a:r>
                  <a:rPr lang="en-US"/>
                  <a:t> such </a:t>
                </a:r>
                <a14:m>
                  <m:oMath xmlns:m="http://schemas.openxmlformats.org/officeDocument/2006/math">
                    <m:r>
                      <a:rPr lang="en-US" i="1" smtClean="0">
                        <a:solidFill>
                          <a:schemeClr val="accent2"/>
                        </a:solidFill>
                        <a:latin typeface="Cambria Math" panose="02040503050406030204" pitchFamily="18" charset="0"/>
                      </a:rPr>
                      <m:t>𝑃</m:t>
                    </m:r>
                    <m:d>
                      <m:dPr>
                        <m:ctrlPr>
                          <a:rPr lang="en-US" i="1">
                            <a:solidFill>
                              <a:schemeClr val="accent2"/>
                            </a:solidFill>
                            <a:latin typeface="Cambria Math" panose="02040503050406030204" pitchFamily="18" charset="0"/>
                          </a:rPr>
                        </m:ctrlPr>
                      </m:dPr>
                      <m:e>
                        <m:d>
                          <m:dPr>
                            <m:begChr m:val="|"/>
                            <m:endChr m:val="|"/>
                            <m:ctrlPr>
                              <a:rPr lang="en-US" i="1">
                                <a:solidFill>
                                  <a:schemeClr val="accent2"/>
                                </a:solidFill>
                                <a:latin typeface="Cambria Math" panose="02040503050406030204" pitchFamily="18" charset="0"/>
                              </a:rPr>
                            </m:ctrlPr>
                          </m:dPr>
                          <m:e>
                            <m:acc>
                              <m:accPr>
                                <m:chr m:val="̂"/>
                                <m:ctrlPr>
                                  <a:rPr lang="en-US" i="1">
                                    <a:solidFill>
                                      <a:schemeClr val="accent2"/>
                                    </a:solidFill>
                                    <a:latin typeface="Cambria Math" panose="02040503050406030204" pitchFamily="18" charset="0"/>
                                  </a:rPr>
                                </m:ctrlPr>
                              </m:accPr>
                              <m:e>
                                <m:r>
                                  <a:rPr lang="en-US" i="1">
                                    <a:solidFill>
                                      <a:schemeClr val="accent2"/>
                                    </a:solidFill>
                                    <a:latin typeface="Cambria Math" panose="02040503050406030204" pitchFamily="18" charset="0"/>
                                  </a:rPr>
                                  <m:t>𝑝</m:t>
                                </m:r>
                              </m:e>
                            </m:acc>
                            <m:r>
                              <a:rPr lang="en-US" i="1">
                                <a:solidFill>
                                  <a:schemeClr val="accent2"/>
                                </a:solidFill>
                                <a:latin typeface="Cambria Math" panose="02040503050406030204" pitchFamily="18" charset="0"/>
                              </a:rPr>
                              <m:t>−</m:t>
                            </m:r>
                            <m:r>
                              <a:rPr lang="en-US" i="1">
                                <a:solidFill>
                                  <a:schemeClr val="accent2"/>
                                </a:solidFill>
                                <a:latin typeface="Cambria Math" panose="02040503050406030204" pitchFamily="18" charset="0"/>
                              </a:rPr>
                              <m:t>𝑝</m:t>
                            </m:r>
                          </m:e>
                        </m:d>
                        <m:r>
                          <a:rPr lang="en-US" i="1">
                            <a:solidFill>
                              <a:schemeClr val="accent2"/>
                            </a:solidFill>
                            <a:latin typeface="Cambria Math" panose="02040503050406030204" pitchFamily="18" charset="0"/>
                          </a:rPr>
                          <m:t>≥</m:t>
                        </m:r>
                        <m:r>
                          <a:rPr lang="en-US" i="1">
                            <a:solidFill>
                              <a:schemeClr val="accent2"/>
                            </a:solidFill>
                            <a:latin typeface="Cambria Math" panose="02040503050406030204" pitchFamily="18" charset="0"/>
                          </a:rPr>
                          <m:t>𝜖</m:t>
                        </m:r>
                      </m:e>
                    </m:d>
                  </m:oMath>
                </a14:m>
                <a:r>
                  <a:rPr lang="en-US">
                    <a:solidFill>
                      <a:schemeClr val="accent2"/>
                    </a:solidFill>
                  </a:rPr>
                  <a:t> </a:t>
                </a:r>
                <a14:m>
                  <m:oMath xmlns:m="http://schemas.openxmlformats.org/officeDocument/2006/math">
                    <m:r>
                      <a:rPr lang="en-US">
                        <a:latin typeface="Cambria Math" panose="02040503050406030204" pitchFamily="18" charset="0"/>
                      </a:rPr>
                      <m:t>≤</m:t>
                    </m:r>
                    <m:r>
                      <a:rPr lang="en-US" i="1">
                        <a:latin typeface="Cambria Math" panose="02040503050406030204" pitchFamily="18" charset="0"/>
                      </a:rPr>
                      <m:t>𝛿</m:t>
                    </m:r>
                  </m:oMath>
                </a14:m>
                <a:endParaRPr lang="en-US"/>
              </a:p>
              <a:p>
                <a:pPr marL="342900" indent="-342900">
                  <a:buFont typeface="Arial" panose="020B0604020202020204" pitchFamily="34" charset="0"/>
                  <a:buChar char="•"/>
                </a:pPr>
                <a:r>
                  <a:rPr lang="en-US"/>
                  <a:t>Why? Let’s do a quick (but tedious) transformation.</a:t>
                </a:r>
              </a:p>
            </p:txBody>
          </p:sp>
        </mc:Choice>
        <mc:Fallback>
          <p:sp>
            <p:nvSpPr>
              <p:cNvPr id="3" name="Content Placeholder 2">
                <a:extLst>
                  <a:ext uri="{FF2B5EF4-FFF2-40B4-BE49-F238E27FC236}">
                    <a16:creationId xmlns:a16="http://schemas.microsoft.com/office/drawing/2014/main" id="{80785D4E-4CBF-71F8-C758-C39451A1F217}"/>
                  </a:ext>
                </a:extLst>
              </p:cNvPr>
              <p:cNvSpPr>
                <a:spLocks noGrp="1" noRot="1" noChangeAspect="1" noMove="1" noResize="1" noEditPoints="1" noAdjustHandles="1" noChangeArrowheads="1" noChangeShapeType="1" noTextEdit="1"/>
              </p:cNvSpPr>
              <p:nvPr>
                <p:ph idx="1"/>
              </p:nvPr>
            </p:nvSpPr>
            <p:spPr>
              <a:xfrm>
                <a:off x="93658" y="533400"/>
                <a:ext cx="11132428" cy="5638732"/>
              </a:xfrm>
              <a:blipFill>
                <a:blip r:embed="rId3"/>
                <a:stretch>
                  <a:fillRect l="-821" t="-541" b="-86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69F017AF-359C-5F54-4870-0816AFF31348}"/>
                  </a:ext>
                </a:extLst>
              </p:cNvPr>
              <p:cNvSpPr txBox="1"/>
              <p:nvPr/>
            </p:nvSpPr>
            <p:spPr>
              <a:xfrm>
                <a:off x="2207487" y="1859450"/>
                <a:ext cx="3823855"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𝑝</m:t>
                          </m:r>
                        </m:e>
                      </m:acc>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𝑋</m:t>
                          </m:r>
                        </m:num>
                        <m:den>
                          <m:r>
                            <a:rPr lang="en-US" sz="2400" b="0" i="1" smtClean="0">
                              <a:latin typeface="Cambria Math" panose="02040503050406030204" pitchFamily="18" charset="0"/>
                            </a:rPr>
                            <m:t>𝑛</m:t>
                          </m:r>
                        </m:den>
                      </m:f>
                    </m:oMath>
                  </m:oMathPara>
                </a14:m>
                <a:endParaRPr lang="en-US" sz="2400"/>
              </a:p>
            </p:txBody>
          </p:sp>
        </mc:Choice>
        <mc:Fallback>
          <p:sp>
            <p:nvSpPr>
              <p:cNvPr id="4" name="TextBox 3">
                <a:extLst>
                  <a:ext uri="{FF2B5EF4-FFF2-40B4-BE49-F238E27FC236}">
                    <a16:creationId xmlns:a16="http://schemas.microsoft.com/office/drawing/2014/main" id="{69F017AF-359C-5F54-4870-0816AFF31348}"/>
                  </a:ext>
                </a:extLst>
              </p:cNvPr>
              <p:cNvSpPr txBox="1">
                <a:spLocks noRot="1" noChangeAspect="1" noMove="1" noResize="1" noEditPoints="1" noAdjustHandles="1" noChangeArrowheads="1" noChangeShapeType="1" noTextEdit="1"/>
              </p:cNvSpPr>
              <p:nvPr/>
            </p:nvSpPr>
            <p:spPr>
              <a:xfrm>
                <a:off x="2207487" y="1859450"/>
                <a:ext cx="3823855" cy="783804"/>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59318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0F5E4-FE3A-4C29-43FE-90D2F1846007}"/>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C7D8C59C-FAB1-54AA-D655-A3AEDF0EB76B}"/>
                  </a:ext>
                </a:extLst>
              </p:cNvPr>
              <p:cNvSpPr>
                <a:spLocks noGrp="1"/>
              </p:cNvSpPr>
              <p:nvPr>
                <p:ph type="title"/>
              </p:nvPr>
            </p:nvSpPr>
            <p:spPr/>
            <p:txBody>
              <a:bodyPr/>
              <a:lstStyle/>
              <a:p>
                <a:r>
                  <a:rPr lang="en-US"/>
                  <a:t>Back to Where We Started: Estimating </a:t>
                </a:r>
                <a14:m>
                  <m:oMath xmlns:m="http://schemas.openxmlformats.org/officeDocument/2006/math">
                    <m:r>
                      <a:rPr lang="en-US" b="0" i="1" smtClean="0">
                        <a:latin typeface="Cambria Math" panose="02040503050406030204" pitchFamily="18" charset="0"/>
                      </a:rPr>
                      <m:t>𝑝</m:t>
                    </m:r>
                  </m:oMath>
                </a14:m>
                <a:r>
                  <a:rPr lang="en-US"/>
                  <a:t> for a Coin</a:t>
                </a:r>
              </a:p>
            </p:txBody>
          </p:sp>
        </mc:Choice>
        <mc:Fallback>
          <p:sp>
            <p:nvSpPr>
              <p:cNvPr id="2" name="Title 1">
                <a:extLst>
                  <a:ext uri="{FF2B5EF4-FFF2-40B4-BE49-F238E27FC236}">
                    <a16:creationId xmlns:a16="http://schemas.microsoft.com/office/drawing/2014/main" id="{C7D8C59C-FAB1-54AA-D655-A3AEDF0EB76B}"/>
                  </a:ext>
                </a:extLst>
              </p:cNvPr>
              <p:cNvSpPr>
                <a:spLocks noGrp="1" noRot="1" noChangeAspect="1" noMove="1" noResize="1" noEditPoints="1" noAdjustHandles="1" noChangeArrowheads="1" noChangeShapeType="1" noTextEdit="1"/>
              </p:cNvSpPr>
              <p:nvPr>
                <p:ph type="title"/>
              </p:nvPr>
            </p:nvSpPr>
            <p:spPr>
              <a:blipFill>
                <a:blip r:embed="rId2"/>
                <a:stretch>
                  <a:fillRect l="-870" t="-14667" b="-2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C9778DD-3E49-67C8-E0E9-25ED3547726E}"/>
                  </a:ext>
                </a:extLst>
              </p:cNvPr>
              <p:cNvSpPr>
                <a:spLocks noGrp="1"/>
              </p:cNvSpPr>
              <p:nvPr>
                <p:ph idx="1"/>
              </p:nvPr>
            </p:nvSpPr>
            <p:spPr>
              <a:xfrm>
                <a:off x="93658" y="533400"/>
                <a:ext cx="11132428" cy="5638732"/>
              </a:xfrm>
            </p:spPr>
            <p:txBody>
              <a:bodyPr/>
              <a:lstStyle/>
              <a:p>
                <a:r>
                  <a:rPr lang="en-US"/>
                  <a:t>We have a coin with unknown heads probability </a:t>
                </a:r>
                <a14:m>
                  <m:oMath xmlns:m="http://schemas.openxmlformats.org/officeDocument/2006/math">
                    <m:r>
                      <a:rPr lang="en-US" b="0" i="1" smtClean="0">
                        <a:latin typeface="Cambria Math" panose="02040503050406030204" pitchFamily="18" charset="0"/>
                      </a:rPr>
                      <m:t>𝑝</m:t>
                    </m:r>
                  </m:oMath>
                </a14:m>
                <a:r>
                  <a:rPr lang="en-US"/>
                  <a:t>. We estimate it by tossing a coin n times.</a:t>
                </a:r>
              </a:p>
              <a:p>
                <a:pPr marL="342900" indent="-34290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𝑋</m:t>
                    </m:r>
                  </m:oMath>
                </a14:m>
                <a:r>
                  <a:rPr lang="en-US"/>
                  <a:t> is the number of heads. </a:t>
                </a: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oMath>
                </a14:m>
                <a:r>
                  <a:rPr lang="en-US"/>
                  <a:t>.</a:t>
                </a:r>
              </a:p>
              <a:p>
                <a:pPr marL="342900" indent="-342900">
                  <a:lnSpc>
                    <a:spcPct val="120000"/>
                  </a:lnSpc>
                  <a:buFont typeface="Arial" panose="020B0604020202020204" pitchFamily="34" charset="0"/>
                  <a:buChar char="•"/>
                </a:pPr>
                <a:r>
                  <a:rPr lang="en-US"/>
                  <a:t>Our empirical mean is </a:t>
                </a:r>
              </a:p>
              <a:p>
                <a:endParaRPr lang="en-US"/>
              </a:p>
              <a:p>
                <a:r>
                  <a:rPr lang="en-US"/>
                  <a:t>Goal: How big does </a:t>
                </a:r>
                <a14:m>
                  <m:oMath xmlns:m="http://schemas.openxmlformats.org/officeDocument/2006/math">
                    <m:r>
                      <a:rPr lang="en-US" b="0" i="1" smtClean="0">
                        <a:latin typeface="Cambria Math" panose="02040503050406030204" pitchFamily="18" charset="0"/>
                      </a:rPr>
                      <m:t>𝑛</m:t>
                    </m:r>
                  </m:oMath>
                </a14:m>
                <a:r>
                  <a:rPr lang="en-US"/>
                  <a:t> need to be so that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acc>
                              <m:accPr>
                                <m:chr m:val="̂"/>
                                <m:ctrlPr>
                                  <a:rPr lang="en-US" i="1" smtClean="0">
                                    <a:latin typeface="Cambria Math" panose="02040503050406030204" pitchFamily="18" charset="0"/>
                                  </a:rPr>
                                </m:ctrlPr>
                              </m:accPr>
                              <m:e>
                                <m:r>
                                  <a:rPr lang="en-US" i="1">
                                    <a:latin typeface="Cambria Math" panose="02040503050406030204" pitchFamily="18" charset="0"/>
                                  </a:rPr>
                                  <m:t>𝑝</m:t>
                                </m:r>
                              </m:e>
                            </m:acc>
                            <m:r>
                              <a:rPr lang="en-US" i="1" smtClean="0">
                                <a:latin typeface="Cambria Math" panose="02040503050406030204" pitchFamily="18" charset="0"/>
                              </a:rPr>
                              <m:t>−</m:t>
                            </m:r>
                            <m:r>
                              <a:rPr lang="en-US" i="1" smtClean="0">
                                <a:latin typeface="Cambria Math" panose="02040503050406030204" pitchFamily="18" charset="0"/>
                              </a:rPr>
                              <m:t>𝑝</m:t>
                            </m:r>
                          </m:e>
                        </m:d>
                        <m:r>
                          <a:rPr lang="en-US" b="0" i="1" smtClean="0">
                            <a:latin typeface="Cambria Math" panose="02040503050406030204" pitchFamily="18" charset="0"/>
                          </a:rPr>
                          <m:t>≤</m:t>
                        </m:r>
                        <m:r>
                          <a:rPr lang="en-US" i="1">
                            <a:latin typeface="Cambria Math" panose="02040503050406030204" pitchFamily="18" charset="0"/>
                          </a:rPr>
                          <m:t>𝜖</m:t>
                        </m:r>
                      </m:e>
                    </m:d>
                    <m:r>
                      <a:rPr lang="en-US" b="0" i="0" smtClean="0">
                        <a:latin typeface="Cambria Math" panose="02040503050406030204" pitchFamily="18" charset="0"/>
                      </a:rPr>
                      <m:t>≥</m:t>
                    </m:r>
                    <m:r>
                      <m:rPr>
                        <m:sty m:val="p"/>
                      </m:rPr>
                      <a:rPr lang="en-US" b="0" i="0" smtClean="0">
                        <a:latin typeface="Cambria Math" panose="02040503050406030204" pitchFamily="18" charset="0"/>
                      </a:rPr>
                      <m:t>C</m:t>
                    </m:r>
                  </m:oMath>
                </a14:m>
                <a:r>
                  <a:rPr lang="en-US"/>
                  <a:t>?</a:t>
                </a:r>
              </a:p>
              <a:p>
                <a:pPr marL="342900" indent="-342900">
                  <a:buFont typeface="Arial" panose="020B0604020202020204" pitchFamily="34" charset="0"/>
                  <a:buChar char="•"/>
                </a:pPr>
                <a:r>
                  <a:rPr lang="en-US"/>
                  <a:t>In other words, how big does </a:t>
                </a:r>
                <a14:m>
                  <m:oMath xmlns:m="http://schemas.openxmlformats.org/officeDocument/2006/math">
                    <m:r>
                      <a:rPr lang="en-US" i="1">
                        <a:latin typeface="Cambria Math" panose="02040503050406030204" pitchFamily="18" charset="0"/>
                      </a:rPr>
                      <m:t>𝑛</m:t>
                    </m:r>
                  </m:oMath>
                </a14:m>
                <a:r>
                  <a:rPr lang="en-US"/>
                  <a:t> need to be so that we have at least a </a:t>
                </a:r>
                <a14:m>
                  <m:oMath xmlns:m="http://schemas.openxmlformats.org/officeDocument/2006/math">
                    <m:r>
                      <m:rPr>
                        <m:sty m:val="p"/>
                      </m:rPr>
                      <a:rPr lang="en-US">
                        <a:latin typeface="Cambria Math" panose="02040503050406030204" pitchFamily="18" charset="0"/>
                      </a:rPr>
                      <m:t>C</m:t>
                    </m:r>
                  </m:oMath>
                </a14:m>
                <a:r>
                  <a:rPr lang="en-US"/>
                  <a:t> chance of being within </a:t>
                </a:r>
                <a14:m>
                  <m:oMath xmlns:m="http://schemas.openxmlformats.org/officeDocument/2006/math">
                    <m:r>
                      <a:rPr lang="en-US" i="1">
                        <a:latin typeface="Cambria Math" panose="02040503050406030204" pitchFamily="18" charset="0"/>
                      </a:rPr>
                      <m:t>𝜖</m:t>
                    </m:r>
                  </m:oMath>
                </a14:m>
                <a:r>
                  <a:rPr lang="en-US"/>
                  <a:t> of the true </a:t>
                </a:r>
                <a14:m>
                  <m:oMath xmlns:m="http://schemas.openxmlformats.org/officeDocument/2006/math">
                    <m:r>
                      <a:rPr lang="en-US" i="1">
                        <a:latin typeface="Cambria Math" panose="02040503050406030204" pitchFamily="18" charset="0"/>
                      </a:rPr>
                      <m:t>𝑝</m:t>
                    </m:r>
                  </m:oMath>
                </a14:m>
                <a:r>
                  <a:rPr lang="en-US"/>
                  <a:t>?</a:t>
                </a:r>
              </a:p>
              <a:p>
                <a:pPr marL="342900" indent="-342900">
                  <a:buFont typeface="Arial" panose="020B0604020202020204" pitchFamily="34" charset="0"/>
                  <a:buChar char="•"/>
                </a:pPr>
                <a:endParaRPr lang="en-US"/>
              </a:p>
              <a:p>
                <a:r>
                  <a:rPr lang="en-US"/>
                  <a:t>First, let’s recast in terms our acceptable failure rate </a:t>
                </a:r>
                <a14:m>
                  <m:oMath xmlns:m="http://schemas.openxmlformats.org/officeDocument/2006/math">
                    <m:r>
                      <a:rPr lang="en-US" b="0" i="1" smtClean="0">
                        <a:latin typeface="Cambria Math" panose="02040503050406030204" pitchFamily="18" charset="0"/>
                      </a:rPr>
                      <m:t>𝛿</m:t>
                    </m:r>
                  </m:oMath>
                </a14:m>
                <a:r>
                  <a:rPr lang="en-US"/>
                  <a:t>.</a:t>
                </a:r>
              </a:p>
              <a:p>
                <a:pPr marL="342900" indent="-342900">
                  <a:buFont typeface="Arial" panose="020B0604020202020204" pitchFamily="34" charset="0"/>
                  <a:buChar char="•"/>
                </a:pPr>
                <a:r>
                  <a:rPr lang="en-US"/>
                  <a:t>We know that </a:t>
                </a:r>
                <a14:m>
                  <m:oMath xmlns:m="http://schemas.openxmlformats.org/officeDocument/2006/math">
                    <m:r>
                      <m:rPr>
                        <m:sty m:val="p"/>
                      </m:rPr>
                      <a:rPr lang="en-US">
                        <a:latin typeface="Cambria Math" panose="02040503050406030204" pitchFamily="18" charset="0"/>
                      </a:rPr>
                      <m:t>C</m:t>
                    </m:r>
                    <m:r>
                      <a:rPr lang="en-US" b="0" i="0" smtClean="0">
                        <a:latin typeface="Cambria Math" panose="02040503050406030204" pitchFamily="18" charset="0"/>
                      </a:rPr>
                      <m:t>=1−</m:t>
                    </m:r>
                    <m:r>
                      <a:rPr lang="en-US" b="0" i="1" smtClean="0">
                        <a:latin typeface="Cambria Math" panose="02040503050406030204" pitchFamily="18" charset="0"/>
                      </a:rPr>
                      <m:t>𝛿</m:t>
                    </m:r>
                  </m:oMath>
                </a14:m>
                <a:r>
                  <a:rPr lang="en-US"/>
                  <a:t>.</a:t>
                </a:r>
              </a:p>
            </p:txBody>
          </p:sp>
        </mc:Choice>
        <mc:Fallback>
          <p:sp>
            <p:nvSpPr>
              <p:cNvPr id="3" name="Content Placeholder 2">
                <a:extLst>
                  <a:ext uri="{FF2B5EF4-FFF2-40B4-BE49-F238E27FC236}">
                    <a16:creationId xmlns:a16="http://schemas.microsoft.com/office/drawing/2014/main" id="{5C9778DD-3E49-67C8-E0E9-25ED3547726E}"/>
                  </a:ext>
                </a:extLst>
              </p:cNvPr>
              <p:cNvSpPr>
                <a:spLocks noGrp="1" noRot="1" noChangeAspect="1" noMove="1" noResize="1" noEditPoints="1" noAdjustHandles="1" noChangeArrowheads="1" noChangeShapeType="1" noTextEdit="1"/>
              </p:cNvSpPr>
              <p:nvPr>
                <p:ph idx="1"/>
              </p:nvPr>
            </p:nvSpPr>
            <p:spPr>
              <a:xfrm>
                <a:off x="93658" y="533400"/>
                <a:ext cx="11132428" cy="5638732"/>
              </a:xfrm>
              <a:blipFill>
                <a:blip r:embed="rId3"/>
                <a:stretch>
                  <a:fillRect l="-821" t="-541" b="-86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A3EE1C69-F833-0249-634F-00F8866B1CCE}"/>
                  </a:ext>
                </a:extLst>
              </p:cNvPr>
              <p:cNvSpPr txBox="1"/>
              <p:nvPr/>
            </p:nvSpPr>
            <p:spPr>
              <a:xfrm>
                <a:off x="2207487" y="1859450"/>
                <a:ext cx="3823855"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𝑝</m:t>
                          </m:r>
                        </m:e>
                      </m:acc>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𝑋</m:t>
                          </m:r>
                        </m:num>
                        <m:den>
                          <m:r>
                            <a:rPr lang="en-US" sz="2400" b="0" i="1" smtClean="0">
                              <a:latin typeface="Cambria Math" panose="02040503050406030204" pitchFamily="18" charset="0"/>
                            </a:rPr>
                            <m:t>𝑛</m:t>
                          </m:r>
                        </m:den>
                      </m:f>
                    </m:oMath>
                  </m:oMathPara>
                </a14:m>
                <a:endParaRPr lang="en-US" sz="2400"/>
              </a:p>
            </p:txBody>
          </p:sp>
        </mc:Choice>
        <mc:Fallback>
          <p:sp>
            <p:nvSpPr>
              <p:cNvPr id="4" name="TextBox 3">
                <a:extLst>
                  <a:ext uri="{FF2B5EF4-FFF2-40B4-BE49-F238E27FC236}">
                    <a16:creationId xmlns:a16="http://schemas.microsoft.com/office/drawing/2014/main" id="{A3EE1C69-F833-0249-634F-00F8866B1CCE}"/>
                  </a:ext>
                </a:extLst>
              </p:cNvPr>
              <p:cNvSpPr txBox="1">
                <a:spLocks noRot="1" noChangeAspect="1" noMove="1" noResize="1" noEditPoints="1" noAdjustHandles="1" noChangeArrowheads="1" noChangeShapeType="1" noTextEdit="1"/>
              </p:cNvSpPr>
              <p:nvPr/>
            </p:nvSpPr>
            <p:spPr>
              <a:xfrm>
                <a:off x="2207487" y="1859450"/>
                <a:ext cx="3823855" cy="783804"/>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53250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3BC75-4A2C-B4D3-94CD-F13C0E45B671}"/>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8841A8DA-A2CE-D842-5A99-2D8046E7AAE6}"/>
                  </a:ext>
                </a:extLst>
              </p:cNvPr>
              <p:cNvSpPr>
                <a:spLocks noGrp="1"/>
              </p:cNvSpPr>
              <p:nvPr>
                <p:ph type="title"/>
              </p:nvPr>
            </p:nvSpPr>
            <p:spPr/>
            <p:txBody>
              <a:bodyPr/>
              <a:lstStyle/>
              <a:p>
                <a:r>
                  <a:rPr lang="en-US"/>
                  <a:t>Back to Estimating </a:t>
                </a:r>
                <a14:m>
                  <m:oMath xmlns:m="http://schemas.openxmlformats.org/officeDocument/2006/math">
                    <m:r>
                      <a:rPr lang="en-US" b="0" i="1" smtClean="0">
                        <a:latin typeface="Cambria Math" panose="02040503050406030204" pitchFamily="18" charset="0"/>
                      </a:rPr>
                      <m:t>𝑝</m:t>
                    </m:r>
                  </m:oMath>
                </a14:m>
                <a:r>
                  <a:rPr lang="en-US"/>
                  <a:t> for a Coin</a:t>
                </a:r>
              </a:p>
            </p:txBody>
          </p:sp>
        </mc:Choice>
        <mc:Fallback>
          <p:sp>
            <p:nvSpPr>
              <p:cNvPr id="2" name="Title 1">
                <a:extLst>
                  <a:ext uri="{FF2B5EF4-FFF2-40B4-BE49-F238E27FC236}">
                    <a16:creationId xmlns:a16="http://schemas.microsoft.com/office/drawing/2014/main" id="{8841A8DA-A2CE-D842-5A99-2D8046E7AAE6}"/>
                  </a:ext>
                </a:extLst>
              </p:cNvPr>
              <p:cNvSpPr>
                <a:spLocks noGrp="1" noRot="1" noChangeAspect="1" noMove="1" noResize="1" noEditPoints="1" noAdjustHandles="1" noChangeArrowheads="1" noChangeShapeType="1" noTextEdit="1"/>
              </p:cNvSpPr>
              <p:nvPr>
                <p:ph type="title"/>
              </p:nvPr>
            </p:nvSpPr>
            <p:spPr>
              <a:blipFill>
                <a:blip r:embed="rId2"/>
                <a:stretch>
                  <a:fillRect l="-870" t="-14667" b="-2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893471B-0713-0A7A-7BD6-197C1DA95621}"/>
                  </a:ext>
                </a:extLst>
              </p:cNvPr>
              <p:cNvSpPr>
                <a:spLocks noGrp="1"/>
              </p:cNvSpPr>
              <p:nvPr>
                <p:ph idx="1"/>
              </p:nvPr>
            </p:nvSpPr>
            <p:spPr>
              <a:xfrm>
                <a:off x="93657" y="533400"/>
                <a:ext cx="10874850" cy="5638732"/>
              </a:xfrm>
            </p:spPr>
            <p:txBody>
              <a:bodyPr/>
              <a:lstStyle/>
              <a:p>
                <a:r>
                  <a:rPr lang="en-US"/>
                  <a:t>We have a coin with unknown heads probability </a:t>
                </a:r>
                <a14:m>
                  <m:oMath xmlns:m="http://schemas.openxmlformats.org/officeDocument/2006/math">
                    <m:r>
                      <a:rPr lang="en-US" b="0" i="1" smtClean="0">
                        <a:latin typeface="Cambria Math" panose="02040503050406030204" pitchFamily="18" charset="0"/>
                      </a:rPr>
                      <m:t>𝑝</m:t>
                    </m:r>
                  </m:oMath>
                </a14:m>
                <a:r>
                  <a:rPr lang="en-US"/>
                  <a:t>. We estimate it by tossing a coin n times.</a:t>
                </a:r>
              </a:p>
              <a:p>
                <a:pPr marL="342900" indent="-34290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𝑋</m:t>
                    </m:r>
                  </m:oMath>
                </a14:m>
                <a:r>
                  <a:rPr lang="en-US"/>
                  <a:t> is the number of heads. </a:t>
                </a: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oMath>
                </a14:m>
                <a:r>
                  <a:rPr lang="en-US"/>
                  <a:t>.</a:t>
                </a:r>
              </a:p>
              <a:p>
                <a:pPr marL="342900" indent="-342900">
                  <a:lnSpc>
                    <a:spcPct val="120000"/>
                  </a:lnSpc>
                  <a:buFont typeface="Arial" panose="020B0604020202020204" pitchFamily="34" charset="0"/>
                  <a:buChar char="•"/>
                </a:pPr>
                <a:r>
                  <a:rPr lang="en-US"/>
                  <a:t>Our empirical mean is </a:t>
                </a:r>
              </a:p>
              <a:p>
                <a:endParaRPr lang="en-US"/>
              </a:p>
              <a:p>
                <a:r>
                  <a:rPr lang="en-US"/>
                  <a:t>Goal: How big does </a:t>
                </a:r>
                <a14:m>
                  <m:oMath xmlns:m="http://schemas.openxmlformats.org/officeDocument/2006/math">
                    <m:r>
                      <a:rPr lang="en-US" b="0" i="1" smtClean="0">
                        <a:latin typeface="Cambria Math" panose="02040503050406030204" pitchFamily="18" charset="0"/>
                      </a:rPr>
                      <m:t>𝑛</m:t>
                    </m:r>
                  </m:oMath>
                </a14:m>
                <a:r>
                  <a:rPr lang="en-US"/>
                  <a:t> need to be so that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acc>
                              <m:accPr>
                                <m:chr m:val="̂"/>
                                <m:ctrlPr>
                                  <a:rPr lang="en-US" i="1" smtClean="0">
                                    <a:latin typeface="Cambria Math" panose="02040503050406030204" pitchFamily="18" charset="0"/>
                                  </a:rPr>
                                </m:ctrlPr>
                              </m:accPr>
                              <m:e>
                                <m:r>
                                  <a:rPr lang="en-US" i="1">
                                    <a:latin typeface="Cambria Math" panose="02040503050406030204" pitchFamily="18" charset="0"/>
                                  </a:rPr>
                                  <m:t>𝑝</m:t>
                                </m:r>
                              </m:e>
                            </m:acc>
                            <m:r>
                              <a:rPr lang="en-US" i="1" smtClean="0">
                                <a:latin typeface="Cambria Math" panose="02040503050406030204" pitchFamily="18" charset="0"/>
                              </a:rPr>
                              <m:t>−</m:t>
                            </m:r>
                            <m:r>
                              <a:rPr lang="en-US" i="1" smtClean="0">
                                <a:latin typeface="Cambria Math" panose="02040503050406030204" pitchFamily="18" charset="0"/>
                              </a:rPr>
                              <m:t>𝑝</m:t>
                            </m:r>
                          </m:e>
                        </m:d>
                        <m:r>
                          <a:rPr lang="en-US" b="0" i="1" smtClean="0">
                            <a:latin typeface="Cambria Math" panose="02040503050406030204" pitchFamily="18" charset="0"/>
                          </a:rPr>
                          <m:t>≤</m:t>
                        </m:r>
                        <m:r>
                          <a:rPr lang="en-US" i="1">
                            <a:latin typeface="Cambria Math" panose="02040503050406030204" pitchFamily="18" charset="0"/>
                          </a:rPr>
                          <m:t>𝜖</m:t>
                        </m:r>
                      </m:e>
                    </m:d>
                    <m:r>
                      <a:rPr lang="en-US" b="0" i="0" smtClean="0">
                        <a:latin typeface="Cambria Math" panose="02040503050406030204" pitchFamily="18" charset="0"/>
                      </a:rPr>
                      <m:t>≥1−</m:t>
                    </m:r>
                    <m:r>
                      <a:rPr lang="en-US" b="0" i="1" smtClean="0">
                        <a:latin typeface="Cambria Math" panose="02040503050406030204" pitchFamily="18" charset="0"/>
                      </a:rPr>
                      <m:t>𝛿</m:t>
                    </m:r>
                  </m:oMath>
                </a14:m>
                <a:r>
                  <a:rPr lang="en-US"/>
                  <a:t>?</a:t>
                </a:r>
              </a:p>
              <a:p>
                <a:pPr marL="342900" indent="-342900">
                  <a:buFont typeface="Arial" panose="020B0604020202020204" pitchFamily="34" charset="0"/>
                  <a:buChar char="•"/>
                </a:pPr>
                <a:r>
                  <a:rPr lang="en-US"/>
                  <a:t>In other words, how big does </a:t>
                </a:r>
                <a14:m>
                  <m:oMath xmlns:m="http://schemas.openxmlformats.org/officeDocument/2006/math">
                    <m:r>
                      <a:rPr lang="en-US" i="1">
                        <a:latin typeface="Cambria Math" panose="02040503050406030204" pitchFamily="18" charset="0"/>
                      </a:rPr>
                      <m:t>𝑛</m:t>
                    </m:r>
                  </m:oMath>
                </a14:m>
                <a:r>
                  <a:rPr lang="en-US"/>
                  <a:t> need to be so that we have at least a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𝛿</m:t>
                    </m:r>
                  </m:oMath>
                </a14:m>
                <a:r>
                  <a:rPr lang="en-US"/>
                  <a:t> chance of being within </a:t>
                </a:r>
                <a14:m>
                  <m:oMath xmlns:m="http://schemas.openxmlformats.org/officeDocument/2006/math">
                    <m:r>
                      <a:rPr lang="en-US" i="1">
                        <a:latin typeface="Cambria Math" panose="02040503050406030204" pitchFamily="18" charset="0"/>
                      </a:rPr>
                      <m:t>𝜖</m:t>
                    </m:r>
                  </m:oMath>
                </a14:m>
                <a:r>
                  <a:rPr lang="en-US"/>
                  <a:t> of the true </a:t>
                </a:r>
                <a14:m>
                  <m:oMath xmlns:m="http://schemas.openxmlformats.org/officeDocument/2006/math">
                    <m:r>
                      <a:rPr lang="en-US" i="1">
                        <a:latin typeface="Cambria Math" panose="02040503050406030204" pitchFamily="18" charset="0"/>
                      </a:rPr>
                      <m:t>𝑝</m:t>
                    </m:r>
                  </m:oMath>
                </a14:m>
                <a:r>
                  <a:rPr lang="en-US"/>
                  <a:t>?</a:t>
                </a:r>
              </a:p>
            </p:txBody>
          </p:sp>
        </mc:Choice>
        <mc:Fallback>
          <p:sp>
            <p:nvSpPr>
              <p:cNvPr id="3" name="Content Placeholder 2">
                <a:extLst>
                  <a:ext uri="{FF2B5EF4-FFF2-40B4-BE49-F238E27FC236}">
                    <a16:creationId xmlns:a16="http://schemas.microsoft.com/office/drawing/2014/main" id="{E893471B-0713-0A7A-7BD6-197C1DA95621}"/>
                  </a:ext>
                </a:extLst>
              </p:cNvPr>
              <p:cNvSpPr>
                <a:spLocks noGrp="1" noRot="1" noChangeAspect="1" noMove="1" noResize="1" noEditPoints="1" noAdjustHandles="1" noChangeArrowheads="1" noChangeShapeType="1" noTextEdit="1"/>
              </p:cNvSpPr>
              <p:nvPr>
                <p:ph idx="1"/>
              </p:nvPr>
            </p:nvSpPr>
            <p:spPr>
              <a:xfrm>
                <a:off x="93657" y="533400"/>
                <a:ext cx="10874850" cy="5638732"/>
              </a:xfrm>
              <a:blipFill>
                <a:blip r:embed="rId3"/>
                <a:stretch>
                  <a:fillRect l="-841" t="-54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317B0637-0FFA-ED8F-A123-2C885B0E0832}"/>
                  </a:ext>
                </a:extLst>
              </p:cNvPr>
              <p:cNvSpPr txBox="1"/>
              <p:nvPr/>
            </p:nvSpPr>
            <p:spPr>
              <a:xfrm>
                <a:off x="2207487" y="1859450"/>
                <a:ext cx="3823855"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𝑝</m:t>
                          </m:r>
                        </m:e>
                      </m:acc>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𝑋</m:t>
                          </m:r>
                        </m:num>
                        <m:den>
                          <m:r>
                            <a:rPr lang="en-US" sz="2400" b="0" i="1" smtClean="0">
                              <a:latin typeface="Cambria Math" panose="02040503050406030204" pitchFamily="18" charset="0"/>
                            </a:rPr>
                            <m:t>𝑛</m:t>
                          </m:r>
                        </m:den>
                      </m:f>
                    </m:oMath>
                  </m:oMathPara>
                </a14:m>
                <a:endParaRPr lang="en-US" sz="2400"/>
              </a:p>
            </p:txBody>
          </p:sp>
        </mc:Choice>
        <mc:Fallback>
          <p:sp>
            <p:nvSpPr>
              <p:cNvPr id="4" name="TextBox 3">
                <a:extLst>
                  <a:ext uri="{FF2B5EF4-FFF2-40B4-BE49-F238E27FC236}">
                    <a16:creationId xmlns:a16="http://schemas.microsoft.com/office/drawing/2014/main" id="{317B0637-0FFA-ED8F-A123-2C885B0E0832}"/>
                  </a:ext>
                </a:extLst>
              </p:cNvPr>
              <p:cNvSpPr txBox="1">
                <a:spLocks noRot="1" noChangeAspect="1" noMove="1" noResize="1" noEditPoints="1" noAdjustHandles="1" noChangeArrowheads="1" noChangeShapeType="1" noTextEdit="1"/>
              </p:cNvSpPr>
              <p:nvPr/>
            </p:nvSpPr>
            <p:spPr>
              <a:xfrm>
                <a:off x="2207487" y="1859450"/>
                <a:ext cx="3823855" cy="783804"/>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636084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44DAC-4DDC-03AC-A82C-0535B41CD9A0}"/>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64804F55-152B-B856-6EE5-84DC665D38AB}"/>
                  </a:ext>
                </a:extLst>
              </p:cNvPr>
              <p:cNvSpPr>
                <a:spLocks noGrp="1"/>
              </p:cNvSpPr>
              <p:nvPr>
                <p:ph type="title"/>
              </p:nvPr>
            </p:nvSpPr>
            <p:spPr/>
            <p:txBody>
              <a:bodyPr/>
              <a:lstStyle/>
              <a:p>
                <a:r>
                  <a:rPr lang="en-US"/>
                  <a:t>Back to Estimating </a:t>
                </a:r>
                <a14:m>
                  <m:oMath xmlns:m="http://schemas.openxmlformats.org/officeDocument/2006/math">
                    <m:r>
                      <a:rPr lang="en-US" b="0" i="1" smtClean="0">
                        <a:latin typeface="Cambria Math" panose="02040503050406030204" pitchFamily="18" charset="0"/>
                      </a:rPr>
                      <m:t>𝑝</m:t>
                    </m:r>
                  </m:oMath>
                </a14:m>
                <a:r>
                  <a:rPr lang="en-US"/>
                  <a:t> for a Coin</a:t>
                </a:r>
              </a:p>
            </p:txBody>
          </p:sp>
        </mc:Choice>
        <mc:Fallback>
          <p:sp>
            <p:nvSpPr>
              <p:cNvPr id="2" name="Title 1">
                <a:extLst>
                  <a:ext uri="{FF2B5EF4-FFF2-40B4-BE49-F238E27FC236}">
                    <a16:creationId xmlns:a16="http://schemas.microsoft.com/office/drawing/2014/main" id="{64804F55-152B-B856-6EE5-84DC665D38AB}"/>
                  </a:ext>
                </a:extLst>
              </p:cNvPr>
              <p:cNvSpPr>
                <a:spLocks noGrp="1" noRot="1" noChangeAspect="1" noMove="1" noResize="1" noEditPoints="1" noAdjustHandles="1" noChangeArrowheads="1" noChangeShapeType="1" noTextEdit="1"/>
              </p:cNvSpPr>
              <p:nvPr>
                <p:ph type="title"/>
              </p:nvPr>
            </p:nvSpPr>
            <p:spPr>
              <a:blipFill>
                <a:blip r:embed="rId2"/>
                <a:stretch>
                  <a:fillRect l="-870" t="-14667" b="-2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D647FE6-F5F7-B597-C08B-9D0AB0DFD9AB}"/>
                  </a:ext>
                </a:extLst>
              </p:cNvPr>
              <p:cNvSpPr>
                <a:spLocks noGrp="1"/>
              </p:cNvSpPr>
              <p:nvPr>
                <p:ph idx="1"/>
              </p:nvPr>
            </p:nvSpPr>
            <p:spPr>
              <a:xfrm>
                <a:off x="93658" y="533400"/>
                <a:ext cx="10780404" cy="5638732"/>
              </a:xfrm>
            </p:spPr>
            <p:txBody>
              <a:bodyPr/>
              <a:lstStyle/>
              <a:p>
                <a:r>
                  <a:rPr lang="en-US"/>
                  <a:t>We have a coin with unknown heads probability </a:t>
                </a:r>
                <a14:m>
                  <m:oMath xmlns:m="http://schemas.openxmlformats.org/officeDocument/2006/math">
                    <m:r>
                      <a:rPr lang="en-US" b="0" i="1" smtClean="0">
                        <a:latin typeface="Cambria Math" panose="02040503050406030204" pitchFamily="18" charset="0"/>
                      </a:rPr>
                      <m:t>𝑝</m:t>
                    </m:r>
                  </m:oMath>
                </a14:m>
                <a:r>
                  <a:rPr lang="en-US"/>
                  <a:t>. We estimate it by tossing a coin n times.</a:t>
                </a:r>
              </a:p>
              <a:p>
                <a:pPr marL="342900" indent="-34290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𝑋</m:t>
                    </m:r>
                  </m:oMath>
                </a14:m>
                <a:r>
                  <a:rPr lang="en-US"/>
                  <a:t> is the number of heads. </a:t>
                </a: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oMath>
                </a14:m>
                <a:r>
                  <a:rPr lang="en-US"/>
                  <a:t>.</a:t>
                </a:r>
              </a:p>
              <a:p>
                <a:pPr marL="342900" indent="-342900">
                  <a:lnSpc>
                    <a:spcPct val="120000"/>
                  </a:lnSpc>
                  <a:buFont typeface="Arial" panose="020B0604020202020204" pitchFamily="34" charset="0"/>
                  <a:buChar char="•"/>
                </a:pPr>
                <a:r>
                  <a:rPr lang="en-US"/>
                  <a:t>Our empirical mean is </a:t>
                </a:r>
              </a:p>
              <a:p>
                <a:endParaRPr lang="en-US"/>
              </a:p>
              <a:p>
                <a:r>
                  <a:rPr lang="en-US"/>
                  <a:t>Goal: How big does </a:t>
                </a:r>
                <a14:m>
                  <m:oMath xmlns:m="http://schemas.openxmlformats.org/officeDocument/2006/math">
                    <m:r>
                      <a:rPr lang="en-US" b="0" i="1" smtClean="0">
                        <a:latin typeface="Cambria Math" panose="02040503050406030204" pitchFamily="18" charset="0"/>
                      </a:rPr>
                      <m:t>𝑛</m:t>
                    </m:r>
                  </m:oMath>
                </a14:m>
                <a:r>
                  <a:rPr lang="en-US"/>
                  <a:t> need to be so that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acc>
                              <m:accPr>
                                <m:chr m:val="̂"/>
                                <m:ctrlPr>
                                  <a:rPr lang="en-US" i="1" smtClean="0">
                                    <a:latin typeface="Cambria Math" panose="02040503050406030204" pitchFamily="18" charset="0"/>
                                  </a:rPr>
                                </m:ctrlPr>
                              </m:accPr>
                              <m:e>
                                <m:r>
                                  <a:rPr lang="en-US" i="1">
                                    <a:latin typeface="Cambria Math" panose="02040503050406030204" pitchFamily="18" charset="0"/>
                                  </a:rPr>
                                  <m:t>𝑝</m:t>
                                </m:r>
                              </m:e>
                            </m:acc>
                            <m:r>
                              <a:rPr lang="en-US" i="1" smtClean="0">
                                <a:latin typeface="Cambria Math" panose="02040503050406030204" pitchFamily="18" charset="0"/>
                              </a:rPr>
                              <m:t>−</m:t>
                            </m:r>
                            <m:r>
                              <a:rPr lang="en-US" i="1" smtClean="0">
                                <a:latin typeface="Cambria Math" panose="02040503050406030204" pitchFamily="18" charset="0"/>
                              </a:rPr>
                              <m:t>𝑝</m:t>
                            </m:r>
                          </m:e>
                        </m:d>
                        <m:r>
                          <a:rPr lang="en-US" b="0" i="1" smtClean="0">
                            <a:latin typeface="Cambria Math" panose="02040503050406030204" pitchFamily="18" charset="0"/>
                          </a:rPr>
                          <m:t>≤</m:t>
                        </m:r>
                        <m:r>
                          <a:rPr lang="en-US" i="1">
                            <a:latin typeface="Cambria Math" panose="02040503050406030204" pitchFamily="18" charset="0"/>
                          </a:rPr>
                          <m:t>𝜖</m:t>
                        </m:r>
                      </m:e>
                    </m:d>
                    <m:r>
                      <a:rPr lang="en-US" b="0" i="0" smtClean="0">
                        <a:latin typeface="Cambria Math" panose="02040503050406030204" pitchFamily="18" charset="0"/>
                      </a:rPr>
                      <m:t>≥1−</m:t>
                    </m:r>
                    <m:r>
                      <a:rPr lang="en-US" b="0" i="1" smtClean="0">
                        <a:latin typeface="Cambria Math" panose="02040503050406030204" pitchFamily="18" charset="0"/>
                      </a:rPr>
                      <m:t>𝛿</m:t>
                    </m:r>
                  </m:oMath>
                </a14:m>
                <a:r>
                  <a:rPr lang="en-US"/>
                  <a:t>?</a:t>
                </a:r>
              </a:p>
              <a:p>
                <a:pPr marL="342900" indent="-342900">
                  <a:buFont typeface="Arial" panose="020B0604020202020204" pitchFamily="34" charset="0"/>
                  <a:buChar char="•"/>
                </a:pPr>
                <a:r>
                  <a:rPr lang="en-US"/>
                  <a:t>In other words, how big does </a:t>
                </a:r>
                <a14:m>
                  <m:oMath xmlns:m="http://schemas.openxmlformats.org/officeDocument/2006/math">
                    <m:r>
                      <a:rPr lang="en-US" i="1">
                        <a:latin typeface="Cambria Math" panose="02040503050406030204" pitchFamily="18" charset="0"/>
                      </a:rPr>
                      <m:t>𝑛</m:t>
                    </m:r>
                  </m:oMath>
                </a14:m>
                <a:r>
                  <a:rPr lang="en-US"/>
                  <a:t> need to be so that we have at least a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𝛿</m:t>
                    </m:r>
                  </m:oMath>
                </a14:m>
                <a:r>
                  <a:rPr lang="en-US"/>
                  <a:t> chance of being within </a:t>
                </a:r>
                <a14:m>
                  <m:oMath xmlns:m="http://schemas.openxmlformats.org/officeDocument/2006/math">
                    <m:r>
                      <a:rPr lang="en-US" i="1">
                        <a:latin typeface="Cambria Math" panose="02040503050406030204" pitchFamily="18" charset="0"/>
                      </a:rPr>
                      <m:t>𝜖</m:t>
                    </m:r>
                  </m:oMath>
                </a14:m>
                <a:r>
                  <a:rPr lang="en-US"/>
                  <a:t> of the true </a:t>
                </a:r>
                <a14:m>
                  <m:oMath xmlns:m="http://schemas.openxmlformats.org/officeDocument/2006/math">
                    <m:r>
                      <a:rPr lang="en-US" i="1">
                        <a:latin typeface="Cambria Math" panose="02040503050406030204" pitchFamily="18" charset="0"/>
                      </a:rPr>
                      <m:t>𝑝</m:t>
                    </m:r>
                  </m:oMath>
                </a14:m>
                <a:r>
                  <a:rPr lang="en-US"/>
                  <a:t>?</a:t>
                </a:r>
              </a:p>
              <a:p>
                <a:pPr marL="342900" indent="-342900">
                  <a:buFont typeface="Arial" panose="020B0604020202020204" pitchFamily="34" charset="0"/>
                  <a:buChar char="•"/>
                </a:pPr>
                <a:endParaRPr lang="en-US"/>
              </a:p>
              <a:p>
                <a:r>
                  <a:rPr lang="en-US"/>
                  <a:t>Next, we observe that if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i="1">
                                <a:latin typeface="Cambria Math" panose="02040503050406030204" pitchFamily="18" charset="0"/>
                              </a:rPr>
                              <m:t>−</m:t>
                            </m:r>
                            <m:r>
                              <a:rPr lang="en-US" i="1">
                                <a:latin typeface="Cambria Math" panose="02040503050406030204" pitchFamily="18" charset="0"/>
                              </a:rPr>
                              <m:t>𝑝</m:t>
                            </m:r>
                          </m:e>
                        </m:d>
                        <m:r>
                          <a:rPr lang="en-US" i="1">
                            <a:latin typeface="Cambria Math" panose="02040503050406030204" pitchFamily="18" charset="0"/>
                          </a:rPr>
                          <m:t>≤</m:t>
                        </m:r>
                        <m:r>
                          <a:rPr lang="en-US" i="1">
                            <a:latin typeface="Cambria Math" panose="02040503050406030204" pitchFamily="18" charset="0"/>
                          </a:rPr>
                          <m:t>𝜖</m:t>
                        </m:r>
                      </m:e>
                    </m:d>
                    <m:r>
                      <a:rPr lang="en-US">
                        <a:latin typeface="Cambria Math" panose="02040503050406030204" pitchFamily="18" charset="0"/>
                      </a:rPr>
                      <m:t>≥1−</m:t>
                    </m:r>
                    <m:r>
                      <a:rPr lang="en-US" i="1">
                        <a:latin typeface="Cambria Math" panose="02040503050406030204" pitchFamily="18" charset="0"/>
                      </a:rPr>
                      <m:t>𝛿</m:t>
                    </m:r>
                  </m:oMath>
                </a14:m>
                <a:r>
                  <a:rPr lang="en-US"/>
                  <a:t>, then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i="1">
                                <a:latin typeface="Cambria Math" panose="02040503050406030204" pitchFamily="18" charset="0"/>
                              </a:rPr>
                              <m:t>−</m:t>
                            </m:r>
                            <m:r>
                              <a:rPr lang="en-US" i="1">
                                <a:latin typeface="Cambria Math" panose="02040503050406030204" pitchFamily="18" charset="0"/>
                              </a:rPr>
                              <m:t>𝑝</m:t>
                            </m:r>
                          </m:e>
                        </m:d>
                        <m:r>
                          <a:rPr lang="en-US" b="0" i="1" smtClean="0">
                            <a:latin typeface="Cambria Math" panose="02040503050406030204" pitchFamily="18" charset="0"/>
                          </a:rPr>
                          <m:t>&gt;</m:t>
                        </m:r>
                        <m:r>
                          <a:rPr lang="en-US" i="1">
                            <a:latin typeface="Cambria Math" panose="02040503050406030204" pitchFamily="18" charset="0"/>
                          </a:rPr>
                          <m:t>𝜖</m:t>
                        </m:r>
                      </m:e>
                    </m:d>
                    <m:r>
                      <a:rPr lang="en-US" b="0" i="0" smtClean="0">
                        <a:latin typeface="Cambria Math" panose="02040503050406030204" pitchFamily="18" charset="0"/>
                      </a:rPr>
                      <m:t>≤</m:t>
                    </m:r>
                    <m:r>
                      <a:rPr lang="en-US" b="0" i="1" smtClean="0">
                        <a:latin typeface="Cambria Math" panose="02040503050406030204" pitchFamily="18" charset="0"/>
                      </a:rPr>
                      <m:t>𝛿</m:t>
                    </m:r>
                  </m:oMath>
                </a14:m>
                <a:endParaRPr lang="en-US"/>
              </a:p>
            </p:txBody>
          </p:sp>
        </mc:Choice>
        <mc:Fallback>
          <p:sp>
            <p:nvSpPr>
              <p:cNvPr id="3" name="Content Placeholder 2">
                <a:extLst>
                  <a:ext uri="{FF2B5EF4-FFF2-40B4-BE49-F238E27FC236}">
                    <a16:creationId xmlns:a16="http://schemas.microsoft.com/office/drawing/2014/main" id="{FD647FE6-F5F7-B597-C08B-9D0AB0DFD9AB}"/>
                  </a:ext>
                </a:extLst>
              </p:cNvPr>
              <p:cNvSpPr>
                <a:spLocks noGrp="1" noRot="1" noChangeAspect="1" noMove="1" noResize="1" noEditPoints="1" noAdjustHandles="1" noChangeArrowheads="1" noChangeShapeType="1" noTextEdit="1"/>
              </p:cNvSpPr>
              <p:nvPr>
                <p:ph idx="1"/>
              </p:nvPr>
            </p:nvSpPr>
            <p:spPr>
              <a:xfrm>
                <a:off x="93658" y="533400"/>
                <a:ext cx="10780404" cy="5638732"/>
              </a:xfrm>
              <a:blipFill>
                <a:blip r:embed="rId3"/>
                <a:stretch>
                  <a:fillRect l="-848" t="-541" r="-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1698344B-6936-121A-1146-06B417B43743}"/>
                  </a:ext>
                </a:extLst>
              </p:cNvPr>
              <p:cNvSpPr txBox="1"/>
              <p:nvPr/>
            </p:nvSpPr>
            <p:spPr>
              <a:xfrm>
                <a:off x="2207487" y="1859450"/>
                <a:ext cx="3823855"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𝑝</m:t>
                          </m:r>
                        </m:e>
                      </m:acc>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𝑋</m:t>
                          </m:r>
                        </m:num>
                        <m:den>
                          <m:r>
                            <a:rPr lang="en-US" sz="2400" b="0" i="1" smtClean="0">
                              <a:latin typeface="Cambria Math" panose="02040503050406030204" pitchFamily="18" charset="0"/>
                            </a:rPr>
                            <m:t>𝑛</m:t>
                          </m:r>
                        </m:den>
                      </m:f>
                    </m:oMath>
                  </m:oMathPara>
                </a14:m>
                <a:endParaRPr lang="en-US" sz="2400"/>
              </a:p>
            </p:txBody>
          </p:sp>
        </mc:Choice>
        <mc:Fallback>
          <p:sp>
            <p:nvSpPr>
              <p:cNvPr id="4" name="TextBox 3">
                <a:extLst>
                  <a:ext uri="{FF2B5EF4-FFF2-40B4-BE49-F238E27FC236}">
                    <a16:creationId xmlns:a16="http://schemas.microsoft.com/office/drawing/2014/main" id="{1698344B-6936-121A-1146-06B417B43743}"/>
                  </a:ext>
                </a:extLst>
              </p:cNvPr>
              <p:cNvSpPr txBox="1">
                <a:spLocks noRot="1" noChangeAspect="1" noMove="1" noResize="1" noEditPoints="1" noAdjustHandles="1" noChangeArrowheads="1" noChangeShapeType="1" noTextEdit="1"/>
              </p:cNvSpPr>
              <p:nvPr/>
            </p:nvSpPr>
            <p:spPr>
              <a:xfrm>
                <a:off x="2207487" y="1859450"/>
                <a:ext cx="3823855" cy="783804"/>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696734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18470-E1CE-F7C0-92A1-FC73DD920F91}"/>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AE579058-923A-DA4A-9BD2-739014981DB7}"/>
                  </a:ext>
                </a:extLst>
              </p:cNvPr>
              <p:cNvSpPr>
                <a:spLocks noGrp="1"/>
              </p:cNvSpPr>
              <p:nvPr>
                <p:ph type="title"/>
              </p:nvPr>
            </p:nvSpPr>
            <p:spPr/>
            <p:txBody>
              <a:bodyPr/>
              <a:lstStyle/>
              <a:p>
                <a:r>
                  <a:rPr lang="en-US"/>
                  <a:t>Back to Estimating </a:t>
                </a:r>
                <a14:m>
                  <m:oMath xmlns:m="http://schemas.openxmlformats.org/officeDocument/2006/math">
                    <m:r>
                      <a:rPr lang="en-US" b="0" i="1" smtClean="0">
                        <a:latin typeface="Cambria Math" panose="02040503050406030204" pitchFamily="18" charset="0"/>
                      </a:rPr>
                      <m:t>𝑝</m:t>
                    </m:r>
                  </m:oMath>
                </a14:m>
                <a:r>
                  <a:rPr lang="en-US"/>
                  <a:t> for a Coin</a:t>
                </a:r>
              </a:p>
            </p:txBody>
          </p:sp>
        </mc:Choice>
        <mc:Fallback>
          <p:sp>
            <p:nvSpPr>
              <p:cNvPr id="2" name="Title 1">
                <a:extLst>
                  <a:ext uri="{FF2B5EF4-FFF2-40B4-BE49-F238E27FC236}">
                    <a16:creationId xmlns:a16="http://schemas.microsoft.com/office/drawing/2014/main" id="{AE579058-923A-DA4A-9BD2-739014981DB7}"/>
                  </a:ext>
                </a:extLst>
              </p:cNvPr>
              <p:cNvSpPr>
                <a:spLocks noGrp="1" noRot="1" noChangeAspect="1" noMove="1" noResize="1" noEditPoints="1" noAdjustHandles="1" noChangeArrowheads="1" noChangeShapeType="1" noTextEdit="1"/>
              </p:cNvSpPr>
              <p:nvPr>
                <p:ph type="title"/>
              </p:nvPr>
            </p:nvSpPr>
            <p:spPr>
              <a:blipFill>
                <a:blip r:embed="rId2"/>
                <a:stretch>
                  <a:fillRect l="-870" t="-14667" b="-2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46329B4-42CD-8C48-D393-D34F7E5EC03F}"/>
                  </a:ext>
                </a:extLst>
              </p:cNvPr>
              <p:cNvSpPr>
                <a:spLocks noGrp="1"/>
              </p:cNvSpPr>
              <p:nvPr>
                <p:ph idx="1"/>
              </p:nvPr>
            </p:nvSpPr>
            <p:spPr>
              <a:xfrm>
                <a:off x="93657" y="533400"/>
                <a:ext cx="10896315" cy="5638732"/>
              </a:xfrm>
            </p:spPr>
            <p:txBody>
              <a:bodyPr/>
              <a:lstStyle/>
              <a:p>
                <a:r>
                  <a:rPr lang="en-US"/>
                  <a:t>We have a coin with unknown heads probability </a:t>
                </a:r>
                <a14:m>
                  <m:oMath xmlns:m="http://schemas.openxmlformats.org/officeDocument/2006/math">
                    <m:r>
                      <a:rPr lang="en-US" b="0" i="1" smtClean="0">
                        <a:latin typeface="Cambria Math" panose="02040503050406030204" pitchFamily="18" charset="0"/>
                      </a:rPr>
                      <m:t>𝑝</m:t>
                    </m:r>
                  </m:oMath>
                </a14:m>
                <a:r>
                  <a:rPr lang="en-US"/>
                  <a:t>. We estimate it by tossing a coin n times.</a:t>
                </a:r>
              </a:p>
              <a:p>
                <a:pPr marL="342900" indent="-34290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𝑋</m:t>
                    </m:r>
                  </m:oMath>
                </a14:m>
                <a:r>
                  <a:rPr lang="en-US"/>
                  <a:t> is the number of heads. </a:t>
                </a: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oMath>
                </a14:m>
                <a:r>
                  <a:rPr lang="en-US"/>
                  <a:t>.</a:t>
                </a:r>
              </a:p>
              <a:p>
                <a:pPr marL="342900" indent="-342900">
                  <a:lnSpc>
                    <a:spcPct val="120000"/>
                  </a:lnSpc>
                  <a:buFont typeface="Arial" panose="020B0604020202020204" pitchFamily="34" charset="0"/>
                  <a:buChar char="•"/>
                </a:pPr>
                <a:r>
                  <a:rPr lang="en-US"/>
                  <a:t>Our empirical mean is </a:t>
                </a:r>
              </a:p>
              <a:p>
                <a:endParaRPr lang="en-US"/>
              </a:p>
              <a:p>
                <a:r>
                  <a:rPr lang="en-US"/>
                  <a:t>Goal: How big does </a:t>
                </a:r>
                <a14:m>
                  <m:oMath xmlns:m="http://schemas.openxmlformats.org/officeDocument/2006/math">
                    <m:r>
                      <a:rPr lang="en-US" b="0" i="1" smtClean="0">
                        <a:latin typeface="Cambria Math" panose="02040503050406030204" pitchFamily="18" charset="0"/>
                      </a:rPr>
                      <m:t>𝑛</m:t>
                    </m:r>
                  </m:oMath>
                </a14:m>
                <a:r>
                  <a:rPr lang="en-US"/>
                  <a:t> need to be so that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acc>
                              <m:accPr>
                                <m:chr m:val="̂"/>
                                <m:ctrlPr>
                                  <a:rPr lang="en-US" i="1" smtClean="0">
                                    <a:latin typeface="Cambria Math" panose="02040503050406030204" pitchFamily="18" charset="0"/>
                                  </a:rPr>
                                </m:ctrlPr>
                              </m:accPr>
                              <m:e>
                                <m:r>
                                  <a:rPr lang="en-US" i="1">
                                    <a:latin typeface="Cambria Math" panose="02040503050406030204" pitchFamily="18" charset="0"/>
                                  </a:rPr>
                                  <m:t>𝑝</m:t>
                                </m:r>
                              </m:e>
                            </m:acc>
                            <m:r>
                              <a:rPr lang="en-US" i="1" smtClean="0">
                                <a:latin typeface="Cambria Math" panose="02040503050406030204" pitchFamily="18" charset="0"/>
                              </a:rPr>
                              <m:t>−</m:t>
                            </m:r>
                            <m:r>
                              <a:rPr lang="en-US" i="1" smtClean="0">
                                <a:latin typeface="Cambria Math" panose="02040503050406030204" pitchFamily="18" charset="0"/>
                              </a:rPr>
                              <m:t>𝑝</m:t>
                            </m:r>
                          </m:e>
                        </m:d>
                        <m:r>
                          <a:rPr lang="en-US" b="0" i="1" smtClean="0">
                            <a:latin typeface="Cambria Math" panose="02040503050406030204" pitchFamily="18" charset="0"/>
                          </a:rPr>
                          <m:t>≤</m:t>
                        </m:r>
                        <m:r>
                          <a:rPr lang="en-US" i="1">
                            <a:latin typeface="Cambria Math" panose="02040503050406030204" pitchFamily="18" charset="0"/>
                          </a:rPr>
                          <m:t>𝜖</m:t>
                        </m:r>
                      </m:e>
                    </m:d>
                    <m:r>
                      <a:rPr lang="en-US" b="0" i="0" smtClean="0">
                        <a:latin typeface="Cambria Math" panose="02040503050406030204" pitchFamily="18" charset="0"/>
                      </a:rPr>
                      <m:t>≥1−</m:t>
                    </m:r>
                    <m:r>
                      <a:rPr lang="en-US" b="0" i="1" smtClean="0">
                        <a:latin typeface="Cambria Math" panose="02040503050406030204" pitchFamily="18" charset="0"/>
                      </a:rPr>
                      <m:t>𝛿</m:t>
                    </m:r>
                  </m:oMath>
                </a14:m>
                <a:r>
                  <a:rPr lang="en-US"/>
                  <a:t>?</a:t>
                </a:r>
              </a:p>
              <a:p>
                <a:pPr marL="342900" indent="-342900">
                  <a:buFont typeface="Arial" panose="020B0604020202020204" pitchFamily="34" charset="0"/>
                  <a:buChar char="•"/>
                </a:pPr>
                <a:r>
                  <a:rPr lang="en-US"/>
                  <a:t>In other words, how big does </a:t>
                </a:r>
                <a14:m>
                  <m:oMath xmlns:m="http://schemas.openxmlformats.org/officeDocument/2006/math">
                    <m:r>
                      <a:rPr lang="en-US" i="1">
                        <a:latin typeface="Cambria Math" panose="02040503050406030204" pitchFamily="18" charset="0"/>
                      </a:rPr>
                      <m:t>𝑛</m:t>
                    </m:r>
                  </m:oMath>
                </a14:m>
                <a:r>
                  <a:rPr lang="en-US"/>
                  <a:t> need to be so that we have at least a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𝛿</m:t>
                    </m:r>
                  </m:oMath>
                </a14:m>
                <a:r>
                  <a:rPr lang="en-US"/>
                  <a:t> chance of being within </a:t>
                </a:r>
                <a14:m>
                  <m:oMath xmlns:m="http://schemas.openxmlformats.org/officeDocument/2006/math">
                    <m:r>
                      <a:rPr lang="en-US" i="1">
                        <a:latin typeface="Cambria Math" panose="02040503050406030204" pitchFamily="18" charset="0"/>
                      </a:rPr>
                      <m:t>𝜖</m:t>
                    </m:r>
                  </m:oMath>
                </a14:m>
                <a:r>
                  <a:rPr lang="en-US"/>
                  <a:t> of the true </a:t>
                </a:r>
                <a14:m>
                  <m:oMath xmlns:m="http://schemas.openxmlformats.org/officeDocument/2006/math">
                    <m:r>
                      <a:rPr lang="en-US" i="1">
                        <a:latin typeface="Cambria Math" panose="02040503050406030204" pitchFamily="18" charset="0"/>
                      </a:rPr>
                      <m:t>𝑝</m:t>
                    </m:r>
                  </m:oMath>
                </a14:m>
                <a:r>
                  <a:rPr lang="en-US"/>
                  <a:t>?</a:t>
                </a:r>
              </a:p>
              <a:p>
                <a:pPr marL="342900" indent="-342900">
                  <a:buFont typeface="Arial" panose="020B0604020202020204" pitchFamily="34" charset="0"/>
                  <a:buChar char="•"/>
                </a:pPr>
                <a:endParaRPr lang="en-US"/>
              </a:p>
              <a:p>
                <a:r>
                  <a:rPr lang="en-US"/>
                  <a:t>Next, we observe that if </a:t>
                </a:r>
                <a14:m>
                  <m:oMath xmlns:m="http://schemas.openxmlformats.org/officeDocument/2006/math">
                    <m:r>
                      <a:rPr lang="en-US" i="1" smtClean="0">
                        <a:solidFill>
                          <a:schemeClr val="accent3"/>
                        </a:solidFill>
                        <a:latin typeface="Cambria Math" panose="02040503050406030204" pitchFamily="18" charset="0"/>
                      </a:rPr>
                      <m:t>𝑃</m:t>
                    </m:r>
                    <m:d>
                      <m:dPr>
                        <m:ctrlPr>
                          <a:rPr lang="en-US" i="1">
                            <a:solidFill>
                              <a:schemeClr val="accent3"/>
                            </a:solidFill>
                            <a:latin typeface="Cambria Math" panose="02040503050406030204" pitchFamily="18" charset="0"/>
                          </a:rPr>
                        </m:ctrlPr>
                      </m:dPr>
                      <m:e>
                        <m:d>
                          <m:dPr>
                            <m:begChr m:val="|"/>
                            <m:endChr m:val="|"/>
                            <m:ctrlPr>
                              <a:rPr lang="en-US" i="1">
                                <a:solidFill>
                                  <a:schemeClr val="accent3"/>
                                </a:solidFill>
                                <a:latin typeface="Cambria Math" panose="02040503050406030204" pitchFamily="18" charset="0"/>
                              </a:rPr>
                            </m:ctrlPr>
                          </m:dPr>
                          <m:e>
                            <m:acc>
                              <m:accPr>
                                <m:chr m:val="̂"/>
                                <m:ctrlPr>
                                  <a:rPr lang="en-US" i="1">
                                    <a:solidFill>
                                      <a:schemeClr val="accent3"/>
                                    </a:solidFill>
                                    <a:latin typeface="Cambria Math" panose="02040503050406030204" pitchFamily="18" charset="0"/>
                                  </a:rPr>
                                </m:ctrlPr>
                              </m:accPr>
                              <m:e>
                                <m:r>
                                  <a:rPr lang="en-US" i="1">
                                    <a:solidFill>
                                      <a:schemeClr val="accent3"/>
                                    </a:solidFill>
                                    <a:latin typeface="Cambria Math" panose="02040503050406030204" pitchFamily="18" charset="0"/>
                                  </a:rPr>
                                  <m:t>𝑝</m:t>
                                </m:r>
                              </m:e>
                            </m:acc>
                            <m:r>
                              <a:rPr lang="en-US" i="1">
                                <a:solidFill>
                                  <a:schemeClr val="accent3"/>
                                </a:solidFill>
                                <a:latin typeface="Cambria Math" panose="02040503050406030204" pitchFamily="18" charset="0"/>
                              </a:rPr>
                              <m:t>−</m:t>
                            </m:r>
                            <m:r>
                              <a:rPr lang="en-US" i="1">
                                <a:solidFill>
                                  <a:schemeClr val="accent3"/>
                                </a:solidFill>
                                <a:latin typeface="Cambria Math" panose="02040503050406030204" pitchFamily="18" charset="0"/>
                              </a:rPr>
                              <m:t>𝑝</m:t>
                            </m:r>
                          </m:e>
                        </m:d>
                        <m:r>
                          <a:rPr lang="en-US" i="1">
                            <a:solidFill>
                              <a:schemeClr val="accent3"/>
                            </a:solidFill>
                            <a:latin typeface="Cambria Math" panose="02040503050406030204" pitchFamily="18" charset="0"/>
                          </a:rPr>
                          <m:t>≤</m:t>
                        </m:r>
                        <m:r>
                          <a:rPr lang="en-US" i="1">
                            <a:solidFill>
                              <a:schemeClr val="accent3"/>
                            </a:solidFill>
                            <a:latin typeface="Cambria Math" panose="02040503050406030204" pitchFamily="18" charset="0"/>
                          </a:rPr>
                          <m:t>𝜖</m:t>
                        </m:r>
                      </m:e>
                    </m:d>
                    <m:r>
                      <a:rPr lang="en-US">
                        <a:latin typeface="Cambria Math" panose="02040503050406030204" pitchFamily="18" charset="0"/>
                      </a:rPr>
                      <m:t>≥1−</m:t>
                    </m:r>
                    <m:r>
                      <a:rPr lang="en-US" i="1">
                        <a:latin typeface="Cambria Math" panose="02040503050406030204" pitchFamily="18" charset="0"/>
                      </a:rPr>
                      <m:t>𝛿</m:t>
                    </m:r>
                  </m:oMath>
                </a14:m>
                <a:r>
                  <a:rPr lang="en-US"/>
                  <a:t>, then </a:t>
                </a:r>
                <a14:m>
                  <m:oMath xmlns:m="http://schemas.openxmlformats.org/officeDocument/2006/math">
                    <m:r>
                      <a:rPr lang="en-US" i="1" smtClean="0">
                        <a:solidFill>
                          <a:schemeClr val="accent4"/>
                        </a:solidFill>
                        <a:latin typeface="Cambria Math" panose="02040503050406030204" pitchFamily="18" charset="0"/>
                      </a:rPr>
                      <m:t>𝑃</m:t>
                    </m:r>
                    <m:d>
                      <m:dPr>
                        <m:ctrlPr>
                          <a:rPr lang="en-US" i="1">
                            <a:solidFill>
                              <a:schemeClr val="accent4"/>
                            </a:solidFill>
                            <a:latin typeface="Cambria Math" panose="02040503050406030204" pitchFamily="18" charset="0"/>
                          </a:rPr>
                        </m:ctrlPr>
                      </m:dPr>
                      <m:e>
                        <m:d>
                          <m:dPr>
                            <m:begChr m:val="|"/>
                            <m:endChr m:val="|"/>
                            <m:ctrlPr>
                              <a:rPr lang="en-US" i="1">
                                <a:solidFill>
                                  <a:schemeClr val="accent4"/>
                                </a:solidFill>
                                <a:latin typeface="Cambria Math" panose="02040503050406030204" pitchFamily="18" charset="0"/>
                              </a:rPr>
                            </m:ctrlPr>
                          </m:dPr>
                          <m:e>
                            <m:acc>
                              <m:accPr>
                                <m:chr m:val="̂"/>
                                <m:ctrlPr>
                                  <a:rPr lang="en-US" i="1">
                                    <a:solidFill>
                                      <a:schemeClr val="accent4"/>
                                    </a:solidFill>
                                    <a:latin typeface="Cambria Math" panose="02040503050406030204" pitchFamily="18" charset="0"/>
                                  </a:rPr>
                                </m:ctrlPr>
                              </m:accPr>
                              <m:e>
                                <m:r>
                                  <a:rPr lang="en-US" i="1">
                                    <a:solidFill>
                                      <a:schemeClr val="accent4"/>
                                    </a:solidFill>
                                    <a:latin typeface="Cambria Math" panose="02040503050406030204" pitchFamily="18" charset="0"/>
                                  </a:rPr>
                                  <m:t>𝑝</m:t>
                                </m:r>
                              </m:e>
                            </m:acc>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𝑝</m:t>
                            </m:r>
                          </m:e>
                        </m:d>
                        <m:r>
                          <a:rPr lang="en-US" b="0" i="1" smtClean="0">
                            <a:solidFill>
                              <a:schemeClr val="accent4"/>
                            </a:solidFill>
                            <a:latin typeface="Cambria Math" panose="02040503050406030204" pitchFamily="18" charset="0"/>
                          </a:rPr>
                          <m:t>&gt;</m:t>
                        </m:r>
                        <m:r>
                          <a:rPr lang="en-US" i="1">
                            <a:solidFill>
                              <a:schemeClr val="accent4"/>
                            </a:solidFill>
                            <a:latin typeface="Cambria Math" panose="02040503050406030204" pitchFamily="18" charset="0"/>
                          </a:rPr>
                          <m:t>𝜖</m:t>
                        </m:r>
                      </m:e>
                    </m:d>
                    <m:r>
                      <a:rPr lang="en-US" b="0" i="0" smtClean="0">
                        <a:latin typeface="Cambria Math" panose="02040503050406030204" pitchFamily="18" charset="0"/>
                      </a:rPr>
                      <m:t>≤</m:t>
                    </m:r>
                    <m:r>
                      <a:rPr lang="en-US" b="0" i="1" smtClean="0">
                        <a:latin typeface="Cambria Math" panose="02040503050406030204" pitchFamily="18" charset="0"/>
                      </a:rPr>
                      <m:t>𝛿</m:t>
                    </m:r>
                  </m:oMath>
                </a14:m>
                <a:endParaRPr lang="en-US"/>
              </a:p>
              <a:p>
                <a:pPr marL="342900" indent="-342900">
                  <a:buFont typeface="Arial" panose="020B0604020202020204" pitchFamily="34" charset="0"/>
                  <a:buChar char="•"/>
                </a:pPr>
                <a:r>
                  <a:rPr lang="en-US"/>
                  <a:t>Why? </a:t>
                </a:r>
                <a14:m>
                  <m:oMath xmlns:m="http://schemas.openxmlformats.org/officeDocument/2006/math">
                    <m:r>
                      <a:rPr lang="en-US">
                        <a:latin typeface="Cambria Math" panose="02040503050406030204" pitchFamily="18" charset="0"/>
                      </a:rPr>
                      <m:t>1−</m:t>
                    </m:r>
                    <m:r>
                      <a:rPr lang="en-US" i="1">
                        <a:latin typeface="Cambria Math" panose="02040503050406030204" pitchFamily="18" charset="0"/>
                      </a:rPr>
                      <m:t>𝛿</m:t>
                    </m:r>
                  </m:oMath>
                </a14:m>
                <a:r>
                  <a:rPr lang="en-US"/>
                  <a:t> </a:t>
                </a:r>
                <a:r>
                  <a:rPr lang="en-US">
                    <a:solidFill>
                      <a:schemeClr val="accent3"/>
                    </a:solidFill>
                  </a:rPr>
                  <a:t>chance of being within </a:t>
                </a:r>
                <a14:m>
                  <m:oMath xmlns:m="http://schemas.openxmlformats.org/officeDocument/2006/math">
                    <m:r>
                      <a:rPr lang="en-US" i="1">
                        <a:solidFill>
                          <a:schemeClr val="accent3"/>
                        </a:solidFill>
                        <a:latin typeface="Cambria Math" panose="02040503050406030204" pitchFamily="18" charset="0"/>
                      </a:rPr>
                      <m:t>𝜖</m:t>
                    </m:r>
                  </m:oMath>
                </a14:m>
                <a:r>
                  <a:rPr lang="en-US">
                    <a:solidFill>
                      <a:schemeClr val="accent3"/>
                    </a:solidFill>
                  </a:rPr>
                  <a:t> of the true value </a:t>
                </a:r>
                <a:r>
                  <a:rPr lang="en-US"/>
                  <a:t>is the same thing as a </a:t>
                </a:r>
                <a14:m>
                  <m:oMath xmlns:m="http://schemas.openxmlformats.org/officeDocument/2006/math">
                    <m:r>
                      <a:rPr lang="en-US" i="1">
                        <a:latin typeface="Cambria Math" panose="02040503050406030204" pitchFamily="18" charset="0"/>
                      </a:rPr>
                      <m:t>𝛿</m:t>
                    </m:r>
                  </m:oMath>
                </a14:m>
                <a:r>
                  <a:rPr lang="en-US"/>
                  <a:t> </a:t>
                </a:r>
                <a:r>
                  <a:rPr lang="en-US">
                    <a:solidFill>
                      <a:schemeClr val="accent4"/>
                    </a:solidFill>
                  </a:rPr>
                  <a:t>chance of being more than </a:t>
                </a:r>
                <a14:m>
                  <m:oMath xmlns:m="http://schemas.openxmlformats.org/officeDocument/2006/math">
                    <m:r>
                      <a:rPr lang="en-US" i="1">
                        <a:solidFill>
                          <a:schemeClr val="accent4"/>
                        </a:solidFill>
                        <a:latin typeface="Cambria Math" panose="02040503050406030204" pitchFamily="18" charset="0"/>
                      </a:rPr>
                      <m:t>𝜖</m:t>
                    </m:r>
                  </m:oMath>
                </a14:m>
                <a:r>
                  <a:rPr lang="en-US">
                    <a:solidFill>
                      <a:schemeClr val="accent4"/>
                    </a:solidFill>
                  </a:rPr>
                  <a:t> away from the true value</a:t>
                </a:r>
                <a:r>
                  <a:rPr lang="en-US"/>
                  <a:t>.</a:t>
                </a:r>
              </a:p>
            </p:txBody>
          </p:sp>
        </mc:Choice>
        <mc:Fallback>
          <p:sp>
            <p:nvSpPr>
              <p:cNvPr id="3" name="Content Placeholder 2">
                <a:extLst>
                  <a:ext uri="{FF2B5EF4-FFF2-40B4-BE49-F238E27FC236}">
                    <a16:creationId xmlns:a16="http://schemas.microsoft.com/office/drawing/2014/main" id="{446329B4-42CD-8C48-D393-D34F7E5EC03F}"/>
                  </a:ext>
                </a:extLst>
              </p:cNvPr>
              <p:cNvSpPr>
                <a:spLocks noGrp="1" noRot="1" noChangeAspect="1" noMove="1" noResize="1" noEditPoints="1" noAdjustHandles="1" noChangeArrowheads="1" noChangeShapeType="1" noTextEdit="1"/>
              </p:cNvSpPr>
              <p:nvPr>
                <p:ph idx="1"/>
              </p:nvPr>
            </p:nvSpPr>
            <p:spPr>
              <a:xfrm>
                <a:off x="93657" y="533400"/>
                <a:ext cx="10896315" cy="5638732"/>
              </a:xfrm>
              <a:blipFill>
                <a:blip r:embed="rId3"/>
                <a:stretch>
                  <a:fillRect l="-839" t="-541" b="-800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CA31E03A-B96C-9898-935C-BCC9F9AEA9AE}"/>
                  </a:ext>
                </a:extLst>
              </p:cNvPr>
              <p:cNvSpPr txBox="1"/>
              <p:nvPr/>
            </p:nvSpPr>
            <p:spPr>
              <a:xfrm>
                <a:off x="2207487" y="1859450"/>
                <a:ext cx="3823855"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𝑝</m:t>
                          </m:r>
                        </m:e>
                      </m:acc>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𝑋</m:t>
                          </m:r>
                        </m:num>
                        <m:den>
                          <m:r>
                            <a:rPr lang="en-US" sz="2400" b="0" i="1" smtClean="0">
                              <a:latin typeface="Cambria Math" panose="02040503050406030204" pitchFamily="18" charset="0"/>
                            </a:rPr>
                            <m:t>𝑛</m:t>
                          </m:r>
                        </m:den>
                      </m:f>
                    </m:oMath>
                  </m:oMathPara>
                </a14:m>
                <a:endParaRPr lang="en-US" sz="2400"/>
              </a:p>
            </p:txBody>
          </p:sp>
        </mc:Choice>
        <mc:Fallback>
          <p:sp>
            <p:nvSpPr>
              <p:cNvPr id="4" name="TextBox 3">
                <a:extLst>
                  <a:ext uri="{FF2B5EF4-FFF2-40B4-BE49-F238E27FC236}">
                    <a16:creationId xmlns:a16="http://schemas.microsoft.com/office/drawing/2014/main" id="{CA31E03A-B96C-9898-935C-BCC9F9AEA9AE}"/>
                  </a:ext>
                </a:extLst>
              </p:cNvPr>
              <p:cNvSpPr txBox="1">
                <a:spLocks noRot="1" noChangeAspect="1" noMove="1" noResize="1" noEditPoints="1" noAdjustHandles="1" noChangeArrowheads="1" noChangeShapeType="1" noTextEdit="1"/>
              </p:cNvSpPr>
              <p:nvPr/>
            </p:nvSpPr>
            <p:spPr>
              <a:xfrm>
                <a:off x="2207487" y="1859450"/>
                <a:ext cx="3823855" cy="783804"/>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591648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7AF6B-DE2A-5475-5D92-5575BF3BA736}"/>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C5C386E6-A249-4FB4-19CF-B9C97AA8C26B}"/>
                  </a:ext>
                </a:extLst>
              </p:cNvPr>
              <p:cNvSpPr>
                <a:spLocks noGrp="1"/>
              </p:cNvSpPr>
              <p:nvPr>
                <p:ph type="title"/>
              </p:nvPr>
            </p:nvSpPr>
            <p:spPr/>
            <p:txBody>
              <a:bodyPr/>
              <a:lstStyle/>
              <a:p>
                <a:r>
                  <a:rPr lang="en-US"/>
                  <a:t>Back to Estimating </a:t>
                </a:r>
                <a14:m>
                  <m:oMath xmlns:m="http://schemas.openxmlformats.org/officeDocument/2006/math">
                    <m:r>
                      <a:rPr lang="en-US" b="0" i="1" smtClean="0">
                        <a:latin typeface="Cambria Math" panose="02040503050406030204" pitchFamily="18" charset="0"/>
                      </a:rPr>
                      <m:t>𝑝</m:t>
                    </m:r>
                  </m:oMath>
                </a14:m>
                <a:r>
                  <a:rPr lang="en-US"/>
                  <a:t> for a Coin</a:t>
                </a:r>
              </a:p>
            </p:txBody>
          </p:sp>
        </mc:Choice>
        <mc:Fallback>
          <p:sp>
            <p:nvSpPr>
              <p:cNvPr id="2" name="Title 1">
                <a:extLst>
                  <a:ext uri="{FF2B5EF4-FFF2-40B4-BE49-F238E27FC236}">
                    <a16:creationId xmlns:a16="http://schemas.microsoft.com/office/drawing/2014/main" id="{C5C386E6-A249-4FB4-19CF-B9C97AA8C26B}"/>
                  </a:ext>
                </a:extLst>
              </p:cNvPr>
              <p:cNvSpPr>
                <a:spLocks noGrp="1" noRot="1" noChangeAspect="1" noMove="1" noResize="1" noEditPoints="1" noAdjustHandles="1" noChangeArrowheads="1" noChangeShapeType="1" noTextEdit="1"/>
              </p:cNvSpPr>
              <p:nvPr>
                <p:ph type="title"/>
              </p:nvPr>
            </p:nvSpPr>
            <p:spPr>
              <a:blipFill>
                <a:blip r:embed="rId2"/>
                <a:stretch>
                  <a:fillRect l="-870" t="-14667" b="-2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D4D7443-E079-C264-6C3E-521FE62C02D8}"/>
                  </a:ext>
                </a:extLst>
              </p:cNvPr>
              <p:cNvSpPr>
                <a:spLocks noGrp="1"/>
              </p:cNvSpPr>
              <p:nvPr>
                <p:ph idx="1"/>
              </p:nvPr>
            </p:nvSpPr>
            <p:spPr>
              <a:xfrm>
                <a:off x="93658" y="533400"/>
                <a:ext cx="10849092" cy="5638732"/>
              </a:xfrm>
            </p:spPr>
            <p:txBody>
              <a:bodyPr/>
              <a:lstStyle/>
              <a:p>
                <a:r>
                  <a:rPr lang="en-US"/>
                  <a:t>We have a coin with unknown heads probability </a:t>
                </a:r>
                <a14:m>
                  <m:oMath xmlns:m="http://schemas.openxmlformats.org/officeDocument/2006/math">
                    <m:r>
                      <a:rPr lang="en-US" b="0" i="1" smtClean="0">
                        <a:latin typeface="Cambria Math" panose="02040503050406030204" pitchFamily="18" charset="0"/>
                      </a:rPr>
                      <m:t>𝑝</m:t>
                    </m:r>
                  </m:oMath>
                </a14:m>
                <a:r>
                  <a:rPr lang="en-US"/>
                  <a:t>. We estimate it by tossing a coin n times.</a:t>
                </a:r>
              </a:p>
              <a:p>
                <a:pPr marL="342900" indent="-34290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𝑋</m:t>
                    </m:r>
                  </m:oMath>
                </a14:m>
                <a:r>
                  <a:rPr lang="en-US"/>
                  <a:t> is the number of heads. </a:t>
                </a: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oMath>
                </a14:m>
                <a:r>
                  <a:rPr lang="en-US"/>
                  <a:t>.</a:t>
                </a:r>
              </a:p>
              <a:p>
                <a:pPr marL="342900" indent="-342900">
                  <a:lnSpc>
                    <a:spcPct val="120000"/>
                  </a:lnSpc>
                  <a:buFont typeface="Arial" panose="020B0604020202020204" pitchFamily="34" charset="0"/>
                  <a:buChar char="•"/>
                </a:pPr>
                <a:r>
                  <a:rPr lang="en-US"/>
                  <a:t>Our empirical mean is </a:t>
                </a:r>
              </a:p>
              <a:p>
                <a:endParaRPr lang="en-US"/>
              </a:p>
              <a:p>
                <a:r>
                  <a:rPr lang="en-US"/>
                  <a:t>Goal: How big does </a:t>
                </a:r>
                <a14:m>
                  <m:oMath xmlns:m="http://schemas.openxmlformats.org/officeDocument/2006/math">
                    <m:r>
                      <a:rPr lang="en-US" b="0" i="1" smtClean="0">
                        <a:latin typeface="Cambria Math" panose="02040503050406030204" pitchFamily="18" charset="0"/>
                      </a:rPr>
                      <m:t>𝑛</m:t>
                    </m:r>
                  </m:oMath>
                </a14:m>
                <a:r>
                  <a:rPr lang="en-US"/>
                  <a:t> need to be so that </a:t>
                </a:r>
                <a14:m>
                  <m:oMath xmlns:m="http://schemas.openxmlformats.org/officeDocument/2006/math">
                    <m:r>
                      <a:rPr lang="en-US" i="1">
                        <a:solidFill>
                          <a:schemeClr val="accent4"/>
                        </a:solidFill>
                        <a:latin typeface="Cambria Math" panose="02040503050406030204" pitchFamily="18" charset="0"/>
                      </a:rPr>
                      <m:t>𝑃</m:t>
                    </m:r>
                    <m:d>
                      <m:dPr>
                        <m:ctrlPr>
                          <a:rPr lang="en-US" i="1">
                            <a:solidFill>
                              <a:schemeClr val="accent4"/>
                            </a:solidFill>
                            <a:latin typeface="Cambria Math" panose="02040503050406030204" pitchFamily="18" charset="0"/>
                          </a:rPr>
                        </m:ctrlPr>
                      </m:dPr>
                      <m:e>
                        <m:d>
                          <m:dPr>
                            <m:begChr m:val="|"/>
                            <m:endChr m:val="|"/>
                            <m:ctrlPr>
                              <a:rPr lang="en-US" i="1">
                                <a:solidFill>
                                  <a:schemeClr val="accent4"/>
                                </a:solidFill>
                                <a:latin typeface="Cambria Math" panose="02040503050406030204" pitchFamily="18" charset="0"/>
                              </a:rPr>
                            </m:ctrlPr>
                          </m:dPr>
                          <m:e>
                            <m:acc>
                              <m:accPr>
                                <m:chr m:val="̂"/>
                                <m:ctrlPr>
                                  <a:rPr lang="en-US" i="1">
                                    <a:solidFill>
                                      <a:schemeClr val="accent4"/>
                                    </a:solidFill>
                                    <a:latin typeface="Cambria Math" panose="02040503050406030204" pitchFamily="18" charset="0"/>
                                  </a:rPr>
                                </m:ctrlPr>
                              </m:accPr>
                              <m:e>
                                <m:r>
                                  <a:rPr lang="en-US" i="1">
                                    <a:solidFill>
                                      <a:schemeClr val="accent4"/>
                                    </a:solidFill>
                                    <a:latin typeface="Cambria Math" panose="02040503050406030204" pitchFamily="18" charset="0"/>
                                  </a:rPr>
                                  <m:t>𝑝</m:t>
                                </m:r>
                              </m:e>
                            </m:acc>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𝑝</m:t>
                            </m:r>
                          </m:e>
                        </m:d>
                        <m:r>
                          <a:rPr lang="en-US" i="1">
                            <a:solidFill>
                              <a:schemeClr val="accent4"/>
                            </a:solidFill>
                            <a:latin typeface="Cambria Math" panose="02040503050406030204" pitchFamily="18" charset="0"/>
                          </a:rPr>
                          <m:t>&gt;</m:t>
                        </m:r>
                        <m:r>
                          <a:rPr lang="en-US" i="1">
                            <a:solidFill>
                              <a:schemeClr val="accent4"/>
                            </a:solidFill>
                            <a:latin typeface="Cambria Math" panose="02040503050406030204" pitchFamily="18" charset="0"/>
                          </a:rPr>
                          <m:t>𝜖</m:t>
                        </m:r>
                      </m:e>
                    </m:d>
                    <m:r>
                      <a:rPr lang="en-US" b="0" i="0" smtClean="0">
                        <a:latin typeface="Cambria Math" panose="02040503050406030204" pitchFamily="18" charset="0"/>
                      </a:rPr>
                      <m:t>≤</m:t>
                    </m:r>
                    <m:r>
                      <a:rPr lang="en-US" b="0" i="1" smtClean="0">
                        <a:latin typeface="Cambria Math" panose="02040503050406030204" pitchFamily="18" charset="0"/>
                      </a:rPr>
                      <m:t>𝛿</m:t>
                    </m:r>
                  </m:oMath>
                </a14:m>
                <a:r>
                  <a:rPr lang="en-US"/>
                  <a:t>?</a:t>
                </a:r>
              </a:p>
              <a:p>
                <a:pPr marL="342900" indent="-342900">
                  <a:buFont typeface="Arial" panose="020B0604020202020204" pitchFamily="34" charset="0"/>
                  <a:buChar char="•"/>
                </a:pPr>
                <a:r>
                  <a:rPr lang="en-US"/>
                  <a:t>In other words, how big does </a:t>
                </a:r>
                <a14:m>
                  <m:oMath xmlns:m="http://schemas.openxmlformats.org/officeDocument/2006/math">
                    <m:r>
                      <a:rPr lang="en-US" i="1">
                        <a:latin typeface="Cambria Math" panose="02040503050406030204" pitchFamily="18" charset="0"/>
                      </a:rPr>
                      <m:t>𝑛</m:t>
                    </m:r>
                  </m:oMath>
                </a14:m>
                <a:r>
                  <a:rPr lang="en-US"/>
                  <a:t> need to be so that we have a no more than </a:t>
                </a:r>
                <a14:m>
                  <m:oMath xmlns:m="http://schemas.openxmlformats.org/officeDocument/2006/math">
                    <m:r>
                      <a:rPr lang="en-US" i="1">
                        <a:latin typeface="Cambria Math" panose="02040503050406030204" pitchFamily="18" charset="0"/>
                      </a:rPr>
                      <m:t>𝛿</m:t>
                    </m:r>
                    <m:r>
                      <a:rPr lang="en-US" i="1">
                        <a:latin typeface="Cambria Math" panose="02040503050406030204" pitchFamily="18" charset="0"/>
                      </a:rPr>
                      <m:t> </m:t>
                    </m:r>
                  </m:oMath>
                </a14:m>
                <a:r>
                  <a:rPr lang="en-US"/>
                  <a:t>chance of being more than </a:t>
                </a:r>
                <a14:m>
                  <m:oMath xmlns:m="http://schemas.openxmlformats.org/officeDocument/2006/math">
                    <m:r>
                      <a:rPr lang="en-US" i="1">
                        <a:latin typeface="Cambria Math" panose="02040503050406030204" pitchFamily="18" charset="0"/>
                      </a:rPr>
                      <m:t>𝜖</m:t>
                    </m:r>
                  </m:oMath>
                </a14:m>
                <a:r>
                  <a:rPr lang="en-US"/>
                  <a:t> away from the true </a:t>
                </a:r>
                <a14:m>
                  <m:oMath xmlns:m="http://schemas.openxmlformats.org/officeDocument/2006/math">
                    <m:r>
                      <a:rPr lang="en-US" i="1">
                        <a:latin typeface="Cambria Math" panose="02040503050406030204" pitchFamily="18" charset="0"/>
                      </a:rPr>
                      <m:t>𝑝</m:t>
                    </m:r>
                  </m:oMath>
                </a14:m>
                <a:r>
                  <a:rPr lang="en-US"/>
                  <a:t>?</a:t>
                </a:r>
              </a:p>
              <a:p>
                <a:pPr marL="342900" indent="-342900">
                  <a:buFont typeface="Arial" panose="020B0604020202020204" pitchFamily="34" charset="0"/>
                  <a:buChar char="•"/>
                </a:pPr>
                <a:endParaRPr lang="en-US"/>
              </a:p>
              <a:p>
                <a:r>
                  <a:rPr lang="en-US"/>
                  <a:t>Lastly we note that for any </a:t>
                </a:r>
                <a14:m>
                  <m:oMath xmlns:m="http://schemas.openxmlformats.org/officeDocument/2006/math">
                    <m:r>
                      <a:rPr lang="en-US" b="0" i="1" smtClean="0">
                        <a:latin typeface="Cambria Math" panose="02040503050406030204" pitchFamily="18" charset="0"/>
                      </a:rPr>
                      <m:t>𝑛</m:t>
                    </m:r>
                  </m:oMath>
                </a14:m>
                <a:r>
                  <a:rPr lang="en-US"/>
                  <a:t> such that </a:t>
                </a:r>
                <a14:m>
                  <m:oMath xmlns:m="http://schemas.openxmlformats.org/officeDocument/2006/math">
                    <m:r>
                      <a:rPr lang="en-US" i="1" smtClean="0">
                        <a:solidFill>
                          <a:schemeClr val="accent2"/>
                        </a:solidFill>
                        <a:latin typeface="Cambria Math" panose="02040503050406030204" pitchFamily="18" charset="0"/>
                      </a:rPr>
                      <m:t>𝑃</m:t>
                    </m:r>
                    <m:d>
                      <m:dPr>
                        <m:ctrlPr>
                          <a:rPr lang="en-US" i="1">
                            <a:solidFill>
                              <a:schemeClr val="accent2"/>
                            </a:solidFill>
                            <a:latin typeface="Cambria Math" panose="02040503050406030204" pitchFamily="18" charset="0"/>
                          </a:rPr>
                        </m:ctrlPr>
                      </m:dPr>
                      <m:e>
                        <m:d>
                          <m:dPr>
                            <m:begChr m:val="|"/>
                            <m:endChr m:val="|"/>
                            <m:ctrlPr>
                              <a:rPr lang="en-US" i="1">
                                <a:solidFill>
                                  <a:schemeClr val="accent2"/>
                                </a:solidFill>
                                <a:latin typeface="Cambria Math" panose="02040503050406030204" pitchFamily="18" charset="0"/>
                              </a:rPr>
                            </m:ctrlPr>
                          </m:dPr>
                          <m:e>
                            <m:acc>
                              <m:accPr>
                                <m:chr m:val="̂"/>
                                <m:ctrlPr>
                                  <a:rPr lang="en-US" i="1">
                                    <a:solidFill>
                                      <a:schemeClr val="accent2"/>
                                    </a:solidFill>
                                    <a:latin typeface="Cambria Math" panose="02040503050406030204" pitchFamily="18" charset="0"/>
                                  </a:rPr>
                                </m:ctrlPr>
                              </m:accPr>
                              <m:e>
                                <m:r>
                                  <a:rPr lang="en-US" i="1">
                                    <a:solidFill>
                                      <a:schemeClr val="accent2"/>
                                    </a:solidFill>
                                    <a:latin typeface="Cambria Math" panose="02040503050406030204" pitchFamily="18" charset="0"/>
                                  </a:rPr>
                                  <m:t>𝑝</m:t>
                                </m:r>
                              </m:e>
                            </m:acc>
                            <m:r>
                              <a:rPr lang="en-US" i="1">
                                <a:solidFill>
                                  <a:schemeClr val="accent2"/>
                                </a:solidFill>
                                <a:latin typeface="Cambria Math" panose="02040503050406030204" pitchFamily="18" charset="0"/>
                              </a:rPr>
                              <m:t>−</m:t>
                            </m:r>
                            <m:r>
                              <a:rPr lang="en-US" i="1">
                                <a:solidFill>
                                  <a:schemeClr val="accent2"/>
                                </a:solidFill>
                                <a:latin typeface="Cambria Math" panose="02040503050406030204" pitchFamily="18" charset="0"/>
                              </a:rPr>
                              <m:t>𝑝</m:t>
                            </m:r>
                          </m:e>
                        </m:d>
                        <m:r>
                          <a:rPr lang="en-US" i="1">
                            <a:solidFill>
                              <a:schemeClr val="accent2"/>
                            </a:solidFill>
                            <a:latin typeface="Cambria Math" panose="02040503050406030204" pitchFamily="18" charset="0"/>
                          </a:rPr>
                          <m:t>≥</m:t>
                        </m:r>
                        <m:r>
                          <a:rPr lang="en-US" i="1">
                            <a:solidFill>
                              <a:schemeClr val="accent2"/>
                            </a:solidFill>
                            <a:latin typeface="Cambria Math" panose="02040503050406030204" pitchFamily="18" charset="0"/>
                          </a:rPr>
                          <m:t>𝜖</m:t>
                        </m:r>
                      </m:e>
                    </m:d>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𝛿</m:t>
                    </m:r>
                  </m:oMath>
                </a14:m>
                <a:r>
                  <a:rPr lang="en-US"/>
                  <a:t>, we also have have that </a:t>
                </a:r>
                <a14:m>
                  <m:oMath xmlns:m="http://schemas.openxmlformats.org/officeDocument/2006/math">
                    <m:r>
                      <a:rPr lang="en-US" i="1">
                        <a:solidFill>
                          <a:schemeClr val="accent4"/>
                        </a:solidFill>
                        <a:latin typeface="Cambria Math" panose="02040503050406030204" pitchFamily="18" charset="0"/>
                      </a:rPr>
                      <m:t>𝑃</m:t>
                    </m:r>
                    <m:d>
                      <m:dPr>
                        <m:ctrlPr>
                          <a:rPr lang="en-US" i="1">
                            <a:solidFill>
                              <a:schemeClr val="accent4"/>
                            </a:solidFill>
                            <a:latin typeface="Cambria Math" panose="02040503050406030204" pitchFamily="18" charset="0"/>
                          </a:rPr>
                        </m:ctrlPr>
                      </m:dPr>
                      <m:e>
                        <m:d>
                          <m:dPr>
                            <m:begChr m:val="|"/>
                            <m:endChr m:val="|"/>
                            <m:ctrlPr>
                              <a:rPr lang="en-US" i="1">
                                <a:solidFill>
                                  <a:schemeClr val="accent4"/>
                                </a:solidFill>
                                <a:latin typeface="Cambria Math" panose="02040503050406030204" pitchFamily="18" charset="0"/>
                              </a:rPr>
                            </m:ctrlPr>
                          </m:dPr>
                          <m:e>
                            <m:acc>
                              <m:accPr>
                                <m:chr m:val="̂"/>
                                <m:ctrlPr>
                                  <a:rPr lang="en-US" i="1">
                                    <a:solidFill>
                                      <a:schemeClr val="accent4"/>
                                    </a:solidFill>
                                    <a:latin typeface="Cambria Math" panose="02040503050406030204" pitchFamily="18" charset="0"/>
                                  </a:rPr>
                                </m:ctrlPr>
                              </m:accPr>
                              <m:e>
                                <m:r>
                                  <a:rPr lang="en-US" i="1">
                                    <a:solidFill>
                                      <a:schemeClr val="accent4"/>
                                    </a:solidFill>
                                    <a:latin typeface="Cambria Math" panose="02040503050406030204" pitchFamily="18" charset="0"/>
                                  </a:rPr>
                                  <m:t>𝑝</m:t>
                                </m:r>
                              </m:e>
                            </m:acc>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𝑝</m:t>
                            </m:r>
                          </m:e>
                        </m:d>
                        <m:r>
                          <a:rPr lang="en-US" i="1">
                            <a:solidFill>
                              <a:schemeClr val="accent4"/>
                            </a:solidFill>
                            <a:latin typeface="Cambria Math" panose="02040503050406030204" pitchFamily="18" charset="0"/>
                          </a:rPr>
                          <m:t>&gt;</m:t>
                        </m:r>
                        <m:r>
                          <a:rPr lang="en-US" i="1">
                            <a:solidFill>
                              <a:schemeClr val="accent4"/>
                            </a:solidFill>
                            <a:latin typeface="Cambria Math" panose="02040503050406030204" pitchFamily="18" charset="0"/>
                          </a:rPr>
                          <m:t>𝜖</m:t>
                        </m:r>
                      </m:e>
                    </m:d>
                    <m:r>
                      <a:rPr lang="en-US" b="0" i="1" smtClean="0">
                        <a:latin typeface="Cambria Math" panose="02040503050406030204" pitchFamily="18" charset="0"/>
                      </a:rPr>
                      <m:t>≤</m:t>
                    </m:r>
                    <m:r>
                      <a:rPr lang="en-US" b="0" i="1" smtClean="0">
                        <a:latin typeface="Cambria Math" panose="02040503050406030204" pitchFamily="18" charset="0"/>
                      </a:rPr>
                      <m:t>𝛿</m:t>
                    </m:r>
                  </m:oMath>
                </a14:m>
                <a:r>
                  <a:rPr lang="en-US"/>
                  <a:t>.</a:t>
                </a:r>
              </a:p>
              <a:p>
                <a:pPr marL="342900" indent="-342900">
                  <a:buFont typeface="Arial" panose="020B0604020202020204" pitchFamily="34" charset="0"/>
                  <a:buChar char="•"/>
                </a:pPr>
                <a:r>
                  <a:rPr lang="en-US"/>
                  <a:t>This is because </a:t>
                </a:r>
                <a14:m>
                  <m:oMath xmlns:m="http://schemas.openxmlformats.org/officeDocument/2006/math">
                    <m:r>
                      <a:rPr lang="en-US" i="1">
                        <a:solidFill>
                          <a:schemeClr val="accent4"/>
                        </a:solidFill>
                        <a:latin typeface="Cambria Math" panose="02040503050406030204" pitchFamily="18" charset="0"/>
                      </a:rPr>
                      <m:t>𝑃</m:t>
                    </m:r>
                    <m:d>
                      <m:dPr>
                        <m:ctrlPr>
                          <a:rPr lang="en-US" i="1">
                            <a:solidFill>
                              <a:schemeClr val="accent4"/>
                            </a:solidFill>
                            <a:latin typeface="Cambria Math" panose="02040503050406030204" pitchFamily="18" charset="0"/>
                          </a:rPr>
                        </m:ctrlPr>
                      </m:dPr>
                      <m:e>
                        <m:d>
                          <m:dPr>
                            <m:begChr m:val="|"/>
                            <m:endChr m:val="|"/>
                            <m:ctrlPr>
                              <a:rPr lang="en-US" i="1">
                                <a:solidFill>
                                  <a:schemeClr val="accent4"/>
                                </a:solidFill>
                                <a:latin typeface="Cambria Math" panose="02040503050406030204" pitchFamily="18" charset="0"/>
                              </a:rPr>
                            </m:ctrlPr>
                          </m:dPr>
                          <m:e>
                            <m:acc>
                              <m:accPr>
                                <m:chr m:val="̂"/>
                                <m:ctrlPr>
                                  <a:rPr lang="en-US" i="1">
                                    <a:solidFill>
                                      <a:schemeClr val="accent4"/>
                                    </a:solidFill>
                                    <a:latin typeface="Cambria Math" panose="02040503050406030204" pitchFamily="18" charset="0"/>
                                  </a:rPr>
                                </m:ctrlPr>
                              </m:accPr>
                              <m:e>
                                <m:r>
                                  <a:rPr lang="en-US" i="1">
                                    <a:solidFill>
                                      <a:schemeClr val="accent4"/>
                                    </a:solidFill>
                                    <a:latin typeface="Cambria Math" panose="02040503050406030204" pitchFamily="18" charset="0"/>
                                  </a:rPr>
                                  <m:t>𝑝</m:t>
                                </m:r>
                              </m:e>
                            </m:acc>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𝑝</m:t>
                            </m:r>
                          </m:e>
                        </m:d>
                        <m:r>
                          <a:rPr lang="en-US" i="1">
                            <a:solidFill>
                              <a:schemeClr val="accent4"/>
                            </a:solidFill>
                            <a:latin typeface="Cambria Math" panose="02040503050406030204" pitchFamily="18" charset="0"/>
                          </a:rPr>
                          <m:t>&gt;</m:t>
                        </m:r>
                        <m:r>
                          <a:rPr lang="en-US" i="1">
                            <a:solidFill>
                              <a:schemeClr val="accent4"/>
                            </a:solidFill>
                            <a:latin typeface="Cambria Math" panose="02040503050406030204" pitchFamily="18" charset="0"/>
                          </a:rPr>
                          <m:t>𝜖</m:t>
                        </m:r>
                      </m:e>
                    </m:d>
                    <m:r>
                      <a:rPr lang="en-US" b="0" i="1" smtClean="0">
                        <a:solidFill>
                          <a:schemeClr val="tx1"/>
                        </a:solidFill>
                        <a:latin typeface="Cambria Math" panose="02040503050406030204" pitchFamily="18" charset="0"/>
                      </a:rPr>
                      <m:t>≤</m:t>
                    </m:r>
                    <m:r>
                      <a:rPr lang="en-US" i="1" smtClean="0">
                        <a:solidFill>
                          <a:schemeClr val="accent2"/>
                        </a:solidFill>
                        <a:latin typeface="Cambria Math" panose="02040503050406030204" pitchFamily="18" charset="0"/>
                      </a:rPr>
                      <m:t>𝑃</m:t>
                    </m:r>
                    <m:d>
                      <m:dPr>
                        <m:ctrlPr>
                          <a:rPr lang="en-US" i="1">
                            <a:solidFill>
                              <a:schemeClr val="accent2"/>
                            </a:solidFill>
                            <a:latin typeface="Cambria Math" panose="02040503050406030204" pitchFamily="18" charset="0"/>
                          </a:rPr>
                        </m:ctrlPr>
                      </m:dPr>
                      <m:e>
                        <m:d>
                          <m:dPr>
                            <m:begChr m:val="|"/>
                            <m:endChr m:val="|"/>
                            <m:ctrlPr>
                              <a:rPr lang="en-US" i="1">
                                <a:solidFill>
                                  <a:schemeClr val="accent2"/>
                                </a:solidFill>
                                <a:latin typeface="Cambria Math" panose="02040503050406030204" pitchFamily="18" charset="0"/>
                              </a:rPr>
                            </m:ctrlPr>
                          </m:dPr>
                          <m:e>
                            <m:acc>
                              <m:accPr>
                                <m:chr m:val="̂"/>
                                <m:ctrlPr>
                                  <a:rPr lang="en-US" i="1">
                                    <a:solidFill>
                                      <a:schemeClr val="accent2"/>
                                    </a:solidFill>
                                    <a:latin typeface="Cambria Math" panose="02040503050406030204" pitchFamily="18" charset="0"/>
                                  </a:rPr>
                                </m:ctrlPr>
                              </m:accPr>
                              <m:e>
                                <m:r>
                                  <a:rPr lang="en-US" i="1">
                                    <a:solidFill>
                                      <a:schemeClr val="accent2"/>
                                    </a:solidFill>
                                    <a:latin typeface="Cambria Math" panose="02040503050406030204" pitchFamily="18" charset="0"/>
                                  </a:rPr>
                                  <m:t>𝑝</m:t>
                                </m:r>
                              </m:e>
                            </m:acc>
                            <m:r>
                              <a:rPr lang="en-US" i="1">
                                <a:solidFill>
                                  <a:schemeClr val="accent2"/>
                                </a:solidFill>
                                <a:latin typeface="Cambria Math" panose="02040503050406030204" pitchFamily="18" charset="0"/>
                              </a:rPr>
                              <m:t>−</m:t>
                            </m:r>
                            <m:r>
                              <a:rPr lang="en-US" i="1">
                                <a:solidFill>
                                  <a:schemeClr val="accent2"/>
                                </a:solidFill>
                                <a:latin typeface="Cambria Math" panose="02040503050406030204" pitchFamily="18" charset="0"/>
                              </a:rPr>
                              <m:t>𝑝</m:t>
                            </m:r>
                          </m:e>
                        </m:d>
                        <m:r>
                          <a:rPr lang="en-US" i="1">
                            <a:solidFill>
                              <a:schemeClr val="accent2"/>
                            </a:solidFill>
                            <a:latin typeface="Cambria Math" panose="02040503050406030204" pitchFamily="18" charset="0"/>
                          </a:rPr>
                          <m:t>≥</m:t>
                        </m:r>
                        <m:r>
                          <a:rPr lang="en-US" i="1">
                            <a:solidFill>
                              <a:schemeClr val="accent2"/>
                            </a:solidFill>
                            <a:latin typeface="Cambria Math" panose="02040503050406030204" pitchFamily="18" charset="0"/>
                          </a:rPr>
                          <m:t>𝜖</m:t>
                        </m:r>
                      </m:e>
                    </m:d>
                  </m:oMath>
                </a14:m>
                <a:endParaRPr lang="en-US"/>
              </a:p>
              <a:p>
                <a:pPr marL="342900" indent="-342900">
                  <a:buFont typeface="Arial" panose="020B0604020202020204" pitchFamily="34" charset="0"/>
                  <a:buChar char="•"/>
                </a:pPr>
                <a:endParaRPr lang="en-US"/>
              </a:p>
              <a:p>
                <a:endParaRPr lang="en-US"/>
              </a:p>
            </p:txBody>
          </p:sp>
        </mc:Choice>
        <mc:Fallback>
          <p:sp>
            <p:nvSpPr>
              <p:cNvPr id="3" name="Content Placeholder 2">
                <a:extLst>
                  <a:ext uri="{FF2B5EF4-FFF2-40B4-BE49-F238E27FC236}">
                    <a16:creationId xmlns:a16="http://schemas.microsoft.com/office/drawing/2014/main" id="{2D4D7443-E079-C264-6C3E-521FE62C02D8}"/>
                  </a:ext>
                </a:extLst>
              </p:cNvPr>
              <p:cNvSpPr>
                <a:spLocks noGrp="1" noRot="1" noChangeAspect="1" noMove="1" noResize="1" noEditPoints="1" noAdjustHandles="1" noChangeArrowheads="1" noChangeShapeType="1" noTextEdit="1"/>
              </p:cNvSpPr>
              <p:nvPr>
                <p:ph idx="1"/>
              </p:nvPr>
            </p:nvSpPr>
            <p:spPr>
              <a:xfrm>
                <a:off x="93658" y="533400"/>
                <a:ext cx="10849092" cy="5638732"/>
              </a:xfrm>
              <a:blipFill>
                <a:blip r:embed="rId3"/>
                <a:stretch>
                  <a:fillRect l="-843" t="-541" b="-800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82096798-8564-4E5B-BD6B-1D91BDD134A1}"/>
                  </a:ext>
                </a:extLst>
              </p:cNvPr>
              <p:cNvSpPr txBox="1"/>
              <p:nvPr/>
            </p:nvSpPr>
            <p:spPr>
              <a:xfrm>
                <a:off x="2207487" y="1859450"/>
                <a:ext cx="3823855"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𝑝</m:t>
                          </m:r>
                        </m:e>
                      </m:acc>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𝑋</m:t>
                          </m:r>
                        </m:num>
                        <m:den>
                          <m:r>
                            <a:rPr lang="en-US" sz="2400" b="0" i="1" smtClean="0">
                              <a:latin typeface="Cambria Math" panose="02040503050406030204" pitchFamily="18" charset="0"/>
                            </a:rPr>
                            <m:t>𝑛</m:t>
                          </m:r>
                        </m:den>
                      </m:f>
                    </m:oMath>
                  </m:oMathPara>
                </a14:m>
                <a:endParaRPr lang="en-US" sz="2400"/>
              </a:p>
            </p:txBody>
          </p:sp>
        </mc:Choice>
        <mc:Fallback>
          <p:sp>
            <p:nvSpPr>
              <p:cNvPr id="4" name="TextBox 3">
                <a:extLst>
                  <a:ext uri="{FF2B5EF4-FFF2-40B4-BE49-F238E27FC236}">
                    <a16:creationId xmlns:a16="http://schemas.microsoft.com/office/drawing/2014/main" id="{82096798-8564-4E5B-BD6B-1D91BDD134A1}"/>
                  </a:ext>
                </a:extLst>
              </p:cNvPr>
              <p:cNvSpPr txBox="1">
                <a:spLocks noRot="1" noChangeAspect="1" noMove="1" noResize="1" noEditPoints="1" noAdjustHandles="1" noChangeArrowheads="1" noChangeShapeType="1" noTextEdit="1"/>
              </p:cNvSpPr>
              <p:nvPr/>
            </p:nvSpPr>
            <p:spPr>
              <a:xfrm>
                <a:off x="2207487" y="1859450"/>
                <a:ext cx="3823855" cy="783804"/>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4819200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47F03-9B22-ED7C-2B4B-DF6273416F43}"/>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D357D95F-CAE8-EFF6-2C6C-4F491F46C81F}"/>
                  </a:ext>
                </a:extLst>
              </p:cNvPr>
              <p:cNvSpPr>
                <a:spLocks noGrp="1"/>
              </p:cNvSpPr>
              <p:nvPr>
                <p:ph type="title"/>
              </p:nvPr>
            </p:nvSpPr>
            <p:spPr/>
            <p:txBody>
              <a:bodyPr/>
              <a:lstStyle/>
              <a:p>
                <a:r>
                  <a:rPr lang="en-US"/>
                  <a:t>Back to Estimating </a:t>
                </a:r>
                <a14:m>
                  <m:oMath xmlns:m="http://schemas.openxmlformats.org/officeDocument/2006/math">
                    <m:r>
                      <a:rPr lang="en-US" b="0" i="1" smtClean="0">
                        <a:latin typeface="Cambria Math" panose="02040503050406030204" pitchFamily="18" charset="0"/>
                      </a:rPr>
                      <m:t>𝑝</m:t>
                    </m:r>
                  </m:oMath>
                </a14:m>
                <a:r>
                  <a:rPr lang="en-US"/>
                  <a:t> for a Coin</a:t>
                </a:r>
              </a:p>
            </p:txBody>
          </p:sp>
        </mc:Choice>
        <mc:Fallback>
          <p:sp>
            <p:nvSpPr>
              <p:cNvPr id="2" name="Title 1">
                <a:extLst>
                  <a:ext uri="{FF2B5EF4-FFF2-40B4-BE49-F238E27FC236}">
                    <a16:creationId xmlns:a16="http://schemas.microsoft.com/office/drawing/2014/main" id="{D357D95F-CAE8-EFF6-2C6C-4F491F46C81F}"/>
                  </a:ext>
                </a:extLst>
              </p:cNvPr>
              <p:cNvSpPr>
                <a:spLocks noGrp="1" noRot="1" noChangeAspect="1" noMove="1" noResize="1" noEditPoints="1" noAdjustHandles="1" noChangeArrowheads="1" noChangeShapeType="1" noTextEdit="1"/>
              </p:cNvSpPr>
              <p:nvPr>
                <p:ph type="title"/>
              </p:nvPr>
            </p:nvSpPr>
            <p:spPr>
              <a:blipFill>
                <a:blip r:embed="rId2"/>
                <a:stretch>
                  <a:fillRect l="-870" t="-14667" b="-2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36CA7F1-2A28-C9B8-AADB-B86B0252E0D5}"/>
                  </a:ext>
                </a:extLst>
              </p:cNvPr>
              <p:cNvSpPr>
                <a:spLocks noGrp="1"/>
              </p:cNvSpPr>
              <p:nvPr>
                <p:ph idx="1"/>
              </p:nvPr>
            </p:nvSpPr>
            <p:spPr/>
            <p:txBody>
              <a:bodyPr/>
              <a:lstStyle/>
              <a:p>
                <a:r>
                  <a:rPr lang="en-US"/>
                  <a:t>We have a coin with unknown heads probability </a:t>
                </a:r>
                <a14:m>
                  <m:oMath xmlns:m="http://schemas.openxmlformats.org/officeDocument/2006/math">
                    <m:r>
                      <a:rPr lang="en-US" b="0" i="1" smtClean="0">
                        <a:latin typeface="Cambria Math" panose="02040503050406030204" pitchFamily="18" charset="0"/>
                      </a:rPr>
                      <m:t>𝑝</m:t>
                    </m:r>
                  </m:oMath>
                </a14:m>
                <a:r>
                  <a:rPr lang="en-US"/>
                  <a:t>. We estimate it by tossing a coin n times.</a:t>
                </a:r>
              </a:p>
              <a:p>
                <a:pPr marL="342900" indent="-34290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𝑋</m:t>
                    </m:r>
                  </m:oMath>
                </a14:m>
                <a:r>
                  <a:rPr lang="en-US"/>
                  <a:t> is the number of heads. </a:t>
                </a: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oMath>
                </a14:m>
                <a:r>
                  <a:rPr lang="en-US"/>
                  <a:t>.</a:t>
                </a:r>
              </a:p>
              <a:p>
                <a:pPr marL="342900" indent="-342900">
                  <a:lnSpc>
                    <a:spcPct val="120000"/>
                  </a:lnSpc>
                  <a:buFont typeface="Arial" panose="020B0604020202020204" pitchFamily="34" charset="0"/>
                  <a:buChar char="•"/>
                </a:pPr>
                <a:r>
                  <a:rPr lang="en-US"/>
                  <a:t>Our empirical mean is </a:t>
                </a:r>
              </a:p>
              <a:p>
                <a:endParaRPr lang="en-US"/>
              </a:p>
              <a:p>
                <a:r>
                  <a:rPr lang="en-US"/>
                  <a:t>Goal: How big does </a:t>
                </a:r>
                <a14:m>
                  <m:oMath xmlns:m="http://schemas.openxmlformats.org/officeDocument/2006/math">
                    <m:r>
                      <a:rPr lang="en-US" b="0" i="1" smtClean="0">
                        <a:latin typeface="Cambria Math" panose="02040503050406030204" pitchFamily="18" charset="0"/>
                      </a:rPr>
                      <m:t>𝑛</m:t>
                    </m:r>
                  </m:oMath>
                </a14:m>
                <a:r>
                  <a:rPr lang="en-US"/>
                  <a:t> need to be so that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i="1">
                                <a:latin typeface="Cambria Math" panose="02040503050406030204" pitchFamily="18" charset="0"/>
                              </a:rPr>
                              <m:t>−</m:t>
                            </m:r>
                            <m:r>
                              <a:rPr lang="en-US" i="1">
                                <a:latin typeface="Cambria Math" panose="02040503050406030204" pitchFamily="18" charset="0"/>
                              </a:rPr>
                              <m:t>𝑝</m:t>
                            </m:r>
                          </m:e>
                        </m:d>
                        <m:r>
                          <a:rPr lang="en-US" i="1">
                            <a:latin typeface="Cambria Math" panose="02040503050406030204" pitchFamily="18" charset="0"/>
                          </a:rPr>
                          <m:t>≤</m:t>
                        </m:r>
                        <m:r>
                          <a:rPr lang="en-US" i="1">
                            <a:latin typeface="Cambria Math" panose="02040503050406030204" pitchFamily="18" charset="0"/>
                          </a:rPr>
                          <m:t>𝜖</m:t>
                        </m:r>
                      </m:e>
                    </m:d>
                    <m:r>
                      <a:rPr lang="en-US">
                        <a:latin typeface="Cambria Math" panose="02040503050406030204" pitchFamily="18" charset="0"/>
                      </a:rPr>
                      <m:t>≥</m:t>
                    </m:r>
                    <m:r>
                      <m:rPr>
                        <m:sty m:val="p"/>
                      </m:rPr>
                      <a:rPr lang="en-US">
                        <a:latin typeface="Cambria Math" panose="02040503050406030204" pitchFamily="18" charset="0"/>
                      </a:rPr>
                      <m:t>C</m:t>
                    </m:r>
                  </m:oMath>
                </a14:m>
                <a:r>
                  <a:rPr lang="en-US"/>
                  <a:t>?</a:t>
                </a:r>
              </a:p>
              <a:p>
                <a:pPr marL="342900" indent="-342900">
                  <a:buFont typeface="Arial" panose="020B0604020202020204" pitchFamily="34" charset="0"/>
                  <a:buChar char="•"/>
                </a:pPr>
                <a:r>
                  <a:rPr lang="en-US"/>
                  <a:t>We’ve now shown that we can reframe as finding </a:t>
                </a:r>
                <a14:m>
                  <m:oMath xmlns:m="http://schemas.openxmlformats.org/officeDocument/2006/math">
                    <m:r>
                      <a:rPr lang="en-US" b="0" i="1" smtClean="0">
                        <a:latin typeface="Cambria Math" panose="02040503050406030204" pitchFamily="18" charset="0"/>
                      </a:rPr>
                      <m:t>𝑛</m:t>
                    </m:r>
                  </m:oMath>
                </a14:m>
                <a:r>
                  <a:rPr lang="en-US"/>
                  <a:t> such </a:t>
                </a:r>
                <a14:m>
                  <m:oMath xmlns:m="http://schemas.openxmlformats.org/officeDocument/2006/math">
                    <m:r>
                      <a:rPr lang="en-US" i="1">
                        <a:solidFill>
                          <a:schemeClr val="accent4"/>
                        </a:solidFill>
                        <a:latin typeface="Cambria Math" panose="02040503050406030204" pitchFamily="18" charset="0"/>
                      </a:rPr>
                      <m:t>𝑃</m:t>
                    </m:r>
                    <m:d>
                      <m:dPr>
                        <m:ctrlPr>
                          <a:rPr lang="en-US" i="1">
                            <a:solidFill>
                              <a:schemeClr val="accent4"/>
                            </a:solidFill>
                            <a:latin typeface="Cambria Math" panose="02040503050406030204" pitchFamily="18" charset="0"/>
                          </a:rPr>
                        </m:ctrlPr>
                      </m:dPr>
                      <m:e>
                        <m:d>
                          <m:dPr>
                            <m:begChr m:val="|"/>
                            <m:endChr m:val="|"/>
                            <m:ctrlPr>
                              <a:rPr lang="en-US" i="1">
                                <a:solidFill>
                                  <a:schemeClr val="accent4"/>
                                </a:solidFill>
                                <a:latin typeface="Cambria Math" panose="02040503050406030204" pitchFamily="18" charset="0"/>
                              </a:rPr>
                            </m:ctrlPr>
                          </m:dPr>
                          <m:e>
                            <m:acc>
                              <m:accPr>
                                <m:chr m:val="̂"/>
                                <m:ctrlPr>
                                  <a:rPr lang="en-US" i="1">
                                    <a:solidFill>
                                      <a:schemeClr val="accent4"/>
                                    </a:solidFill>
                                    <a:latin typeface="Cambria Math" panose="02040503050406030204" pitchFamily="18" charset="0"/>
                                  </a:rPr>
                                </m:ctrlPr>
                              </m:accPr>
                              <m:e>
                                <m:r>
                                  <a:rPr lang="en-US" i="1">
                                    <a:solidFill>
                                      <a:schemeClr val="accent4"/>
                                    </a:solidFill>
                                    <a:latin typeface="Cambria Math" panose="02040503050406030204" pitchFamily="18" charset="0"/>
                                  </a:rPr>
                                  <m:t>𝑝</m:t>
                                </m:r>
                              </m:e>
                            </m:acc>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𝑝</m:t>
                            </m:r>
                          </m:e>
                        </m:d>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𝜖</m:t>
                        </m:r>
                      </m:e>
                    </m:d>
                  </m:oMath>
                </a14:m>
                <a:endParaRPr lang="en-US"/>
              </a:p>
              <a:p>
                <a:pPr marL="342900" indent="-342900">
                  <a:buFont typeface="Arial" panose="020B0604020202020204" pitchFamily="34" charset="0"/>
                  <a:buChar char="•"/>
                </a:pPr>
                <a:endParaRPr lang="en-US"/>
              </a:p>
              <a:p>
                <a:endParaRPr lang="en-US"/>
              </a:p>
            </p:txBody>
          </p:sp>
        </mc:Choice>
        <mc:Fallback>
          <p:sp>
            <p:nvSpPr>
              <p:cNvPr id="3" name="Content Placeholder 2">
                <a:extLst>
                  <a:ext uri="{FF2B5EF4-FFF2-40B4-BE49-F238E27FC236}">
                    <a16:creationId xmlns:a16="http://schemas.microsoft.com/office/drawing/2014/main" id="{B36CA7F1-2A28-C9B8-AADB-B86B0252E0D5}"/>
                  </a:ext>
                </a:extLst>
              </p:cNvPr>
              <p:cNvSpPr>
                <a:spLocks noGrp="1" noRot="1" noChangeAspect="1" noMove="1" noResize="1" noEditPoints="1" noAdjustHandles="1" noChangeArrowheads="1" noChangeShapeType="1" noTextEdit="1"/>
              </p:cNvSpPr>
              <p:nvPr>
                <p:ph idx="1"/>
              </p:nvPr>
            </p:nvSpPr>
            <p:spPr>
              <a:blipFill>
                <a:blip r:embed="rId3"/>
                <a:stretch>
                  <a:fillRect l="-796" t="-541" r="-53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086FE353-6606-5285-5D9D-6DF8A6C0F006}"/>
                  </a:ext>
                </a:extLst>
              </p:cNvPr>
              <p:cNvSpPr txBox="1"/>
              <p:nvPr/>
            </p:nvSpPr>
            <p:spPr>
              <a:xfrm>
                <a:off x="2207487" y="1859450"/>
                <a:ext cx="3823855"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𝑝</m:t>
                          </m:r>
                        </m:e>
                      </m:acc>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𝑋</m:t>
                          </m:r>
                        </m:num>
                        <m:den>
                          <m:r>
                            <a:rPr lang="en-US" sz="2400" b="0" i="1" smtClean="0">
                              <a:latin typeface="Cambria Math" panose="02040503050406030204" pitchFamily="18" charset="0"/>
                            </a:rPr>
                            <m:t>𝑛</m:t>
                          </m:r>
                        </m:den>
                      </m:f>
                    </m:oMath>
                  </m:oMathPara>
                </a14:m>
                <a:endParaRPr lang="en-US" sz="2400"/>
              </a:p>
            </p:txBody>
          </p:sp>
        </mc:Choice>
        <mc:Fallback>
          <p:sp>
            <p:nvSpPr>
              <p:cNvPr id="4" name="TextBox 3">
                <a:extLst>
                  <a:ext uri="{FF2B5EF4-FFF2-40B4-BE49-F238E27FC236}">
                    <a16:creationId xmlns:a16="http://schemas.microsoft.com/office/drawing/2014/main" id="{086FE353-6606-5285-5D9D-6DF8A6C0F006}"/>
                  </a:ext>
                </a:extLst>
              </p:cNvPr>
              <p:cNvSpPr txBox="1">
                <a:spLocks noRot="1" noChangeAspect="1" noMove="1" noResize="1" noEditPoints="1" noAdjustHandles="1" noChangeArrowheads="1" noChangeShapeType="1" noTextEdit="1"/>
              </p:cNvSpPr>
              <p:nvPr/>
            </p:nvSpPr>
            <p:spPr>
              <a:xfrm>
                <a:off x="2207487" y="1859450"/>
                <a:ext cx="3823855" cy="783804"/>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33433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F3F07-7D8D-5500-77B9-DCCE9B46A06A}"/>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0D738172-578F-FCE1-7561-43AE9D9371F3}"/>
                  </a:ext>
                </a:extLst>
              </p:cNvPr>
              <p:cNvSpPr>
                <a:spLocks noGrp="1"/>
              </p:cNvSpPr>
              <p:nvPr>
                <p:ph type="title"/>
              </p:nvPr>
            </p:nvSpPr>
            <p:spPr/>
            <p:txBody>
              <a:bodyPr/>
              <a:lstStyle/>
              <a:p>
                <a:r>
                  <a:rPr lang="en-US"/>
                  <a:t>Back to Estimating </a:t>
                </a:r>
                <a14:m>
                  <m:oMath xmlns:m="http://schemas.openxmlformats.org/officeDocument/2006/math">
                    <m:r>
                      <a:rPr lang="en-US" b="0" i="1" smtClean="0">
                        <a:latin typeface="Cambria Math" panose="02040503050406030204" pitchFamily="18" charset="0"/>
                      </a:rPr>
                      <m:t>𝑝</m:t>
                    </m:r>
                  </m:oMath>
                </a14:m>
                <a:r>
                  <a:rPr lang="en-US"/>
                  <a:t> for a Coin</a:t>
                </a:r>
              </a:p>
            </p:txBody>
          </p:sp>
        </mc:Choice>
        <mc:Fallback>
          <p:sp>
            <p:nvSpPr>
              <p:cNvPr id="2" name="Title 1">
                <a:extLst>
                  <a:ext uri="{FF2B5EF4-FFF2-40B4-BE49-F238E27FC236}">
                    <a16:creationId xmlns:a16="http://schemas.microsoft.com/office/drawing/2014/main" id="{0D738172-578F-FCE1-7561-43AE9D9371F3}"/>
                  </a:ext>
                </a:extLst>
              </p:cNvPr>
              <p:cNvSpPr>
                <a:spLocks noGrp="1" noRot="1" noChangeAspect="1" noMove="1" noResize="1" noEditPoints="1" noAdjustHandles="1" noChangeArrowheads="1" noChangeShapeType="1" noTextEdit="1"/>
              </p:cNvSpPr>
              <p:nvPr>
                <p:ph type="title"/>
              </p:nvPr>
            </p:nvSpPr>
            <p:spPr>
              <a:blipFill>
                <a:blip r:embed="rId2"/>
                <a:stretch>
                  <a:fillRect l="-870" t="-14667" b="-2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65F8C76-67A8-A353-A8CC-ED31ACB8D9EE}"/>
                  </a:ext>
                </a:extLst>
              </p:cNvPr>
              <p:cNvSpPr>
                <a:spLocks noGrp="1"/>
              </p:cNvSpPr>
              <p:nvPr>
                <p:ph idx="1"/>
              </p:nvPr>
            </p:nvSpPr>
            <p:spPr>
              <a:xfrm>
                <a:off x="93657" y="533400"/>
                <a:ext cx="10565757" cy="5638732"/>
              </a:xfrm>
            </p:spPr>
            <p:txBody>
              <a:bodyPr/>
              <a:lstStyle/>
              <a:p>
                <a:r>
                  <a:rPr lang="en-US"/>
                  <a:t>We have a coin with unknown heads probability </a:t>
                </a:r>
                <a14:m>
                  <m:oMath xmlns:m="http://schemas.openxmlformats.org/officeDocument/2006/math">
                    <m:r>
                      <a:rPr lang="en-US" b="0" i="1" smtClean="0">
                        <a:latin typeface="Cambria Math" panose="02040503050406030204" pitchFamily="18" charset="0"/>
                      </a:rPr>
                      <m:t>𝑝</m:t>
                    </m:r>
                  </m:oMath>
                </a14:m>
                <a:r>
                  <a:rPr lang="en-US"/>
                  <a:t>. We estimate it by tossing a coin n times.</a:t>
                </a:r>
              </a:p>
              <a:p>
                <a:pPr marL="342900" indent="-34290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𝑋</m:t>
                    </m:r>
                  </m:oMath>
                </a14:m>
                <a:r>
                  <a:rPr lang="en-US"/>
                  <a:t> is the number of heads. </a:t>
                </a: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oMath>
                </a14:m>
                <a:r>
                  <a:rPr lang="en-US"/>
                  <a:t>.</a:t>
                </a:r>
              </a:p>
              <a:p>
                <a:pPr marL="342900" indent="-342900">
                  <a:lnSpc>
                    <a:spcPct val="120000"/>
                  </a:lnSpc>
                  <a:buFont typeface="Arial" panose="020B0604020202020204" pitchFamily="34" charset="0"/>
                  <a:buChar char="•"/>
                </a:pPr>
                <a:r>
                  <a:rPr lang="en-US"/>
                  <a:t>Our empirical mean is </a:t>
                </a:r>
              </a:p>
              <a:p>
                <a:pPr marL="342900" indent="-342900">
                  <a:buFont typeface="Arial" panose="020B0604020202020204" pitchFamily="34" charset="0"/>
                  <a:buChar char="•"/>
                </a:pPr>
                <a:endParaRPr lang="en-US"/>
              </a:p>
              <a:p>
                <a:r>
                  <a:rPr lang="en-US"/>
                  <a:t>Observation, we can bound                                   using Chebyshev’s inequality.</a:t>
                </a:r>
              </a:p>
              <a:p>
                <a:pPr marL="342900" indent="-342900">
                  <a:buFont typeface="Arial" panose="020B0604020202020204" pitchFamily="34" charset="0"/>
                  <a:buChar char="•"/>
                </a:pPr>
                <a:r>
                  <a:rPr lang="en-US"/>
                  <a:t>Since </a:t>
                </a:r>
                <a14:m>
                  <m:oMath xmlns:m="http://schemas.openxmlformats.org/officeDocument/2006/math">
                    <m:r>
                      <a:rPr lang="en-US" i="1" smtClean="0">
                        <a:latin typeface="Cambria Math" panose="02040503050406030204" pitchFamily="18" charset="0"/>
                      </a:rPr>
                      <m:t>𝔼</m:t>
                    </m:r>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e>
                    </m:d>
                    <m:r>
                      <a:rPr lang="en-US" b="0" i="1" smtClean="0">
                        <a:latin typeface="Cambria Math" panose="02040503050406030204" pitchFamily="18" charset="0"/>
                      </a:rPr>
                      <m:t>=</m:t>
                    </m:r>
                    <m:r>
                      <a:rPr lang="en-US" b="0" i="1" smtClean="0">
                        <a:latin typeface="Cambria Math" panose="02040503050406030204" pitchFamily="18" charset="0"/>
                      </a:rPr>
                      <m:t>𝑝</m:t>
                    </m:r>
                  </m:oMath>
                </a14:m>
                <a:r>
                  <a:rPr lang="en-US"/>
                  <a:t>, we have that:</a:t>
                </a:r>
              </a:p>
              <a:p>
                <a:pPr marL="342900" indent="-342900">
                  <a:buFont typeface="Arial" panose="020B0604020202020204" pitchFamily="34" charset="0"/>
                  <a:buChar char="•"/>
                </a:pPr>
                <a:r>
                  <a:rPr lang="en-US"/>
                  <a:t>So now we need to know </a:t>
                </a:r>
                <a14:m>
                  <m:oMath xmlns:m="http://schemas.openxmlformats.org/officeDocument/2006/math">
                    <m:r>
                      <m:rPr>
                        <m:sty m:val="p"/>
                      </m:rPr>
                      <a:rPr lang="en-US">
                        <a:latin typeface="Cambria Math" panose="02040503050406030204" pitchFamily="18" charset="0"/>
                      </a:rPr>
                      <m:t>var</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d>
                  </m:oMath>
                </a14:m>
                <a:r>
                  <a:rPr lang="en-US"/>
                  <a:t>.</a:t>
                </a:r>
              </a:p>
              <a:p>
                <a:endParaRPr lang="en-US"/>
              </a:p>
            </p:txBody>
          </p:sp>
        </mc:Choice>
        <mc:Fallback>
          <p:sp>
            <p:nvSpPr>
              <p:cNvPr id="3" name="Content Placeholder 2">
                <a:extLst>
                  <a:ext uri="{FF2B5EF4-FFF2-40B4-BE49-F238E27FC236}">
                    <a16:creationId xmlns:a16="http://schemas.microsoft.com/office/drawing/2014/main" id="{765F8C76-67A8-A353-A8CC-ED31ACB8D9EE}"/>
                  </a:ext>
                </a:extLst>
              </p:cNvPr>
              <p:cNvSpPr>
                <a:spLocks noGrp="1" noRot="1" noChangeAspect="1" noMove="1" noResize="1" noEditPoints="1" noAdjustHandles="1" noChangeArrowheads="1" noChangeShapeType="1" noTextEdit="1"/>
              </p:cNvSpPr>
              <p:nvPr>
                <p:ph idx="1"/>
              </p:nvPr>
            </p:nvSpPr>
            <p:spPr>
              <a:xfrm>
                <a:off x="93657" y="533400"/>
                <a:ext cx="10565757" cy="5638732"/>
              </a:xfrm>
              <a:blipFill>
                <a:blip r:embed="rId3"/>
                <a:stretch>
                  <a:fillRect l="-865" t="-54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E5EAEFDA-78E4-A148-FE40-331784AEB424}"/>
                  </a:ext>
                </a:extLst>
              </p:cNvPr>
              <p:cNvSpPr txBox="1"/>
              <p:nvPr/>
            </p:nvSpPr>
            <p:spPr>
              <a:xfrm>
                <a:off x="2207487" y="1859450"/>
                <a:ext cx="3823855"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𝑝</m:t>
                          </m:r>
                        </m:e>
                      </m:acc>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𝑋</m:t>
                          </m:r>
                        </m:num>
                        <m:den>
                          <m:r>
                            <a:rPr lang="en-US" sz="2400" b="0" i="1" smtClean="0">
                              <a:latin typeface="Cambria Math" panose="02040503050406030204" pitchFamily="18" charset="0"/>
                            </a:rPr>
                            <m:t>𝑛</m:t>
                          </m:r>
                        </m:den>
                      </m:f>
                    </m:oMath>
                  </m:oMathPara>
                </a14:m>
                <a:endParaRPr lang="en-US" sz="2400"/>
              </a:p>
            </p:txBody>
          </p:sp>
        </mc:Choice>
        <mc:Fallback>
          <p:sp>
            <p:nvSpPr>
              <p:cNvPr id="4" name="TextBox 3">
                <a:extLst>
                  <a:ext uri="{FF2B5EF4-FFF2-40B4-BE49-F238E27FC236}">
                    <a16:creationId xmlns:a16="http://schemas.microsoft.com/office/drawing/2014/main" id="{E5EAEFDA-78E4-A148-FE40-331784AEB424}"/>
                  </a:ext>
                </a:extLst>
              </p:cNvPr>
              <p:cNvSpPr txBox="1">
                <a:spLocks noRot="1" noChangeAspect="1" noMove="1" noResize="1" noEditPoints="1" noAdjustHandles="1" noChangeArrowheads="1" noChangeShapeType="1" noTextEdit="1"/>
              </p:cNvSpPr>
              <p:nvPr/>
            </p:nvSpPr>
            <p:spPr>
              <a:xfrm>
                <a:off x="2207487" y="1859450"/>
                <a:ext cx="3823855" cy="78380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B7785072-0273-50E4-FA9F-241D44256DC9}"/>
                  </a:ext>
                </a:extLst>
              </p:cNvPr>
              <p:cNvSpPr txBox="1"/>
              <p:nvPr/>
            </p:nvSpPr>
            <p:spPr>
              <a:xfrm>
                <a:off x="4400525" y="3121933"/>
                <a:ext cx="214348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4"/>
                          </a:solidFill>
                          <a:latin typeface="Cambria Math" panose="02040503050406030204" pitchFamily="18" charset="0"/>
                        </a:rPr>
                        <m:t>𝑃</m:t>
                      </m:r>
                      <m:d>
                        <m:dPr>
                          <m:ctrlPr>
                            <a:rPr lang="en-US" sz="2400" b="0" i="1" smtClean="0">
                              <a:solidFill>
                                <a:schemeClr val="accent4"/>
                              </a:solidFill>
                              <a:latin typeface="Cambria Math" panose="02040503050406030204" pitchFamily="18" charset="0"/>
                            </a:rPr>
                          </m:ctrlPr>
                        </m:dPr>
                        <m:e>
                          <m:d>
                            <m:dPr>
                              <m:begChr m:val="|"/>
                              <m:endChr m:val="|"/>
                              <m:ctrlPr>
                                <a:rPr lang="en-US" sz="2400" b="0" i="1" smtClean="0">
                                  <a:solidFill>
                                    <a:schemeClr val="accent4"/>
                                  </a:solidFill>
                                  <a:latin typeface="Cambria Math" panose="02040503050406030204" pitchFamily="18" charset="0"/>
                                </a:rPr>
                              </m:ctrlPr>
                            </m:dPr>
                            <m:e>
                              <m:acc>
                                <m:accPr>
                                  <m:chr m:val="̂"/>
                                  <m:ctrlPr>
                                    <a:rPr lang="en-US" sz="2400" b="0" i="1" smtClean="0">
                                      <a:solidFill>
                                        <a:schemeClr val="accent4"/>
                                      </a:solidFill>
                                      <a:latin typeface="Cambria Math" panose="02040503050406030204" pitchFamily="18" charset="0"/>
                                    </a:rPr>
                                  </m:ctrlPr>
                                </m:accPr>
                                <m:e>
                                  <m:r>
                                    <a:rPr lang="en-US" sz="2400" b="0" i="1" smtClean="0">
                                      <a:solidFill>
                                        <a:schemeClr val="accent4"/>
                                      </a:solidFill>
                                      <a:latin typeface="Cambria Math" panose="02040503050406030204" pitchFamily="18" charset="0"/>
                                    </a:rPr>
                                    <m:t>𝑝</m:t>
                                  </m:r>
                                </m:e>
                              </m:acc>
                              <m:r>
                                <a:rPr lang="en-US" sz="2400" b="0" i="1" smtClean="0">
                                  <a:solidFill>
                                    <a:schemeClr val="accent4"/>
                                  </a:solidFill>
                                  <a:latin typeface="Cambria Math" panose="02040503050406030204" pitchFamily="18" charset="0"/>
                                </a:rPr>
                                <m:t>−</m:t>
                              </m:r>
                              <m:r>
                                <a:rPr lang="en-US" sz="2400" b="0" i="1" smtClean="0">
                                  <a:solidFill>
                                    <a:schemeClr val="accent4"/>
                                  </a:solidFill>
                                  <a:latin typeface="Cambria Math" panose="02040503050406030204" pitchFamily="18" charset="0"/>
                                </a:rPr>
                                <m:t>𝑝</m:t>
                              </m:r>
                            </m:e>
                          </m:d>
                          <m:r>
                            <a:rPr lang="en-US" sz="2400" b="0" i="1" smtClean="0">
                              <a:solidFill>
                                <a:schemeClr val="accent4"/>
                              </a:solidFill>
                              <a:latin typeface="Cambria Math" panose="02040503050406030204" pitchFamily="18" charset="0"/>
                            </a:rPr>
                            <m:t>≥</m:t>
                          </m:r>
                          <m:r>
                            <a:rPr lang="en-US" sz="2400" b="0" i="1" smtClean="0">
                              <a:solidFill>
                                <a:schemeClr val="accent4"/>
                              </a:solidFill>
                              <a:latin typeface="Cambria Math" panose="02040503050406030204" pitchFamily="18" charset="0"/>
                            </a:rPr>
                            <m:t>𝜖</m:t>
                          </m:r>
                        </m:e>
                      </m:d>
                    </m:oMath>
                  </m:oMathPara>
                </a14:m>
                <a:endParaRPr lang="en-US" sz="2400">
                  <a:solidFill>
                    <a:schemeClr val="accent4"/>
                  </a:solidFill>
                </a:endParaRPr>
              </a:p>
            </p:txBody>
          </p:sp>
        </mc:Choice>
        <mc:Fallback>
          <p:sp>
            <p:nvSpPr>
              <p:cNvPr id="5" name="TextBox 4">
                <a:extLst>
                  <a:ext uri="{FF2B5EF4-FFF2-40B4-BE49-F238E27FC236}">
                    <a16:creationId xmlns:a16="http://schemas.microsoft.com/office/drawing/2014/main" id="{B7785072-0273-50E4-FA9F-241D44256DC9}"/>
                  </a:ext>
                </a:extLst>
              </p:cNvPr>
              <p:cNvSpPr txBox="1">
                <a:spLocks noRot="1" noChangeAspect="1" noMove="1" noResize="1" noEditPoints="1" noAdjustHandles="1" noChangeArrowheads="1" noChangeShapeType="1" noTextEdit="1"/>
              </p:cNvSpPr>
              <p:nvPr/>
            </p:nvSpPr>
            <p:spPr>
              <a:xfrm>
                <a:off x="4400525" y="3121933"/>
                <a:ext cx="2143484" cy="461665"/>
              </a:xfrm>
              <a:prstGeom prst="rect">
                <a:avLst/>
              </a:prstGeom>
              <a:blipFill>
                <a:blip r:embed="rId5"/>
                <a:stretch>
                  <a:fillRect t="-3947" b="-1052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CA134726-9AE4-E4C8-05B9-A2C929D7E52A}"/>
                  </a:ext>
                </a:extLst>
              </p:cNvPr>
              <p:cNvSpPr txBox="1"/>
              <p:nvPr/>
            </p:nvSpPr>
            <p:spPr>
              <a:xfrm>
                <a:off x="4757563" y="3909132"/>
                <a:ext cx="6382327" cy="8091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4"/>
                          </a:solidFill>
                          <a:latin typeface="Cambria Math" panose="02040503050406030204" pitchFamily="18" charset="0"/>
                        </a:rPr>
                        <m:t>𝑃</m:t>
                      </m:r>
                      <m:d>
                        <m:dPr>
                          <m:ctrlPr>
                            <a:rPr lang="en-US" sz="2400" b="0" i="1" smtClean="0">
                              <a:solidFill>
                                <a:schemeClr val="accent4"/>
                              </a:solidFill>
                              <a:latin typeface="Cambria Math" panose="02040503050406030204" pitchFamily="18" charset="0"/>
                            </a:rPr>
                          </m:ctrlPr>
                        </m:dPr>
                        <m:e>
                          <m:d>
                            <m:dPr>
                              <m:begChr m:val="|"/>
                              <m:endChr m:val="|"/>
                              <m:ctrlPr>
                                <a:rPr lang="en-US" sz="2400" b="0" i="1" smtClean="0">
                                  <a:solidFill>
                                    <a:schemeClr val="accent4"/>
                                  </a:solidFill>
                                  <a:latin typeface="Cambria Math" panose="02040503050406030204" pitchFamily="18" charset="0"/>
                                </a:rPr>
                              </m:ctrlPr>
                            </m:dPr>
                            <m:e>
                              <m:acc>
                                <m:accPr>
                                  <m:chr m:val="̂"/>
                                  <m:ctrlPr>
                                    <a:rPr lang="en-US" sz="2400" b="0" i="1" smtClean="0">
                                      <a:solidFill>
                                        <a:schemeClr val="accent4"/>
                                      </a:solidFill>
                                      <a:latin typeface="Cambria Math" panose="02040503050406030204" pitchFamily="18" charset="0"/>
                                    </a:rPr>
                                  </m:ctrlPr>
                                </m:accPr>
                                <m:e>
                                  <m:r>
                                    <a:rPr lang="en-US" sz="2400" b="0" i="1" smtClean="0">
                                      <a:solidFill>
                                        <a:schemeClr val="accent4"/>
                                      </a:solidFill>
                                      <a:latin typeface="Cambria Math" panose="02040503050406030204" pitchFamily="18" charset="0"/>
                                    </a:rPr>
                                    <m:t>𝑝</m:t>
                                  </m:r>
                                </m:e>
                              </m:acc>
                              <m:r>
                                <a:rPr lang="en-US" sz="2400" b="0" i="1" smtClean="0">
                                  <a:solidFill>
                                    <a:schemeClr val="accent4"/>
                                  </a:solidFill>
                                  <a:latin typeface="Cambria Math" panose="02040503050406030204" pitchFamily="18" charset="0"/>
                                </a:rPr>
                                <m:t>−</m:t>
                              </m:r>
                              <m:r>
                                <a:rPr lang="en-US" sz="2400" i="1">
                                  <a:solidFill>
                                    <a:schemeClr val="accent4"/>
                                  </a:solidFill>
                                  <a:latin typeface="Cambria Math" panose="02040503050406030204" pitchFamily="18" charset="0"/>
                                </a:rPr>
                                <m:t>𝔼</m:t>
                              </m:r>
                              <m:d>
                                <m:dPr>
                                  <m:begChr m:val="["/>
                                  <m:endChr m:val="]"/>
                                  <m:ctrlPr>
                                    <a:rPr lang="en-US" sz="2400" i="1">
                                      <a:solidFill>
                                        <a:schemeClr val="accent4"/>
                                      </a:solidFill>
                                      <a:latin typeface="Cambria Math" panose="02040503050406030204" pitchFamily="18" charset="0"/>
                                    </a:rPr>
                                  </m:ctrlPr>
                                </m:dPr>
                                <m:e>
                                  <m:acc>
                                    <m:accPr>
                                      <m:chr m:val="̂"/>
                                      <m:ctrlPr>
                                        <a:rPr lang="en-US" sz="2400" i="1">
                                          <a:solidFill>
                                            <a:schemeClr val="accent4"/>
                                          </a:solidFill>
                                          <a:latin typeface="Cambria Math" panose="02040503050406030204" pitchFamily="18" charset="0"/>
                                        </a:rPr>
                                      </m:ctrlPr>
                                    </m:accPr>
                                    <m:e>
                                      <m:r>
                                        <a:rPr lang="en-US" sz="2400" i="1">
                                          <a:solidFill>
                                            <a:schemeClr val="accent4"/>
                                          </a:solidFill>
                                          <a:latin typeface="Cambria Math" panose="02040503050406030204" pitchFamily="18" charset="0"/>
                                        </a:rPr>
                                        <m:t>𝑝</m:t>
                                      </m:r>
                                    </m:e>
                                  </m:acc>
                                </m:e>
                              </m:d>
                            </m:e>
                          </m:d>
                          <m:r>
                            <a:rPr lang="en-US" sz="2400" b="0" i="1" smtClean="0">
                              <a:solidFill>
                                <a:schemeClr val="accent4"/>
                              </a:solidFill>
                              <a:latin typeface="Cambria Math" panose="02040503050406030204" pitchFamily="18" charset="0"/>
                            </a:rPr>
                            <m:t>≥</m:t>
                          </m:r>
                          <m:r>
                            <a:rPr lang="en-US" sz="2400" b="0" i="1" smtClean="0">
                              <a:solidFill>
                                <a:schemeClr val="accent4"/>
                              </a:solidFill>
                              <a:latin typeface="Cambria Math" panose="02040503050406030204" pitchFamily="18" charset="0"/>
                            </a:rPr>
                            <m:t>𝜖</m:t>
                          </m:r>
                        </m:e>
                      </m:d>
                      <m:r>
                        <a:rPr lang="en-US" sz="2400" b="0" i="1" smtClean="0">
                          <a:latin typeface="Cambria Math" panose="02040503050406030204" pitchFamily="18" charset="0"/>
                        </a:rPr>
                        <m:t>=</m:t>
                      </m:r>
                      <m:r>
                        <a:rPr lang="en-US" sz="2400" i="1" smtClean="0">
                          <a:solidFill>
                            <a:schemeClr val="accent4"/>
                          </a:solidFill>
                          <a:latin typeface="Cambria Math" panose="02040503050406030204" pitchFamily="18" charset="0"/>
                        </a:rPr>
                        <m:t>𝑃</m:t>
                      </m:r>
                      <m:d>
                        <m:dPr>
                          <m:ctrlPr>
                            <a:rPr lang="en-US" sz="2400" i="1">
                              <a:solidFill>
                                <a:schemeClr val="accent4"/>
                              </a:solidFill>
                              <a:latin typeface="Cambria Math" panose="02040503050406030204" pitchFamily="18" charset="0"/>
                            </a:rPr>
                          </m:ctrlPr>
                        </m:dPr>
                        <m:e>
                          <m:d>
                            <m:dPr>
                              <m:begChr m:val="|"/>
                              <m:endChr m:val="|"/>
                              <m:ctrlPr>
                                <a:rPr lang="en-US" sz="2400" i="1">
                                  <a:solidFill>
                                    <a:schemeClr val="accent4"/>
                                  </a:solidFill>
                                  <a:latin typeface="Cambria Math" panose="02040503050406030204" pitchFamily="18" charset="0"/>
                                </a:rPr>
                              </m:ctrlPr>
                            </m:dPr>
                            <m:e>
                              <m:acc>
                                <m:accPr>
                                  <m:chr m:val="̂"/>
                                  <m:ctrlPr>
                                    <a:rPr lang="en-US" sz="2400" i="1">
                                      <a:solidFill>
                                        <a:schemeClr val="accent4"/>
                                      </a:solidFill>
                                      <a:latin typeface="Cambria Math" panose="02040503050406030204" pitchFamily="18" charset="0"/>
                                    </a:rPr>
                                  </m:ctrlPr>
                                </m:accPr>
                                <m:e>
                                  <m:r>
                                    <a:rPr lang="en-US" sz="2400" i="1">
                                      <a:solidFill>
                                        <a:schemeClr val="accent4"/>
                                      </a:solidFill>
                                      <a:latin typeface="Cambria Math" panose="02040503050406030204" pitchFamily="18" charset="0"/>
                                    </a:rPr>
                                    <m:t>𝑝</m:t>
                                  </m:r>
                                </m:e>
                              </m:acc>
                              <m:r>
                                <a:rPr lang="en-US" sz="2400" i="1">
                                  <a:solidFill>
                                    <a:schemeClr val="accent4"/>
                                  </a:solidFill>
                                  <a:latin typeface="Cambria Math" panose="02040503050406030204" pitchFamily="18" charset="0"/>
                                </a:rPr>
                                <m:t>−</m:t>
                              </m:r>
                              <m:r>
                                <a:rPr lang="en-US" sz="2400" b="0" i="1" smtClean="0">
                                  <a:solidFill>
                                    <a:schemeClr val="accent4"/>
                                  </a:solidFill>
                                  <a:latin typeface="Cambria Math" panose="02040503050406030204" pitchFamily="18" charset="0"/>
                                </a:rPr>
                                <m:t>𝑝</m:t>
                              </m:r>
                            </m:e>
                          </m:d>
                          <m:r>
                            <a:rPr lang="en-US" sz="2400" i="1">
                              <a:solidFill>
                                <a:schemeClr val="accent4"/>
                              </a:solidFill>
                              <a:latin typeface="Cambria Math" panose="02040503050406030204" pitchFamily="18" charset="0"/>
                            </a:rPr>
                            <m:t>≥</m:t>
                          </m:r>
                          <m:r>
                            <a:rPr lang="en-US" sz="2400" i="1">
                              <a:solidFill>
                                <a:schemeClr val="accent4"/>
                              </a:solidFill>
                              <a:latin typeface="Cambria Math" panose="02040503050406030204" pitchFamily="18" charset="0"/>
                            </a:rPr>
                            <m:t>𝜖</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m:rPr>
                              <m:sty m:val="p"/>
                            </m:rPr>
                            <a:rPr lang="en-US" sz="2400" b="0" i="0" smtClean="0">
                              <a:latin typeface="Cambria Math" panose="02040503050406030204" pitchFamily="18" charset="0"/>
                            </a:rPr>
                            <m:t>var</m:t>
                          </m:r>
                          <m:d>
                            <m:dPr>
                              <m:ctrlPr>
                                <a:rPr lang="en-US" sz="2400" b="0" i="1" smtClean="0">
                                  <a:latin typeface="Cambria Math" panose="02040503050406030204" pitchFamily="18" charset="0"/>
                                </a:rPr>
                              </m:ctrlPr>
                            </m:d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𝑝</m:t>
                                  </m:r>
                                </m:e>
                              </m:acc>
                            </m:e>
                          </m:d>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𝜖</m:t>
                              </m:r>
                            </m:e>
                            <m:sup>
                              <m:r>
                                <a:rPr lang="en-US" sz="2400" b="0" i="1" smtClean="0">
                                  <a:latin typeface="Cambria Math" panose="02040503050406030204" pitchFamily="18" charset="0"/>
                                </a:rPr>
                                <m:t>2</m:t>
                              </m:r>
                            </m:sup>
                          </m:sSup>
                        </m:den>
                      </m:f>
                    </m:oMath>
                  </m:oMathPara>
                </a14:m>
                <a:endParaRPr lang="en-US" sz="2400"/>
              </a:p>
            </p:txBody>
          </p:sp>
        </mc:Choice>
        <mc:Fallback>
          <p:sp>
            <p:nvSpPr>
              <p:cNvPr id="11" name="TextBox 10">
                <a:extLst>
                  <a:ext uri="{FF2B5EF4-FFF2-40B4-BE49-F238E27FC236}">
                    <a16:creationId xmlns:a16="http://schemas.microsoft.com/office/drawing/2014/main" id="{CA134726-9AE4-E4C8-05B9-A2C929D7E52A}"/>
                  </a:ext>
                </a:extLst>
              </p:cNvPr>
              <p:cNvSpPr txBox="1">
                <a:spLocks noRot="1" noChangeAspect="1" noMove="1" noResize="1" noEditPoints="1" noAdjustHandles="1" noChangeArrowheads="1" noChangeShapeType="1" noTextEdit="1"/>
              </p:cNvSpPr>
              <p:nvPr/>
            </p:nvSpPr>
            <p:spPr>
              <a:xfrm>
                <a:off x="4757563" y="3909132"/>
                <a:ext cx="6382327" cy="8091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A0BD7F05-C31C-6135-FC6E-7B2923C3BB5E}"/>
                  </a:ext>
                </a:extLst>
              </p:cNvPr>
              <p:cNvSpPr txBox="1"/>
              <p:nvPr/>
            </p:nvSpPr>
            <p:spPr>
              <a:xfrm>
                <a:off x="63129" y="5075407"/>
                <a:ext cx="3106743" cy="9221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latin typeface="Cambria Math" panose="02040503050406030204" pitchFamily="18" charset="0"/>
                        </a:rPr>
                        <m:t>var</m:t>
                      </m:r>
                      <m:d>
                        <m:dPr>
                          <m:begChr m:val="["/>
                          <m:endChr m:val="]"/>
                          <m:ctrlPr>
                            <a:rPr lang="en-US" sz="2400" i="1">
                              <a:latin typeface="Cambria Math" panose="02040503050406030204" pitchFamily="18" charset="0"/>
                            </a:rPr>
                          </m:ctrlPr>
                        </m:dPr>
                        <m:e>
                          <m:acc>
                            <m:accPr>
                              <m:chr m:val="̂"/>
                              <m:ctrlPr>
                                <a:rPr lang="en-US" sz="2400" i="1">
                                  <a:latin typeface="Cambria Math" panose="02040503050406030204" pitchFamily="18" charset="0"/>
                                </a:rPr>
                              </m:ctrlPr>
                            </m:accPr>
                            <m:e>
                              <m:r>
                                <a:rPr lang="en-US" sz="2400" i="1">
                                  <a:latin typeface="Cambria Math" panose="02040503050406030204" pitchFamily="18" charset="0"/>
                                </a:rPr>
                                <m:t>𝑝</m:t>
                              </m:r>
                            </m:e>
                          </m:acc>
                        </m:e>
                      </m:d>
                      <m:r>
                        <a:rPr lang="en-US" sz="2400" b="0" i="1" smtClean="0">
                          <a:latin typeface="Cambria Math" panose="02040503050406030204" pitchFamily="18" charset="0"/>
                        </a:rPr>
                        <m:t>=</m:t>
                      </m:r>
                      <m:r>
                        <m:rPr>
                          <m:sty m:val="p"/>
                        </m:rPr>
                        <a:rPr lang="en-US" sz="2400" b="0" i="0" smtClean="0">
                          <a:latin typeface="Cambria Math" panose="02040503050406030204" pitchFamily="18" charset="0"/>
                        </a:rPr>
                        <m:t>var</m:t>
                      </m:r>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𝑋</m:t>
                              </m:r>
                            </m:num>
                            <m:den>
                              <m:r>
                                <a:rPr lang="en-US" sz="2400" b="0" i="1" smtClean="0">
                                  <a:latin typeface="Cambria Math" panose="02040503050406030204" pitchFamily="18" charset="0"/>
                                </a:rPr>
                                <m:t>𝑛</m:t>
                              </m:r>
                            </m:den>
                          </m:f>
                        </m:e>
                      </m:d>
                    </m:oMath>
                  </m:oMathPara>
                </a14:m>
                <a:endParaRPr lang="en-US" sz="2400"/>
              </a:p>
            </p:txBody>
          </p:sp>
        </mc:Choice>
        <mc:Fallback>
          <p:sp>
            <p:nvSpPr>
              <p:cNvPr id="12" name="TextBox 11">
                <a:extLst>
                  <a:ext uri="{FF2B5EF4-FFF2-40B4-BE49-F238E27FC236}">
                    <a16:creationId xmlns:a16="http://schemas.microsoft.com/office/drawing/2014/main" id="{A0BD7F05-C31C-6135-FC6E-7B2923C3BB5E}"/>
                  </a:ext>
                </a:extLst>
              </p:cNvPr>
              <p:cNvSpPr txBox="1">
                <a:spLocks noRot="1" noChangeAspect="1" noMove="1" noResize="1" noEditPoints="1" noAdjustHandles="1" noChangeArrowheads="1" noChangeShapeType="1" noTextEdit="1"/>
              </p:cNvSpPr>
              <p:nvPr/>
            </p:nvSpPr>
            <p:spPr>
              <a:xfrm>
                <a:off x="63129" y="5075407"/>
                <a:ext cx="3106743" cy="922176"/>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87DCDE49-A797-2984-8EF5-C556B5286AC0}"/>
                  </a:ext>
                </a:extLst>
              </p:cNvPr>
              <p:cNvSpPr txBox="1"/>
              <p:nvPr/>
            </p:nvSpPr>
            <p:spPr>
              <a:xfrm>
                <a:off x="2799770" y="5099490"/>
                <a:ext cx="1467429" cy="8091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m:rPr>
                              <m:sty m:val="p"/>
                            </m:rPr>
                            <a:rPr lang="en-US" sz="2400" b="0" i="0" smtClean="0">
                              <a:latin typeface="Cambria Math" panose="02040503050406030204" pitchFamily="18" charset="0"/>
                            </a:rPr>
                            <m:t>var</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e>
                          </m:d>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e>
                            <m:sup>
                              <m:r>
                                <a:rPr lang="en-US" sz="2400" b="0" i="1" smtClean="0">
                                  <a:latin typeface="Cambria Math" panose="02040503050406030204" pitchFamily="18" charset="0"/>
                                </a:rPr>
                                <m:t>2</m:t>
                              </m:r>
                            </m:sup>
                          </m:sSup>
                        </m:den>
                      </m:f>
                    </m:oMath>
                  </m:oMathPara>
                </a14:m>
                <a:endParaRPr lang="en-US" sz="2400"/>
              </a:p>
            </p:txBody>
          </p:sp>
        </mc:Choice>
        <mc:Fallback>
          <p:sp>
            <p:nvSpPr>
              <p:cNvPr id="13" name="TextBox 12">
                <a:extLst>
                  <a:ext uri="{FF2B5EF4-FFF2-40B4-BE49-F238E27FC236}">
                    <a16:creationId xmlns:a16="http://schemas.microsoft.com/office/drawing/2014/main" id="{87DCDE49-A797-2984-8EF5-C556B5286AC0}"/>
                  </a:ext>
                </a:extLst>
              </p:cNvPr>
              <p:cNvSpPr txBox="1">
                <a:spLocks noRot="1" noChangeAspect="1" noMove="1" noResize="1" noEditPoints="1" noAdjustHandles="1" noChangeArrowheads="1" noChangeShapeType="1" noTextEdit="1"/>
              </p:cNvSpPr>
              <p:nvPr/>
            </p:nvSpPr>
            <p:spPr>
              <a:xfrm>
                <a:off x="2799770" y="5099490"/>
                <a:ext cx="1467429" cy="8091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85AAA794-BE95-DF88-CD84-C1DCC00AC19E}"/>
                  </a:ext>
                </a:extLst>
              </p:cNvPr>
              <p:cNvSpPr txBox="1"/>
              <p:nvPr/>
            </p:nvSpPr>
            <p:spPr>
              <a:xfrm>
                <a:off x="4054763" y="5123573"/>
                <a:ext cx="3106743" cy="8091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m:rPr>
                              <m:sty m:val="p"/>
                            </m:rPr>
                            <a:rPr lang="en-US" sz="2400" b="0" i="0" smtClean="0">
                              <a:latin typeface="Cambria Math" panose="02040503050406030204" pitchFamily="18" charset="0"/>
                            </a:rPr>
                            <m:t>var</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𝑛</m:t>
                                  </m:r>
                                </m:sub>
                              </m:sSub>
                            </m:e>
                          </m:d>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e>
                            <m:sup>
                              <m:r>
                                <a:rPr lang="en-US" sz="2400" b="0" i="1" smtClean="0">
                                  <a:latin typeface="Cambria Math" panose="02040503050406030204" pitchFamily="18" charset="0"/>
                                </a:rPr>
                                <m:t>2</m:t>
                              </m:r>
                            </m:sup>
                          </m:sSup>
                        </m:den>
                      </m:f>
                    </m:oMath>
                  </m:oMathPara>
                </a14:m>
                <a:endParaRPr lang="en-US" sz="2400"/>
              </a:p>
            </p:txBody>
          </p:sp>
        </mc:Choice>
        <mc:Fallback>
          <p:sp>
            <p:nvSpPr>
              <p:cNvPr id="14" name="TextBox 13">
                <a:extLst>
                  <a:ext uri="{FF2B5EF4-FFF2-40B4-BE49-F238E27FC236}">
                    <a16:creationId xmlns:a16="http://schemas.microsoft.com/office/drawing/2014/main" id="{85AAA794-BE95-DF88-CD84-C1DCC00AC19E}"/>
                  </a:ext>
                </a:extLst>
              </p:cNvPr>
              <p:cNvSpPr txBox="1">
                <a:spLocks noRot="1" noChangeAspect="1" noMove="1" noResize="1" noEditPoints="1" noAdjustHandles="1" noChangeArrowheads="1" noChangeShapeType="1" noTextEdit="1"/>
              </p:cNvSpPr>
              <p:nvPr/>
            </p:nvSpPr>
            <p:spPr>
              <a:xfrm>
                <a:off x="4054763" y="5123573"/>
                <a:ext cx="3106743" cy="8091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72344325-0CD6-AB1F-4466-B060DDDA65D1}"/>
                  </a:ext>
                </a:extLst>
              </p:cNvPr>
              <p:cNvSpPr txBox="1"/>
              <p:nvPr/>
            </p:nvSpPr>
            <p:spPr>
              <a:xfrm>
                <a:off x="6371429" y="5160929"/>
                <a:ext cx="3106743" cy="7958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r>
                            <a:rPr lang="en-US" sz="2400" b="0" i="1" smtClean="0">
                              <a:latin typeface="Cambria Math" panose="02040503050406030204" pitchFamily="18" charset="0"/>
                            </a:rPr>
                            <m:t>⋅</m:t>
                          </m:r>
                          <m:r>
                            <m:rPr>
                              <m:sty m:val="p"/>
                            </m:rPr>
                            <a:rPr lang="en-US" sz="2400" b="0" i="0" smtClean="0">
                              <a:latin typeface="Cambria Math" panose="02040503050406030204" pitchFamily="18" charset="0"/>
                            </a:rPr>
                            <m:t>var</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e>
                            <m:sup>
                              <m:r>
                                <a:rPr lang="en-US" sz="2400" b="0" i="1" smtClean="0">
                                  <a:latin typeface="Cambria Math" panose="02040503050406030204" pitchFamily="18" charset="0"/>
                                </a:rPr>
                                <m:t>2</m:t>
                              </m:r>
                            </m:sup>
                          </m:sSup>
                        </m:den>
                      </m:f>
                    </m:oMath>
                  </m:oMathPara>
                </a14:m>
                <a:endParaRPr lang="en-US" sz="2400"/>
              </a:p>
            </p:txBody>
          </p:sp>
        </mc:Choice>
        <mc:Fallback>
          <p:sp>
            <p:nvSpPr>
              <p:cNvPr id="15" name="TextBox 14">
                <a:extLst>
                  <a:ext uri="{FF2B5EF4-FFF2-40B4-BE49-F238E27FC236}">
                    <a16:creationId xmlns:a16="http://schemas.microsoft.com/office/drawing/2014/main" id="{72344325-0CD6-AB1F-4466-B060DDDA65D1}"/>
                  </a:ext>
                </a:extLst>
              </p:cNvPr>
              <p:cNvSpPr txBox="1">
                <a:spLocks noRot="1" noChangeAspect="1" noMove="1" noResize="1" noEditPoints="1" noAdjustHandles="1" noChangeArrowheads="1" noChangeShapeType="1" noTextEdit="1"/>
              </p:cNvSpPr>
              <p:nvPr/>
            </p:nvSpPr>
            <p:spPr>
              <a:xfrm>
                <a:off x="6371429" y="5160929"/>
                <a:ext cx="3106743" cy="795859"/>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46EFBEB5-EEC4-4772-C359-757AF840B2D2}"/>
                  </a:ext>
                </a:extLst>
              </p:cNvPr>
              <p:cNvSpPr txBox="1"/>
              <p:nvPr/>
            </p:nvSpPr>
            <p:spPr>
              <a:xfrm>
                <a:off x="8223319" y="5160928"/>
                <a:ext cx="3106743" cy="7958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𝑝</m:t>
                          </m:r>
                          <m:r>
                            <a:rPr lang="en-US" sz="2400" b="0" i="1" smtClean="0">
                              <a:latin typeface="Cambria Math" panose="02040503050406030204" pitchFamily="18" charset="0"/>
                            </a:rPr>
                            <m:t>(1−</m:t>
                          </m:r>
                          <m:r>
                            <a:rPr lang="en-US" sz="2400" b="0" i="1" smtClean="0">
                              <a:latin typeface="Cambria Math" panose="02040503050406030204" pitchFamily="18" charset="0"/>
                            </a:rPr>
                            <m:t>𝑝</m:t>
                          </m:r>
                          <m:r>
                            <a:rPr lang="en-US" sz="2400" b="0" i="1" smtClean="0">
                              <a:latin typeface="Cambria Math" panose="02040503050406030204" pitchFamily="18" charset="0"/>
                            </a:rPr>
                            <m:t>)</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e>
                            <m:sup>
                              <m:r>
                                <a:rPr lang="en-US" sz="2400" b="0" i="1" smtClean="0">
                                  <a:latin typeface="Cambria Math" panose="02040503050406030204" pitchFamily="18" charset="0"/>
                                </a:rPr>
                                <m:t>2</m:t>
                              </m:r>
                            </m:sup>
                          </m:sSup>
                        </m:den>
                      </m:f>
                    </m:oMath>
                  </m:oMathPara>
                </a14:m>
                <a:endParaRPr lang="en-US" sz="2400"/>
              </a:p>
            </p:txBody>
          </p:sp>
        </mc:Choice>
        <mc:Fallback>
          <p:sp>
            <p:nvSpPr>
              <p:cNvPr id="16" name="TextBox 15">
                <a:extLst>
                  <a:ext uri="{FF2B5EF4-FFF2-40B4-BE49-F238E27FC236}">
                    <a16:creationId xmlns:a16="http://schemas.microsoft.com/office/drawing/2014/main" id="{46EFBEB5-EEC4-4772-C359-757AF840B2D2}"/>
                  </a:ext>
                </a:extLst>
              </p:cNvPr>
              <p:cNvSpPr txBox="1">
                <a:spLocks noRot="1" noChangeAspect="1" noMove="1" noResize="1" noEditPoints="1" noAdjustHandles="1" noChangeArrowheads="1" noChangeShapeType="1" noTextEdit="1"/>
              </p:cNvSpPr>
              <p:nvPr/>
            </p:nvSpPr>
            <p:spPr>
              <a:xfrm>
                <a:off x="8223319" y="5160928"/>
                <a:ext cx="3106743" cy="795859"/>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262327A5-27F6-9A5B-B83F-EEB6BCA46A76}"/>
                  </a:ext>
                </a:extLst>
              </p:cNvPr>
              <p:cNvSpPr txBox="1"/>
              <p:nvPr/>
            </p:nvSpPr>
            <p:spPr>
              <a:xfrm>
                <a:off x="8223318" y="5994143"/>
                <a:ext cx="3106743" cy="8091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𝑝</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rPr>
                                <m:t>𝑝</m:t>
                              </m:r>
                            </m:e>
                          </m:d>
                        </m:num>
                        <m:den>
                          <m:r>
                            <a:rPr lang="en-US" sz="2400" b="0" i="1" smtClean="0">
                              <a:latin typeface="Cambria Math" panose="02040503050406030204" pitchFamily="18" charset="0"/>
                            </a:rPr>
                            <m:t> </m:t>
                          </m:r>
                          <m:r>
                            <a:rPr lang="en-US" sz="2400" b="0" i="1" smtClean="0">
                              <a:latin typeface="Cambria Math" panose="02040503050406030204" pitchFamily="18" charset="0"/>
                            </a:rPr>
                            <m:t>𝑛</m:t>
                          </m:r>
                        </m:den>
                      </m:f>
                    </m:oMath>
                  </m:oMathPara>
                </a14:m>
                <a:endParaRPr lang="en-US" sz="2400"/>
              </a:p>
            </p:txBody>
          </p:sp>
        </mc:Choice>
        <mc:Fallback>
          <p:sp>
            <p:nvSpPr>
              <p:cNvPr id="17" name="TextBox 16">
                <a:extLst>
                  <a:ext uri="{FF2B5EF4-FFF2-40B4-BE49-F238E27FC236}">
                    <a16:creationId xmlns:a16="http://schemas.microsoft.com/office/drawing/2014/main" id="{262327A5-27F6-9A5B-B83F-EEB6BCA46A76}"/>
                  </a:ext>
                </a:extLst>
              </p:cNvPr>
              <p:cNvSpPr txBox="1">
                <a:spLocks noRot="1" noChangeAspect="1" noMove="1" noResize="1" noEditPoints="1" noAdjustHandles="1" noChangeArrowheads="1" noChangeShapeType="1" noTextEdit="1"/>
              </p:cNvSpPr>
              <p:nvPr/>
            </p:nvSpPr>
            <p:spPr>
              <a:xfrm>
                <a:off x="8223318" y="5994143"/>
                <a:ext cx="3106743" cy="809132"/>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30959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P spid="17"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4F2CD-FC1F-A48D-AD37-974A0CF968D8}"/>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98616670-B479-04B8-E170-9CDADA8D6BAE}"/>
                  </a:ext>
                </a:extLst>
              </p:cNvPr>
              <p:cNvSpPr>
                <a:spLocks noGrp="1"/>
              </p:cNvSpPr>
              <p:nvPr>
                <p:ph type="title"/>
              </p:nvPr>
            </p:nvSpPr>
            <p:spPr/>
            <p:txBody>
              <a:bodyPr/>
              <a:lstStyle/>
              <a:p>
                <a:r>
                  <a:rPr lang="en-US"/>
                  <a:t>Back to Estimating </a:t>
                </a:r>
                <a14:m>
                  <m:oMath xmlns:m="http://schemas.openxmlformats.org/officeDocument/2006/math">
                    <m:r>
                      <a:rPr lang="en-US" b="0" i="1" smtClean="0">
                        <a:latin typeface="Cambria Math" panose="02040503050406030204" pitchFamily="18" charset="0"/>
                      </a:rPr>
                      <m:t>𝑝</m:t>
                    </m:r>
                  </m:oMath>
                </a14:m>
                <a:r>
                  <a:rPr lang="en-US"/>
                  <a:t> for a Coin</a:t>
                </a:r>
              </a:p>
            </p:txBody>
          </p:sp>
        </mc:Choice>
        <mc:Fallback>
          <p:sp>
            <p:nvSpPr>
              <p:cNvPr id="2" name="Title 1">
                <a:extLst>
                  <a:ext uri="{FF2B5EF4-FFF2-40B4-BE49-F238E27FC236}">
                    <a16:creationId xmlns:a16="http://schemas.microsoft.com/office/drawing/2014/main" id="{98616670-B479-04B8-E170-9CDADA8D6BAE}"/>
                  </a:ext>
                </a:extLst>
              </p:cNvPr>
              <p:cNvSpPr>
                <a:spLocks noGrp="1" noRot="1" noChangeAspect="1" noMove="1" noResize="1" noEditPoints="1" noAdjustHandles="1" noChangeArrowheads="1" noChangeShapeType="1" noTextEdit="1"/>
              </p:cNvSpPr>
              <p:nvPr>
                <p:ph type="title"/>
              </p:nvPr>
            </p:nvSpPr>
            <p:spPr>
              <a:blipFill>
                <a:blip r:embed="rId2"/>
                <a:stretch>
                  <a:fillRect l="-870" t="-14667" b="-2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A4B8E1D-64D5-6DBB-6498-E35D9A197B90}"/>
                  </a:ext>
                </a:extLst>
              </p:cNvPr>
              <p:cNvSpPr>
                <a:spLocks noGrp="1"/>
              </p:cNvSpPr>
              <p:nvPr>
                <p:ph idx="1"/>
              </p:nvPr>
            </p:nvSpPr>
            <p:spPr>
              <a:xfrm>
                <a:off x="93658" y="533400"/>
                <a:ext cx="10462726" cy="5638732"/>
              </a:xfrm>
            </p:spPr>
            <p:txBody>
              <a:bodyPr/>
              <a:lstStyle/>
              <a:p>
                <a:r>
                  <a:rPr lang="en-US"/>
                  <a:t>We have a coin with unknown heads probability </a:t>
                </a:r>
                <a14:m>
                  <m:oMath xmlns:m="http://schemas.openxmlformats.org/officeDocument/2006/math">
                    <m:r>
                      <a:rPr lang="en-US" b="0" i="1" smtClean="0">
                        <a:latin typeface="Cambria Math" panose="02040503050406030204" pitchFamily="18" charset="0"/>
                      </a:rPr>
                      <m:t>𝑝</m:t>
                    </m:r>
                  </m:oMath>
                </a14:m>
                <a:r>
                  <a:rPr lang="en-US"/>
                  <a:t>. We estimate it by tossing a coin n times.</a:t>
                </a:r>
              </a:p>
              <a:p>
                <a:pPr marL="342900" indent="-34290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𝑋</m:t>
                    </m:r>
                  </m:oMath>
                </a14:m>
                <a:r>
                  <a:rPr lang="en-US"/>
                  <a:t> is the number of heads. </a:t>
                </a: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oMath>
                </a14:m>
                <a:r>
                  <a:rPr lang="en-US"/>
                  <a:t>.</a:t>
                </a:r>
              </a:p>
              <a:p>
                <a:pPr marL="342900" indent="-342900">
                  <a:lnSpc>
                    <a:spcPct val="120000"/>
                  </a:lnSpc>
                  <a:buFont typeface="Arial" panose="020B0604020202020204" pitchFamily="34" charset="0"/>
                  <a:buChar char="•"/>
                </a:pPr>
                <a:r>
                  <a:rPr lang="en-US"/>
                  <a:t>Our empirical mean is </a:t>
                </a:r>
              </a:p>
              <a:p>
                <a:pPr marL="342900" indent="-342900">
                  <a:buFont typeface="Arial" panose="020B0604020202020204" pitchFamily="34" charset="0"/>
                  <a:buChar char="•"/>
                </a:pPr>
                <a:endParaRPr lang="en-US"/>
              </a:p>
              <a:p>
                <a:r>
                  <a:rPr lang="en-US"/>
                  <a:t>Observation, we can bound                                   using Chebyshev’s inequality.</a:t>
                </a:r>
              </a:p>
              <a:p>
                <a:pPr marL="342900" indent="-342900">
                  <a:buFont typeface="Arial" panose="020B0604020202020204" pitchFamily="34" charset="0"/>
                  <a:buChar char="•"/>
                </a:pPr>
                <a:r>
                  <a:rPr lang="en-US"/>
                  <a:t>Since </a:t>
                </a:r>
                <a14:m>
                  <m:oMath xmlns:m="http://schemas.openxmlformats.org/officeDocument/2006/math">
                    <m:r>
                      <a:rPr lang="en-US" i="1" smtClean="0">
                        <a:latin typeface="Cambria Math" panose="02040503050406030204" pitchFamily="18" charset="0"/>
                      </a:rPr>
                      <m:t>𝔼</m:t>
                    </m:r>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e>
                    </m:d>
                    <m:r>
                      <a:rPr lang="en-US" b="0" i="1" smtClean="0">
                        <a:latin typeface="Cambria Math" panose="02040503050406030204" pitchFamily="18" charset="0"/>
                      </a:rPr>
                      <m:t>=</m:t>
                    </m:r>
                    <m:r>
                      <a:rPr lang="en-US" b="0" i="1" smtClean="0">
                        <a:latin typeface="Cambria Math" panose="02040503050406030204" pitchFamily="18" charset="0"/>
                      </a:rPr>
                      <m:t>𝑝</m:t>
                    </m:r>
                  </m:oMath>
                </a14:m>
                <a:r>
                  <a:rPr lang="en-US"/>
                  <a:t>, and </a:t>
                </a:r>
                <a14:m>
                  <m:oMath xmlns:m="http://schemas.openxmlformats.org/officeDocument/2006/math">
                    <m:r>
                      <m:rPr>
                        <m:sty m:val="p"/>
                      </m:rPr>
                      <a:rPr lang="en-US">
                        <a:latin typeface="Cambria Math" panose="02040503050406030204" pitchFamily="18" charset="0"/>
                      </a:rPr>
                      <m:t>var</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d>
                    <m:r>
                      <a:rPr lang="en-US" b="0" i="1" smtClean="0">
                        <a:latin typeface="Cambria Math" panose="02040503050406030204" pitchFamily="18" charset="0"/>
                      </a:rPr>
                      <m:t>=</m:t>
                    </m:r>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𝑝</m:t>
                        </m:r>
                      </m:e>
                    </m:d>
                    <m:r>
                      <a:rPr lang="en-US" b="0" i="1" smtClean="0">
                        <a:latin typeface="Cambria Math" panose="02040503050406030204" pitchFamily="18" charset="0"/>
                      </a:rPr>
                      <m:t>/</m:t>
                    </m:r>
                    <m:r>
                      <a:rPr lang="en-US" b="0" i="1" smtClean="0">
                        <a:latin typeface="Cambria Math" panose="02040503050406030204" pitchFamily="18" charset="0"/>
                      </a:rPr>
                      <m:t>𝑛</m:t>
                    </m:r>
                  </m:oMath>
                </a14:m>
                <a:r>
                  <a:rPr lang="en-US"/>
                  <a:t> we have that:</a:t>
                </a:r>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a:p>
                <a:r>
                  <a:rPr lang="en-US"/>
                  <a:t>At this point, it might seem like we’re a bit stuck! The variance of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oMath>
                </a14:m>
                <a:r>
                  <a:rPr lang="en-US"/>
                  <a:t> seems to depend on </a:t>
                </a:r>
                <a14:m>
                  <m:oMath xmlns:m="http://schemas.openxmlformats.org/officeDocument/2006/math">
                    <m:r>
                      <a:rPr lang="en-US" b="0" i="1" smtClean="0">
                        <a:latin typeface="Cambria Math" panose="02040503050406030204" pitchFamily="18" charset="0"/>
                      </a:rPr>
                      <m:t>𝑝</m:t>
                    </m:r>
                  </m:oMath>
                </a14:m>
                <a:r>
                  <a:rPr lang="en-US"/>
                  <a:t>, which is what we’re trying to estimate! Any idea how to proceed?</a:t>
                </a:r>
              </a:p>
              <a:p>
                <a:endParaRPr lang="en-US"/>
              </a:p>
            </p:txBody>
          </p:sp>
        </mc:Choice>
        <mc:Fallback>
          <p:sp>
            <p:nvSpPr>
              <p:cNvPr id="3" name="Content Placeholder 2">
                <a:extLst>
                  <a:ext uri="{FF2B5EF4-FFF2-40B4-BE49-F238E27FC236}">
                    <a16:creationId xmlns:a16="http://schemas.microsoft.com/office/drawing/2014/main" id="{DA4B8E1D-64D5-6DBB-6498-E35D9A197B90}"/>
                  </a:ext>
                </a:extLst>
              </p:cNvPr>
              <p:cNvSpPr>
                <a:spLocks noGrp="1" noRot="1" noChangeAspect="1" noMove="1" noResize="1" noEditPoints="1" noAdjustHandles="1" noChangeArrowheads="1" noChangeShapeType="1" noTextEdit="1"/>
              </p:cNvSpPr>
              <p:nvPr>
                <p:ph idx="1"/>
              </p:nvPr>
            </p:nvSpPr>
            <p:spPr>
              <a:xfrm>
                <a:off x="93658" y="533400"/>
                <a:ext cx="10462726" cy="5638732"/>
              </a:xfrm>
              <a:blipFill>
                <a:blip r:embed="rId3"/>
                <a:stretch>
                  <a:fillRect l="-874" t="-541" r="-874" b="-86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9F53BE7C-EBCF-8AB7-0140-477C01BF4ADE}"/>
                  </a:ext>
                </a:extLst>
              </p:cNvPr>
              <p:cNvSpPr txBox="1"/>
              <p:nvPr/>
            </p:nvSpPr>
            <p:spPr>
              <a:xfrm>
                <a:off x="2207487" y="1859450"/>
                <a:ext cx="3823855"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𝑝</m:t>
                          </m:r>
                        </m:e>
                      </m:acc>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𝑋</m:t>
                          </m:r>
                        </m:num>
                        <m:den>
                          <m:r>
                            <a:rPr lang="en-US" sz="2400" b="0" i="1" smtClean="0">
                              <a:latin typeface="Cambria Math" panose="02040503050406030204" pitchFamily="18" charset="0"/>
                            </a:rPr>
                            <m:t>𝑛</m:t>
                          </m:r>
                        </m:den>
                      </m:f>
                    </m:oMath>
                  </m:oMathPara>
                </a14:m>
                <a:endParaRPr lang="en-US" sz="2400"/>
              </a:p>
            </p:txBody>
          </p:sp>
        </mc:Choice>
        <mc:Fallback>
          <p:sp>
            <p:nvSpPr>
              <p:cNvPr id="4" name="TextBox 3">
                <a:extLst>
                  <a:ext uri="{FF2B5EF4-FFF2-40B4-BE49-F238E27FC236}">
                    <a16:creationId xmlns:a16="http://schemas.microsoft.com/office/drawing/2014/main" id="{9F53BE7C-EBCF-8AB7-0140-477C01BF4ADE}"/>
                  </a:ext>
                </a:extLst>
              </p:cNvPr>
              <p:cNvSpPr txBox="1">
                <a:spLocks noRot="1" noChangeAspect="1" noMove="1" noResize="1" noEditPoints="1" noAdjustHandles="1" noChangeArrowheads="1" noChangeShapeType="1" noTextEdit="1"/>
              </p:cNvSpPr>
              <p:nvPr/>
            </p:nvSpPr>
            <p:spPr>
              <a:xfrm>
                <a:off x="2207487" y="1859450"/>
                <a:ext cx="3823855" cy="78380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A565BF7C-EF5C-77D1-B04E-FD9C0B613993}"/>
                  </a:ext>
                </a:extLst>
              </p:cNvPr>
              <p:cNvSpPr txBox="1"/>
              <p:nvPr/>
            </p:nvSpPr>
            <p:spPr>
              <a:xfrm>
                <a:off x="2260923" y="4414443"/>
                <a:ext cx="7670153" cy="8091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d>
                            <m:dPr>
                              <m:begChr m:val="|"/>
                              <m:endChr m:val="|"/>
                              <m:ctrlPr>
                                <a:rPr lang="en-US" sz="2400" b="0" i="1" smtClean="0">
                                  <a:latin typeface="Cambria Math" panose="02040503050406030204" pitchFamily="18" charset="0"/>
                                </a:rPr>
                              </m:ctrlPr>
                            </m:d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𝑝</m:t>
                                  </m:r>
                                </m:e>
                              </m:acc>
                              <m:r>
                                <a:rPr lang="en-US" sz="2400" b="0" i="1" smtClean="0">
                                  <a:latin typeface="Cambria Math" panose="02040503050406030204" pitchFamily="18" charset="0"/>
                                </a:rPr>
                                <m:t>−</m:t>
                              </m:r>
                              <m:r>
                                <a:rPr lang="en-US" sz="2400" i="1">
                                  <a:latin typeface="Cambria Math" panose="02040503050406030204" pitchFamily="18" charset="0"/>
                                </a:rPr>
                                <m:t>𝔼</m:t>
                              </m:r>
                              <m:d>
                                <m:dPr>
                                  <m:begChr m:val="["/>
                                  <m:endChr m:val="]"/>
                                  <m:ctrlPr>
                                    <a:rPr lang="en-US" sz="2400" i="1">
                                      <a:latin typeface="Cambria Math" panose="02040503050406030204" pitchFamily="18" charset="0"/>
                                    </a:rPr>
                                  </m:ctrlPr>
                                </m:dPr>
                                <m:e>
                                  <m:acc>
                                    <m:accPr>
                                      <m:chr m:val="̂"/>
                                      <m:ctrlPr>
                                        <a:rPr lang="en-US" sz="2400" i="1">
                                          <a:latin typeface="Cambria Math" panose="02040503050406030204" pitchFamily="18" charset="0"/>
                                        </a:rPr>
                                      </m:ctrlPr>
                                    </m:accPr>
                                    <m:e>
                                      <m:r>
                                        <a:rPr lang="en-US" sz="2400" i="1">
                                          <a:latin typeface="Cambria Math" panose="02040503050406030204" pitchFamily="18" charset="0"/>
                                        </a:rPr>
                                        <m:t>𝑝</m:t>
                                      </m:r>
                                    </m:e>
                                  </m:acc>
                                </m:e>
                              </m:d>
                            </m:e>
                          </m:d>
                          <m:r>
                            <a:rPr lang="en-US" sz="2400" b="0" i="1" smtClean="0">
                              <a:latin typeface="Cambria Math" panose="02040503050406030204" pitchFamily="18" charset="0"/>
                            </a:rPr>
                            <m:t>≥</m:t>
                          </m:r>
                          <m:r>
                            <a:rPr lang="en-US" sz="2400" b="0" i="1" smtClean="0">
                              <a:latin typeface="Cambria Math" panose="02040503050406030204" pitchFamily="18" charset="0"/>
                            </a:rPr>
                            <m:t>𝜖</m:t>
                          </m:r>
                        </m:e>
                      </m:d>
                      <m:r>
                        <a:rPr lang="en-US" sz="2400" b="0" i="1" smtClean="0">
                          <a:latin typeface="Cambria Math" panose="02040503050406030204" pitchFamily="18" charset="0"/>
                        </a:rPr>
                        <m:t>=</m:t>
                      </m:r>
                      <m:r>
                        <a:rPr lang="en-US" sz="2400" i="1">
                          <a:latin typeface="Cambria Math" panose="02040503050406030204" pitchFamily="18" charset="0"/>
                        </a:rPr>
                        <m:t>𝑃</m:t>
                      </m:r>
                      <m:d>
                        <m:dPr>
                          <m:ctrlPr>
                            <a:rPr lang="en-US" sz="2400" i="1">
                              <a:latin typeface="Cambria Math" panose="02040503050406030204" pitchFamily="18" charset="0"/>
                            </a:rPr>
                          </m:ctrlPr>
                        </m:dPr>
                        <m:e>
                          <m:d>
                            <m:dPr>
                              <m:begChr m:val="|"/>
                              <m:endChr m:val="|"/>
                              <m:ctrlPr>
                                <a:rPr lang="en-US" sz="2400" i="1">
                                  <a:latin typeface="Cambria Math" panose="02040503050406030204" pitchFamily="18" charset="0"/>
                                </a:rPr>
                              </m:ctrlPr>
                            </m:dPr>
                            <m:e>
                              <m:acc>
                                <m:accPr>
                                  <m:chr m:val="̂"/>
                                  <m:ctrlPr>
                                    <a:rPr lang="en-US" sz="2400" i="1">
                                      <a:latin typeface="Cambria Math" panose="02040503050406030204" pitchFamily="18" charset="0"/>
                                    </a:rPr>
                                  </m:ctrlPr>
                                </m:accPr>
                                <m:e>
                                  <m:r>
                                    <a:rPr lang="en-US" sz="2400" i="1">
                                      <a:latin typeface="Cambria Math" panose="02040503050406030204" pitchFamily="18" charset="0"/>
                                    </a:rPr>
                                    <m:t>𝑝</m:t>
                                  </m:r>
                                </m:e>
                              </m:acc>
                              <m:r>
                                <a:rPr lang="en-US" sz="2400" i="1">
                                  <a:latin typeface="Cambria Math" panose="02040503050406030204" pitchFamily="18" charset="0"/>
                                </a:rPr>
                                <m:t>−</m:t>
                              </m:r>
                              <m:r>
                                <a:rPr lang="en-US" sz="2400" b="0" i="1" smtClean="0">
                                  <a:latin typeface="Cambria Math" panose="02040503050406030204" pitchFamily="18" charset="0"/>
                                </a:rPr>
                                <m:t>𝑝</m:t>
                              </m:r>
                            </m:e>
                          </m:d>
                          <m:r>
                            <a:rPr lang="en-US" sz="2400" i="1">
                              <a:latin typeface="Cambria Math" panose="02040503050406030204" pitchFamily="18" charset="0"/>
                            </a:rPr>
                            <m:t>≥</m:t>
                          </m:r>
                          <m:r>
                            <a:rPr lang="en-US" sz="2400" i="1">
                              <a:latin typeface="Cambria Math" panose="02040503050406030204" pitchFamily="18" charset="0"/>
                            </a:rPr>
                            <m:t>𝜖</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i="1">
                              <a:latin typeface="Cambria Math" panose="02040503050406030204" pitchFamily="18" charset="0"/>
                            </a:rPr>
                            <m:t>𝑝</m:t>
                          </m:r>
                          <m:d>
                            <m:dPr>
                              <m:ctrlPr>
                                <a:rPr lang="en-US" sz="2400" i="1">
                                  <a:latin typeface="Cambria Math" panose="02040503050406030204" pitchFamily="18" charset="0"/>
                                </a:rPr>
                              </m:ctrlPr>
                            </m:dPr>
                            <m:e>
                              <m:r>
                                <a:rPr lang="en-US" sz="2400" i="1">
                                  <a:latin typeface="Cambria Math" panose="02040503050406030204" pitchFamily="18" charset="0"/>
                                </a:rPr>
                                <m:t>1−</m:t>
                              </m:r>
                              <m:r>
                                <a:rPr lang="en-US" sz="2400" i="1">
                                  <a:latin typeface="Cambria Math" panose="02040503050406030204" pitchFamily="18" charset="0"/>
                                </a:rPr>
                                <m:t>𝑝</m:t>
                              </m:r>
                            </m:e>
                          </m:d>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r>
                                <a:rPr lang="en-US" sz="2400" b="0" i="1" smtClean="0">
                                  <a:latin typeface="Cambria Math" panose="02040503050406030204" pitchFamily="18" charset="0"/>
                                </a:rPr>
                                <m:t>𝜖</m:t>
                              </m:r>
                            </m:e>
                            <m:sup>
                              <m:r>
                                <a:rPr lang="en-US" sz="2400" b="0" i="1" smtClean="0">
                                  <a:latin typeface="Cambria Math" panose="02040503050406030204" pitchFamily="18" charset="0"/>
                                </a:rPr>
                                <m:t>2</m:t>
                              </m:r>
                            </m:sup>
                          </m:sSup>
                        </m:den>
                      </m:f>
                    </m:oMath>
                  </m:oMathPara>
                </a14:m>
                <a:endParaRPr lang="en-US" sz="2400"/>
              </a:p>
            </p:txBody>
          </p:sp>
        </mc:Choice>
        <mc:Fallback>
          <p:sp>
            <p:nvSpPr>
              <p:cNvPr id="11" name="TextBox 10">
                <a:extLst>
                  <a:ext uri="{FF2B5EF4-FFF2-40B4-BE49-F238E27FC236}">
                    <a16:creationId xmlns:a16="http://schemas.microsoft.com/office/drawing/2014/main" id="{A565BF7C-EF5C-77D1-B04E-FD9C0B613993}"/>
                  </a:ext>
                </a:extLst>
              </p:cNvPr>
              <p:cNvSpPr txBox="1">
                <a:spLocks noRot="1" noChangeAspect="1" noMove="1" noResize="1" noEditPoints="1" noAdjustHandles="1" noChangeArrowheads="1" noChangeShapeType="1" noTextEdit="1"/>
              </p:cNvSpPr>
              <p:nvPr/>
            </p:nvSpPr>
            <p:spPr>
              <a:xfrm>
                <a:off x="2260923" y="4414443"/>
                <a:ext cx="7670153" cy="8091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988CF8C6-90A9-7AD4-7E32-E40689ECDE1A}"/>
                  </a:ext>
                </a:extLst>
              </p:cNvPr>
              <p:cNvSpPr txBox="1"/>
              <p:nvPr/>
            </p:nvSpPr>
            <p:spPr>
              <a:xfrm>
                <a:off x="4505626" y="3102272"/>
                <a:ext cx="214348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4"/>
                          </a:solidFill>
                          <a:latin typeface="Cambria Math" panose="02040503050406030204" pitchFamily="18" charset="0"/>
                        </a:rPr>
                        <m:t>𝑃</m:t>
                      </m:r>
                      <m:d>
                        <m:dPr>
                          <m:ctrlPr>
                            <a:rPr lang="en-US" sz="2400" b="0" i="1" smtClean="0">
                              <a:solidFill>
                                <a:schemeClr val="accent4"/>
                              </a:solidFill>
                              <a:latin typeface="Cambria Math" panose="02040503050406030204" pitchFamily="18" charset="0"/>
                            </a:rPr>
                          </m:ctrlPr>
                        </m:dPr>
                        <m:e>
                          <m:d>
                            <m:dPr>
                              <m:begChr m:val="|"/>
                              <m:endChr m:val="|"/>
                              <m:ctrlPr>
                                <a:rPr lang="en-US" sz="2400" b="0" i="1" smtClean="0">
                                  <a:solidFill>
                                    <a:schemeClr val="accent4"/>
                                  </a:solidFill>
                                  <a:latin typeface="Cambria Math" panose="02040503050406030204" pitchFamily="18" charset="0"/>
                                </a:rPr>
                              </m:ctrlPr>
                            </m:dPr>
                            <m:e>
                              <m:acc>
                                <m:accPr>
                                  <m:chr m:val="̂"/>
                                  <m:ctrlPr>
                                    <a:rPr lang="en-US" sz="2400" b="0" i="1" smtClean="0">
                                      <a:solidFill>
                                        <a:schemeClr val="accent4"/>
                                      </a:solidFill>
                                      <a:latin typeface="Cambria Math" panose="02040503050406030204" pitchFamily="18" charset="0"/>
                                    </a:rPr>
                                  </m:ctrlPr>
                                </m:accPr>
                                <m:e>
                                  <m:r>
                                    <a:rPr lang="en-US" sz="2400" b="0" i="1" smtClean="0">
                                      <a:solidFill>
                                        <a:schemeClr val="accent4"/>
                                      </a:solidFill>
                                      <a:latin typeface="Cambria Math" panose="02040503050406030204" pitchFamily="18" charset="0"/>
                                    </a:rPr>
                                    <m:t>𝑝</m:t>
                                  </m:r>
                                </m:e>
                              </m:acc>
                              <m:r>
                                <a:rPr lang="en-US" sz="2400" b="0" i="1" smtClean="0">
                                  <a:solidFill>
                                    <a:schemeClr val="accent4"/>
                                  </a:solidFill>
                                  <a:latin typeface="Cambria Math" panose="02040503050406030204" pitchFamily="18" charset="0"/>
                                </a:rPr>
                                <m:t>−</m:t>
                              </m:r>
                              <m:r>
                                <a:rPr lang="en-US" sz="2400" b="0" i="1" smtClean="0">
                                  <a:solidFill>
                                    <a:schemeClr val="accent4"/>
                                  </a:solidFill>
                                  <a:latin typeface="Cambria Math" panose="02040503050406030204" pitchFamily="18" charset="0"/>
                                </a:rPr>
                                <m:t>𝑝</m:t>
                              </m:r>
                            </m:e>
                          </m:d>
                          <m:r>
                            <a:rPr lang="en-US" sz="2400" b="0" i="1" smtClean="0">
                              <a:solidFill>
                                <a:schemeClr val="accent4"/>
                              </a:solidFill>
                              <a:latin typeface="Cambria Math" panose="02040503050406030204" pitchFamily="18" charset="0"/>
                            </a:rPr>
                            <m:t>≥</m:t>
                          </m:r>
                          <m:r>
                            <a:rPr lang="en-US" sz="2400" b="0" i="1" smtClean="0">
                              <a:solidFill>
                                <a:schemeClr val="accent4"/>
                              </a:solidFill>
                              <a:latin typeface="Cambria Math" panose="02040503050406030204" pitchFamily="18" charset="0"/>
                            </a:rPr>
                            <m:t>𝜖</m:t>
                          </m:r>
                        </m:e>
                      </m:d>
                    </m:oMath>
                  </m:oMathPara>
                </a14:m>
                <a:endParaRPr lang="en-US" sz="2400">
                  <a:solidFill>
                    <a:schemeClr val="accent4"/>
                  </a:solidFill>
                </a:endParaRPr>
              </a:p>
            </p:txBody>
          </p:sp>
        </mc:Choice>
        <mc:Fallback>
          <p:sp>
            <p:nvSpPr>
              <p:cNvPr id="6" name="TextBox 5">
                <a:extLst>
                  <a:ext uri="{FF2B5EF4-FFF2-40B4-BE49-F238E27FC236}">
                    <a16:creationId xmlns:a16="http://schemas.microsoft.com/office/drawing/2014/main" id="{988CF8C6-90A9-7AD4-7E32-E40689ECDE1A}"/>
                  </a:ext>
                </a:extLst>
              </p:cNvPr>
              <p:cNvSpPr txBox="1">
                <a:spLocks noRot="1" noChangeAspect="1" noMove="1" noResize="1" noEditPoints="1" noAdjustHandles="1" noChangeArrowheads="1" noChangeShapeType="1" noTextEdit="1"/>
              </p:cNvSpPr>
              <p:nvPr/>
            </p:nvSpPr>
            <p:spPr>
              <a:xfrm>
                <a:off x="4505626" y="3102272"/>
                <a:ext cx="2143484" cy="461665"/>
              </a:xfrm>
              <a:prstGeom prst="rect">
                <a:avLst/>
              </a:prstGeom>
              <a:blipFill>
                <a:blip r:embed="rId6"/>
                <a:stretch>
                  <a:fillRect t="-3947" b="-9211"/>
                </a:stretch>
              </a:blipFill>
            </p:spPr>
            <p:txBody>
              <a:bodyPr/>
              <a:lstStyle/>
              <a:p>
                <a:r>
                  <a:rPr lang="en-US">
                    <a:noFill/>
                  </a:rPr>
                  <a:t> </a:t>
                </a:r>
              </a:p>
            </p:txBody>
          </p:sp>
        </mc:Fallback>
      </mc:AlternateContent>
    </p:spTree>
    <p:extLst>
      <p:ext uri="{BB962C8B-B14F-4D97-AF65-F5344CB8AC3E}">
        <p14:creationId xmlns:p14="http://schemas.microsoft.com/office/powerpoint/2010/main" val="1359057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B46B0A3-27E3-021F-C6B1-D2533F3669FC}"/>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B65A27EA-08EE-ED13-20C3-3F0D34D7F770}"/>
                  </a:ext>
                </a:extLst>
              </p:cNvPr>
              <p:cNvSpPr>
                <a:spLocks noGrp="1"/>
              </p:cNvSpPr>
              <p:nvPr>
                <p:ph type="title"/>
              </p:nvPr>
            </p:nvSpPr>
            <p:spPr/>
            <p:txBody>
              <a:bodyPr/>
              <a:lstStyle/>
              <a:p>
                <a:r>
                  <a:rPr lang="en-US"/>
                  <a:t>Back to Estimating </a:t>
                </a:r>
                <a14:m>
                  <m:oMath xmlns:m="http://schemas.openxmlformats.org/officeDocument/2006/math">
                    <m:r>
                      <a:rPr lang="en-US" b="0" i="1" smtClean="0">
                        <a:latin typeface="Cambria Math" panose="02040503050406030204" pitchFamily="18" charset="0"/>
                      </a:rPr>
                      <m:t>𝑝</m:t>
                    </m:r>
                  </m:oMath>
                </a14:m>
                <a:r>
                  <a:rPr lang="en-US"/>
                  <a:t> for a Coin</a:t>
                </a:r>
              </a:p>
            </p:txBody>
          </p:sp>
        </mc:Choice>
        <mc:Fallback>
          <p:sp>
            <p:nvSpPr>
              <p:cNvPr id="2" name="Title 1">
                <a:extLst>
                  <a:ext uri="{FF2B5EF4-FFF2-40B4-BE49-F238E27FC236}">
                    <a16:creationId xmlns:a16="http://schemas.microsoft.com/office/drawing/2014/main" id="{B65A27EA-08EE-ED13-20C3-3F0D34D7F770}"/>
                  </a:ext>
                </a:extLst>
              </p:cNvPr>
              <p:cNvSpPr>
                <a:spLocks noGrp="1" noRot="1" noChangeAspect="1" noMove="1" noResize="1" noEditPoints="1" noAdjustHandles="1" noChangeArrowheads="1" noChangeShapeType="1" noTextEdit="1"/>
              </p:cNvSpPr>
              <p:nvPr>
                <p:ph type="title"/>
              </p:nvPr>
            </p:nvSpPr>
            <p:spPr>
              <a:blipFill>
                <a:blip r:embed="rId2"/>
                <a:stretch>
                  <a:fillRect l="-870" t="-14667" b="-2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48FA92F-EC2A-9C69-89D4-9954F855E702}"/>
                  </a:ext>
                </a:extLst>
              </p:cNvPr>
              <p:cNvSpPr>
                <a:spLocks noGrp="1"/>
              </p:cNvSpPr>
              <p:nvPr>
                <p:ph idx="1"/>
              </p:nvPr>
            </p:nvSpPr>
            <p:spPr>
              <a:xfrm>
                <a:off x="93658" y="533400"/>
                <a:ext cx="10421942" cy="5638732"/>
              </a:xfrm>
            </p:spPr>
            <p:txBody>
              <a:bodyPr/>
              <a:lstStyle/>
              <a:p>
                <a:r>
                  <a:rPr lang="en-US"/>
                  <a:t>We have a coin with unknown heads probability </a:t>
                </a:r>
                <a14:m>
                  <m:oMath xmlns:m="http://schemas.openxmlformats.org/officeDocument/2006/math">
                    <m:r>
                      <a:rPr lang="en-US" b="0" i="1" smtClean="0">
                        <a:latin typeface="Cambria Math" panose="02040503050406030204" pitchFamily="18" charset="0"/>
                      </a:rPr>
                      <m:t>𝑝</m:t>
                    </m:r>
                  </m:oMath>
                </a14:m>
                <a:r>
                  <a:rPr lang="en-US"/>
                  <a:t>. We estimate it by tossing a coin n times.</a:t>
                </a:r>
              </a:p>
              <a:p>
                <a:pPr marL="342900" indent="-34290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𝑋</m:t>
                    </m:r>
                  </m:oMath>
                </a14:m>
                <a:r>
                  <a:rPr lang="en-US"/>
                  <a:t> is the number of heads. </a:t>
                </a: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oMath>
                </a14:m>
                <a:r>
                  <a:rPr lang="en-US"/>
                  <a:t>.</a:t>
                </a:r>
              </a:p>
              <a:p>
                <a:pPr marL="342900" indent="-342900">
                  <a:lnSpc>
                    <a:spcPct val="120000"/>
                  </a:lnSpc>
                  <a:buFont typeface="Arial" panose="020B0604020202020204" pitchFamily="34" charset="0"/>
                  <a:buChar char="•"/>
                </a:pPr>
                <a:r>
                  <a:rPr lang="en-US"/>
                  <a:t>Our empirical mean is </a:t>
                </a:r>
              </a:p>
              <a:p>
                <a:pPr marL="342900" indent="-342900">
                  <a:buFont typeface="Arial" panose="020B0604020202020204" pitchFamily="34" charset="0"/>
                  <a:buChar char="•"/>
                </a:pPr>
                <a:endParaRPr lang="en-US"/>
              </a:p>
              <a:p>
                <a:r>
                  <a:rPr lang="en-US"/>
                  <a:t>Observation, we can bound                                using Chebyshev’s inequality.</a:t>
                </a:r>
              </a:p>
              <a:p>
                <a:pPr marL="342900" indent="-342900">
                  <a:buFont typeface="Arial" panose="020B0604020202020204" pitchFamily="34" charset="0"/>
                  <a:buChar char="•"/>
                </a:pPr>
                <a:r>
                  <a:rPr lang="en-US"/>
                  <a:t>Since </a:t>
                </a:r>
                <a14:m>
                  <m:oMath xmlns:m="http://schemas.openxmlformats.org/officeDocument/2006/math">
                    <m:r>
                      <a:rPr lang="en-US" i="1" smtClean="0">
                        <a:latin typeface="Cambria Math" panose="02040503050406030204" pitchFamily="18" charset="0"/>
                      </a:rPr>
                      <m:t>𝔼</m:t>
                    </m:r>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e>
                    </m:d>
                    <m:r>
                      <a:rPr lang="en-US" b="0" i="1" smtClean="0">
                        <a:latin typeface="Cambria Math" panose="02040503050406030204" pitchFamily="18" charset="0"/>
                      </a:rPr>
                      <m:t>=</m:t>
                    </m:r>
                    <m:r>
                      <a:rPr lang="en-US" b="0" i="1" smtClean="0">
                        <a:latin typeface="Cambria Math" panose="02040503050406030204" pitchFamily="18" charset="0"/>
                      </a:rPr>
                      <m:t>𝑝</m:t>
                    </m:r>
                  </m:oMath>
                </a14:m>
                <a:r>
                  <a:rPr lang="en-US"/>
                  <a:t>, and </a:t>
                </a:r>
                <a14:m>
                  <m:oMath xmlns:m="http://schemas.openxmlformats.org/officeDocument/2006/math">
                    <m:r>
                      <m:rPr>
                        <m:sty m:val="p"/>
                      </m:rPr>
                      <a:rPr lang="en-US">
                        <a:latin typeface="Cambria Math" panose="02040503050406030204" pitchFamily="18" charset="0"/>
                      </a:rPr>
                      <m:t>var</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d>
                    <m:r>
                      <a:rPr lang="en-US" b="0" i="1" smtClean="0">
                        <a:latin typeface="Cambria Math" panose="02040503050406030204" pitchFamily="18" charset="0"/>
                      </a:rPr>
                      <m:t>=</m:t>
                    </m:r>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𝑝</m:t>
                        </m:r>
                      </m:e>
                    </m:d>
                    <m:r>
                      <a:rPr lang="en-US" b="0" i="1" smtClean="0">
                        <a:latin typeface="Cambria Math" panose="02040503050406030204" pitchFamily="18" charset="0"/>
                      </a:rPr>
                      <m:t>/</m:t>
                    </m:r>
                    <m:r>
                      <a:rPr lang="en-US" b="0" i="1" smtClean="0">
                        <a:latin typeface="Cambria Math" panose="02040503050406030204" pitchFamily="18" charset="0"/>
                      </a:rPr>
                      <m:t>𝑛</m:t>
                    </m:r>
                  </m:oMath>
                </a14:m>
                <a:r>
                  <a:rPr lang="en-US"/>
                  <a:t> we have that:</a:t>
                </a:r>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a:p>
                <a:r>
                  <a:rPr lang="en-US"/>
                  <a:t>Solution: Be conservative and replace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𝑝</m:t>
                        </m:r>
                      </m:e>
                    </m:d>
                  </m:oMath>
                </a14:m>
                <a:r>
                  <a:rPr lang="en-US"/>
                  <a:t> with its maximum possible value. What is it? joshh.ug/J</a:t>
                </a:r>
              </a:p>
            </p:txBody>
          </p:sp>
        </mc:Choice>
        <mc:Fallback>
          <p:sp>
            <p:nvSpPr>
              <p:cNvPr id="3" name="Content Placeholder 2">
                <a:extLst>
                  <a:ext uri="{FF2B5EF4-FFF2-40B4-BE49-F238E27FC236}">
                    <a16:creationId xmlns:a16="http://schemas.microsoft.com/office/drawing/2014/main" id="{F48FA92F-EC2A-9C69-89D4-9954F855E702}"/>
                  </a:ext>
                </a:extLst>
              </p:cNvPr>
              <p:cNvSpPr>
                <a:spLocks noGrp="1" noRot="1" noChangeAspect="1" noMove="1" noResize="1" noEditPoints="1" noAdjustHandles="1" noChangeArrowheads="1" noChangeShapeType="1" noTextEdit="1"/>
              </p:cNvSpPr>
              <p:nvPr>
                <p:ph idx="1"/>
              </p:nvPr>
            </p:nvSpPr>
            <p:spPr>
              <a:xfrm>
                <a:off x="93658" y="533400"/>
                <a:ext cx="10421942" cy="5638732"/>
              </a:xfrm>
              <a:blipFill>
                <a:blip r:embed="rId3"/>
                <a:stretch>
                  <a:fillRect l="-877" t="-541" r="-1287" b="-86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61219A47-A84F-FCFF-95C4-7F125902856C}"/>
                  </a:ext>
                </a:extLst>
              </p:cNvPr>
              <p:cNvSpPr txBox="1"/>
              <p:nvPr/>
            </p:nvSpPr>
            <p:spPr>
              <a:xfrm>
                <a:off x="2207487" y="1859450"/>
                <a:ext cx="3823855"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𝑝</m:t>
                          </m:r>
                        </m:e>
                      </m:acc>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𝑋</m:t>
                          </m:r>
                        </m:num>
                        <m:den>
                          <m:r>
                            <a:rPr lang="en-US" sz="2400" b="0" i="1" smtClean="0">
                              <a:latin typeface="Cambria Math" panose="02040503050406030204" pitchFamily="18" charset="0"/>
                            </a:rPr>
                            <m:t>𝑛</m:t>
                          </m:r>
                        </m:den>
                      </m:f>
                    </m:oMath>
                  </m:oMathPara>
                </a14:m>
                <a:endParaRPr lang="en-US" sz="2400"/>
              </a:p>
            </p:txBody>
          </p:sp>
        </mc:Choice>
        <mc:Fallback>
          <p:sp>
            <p:nvSpPr>
              <p:cNvPr id="4" name="TextBox 3">
                <a:extLst>
                  <a:ext uri="{FF2B5EF4-FFF2-40B4-BE49-F238E27FC236}">
                    <a16:creationId xmlns:a16="http://schemas.microsoft.com/office/drawing/2014/main" id="{61219A47-A84F-FCFF-95C4-7F125902856C}"/>
                  </a:ext>
                </a:extLst>
              </p:cNvPr>
              <p:cNvSpPr txBox="1">
                <a:spLocks noRot="1" noChangeAspect="1" noMove="1" noResize="1" noEditPoints="1" noAdjustHandles="1" noChangeArrowheads="1" noChangeShapeType="1" noTextEdit="1"/>
              </p:cNvSpPr>
              <p:nvPr/>
            </p:nvSpPr>
            <p:spPr>
              <a:xfrm>
                <a:off x="2207487" y="1859450"/>
                <a:ext cx="3823855" cy="78380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D84D1A18-8AC6-85FD-6433-E5E3BFF84C7C}"/>
                  </a:ext>
                </a:extLst>
              </p:cNvPr>
              <p:cNvSpPr txBox="1"/>
              <p:nvPr/>
            </p:nvSpPr>
            <p:spPr>
              <a:xfrm>
                <a:off x="4324138" y="3102272"/>
                <a:ext cx="214348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4"/>
                          </a:solidFill>
                          <a:latin typeface="Cambria Math" panose="02040503050406030204" pitchFamily="18" charset="0"/>
                        </a:rPr>
                        <m:t>𝑃</m:t>
                      </m:r>
                      <m:d>
                        <m:dPr>
                          <m:ctrlPr>
                            <a:rPr lang="en-US" sz="2400" b="0" i="1" smtClean="0">
                              <a:solidFill>
                                <a:schemeClr val="accent4"/>
                              </a:solidFill>
                              <a:latin typeface="Cambria Math" panose="02040503050406030204" pitchFamily="18" charset="0"/>
                            </a:rPr>
                          </m:ctrlPr>
                        </m:dPr>
                        <m:e>
                          <m:d>
                            <m:dPr>
                              <m:begChr m:val="|"/>
                              <m:endChr m:val="|"/>
                              <m:ctrlPr>
                                <a:rPr lang="en-US" sz="2400" b="0" i="1" smtClean="0">
                                  <a:solidFill>
                                    <a:schemeClr val="accent4"/>
                                  </a:solidFill>
                                  <a:latin typeface="Cambria Math" panose="02040503050406030204" pitchFamily="18" charset="0"/>
                                </a:rPr>
                              </m:ctrlPr>
                            </m:dPr>
                            <m:e>
                              <m:acc>
                                <m:accPr>
                                  <m:chr m:val="̂"/>
                                  <m:ctrlPr>
                                    <a:rPr lang="en-US" sz="2400" b="0" i="1" smtClean="0">
                                      <a:solidFill>
                                        <a:schemeClr val="accent4"/>
                                      </a:solidFill>
                                      <a:latin typeface="Cambria Math" panose="02040503050406030204" pitchFamily="18" charset="0"/>
                                    </a:rPr>
                                  </m:ctrlPr>
                                </m:accPr>
                                <m:e>
                                  <m:r>
                                    <a:rPr lang="en-US" sz="2400" b="0" i="1" smtClean="0">
                                      <a:solidFill>
                                        <a:schemeClr val="accent4"/>
                                      </a:solidFill>
                                      <a:latin typeface="Cambria Math" panose="02040503050406030204" pitchFamily="18" charset="0"/>
                                    </a:rPr>
                                    <m:t>𝑝</m:t>
                                  </m:r>
                                </m:e>
                              </m:acc>
                              <m:r>
                                <a:rPr lang="en-US" sz="2400" b="0" i="1" smtClean="0">
                                  <a:solidFill>
                                    <a:schemeClr val="accent4"/>
                                  </a:solidFill>
                                  <a:latin typeface="Cambria Math" panose="02040503050406030204" pitchFamily="18" charset="0"/>
                                </a:rPr>
                                <m:t>−</m:t>
                              </m:r>
                              <m:r>
                                <a:rPr lang="en-US" sz="2400" b="0" i="1" smtClean="0">
                                  <a:solidFill>
                                    <a:schemeClr val="accent4"/>
                                  </a:solidFill>
                                  <a:latin typeface="Cambria Math" panose="02040503050406030204" pitchFamily="18" charset="0"/>
                                </a:rPr>
                                <m:t>𝑝</m:t>
                              </m:r>
                            </m:e>
                          </m:d>
                          <m:r>
                            <a:rPr lang="en-US" sz="2400" b="0" i="1" smtClean="0">
                              <a:solidFill>
                                <a:schemeClr val="accent4"/>
                              </a:solidFill>
                              <a:latin typeface="Cambria Math" panose="02040503050406030204" pitchFamily="18" charset="0"/>
                            </a:rPr>
                            <m:t>≥</m:t>
                          </m:r>
                          <m:r>
                            <a:rPr lang="en-US" sz="2400" b="0" i="1" smtClean="0">
                              <a:solidFill>
                                <a:schemeClr val="accent4"/>
                              </a:solidFill>
                              <a:latin typeface="Cambria Math" panose="02040503050406030204" pitchFamily="18" charset="0"/>
                            </a:rPr>
                            <m:t>𝜖</m:t>
                          </m:r>
                        </m:e>
                      </m:d>
                    </m:oMath>
                  </m:oMathPara>
                </a14:m>
                <a:endParaRPr lang="en-US" sz="2400">
                  <a:solidFill>
                    <a:schemeClr val="accent4"/>
                  </a:solidFill>
                </a:endParaRPr>
              </a:p>
            </p:txBody>
          </p:sp>
        </mc:Choice>
        <mc:Fallback>
          <p:sp>
            <p:nvSpPr>
              <p:cNvPr id="5" name="TextBox 4">
                <a:extLst>
                  <a:ext uri="{FF2B5EF4-FFF2-40B4-BE49-F238E27FC236}">
                    <a16:creationId xmlns:a16="http://schemas.microsoft.com/office/drawing/2014/main" id="{D84D1A18-8AC6-85FD-6433-E5E3BFF84C7C}"/>
                  </a:ext>
                </a:extLst>
              </p:cNvPr>
              <p:cNvSpPr txBox="1">
                <a:spLocks noRot="1" noChangeAspect="1" noMove="1" noResize="1" noEditPoints="1" noAdjustHandles="1" noChangeArrowheads="1" noChangeShapeType="1" noTextEdit="1"/>
              </p:cNvSpPr>
              <p:nvPr/>
            </p:nvSpPr>
            <p:spPr>
              <a:xfrm>
                <a:off x="4324138" y="3102272"/>
                <a:ext cx="2143484" cy="461665"/>
              </a:xfrm>
              <a:prstGeom prst="rect">
                <a:avLst/>
              </a:prstGeom>
              <a:blipFill>
                <a:blip r:embed="rId5"/>
                <a:stretch>
                  <a:fillRect t="-3947" b="-921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C38258A6-E5A7-14F7-3018-AB6E13632CD5}"/>
                  </a:ext>
                </a:extLst>
              </p:cNvPr>
              <p:cNvSpPr txBox="1"/>
              <p:nvPr/>
            </p:nvSpPr>
            <p:spPr>
              <a:xfrm>
                <a:off x="2260923" y="4456484"/>
                <a:ext cx="7670153" cy="8091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d>
                            <m:dPr>
                              <m:begChr m:val="|"/>
                              <m:endChr m:val="|"/>
                              <m:ctrlPr>
                                <a:rPr lang="en-US" sz="2400" b="0" i="1" smtClean="0">
                                  <a:latin typeface="Cambria Math" panose="02040503050406030204" pitchFamily="18" charset="0"/>
                                </a:rPr>
                              </m:ctrlPr>
                            </m:d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𝑝</m:t>
                                  </m:r>
                                </m:e>
                              </m:acc>
                              <m:r>
                                <a:rPr lang="en-US" sz="2400" b="0" i="1" smtClean="0">
                                  <a:latin typeface="Cambria Math" panose="02040503050406030204" pitchFamily="18" charset="0"/>
                                </a:rPr>
                                <m:t>−</m:t>
                              </m:r>
                              <m:r>
                                <a:rPr lang="en-US" sz="2400" i="1">
                                  <a:latin typeface="Cambria Math" panose="02040503050406030204" pitchFamily="18" charset="0"/>
                                </a:rPr>
                                <m:t>𝔼</m:t>
                              </m:r>
                              <m:d>
                                <m:dPr>
                                  <m:begChr m:val="["/>
                                  <m:endChr m:val="]"/>
                                  <m:ctrlPr>
                                    <a:rPr lang="en-US" sz="2400" i="1">
                                      <a:latin typeface="Cambria Math" panose="02040503050406030204" pitchFamily="18" charset="0"/>
                                    </a:rPr>
                                  </m:ctrlPr>
                                </m:dPr>
                                <m:e>
                                  <m:acc>
                                    <m:accPr>
                                      <m:chr m:val="̂"/>
                                      <m:ctrlPr>
                                        <a:rPr lang="en-US" sz="2400" i="1">
                                          <a:latin typeface="Cambria Math" panose="02040503050406030204" pitchFamily="18" charset="0"/>
                                        </a:rPr>
                                      </m:ctrlPr>
                                    </m:accPr>
                                    <m:e>
                                      <m:r>
                                        <a:rPr lang="en-US" sz="2400" i="1">
                                          <a:latin typeface="Cambria Math" panose="02040503050406030204" pitchFamily="18" charset="0"/>
                                        </a:rPr>
                                        <m:t>𝑝</m:t>
                                      </m:r>
                                    </m:e>
                                  </m:acc>
                                </m:e>
                              </m:d>
                            </m:e>
                          </m:d>
                          <m:r>
                            <a:rPr lang="en-US" sz="2400" b="0" i="1" smtClean="0">
                              <a:latin typeface="Cambria Math" panose="02040503050406030204" pitchFamily="18" charset="0"/>
                            </a:rPr>
                            <m:t>≥</m:t>
                          </m:r>
                          <m:r>
                            <a:rPr lang="en-US" sz="2400" b="0" i="1" smtClean="0">
                              <a:latin typeface="Cambria Math" panose="02040503050406030204" pitchFamily="18" charset="0"/>
                            </a:rPr>
                            <m:t>𝜖</m:t>
                          </m:r>
                        </m:e>
                      </m:d>
                      <m:r>
                        <a:rPr lang="en-US" sz="2400" b="0" i="1" smtClean="0">
                          <a:latin typeface="Cambria Math" panose="02040503050406030204" pitchFamily="18" charset="0"/>
                        </a:rPr>
                        <m:t>=</m:t>
                      </m:r>
                      <m:r>
                        <a:rPr lang="en-US" sz="2400" i="1">
                          <a:latin typeface="Cambria Math" panose="02040503050406030204" pitchFamily="18" charset="0"/>
                        </a:rPr>
                        <m:t>𝑃</m:t>
                      </m:r>
                      <m:d>
                        <m:dPr>
                          <m:ctrlPr>
                            <a:rPr lang="en-US" sz="2400" i="1">
                              <a:latin typeface="Cambria Math" panose="02040503050406030204" pitchFamily="18" charset="0"/>
                            </a:rPr>
                          </m:ctrlPr>
                        </m:dPr>
                        <m:e>
                          <m:d>
                            <m:dPr>
                              <m:begChr m:val="|"/>
                              <m:endChr m:val="|"/>
                              <m:ctrlPr>
                                <a:rPr lang="en-US" sz="2400" i="1">
                                  <a:latin typeface="Cambria Math" panose="02040503050406030204" pitchFamily="18" charset="0"/>
                                </a:rPr>
                              </m:ctrlPr>
                            </m:dPr>
                            <m:e>
                              <m:acc>
                                <m:accPr>
                                  <m:chr m:val="̂"/>
                                  <m:ctrlPr>
                                    <a:rPr lang="en-US" sz="2400" i="1">
                                      <a:latin typeface="Cambria Math" panose="02040503050406030204" pitchFamily="18" charset="0"/>
                                    </a:rPr>
                                  </m:ctrlPr>
                                </m:accPr>
                                <m:e>
                                  <m:r>
                                    <a:rPr lang="en-US" sz="2400" i="1">
                                      <a:latin typeface="Cambria Math" panose="02040503050406030204" pitchFamily="18" charset="0"/>
                                    </a:rPr>
                                    <m:t>𝑝</m:t>
                                  </m:r>
                                </m:e>
                              </m:acc>
                              <m:r>
                                <a:rPr lang="en-US" sz="2400" i="1">
                                  <a:latin typeface="Cambria Math" panose="02040503050406030204" pitchFamily="18" charset="0"/>
                                </a:rPr>
                                <m:t>−</m:t>
                              </m:r>
                              <m:r>
                                <a:rPr lang="en-US" sz="2400" b="0" i="1" smtClean="0">
                                  <a:latin typeface="Cambria Math" panose="02040503050406030204" pitchFamily="18" charset="0"/>
                                </a:rPr>
                                <m:t>𝑝</m:t>
                              </m:r>
                            </m:e>
                          </m:d>
                          <m:r>
                            <a:rPr lang="en-US" sz="2400" i="1">
                              <a:latin typeface="Cambria Math" panose="02040503050406030204" pitchFamily="18" charset="0"/>
                            </a:rPr>
                            <m:t>≥</m:t>
                          </m:r>
                          <m:r>
                            <a:rPr lang="en-US" sz="2400" i="1">
                              <a:latin typeface="Cambria Math" panose="02040503050406030204" pitchFamily="18" charset="0"/>
                            </a:rPr>
                            <m:t>𝜖</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i="1">
                              <a:latin typeface="Cambria Math" panose="02040503050406030204" pitchFamily="18" charset="0"/>
                            </a:rPr>
                            <m:t>𝑝</m:t>
                          </m:r>
                          <m:d>
                            <m:dPr>
                              <m:ctrlPr>
                                <a:rPr lang="en-US" sz="2400" i="1">
                                  <a:latin typeface="Cambria Math" panose="02040503050406030204" pitchFamily="18" charset="0"/>
                                </a:rPr>
                              </m:ctrlPr>
                            </m:dPr>
                            <m:e>
                              <m:r>
                                <a:rPr lang="en-US" sz="2400" i="1">
                                  <a:latin typeface="Cambria Math" panose="02040503050406030204" pitchFamily="18" charset="0"/>
                                </a:rPr>
                                <m:t>1−</m:t>
                              </m:r>
                              <m:r>
                                <a:rPr lang="en-US" sz="2400" i="1">
                                  <a:latin typeface="Cambria Math" panose="02040503050406030204" pitchFamily="18" charset="0"/>
                                </a:rPr>
                                <m:t>𝑝</m:t>
                              </m:r>
                            </m:e>
                          </m:d>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r>
                                <a:rPr lang="en-US" sz="2400" b="0" i="1" smtClean="0">
                                  <a:latin typeface="Cambria Math" panose="02040503050406030204" pitchFamily="18" charset="0"/>
                                </a:rPr>
                                <m:t>𝜖</m:t>
                              </m:r>
                            </m:e>
                            <m:sup>
                              <m:r>
                                <a:rPr lang="en-US" sz="2400" b="0" i="1" smtClean="0">
                                  <a:latin typeface="Cambria Math" panose="02040503050406030204" pitchFamily="18" charset="0"/>
                                </a:rPr>
                                <m:t>2</m:t>
                              </m:r>
                            </m:sup>
                          </m:sSup>
                        </m:den>
                      </m:f>
                    </m:oMath>
                  </m:oMathPara>
                </a14:m>
                <a:endParaRPr lang="en-US" sz="2400"/>
              </a:p>
            </p:txBody>
          </p:sp>
        </mc:Choice>
        <mc:Fallback>
          <p:sp>
            <p:nvSpPr>
              <p:cNvPr id="11" name="TextBox 10">
                <a:extLst>
                  <a:ext uri="{FF2B5EF4-FFF2-40B4-BE49-F238E27FC236}">
                    <a16:creationId xmlns:a16="http://schemas.microsoft.com/office/drawing/2014/main" id="{C38258A6-E5A7-14F7-3018-AB6E13632CD5}"/>
                  </a:ext>
                </a:extLst>
              </p:cNvPr>
              <p:cNvSpPr txBox="1">
                <a:spLocks noRot="1" noChangeAspect="1" noMove="1" noResize="1" noEditPoints="1" noAdjustHandles="1" noChangeArrowheads="1" noChangeShapeType="1" noTextEdit="1"/>
              </p:cNvSpPr>
              <p:nvPr/>
            </p:nvSpPr>
            <p:spPr>
              <a:xfrm>
                <a:off x="2260923" y="4456484"/>
                <a:ext cx="7670153" cy="809132"/>
              </a:xfrm>
              <a:prstGeom prst="rect">
                <a:avLst/>
              </a:prstGeom>
              <a:blipFill>
                <a:blip r:embed="rId6"/>
                <a:stretch>
                  <a:fillRect/>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E96E86DD-17D8-B172-F501-E961B20281E2}"/>
              </a:ext>
            </a:extLst>
          </p:cNvPr>
          <p:cNvPicPr>
            <a:picLocks noChangeAspect="1"/>
          </p:cNvPicPr>
          <p:nvPr/>
        </p:nvPicPr>
        <p:blipFill>
          <a:blip r:embed="rId7"/>
          <a:stretch>
            <a:fillRect/>
          </a:stretch>
        </p:blipFill>
        <p:spPr>
          <a:xfrm>
            <a:off x="9960841" y="965211"/>
            <a:ext cx="2231159" cy="2202827"/>
          </a:xfrm>
          <a:prstGeom prst="rect">
            <a:avLst/>
          </a:prstGeom>
        </p:spPr>
      </p:pic>
    </p:spTree>
    <p:extLst>
      <p:ext uri="{BB962C8B-B14F-4D97-AF65-F5344CB8AC3E}">
        <p14:creationId xmlns:p14="http://schemas.microsoft.com/office/powerpoint/2010/main" val="60206000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DBA01-CA9D-E575-A95E-207BA5D3DC81}"/>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C3755966-AFB6-80B0-F04F-45E7F478DA20}"/>
                  </a:ext>
                </a:extLst>
              </p:cNvPr>
              <p:cNvSpPr>
                <a:spLocks noGrp="1"/>
              </p:cNvSpPr>
              <p:nvPr>
                <p:ph type="title"/>
              </p:nvPr>
            </p:nvSpPr>
            <p:spPr/>
            <p:txBody>
              <a:bodyPr/>
              <a:lstStyle/>
              <a:p>
                <a:r>
                  <a:rPr lang="en-US"/>
                  <a:t>Back to Estimating </a:t>
                </a:r>
                <a14:m>
                  <m:oMath xmlns:m="http://schemas.openxmlformats.org/officeDocument/2006/math">
                    <m:r>
                      <a:rPr lang="en-US" b="0" i="1" smtClean="0">
                        <a:latin typeface="Cambria Math" panose="02040503050406030204" pitchFamily="18" charset="0"/>
                      </a:rPr>
                      <m:t>𝑝</m:t>
                    </m:r>
                  </m:oMath>
                </a14:m>
                <a:r>
                  <a:rPr lang="en-US"/>
                  <a:t> for a Coin</a:t>
                </a:r>
              </a:p>
            </p:txBody>
          </p:sp>
        </mc:Choice>
        <mc:Fallback>
          <p:sp>
            <p:nvSpPr>
              <p:cNvPr id="2" name="Title 1">
                <a:extLst>
                  <a:ext uri="{FF2B5EF4-FFF2-40B4-BE49-F238E27FC236}">
                    <a16:creationId xmlns:a16="http://schemas.microsoft.com/office/drawing/2014/main" id="{C3755966-AFB6-80B0-F04F-45E7F478DA20}"/>
                  </a:ext>
                </a:extLst>
              </p:cNvPr>
              <p:cNvSpPr>
                <a:spLocks noGrp="1" noRot="1" noChangeAspect="1" noMove="1" noResize="1" noEditPoints="1" noAdjustHandles="1" noChangeArrowheads="1" noChangeShapeType="1" noTextEdit="1"/>
              </p:cNvSpPr>
              <p:nvPr>
                <p:ph type="title"/>
              </p:nvPr>
            </p:nvSpPr>
            <p:spPr>
              <a:blipFill>
                <a:blip r:embed="rId2"/>
                <a:stretch>
                  <a:fillRect l="-870" t="-14667" b="-2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42FE734-EE05-E5ED-99A2-6953C014556B}"/>
                  </a:ext>
                </a:extLst>
              </p:cNvPr>
              <p:cNvSpPr>
                <a:spLocks noGrp="1"/>
              </p:cNvSpPr>
              <p:nvPr>
                <p:ph idx="1"/>
              </p:nvPr>
            </p:nvSpPr>
            <p:spPr>
              <a:xfrm>
                <a:off x="93657" y="533400"/>
                <a:ext cx="10463113" cy="5638732"/>
              </a:xfrm>
            </p:spPr>
            <p:txBody>
              <a:bodyPr/>
              <a:lstStyle/>
              <a:p>
                <a:r>
                  <a:rPr lang="en-US"/>
                  <a:t>We have a coin with unknown heads probability </a:t>
                </a:r>
                <a14:m>
                  <m:oMath xmlns:m="http://schemas.openxmlformats.org/officeDocument/2006/math">
                    <m:r>
                      <a:rPr lang="en-US" b="0" i="1" smtClean="0">
                        <a:latin typeface="Cambria Math" panose="02040503050406030204" pitchFamily="18" charset="0"/>
                      </a:rPr>
                      <m:t>𝑝</m:t>
                    </m:r>
                  </m:oMath>
                </a14:m>
                <a:r>
                  <a:rPr lang="en-US"/>
                  <a:t>. We estimate it by tossing a coin n times.</a:t>
                </a:r>
              </a:p>
              <a:p>
                <a:pPr marL="342900" indent="-34290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𝑋</m:t>
                    </m:r>
                  </m:oMath>
                </a14:m>
                <a:r>
                  <a:rPr lang="en-US"/>
                  <a:t> is the number of heads. </a:t>
                </a: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oMath>
                </a14:m>
                <a:r>
                  <a:rPr lang="en-US"/>
                  <a:t>.</a:t>
                </a:r>
              </a:p>
              <a:p>
                <a:pPr marL="342900" indent="-342900">
                  <a:lnSpc>
                    <a:spcPct val="120000"/>
                  </a:lnSpc>
                  <a:buFont typeface="Arial" panose="020B0604020202020204" pitchFamily="34" charset="0"/>
                  <a:buChar char="•"/>
                </a:pPr>
                <a:r>
                  <a:rPr lang="en-US"/>
                  <a:t>Our empirical mean is </a:t>
                </a:r>
              </a:p>
              <a:p>
                <a:pPr marL="342900" indent="-342900">
                  <a:buFont typeface="Arial" panose="020B0604020202020204" pitchFamily="34" charset="0"/>
                  <a:buChar char="•"/>
                </a:pPr>
                <a:endParaRPr lang="en-US"/>
              </a:p>
              <a:p>
                <a:r>
                  <a:rPr lang="en-US"/>
                  <a:t>Observation, we can bound                                  using Chebyshev’s inequality.</a:t>
                </a:r>
              </a:p>
              <a:p>
                <a:pPr marL="342900" indent="-342900">
                  <a:buFont typeface="Arial" panose="020B0604020202020204" pitchFamily="34" charset="0"/>
                  <a:buChar char="•"/>
                </a:pPr>
                <a:r>
                  <a:rPr lang="en-US"/>
                  <a:t>Since </a:t>
                </a:r>
                <a14:m>
                  <m:oMath xmlns:m="http://schemas.openxmlformats.org/officeDocument/2006/math">
                    <m:r>
                      <a:rPr lang="en-US" i="1" smtClean="0">
                        <a:latin typeface="Cambria Math" panose="02040503050406030204" pitchFamily="18" charset="0"/>
                      </a:rPr>
                      <m:t>𝔼</m:t>
                    </m:r>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e>
                    </m:d>
                    <m:r>
                      <a:rPr lang="en-US" b="0" i="1" smtClean="0">
                        <a:latin typeface="Cambria Math" panose="02040503050406030204" pitchFamily="18" charset="0"/>
                      </a:rPr>
                      <m:t>=</m:t>
                    </m:r>
                    <m:r>
                      <a:rPr lang="en-US" b="0" i="1" smtClean="0">
                        <a:latin typeface="Cambria Math" panose="02040503050406030204" pitchFamily="18" charset="0"/>
                      </a:rPr>
                      <m:t>𝑝</m:t>
                    </m:r>
                  </m:oMath>
                </a14:m>
                <a:r>
                  <a:rPr lang="en-US"/>
                  <a:t>, and </a:t>
                </a:r>
                <a14:m>
                  <m:oMath xmlns:m="http://schemas.openxmlformats.org/officeDocument/2006/math">
                    <m:r>
                      <m:rPr>
                        <m:sty m:val="p"/>
                      </m:rPr>
                      <a:rPr lang="en-US">
                        <a:latin typeface="Cambria Math" panose="02040503050406030204" pitchFamily="18" charset="0"/>
                      </a:rPr>
                      <m:t>var</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d>
                    <m:r>
                      <a:rPr lang="en-US" b="0" i="1" smtClean="0">
                        <a:latin typeface="Cambria Math" panose="02040503050406030204" pitchFamily="18" charset="0"/>
                      </a:rPr>
                      <m:t>=</m:t>
                    </m:r>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𝑝</m:t>
                        </m:r>
                      </m:e>
                    </m:d>
                    <m:r>
                      <a:rPr lang="en-US" b="0" i="1" smtClean="0">
                        <a:latin typeface="Cambria Math" panose="02040503050406030204" pitchFamily="18" charset="0"/>
                      </a:rPr>
                      <m:t>/</m:t>
                    </m:r>
                    <m:r>
                      <a:rPr lang="en-US" b="0" i="1" smtClean="0">
                        <a:latin typeface="Cambria Math" panose="02040503050406030204" pitchFamily="18" charset="0"/>
                      </a:rPr>
                      <m:t>𝑛</m:t>
                    </m:r>
                  </m:oMath>
                </a14:m>
                <a:r>
                  <a:rPr lang="en-US"/>
                  <a:t> we have that:</a:t>
                </a:r>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a:p>
                <a:r>
                  <a:rPr lang="en-US"/>
                  <a:t>Solution: Be conservative and replace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𝑝</m:t>
                        </m:r>
                      </m:e>
                    </m:d>
                  </m:oMath>
                </a14:m>
                <a:r>
                  <a:rPr lang="en-US"/>
                  <a:t> with its maximum possible value of 1/4, which we get when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=0.5</m:t>
                    </m:r>
                  </m:oMath>
                </a14:m>
                <a:r>
                  <a:rPr lang="en-US"/>
                  <a:t>.</a:t>
                </a:r>
              </a:p>
            </p:txBody>
          </p:sp>
        </mc:Choice>
        <mc:Fallback>
          <p:sp>
            <p:nvSpPr>
              <p:cNvPr id="3" name="Content Placeholder 2">
                <a:extLst>
                  <a:ext uri="{FF2B5EF4-FFF2-40B4-BE49-F238E27FC236}">
                    <a16:creationId xmlns:a16="http://schemas.microsoft.com/office/drawing/2014/main" id="{B42FE734-EE05-E5ED-99A2-6953C014556B}"/>
                  </a:ext>
                </a:extLst>
              </p:cNvPr>
              <p:cNvSpPr>
                <a:spLocks noGrp="1" noRot="1" noChangeAspect="1" noMove="1" noResize="1" noEditPoints="1" noAdjustHandles="1" noChangeArrowheads="1" noChangeShapeType="1" noTextEdit="1"/>
              </p:cNvSpPr>
              <p:nvPr>
                <p:ph idx="1"/>
              </p:nvPr>
            </p:nvSpPr>
            <p:spPr>
              <a:xfrm>
                <a:off x="93657" y="533400"/>
                <a:ext cx="10463113" cy="5638732"/>
              </a:xfrm>
              <a:blipFill>
                <a:blip r:embed="rId3"/>
                <a:stretch>
                  <a:fillRect l="-874" t="-541" r="-1223" b="-86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74EE01BD-D8D7-536E-5CF4-BAAC65085AA8}"/>
                  </a:ext>
                </a:extLst>
              </p:cNvPr>
              <p:cNvSpPr txBox="1"/>
              <p:nvPr/>
            </p:nvSpPr>
            <p:spPr>
              <a:xfrm>
                <a:off x="2207487" y="1859450"/>
                <a:ext cx="3823855"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𝑝</m:t>
                          </m:r>
                        </m:e>
                      </m:acc>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𝑋</m:t>
                          </m:r>
                        </m:num>
                        <m:den>
                          <m:r>
                            <a:rPr lang="en-US" sz="2400" b="0" i="1" smtClean="0">
                              <a:latin typeface="Cambria Math" panose="02040503050406030204" pitchFamily="18" charset="0"/>
                            </a:rPr>
                            <m:t>𝑛</m:t>
                          </m:r>
                        </m:den>
                      </m:f>
                    </m:oMath>
                  </m:oMathPara>
                </a14:m>
                <a:endParaRPr lang="en-US" sz="2400"/>
              </a:p>
            </p:txBody>
          </p:sp>
        </mc:Choice>
        <mc:Fallback>
          <p:sp>
            <p:nvSpPr>
              <p:cNvPr id="4" name="TextBox 3">
                <a:extLst>
                  <a:ext uri="{FF2B5EF4-FFF2-40B4-BE49-F238E27FC236}">
                    <a16:creationId xmlns:a16="http://schemas.microsoft.com/office/drawing/2014/main" id="{74EE01BD-D8D7-536E-5CF4-BAAC65085AA8}"/>
                  </a:ext>
                </a:extLst>
              </p:cNvPr>
              <p:cNvSpPr txBox="1">
                <a:spLocks noRot="1" noChangeAspect="1" noMove="1" noResize="1" noEditPoints="1" noAdjustHandles="1" noChangeArrowheads="1" noChangeShapeType="1" noTextEdit="1"/>
              </p:cNvSpPr>
              <p:nvPr/>
            </p:nvSpPr>
            <p:spPr>
              <a:xfrm>
                <a:off x="2207487" y="1859450"/>
                <a:ext cx="3823855" cy="78380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4EE0EA23-8E61-4403-5D6A-689ECB273347}"/>
                  </a:ext>
                </a:extLst>
              </p:cNvPr>
              <p:cNvSpPr txBox="1"/>
              <p:nvPr/>
            </p:nvSpPr>
            <p:spPr>
              <a:xfrm>
                <a:off x="2260923" y="4540566"/>
                <a:ext cx="7670153" cy="8091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d>
                            <m:dPr>
                              <m:begChr m:val="|"/>
                              <m:endChr m:val="|"/>
                              <m:ctrlPr>
                                <a:rPr lang="en-US" sz="2400" b="0" i="1" smtClean="0">
                                  <a:latin typeface="Cambria Math" panose="02040503050406030204" pitchFamily="18" charset="0"/>
                                </a:rPr>
                              </m:ctrlPr>
                            </m:d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𝑝</m:t>
                                  </m:r>
                                </m:e>
                              </m:acc>
                              <m:r>
                                <a:rPr lang="en-US" sz="2400" b="0" i="1" smtClean="0">
                                  <a:latin typeface="Cambria Math" panose="02040503050406030204" pitchFamily="18" charset="0"/>
                                </a:rPr>
                                <m:t>−</m:t>
                              </m:r>
                              <m:r>
                                <a:rPr lang="en-US" sz="2400" i="1">
                                  <a:latin typeface="Cambria Math" panose="02040503050406030204" pitchFamily="18" charset="0"/>
                                </a:rPr>
                                <m:t>𝔼</m:t>
                              </m:r>
                              <m:d>
                                <m:dPr>
                                  <m:begChr m:val="["/>
                                  <m:endChr m:val="]"/>
                                  <m:ctrlPr>
                                    <a:rPr lang="en-US" sz="2400" i="1">
                                      <a:latin typeface="Cambria Math" panose="02040503050406030204" pitchFamily="18" charset="0"/>
                                    </a:rPr>
                                  </m:ctrlPr>
                                </m:dPr>
                                <m:e>
                                  <m:acc>
                                    <m:accPr>
                                      <m:chr m:val="̂"/>
                                      <m:ctrlPr>
                                        <a:rPr lang="en-US" sz="2400" i="1">
                                          <a:latin typeface="Cambria Math" panose="02040503050406030204" pitchFamily="18" charset="0"/>
                                        </a:rPr>
                                      </m:ctrlPr>
                                    </m:accPr>
                                    <m:e>
                                      <m:r>
                                        <a:rPr lang="en-US" sz="2400" i="1">
                                          <a:latin typeface="Cambria Math" panose="02040503050406030204" pitchFamily="18" charset="0"/>
                                        </a:rPr>
                                        <m:t>𝑝</m:t>
                                      </m:r>
                                    </m:e>
                                  </m:acc>
                                </m:e>
                              </m:d>
                            </m:e>
                          </m:d>
                          <m:r>
                            <a:rPr lang="en-US" sz="2400" b="0" i="1" smtClean="0">
                              <a:latin typeface="Cambria Math" panose="02040503050406030204" pitchFamily="18" charset="0"/>
                            </a:rPr>
                            <m:t>≥</m:t>
                          </m:r>
                          <m:r>
                            <a:rPr lang="en-US" sz="2400" b="0" i="1" smtClean="0">
                              <a:latin typeface="Cambria Math" panose="02040503050406030204" pitchFamily="18" charset="0"/>
                            </a:rPr>
                            <m:t>𝜖</m:t>
                          </m:r>
                        </m:e>
                      </m:d>
                      <m:r>
                        <a:rPr lang="en-US" sz="2400" b="0" i="1" smtClean="0">
                          <a:latin typeface="Cambria Math" panose="02040503050406030204" pitchFamily="18" charset="0"/>
                        </a:rPr>
                        <m:t>=</m:t>
                      </m:r>
                      <m:r>
                        <a:rPr lang="en-US" sz="2400" i="1">
                          <a:latin typeface="Cambria Math" panose="02040503050406030204" pitchFamily="18" charset="0"/>
                        </a:rPr>
                        <m:t>𝑃</m:t>
                      </m:r>
                      <m:d>
                        <m:dPr>
                          <m:ctrlPr>
                            <a:rPr lang="en-US" sz="2400" i="1">
                              <a:latin typeface="Cambria Math" panose="02040503050406030204" pitchFamily="18" charset="0"/>
                            </a:rPr>
                          </m:ctrlPr>
                        </m:dPr>
                        <m:e>
                          <m:d>
                            <m:dPr>
                              <m:begChr m:val="|"/>
                              <m:endChr m:val="|"/>
                              <m:ctrlPr>
                                <a:rPr lang="en-US" sz="2400" i="1">
                                  <a:latin typeface="Cambria Math" panose="02040503050406030204" pitchFamily="18" charset="0"/>
                                </a:rPr>
                              </m:ctrlPr>
                            </m:dPr>
                            <m:e>
                              <m:acc>
                                <m:accPr>
                                  <m:chr m:val="̂"/>
                                  <m:ctrlPr>
                                    <a:rPr lang="en-US" sz="2400" i="1">
                                      <a:latin typeface="Cambria Math" panose="02040503050406030204" pitchFamily="18" charset="0"/>
                                    </a:rPr>
                                  </m:ctrlPr>
                                </m:accPr>
                                <m:e>
                                  <m:r>
                                    <a:rPr lang="en-US" sz="2400" i="1">
                                      <a:latin typeface="Cambria Math" panose="02040503050406030204" pitchFamily="18" charset="0"/>
                                    </a:rPr>
                                    <m:t>𝑝</m:t>
                                  </m:r>
                                </m:e>
                              </m:acc>
                              <m:r>
                                <a:rPr lang="en-US" sz="2400" i="1">
                                  <a:latin typeface="Cambria Math" panose="02040503050406030204" pitchFamily="18" charset="0"/>
                                </a:rPr>
                                <m:t>−</m:t>
                              </m:r>
                              <m:r>
                                <a:rPr lang="en-US" sz="2400" b="0" i="1" smtClean="0">
                                  <a:latin typeface="Cambria Math" panose="02040503050406030204" pitchFamily="18" charset="0"/>
                                </a:rPr>
                                <m:t>𝑝</m:t>
                              </m:r>
                            </m:e>
                          </m:d>
                          <m:r>
                            <a:rPr lang="en-US" sz="2400" i="1">
                              <a:latin typeface="Cambria Math" panose="02040503050406030204" pitchFamily="18" charset="0"/>
                            </a:rPr>
                            <m:t>≥</m:t>
                          </m:r>
                          <m:r>
                            <a:rPr lang="en-US" sz="2400" i="1">
                              <a:latin typeface="Cambria Math" panose="02040503050406030204" pitchFamily="18" charset="0"/>
                            </a:rPr>
                            <m:t>𝜖</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i="1">
                              <a:latin typeface="Cambria Math" panose="02040503050406030204" pitchFamily="18" charset="0"/>
                            </a:rPr>
                            <m:t>𝑝</m:t>
                          </m:r>
                          <m:d>
                            <m:dPr>
                              <m:ctrlPr>
                                <a:rPr lang="en-US" sz="2400" i="1">
                                  <a:latin typeface="Cambria Math" panose="02040503050406030204" pitchFamily="18" charset="0"/>
                                </a:rPr>
                              </m:ctrlPr>
                            </m:dPr>
                            <m:e>
                              <m:r>
                                <a:rPr lang="en-US" sz="2400" i="1">
                                  <a:latin typeface="Cambria Math" panose="02040503050406030204" pitchFamily="18" charset="0"/>
                                </a:rPr>
                                <m:t>1−</m:t>
                              </m:r>
                              <m:r>
                                <a:rPr lang="en-US" sz="2400" i="1">
                                  <a:latin typeface="Cambria Math" panose="02040503050406030204" pitchFamily="18" charset="0"/>
                                </a:rPr>
                                <m:t>𝑝</m:t>
                              </m:r>
                            </m:e>
                          </m:d>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r>
                                <a:rPr lang="en-US" sz="2400" b="0" i="1" smtClean="0">
                                  <a:latin typeface="Cambria Math" panose="02040503050406030204" pitchFamily="18" charset="0"/>
                                </a:rPr>
                                <m:t>𝜖</m:t>
                              </m:r>
                            </m:e>
                            <m:sup>
                              <m:r>
                                <a:rPr lang="en-US" sz="2400" b="0" i="1" smtClean="0">
                                  <a:latin typeface="Cambria Math" panose="02040503050406030204" pitchFamily="18" charset="0"/>
                                </a:rPr>
                                <m:t>2</m:t>
                              </m:r>
                            </m:sup>
                          </m:sSup>
                        </m:den>
                      </m:f>
                    </m:oMath>
                  </m:oMathPara>
                </a14:m>
                <a:endParaRPr lang="en-US" sz="2400"/>
              </a:p>
            </p:txBody>
          </p:sp>
        </mc:Choice>
        <mc:Fallback>
          <p:sp>
            <p:nvSpPr>
              <p:cNvPr id="11" name="TextBox 10">
                <a:extLst>
                  <a:ext uri="{FF2B5EF4-FFF2-40B4-BE49-F238E27FC236}">
                    <a16:creationId xmlns:a16="http://schemas.microsoft.com/office/drawing/2014/main" id="{4EE0EA23-8E61-4403-5D6A-689ECB273347}"/>
                  </a:ext>
                </a:extLst>
              </p:cNvPr>
              <p:cNvSpPr txBox="1">
                <a:spLocks noRot="1" noChangeAspect="1" noMove="1" noResize="1" noEditPoints="1" noAdjustHandles="1" noChangeArrowheads="1" noChangeShapeType="1" noTextEdit="1"/>
              </p:cNvSpPr>
              <p:nvPr/>
            </p:nvSpPr>
            <p:spPr>
              <a:xfrm>
                <a:off x="2260923" y="4540566"/>
                <a:ext cx="7670153" cy="8091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6EF89225-FBD4-1375-5403-F429B3CC1E37}"/>
                  </a:ext>
                </a:extLst>
              </p:cNvPr>
              <p:cNvSpPr txBox="1"/>
              <p:nvPr/>
            </p:nvSpPr>
            <p:spPr>
              <a:xfrm>
                <a:off x="6654476" y="4552011"/>
                <a:ext cx="6146800" cy="7862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4</m:t>
                              </m:r>
                              <m:r>
                                <a:rPr lang="en-US" sz="2400" b="0" i="1" smtClean="0">
                                  <a:latin typeface="Cambria Math" panose="02040503050406030204" pitchFamily="18" charset="0"/>
                                </a:rPr>
                                <m:t>𝑛</m:t>
                              </m:r>
                              <m:r>
                                <a:rPr lang="en-US" sz="2400" b="0" i="1" smtClean="0">
                                  <a:latin typeface="Cambria Math" panose="02040503050406030204" pitchFamily="18" charset="0"/>
                                </a:rPr>
                                <m:t>𝜖</m:t>
                              </m:r>
                            </m:e>
                            <m:sup>
                              <m:r>
                                <a:rPr lang="en-US" sz="2400" b="0" i="1" smtClean="0">
                                  <a:latin typeface="Cambria Math" panose="02040503050406030204" pitchFamily="18" charset="0"/>
                                </a:rPr>
                                <m:t>2</m:t>
                              </m:r>
                            </m:sup>
                          </m:sSup>
                        </m:den>
                      </m:f>
                    </m:oMath>
                  </m:oMathPara>
                </a14:m>
                <a:endParaRPr lang="en-US" sz="2400"/>
              </a:p>
            </p:txBody>
          </p:sp>
        </mc:Choice>
        <mc:Fallback>
          <p:sp>
            <p:nvSpPr>
              <p:cNvPr id="8" name="TextBox 7">
                <a:extLst>
                  <a:ext uri="{FF2B5EF4-FFF2-40B4-BE49-F238E27FC236}">
                    <a16:creationId xmlns:a16="http://schemas.microsoft.com/office/drawing/2014/main" id="{6EF89225-FBD4-1375-5403-F429B3CC1E37}"/>
                  </a:ext>
                </a:extLst>
              </p:cNvPr>
              <p:cNvSpPr txBox="1">
                <a:spLocks noRot="1" noChangeAspect="1" noMove="1" noResize="1" noEditPoints="1" noAdjustHandles="1" noChangeArrowheads="1" noChangeShapeType="1" noTextEdit="1"/>
              </p:cNvSpPr>
              <p:nvPr/>
            </p:nvSpPr>
            <p:spPr>
              <a:xfrm>
                <a:off x="6654476" y="4552011"/>
                <a:ext cx="6146800" cy="786241"/>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A853FB84-24A6-AAF4-A419-7A4D2122E8E6}"/>
                  </a:ext>
                </a:extLst>
              </p:cNvPr>
              <p:cNvSpPr txBox="1"/>
              <p:nvPr/>
            </p:nvSpPr>
            <p:spPr>
              <a:xfrm>
                <a:off x="4505626" y="3102272"/>
                <a:ext cx="214348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4"/>
                          </a:solidFill>
                          <a:latin typeface="Cambria Math" panose="02040503050406030204" pitchFamily="18" charset="0"/>
                        </a:rPr>
                        <m:t>𝑃</m:t>
                      </m:r>
                      <m:d>
                        <m:dPr>
                          <m:ctrlPr>
                            <a:rPr lang="en-US" sz="2400" b="0" i="1" smtClean="0">
                              <a:solidFill>
                                <a:schemeClr val="accent4"/>
                              </a:solidFill>
                              <a:latin typeface="Cambria Math" panose="02040503050406030204" pitchFamily="18" charset="0"/>
                            </a:rPr>
                          </m:ctrlPr>
                        </m:dPr>
                        <m:e>
                          <m:d>
                            <m:dPr>
                              <m:begChr m:val="|"/>
                              <m:endChr m:val="|"/>
                              <m:ctrlPr>
                                <a:rPr lang="en-US" sz="2400" b="0" i="1" smtClean="0">
                                  <a:solidFill>
                                    <a:schemeClr val="accent4"/>
                                  </a:solidFill>
                                  <a:latin typeface="Cambria Math" panose="02040503050406030204" pitchFamily="18" charset="0"/>
                                </a:rPr>
                              </m:ctrlPr>
                            </m:dPr>
                            <m:e>
                              <m:acc>
                                <m:accPr>
                                  <m:chr m:val="̂"/>
                                  <m:ctrlPr>
                                    <a:rPr lang="en-US" sz="2400" b="0" i="1" smtClean="0">
                                      <a:solidFill>
                                        <a:schemeClr val="accent4"/>
                                      </a:solidFill>
                                      <a:latin typeface="Cambria Math" panose="02040503050406030204" pitchFamily="18" charset="0"/>
                                    </a:rPr>
                                  </m:ctrlPr>
                                </m:accPr>
                                <m:e>
                                  <m:r>
                                    <a:rPr lang="en-US" sz="2400" b="0" i="1" smtClean="0">
                                      <a:solidFill>
                                        <a:schemeClr val="accent4"/>
                                      </a:solidFill>
                                      <a:latin typeface="Cambria Math" panose="02040503050406030204" pitchFamily="18" charset="0"/>
                                    </a:rPr>
                                    <m:t>𝑝</m:t>
                                  </m:r>
                                </m:e>
                              </m:acc>
                              <m:r>
                                <a:rPr lang="en-US" sz="2400" b="0" i="1" smtClean="0">
                                  <a:solidFill>
                                    <a:schemeClr val="accent4"/>
                                  </a:solidFill>
                                  <a:latin typeface="Cambria Math" panose="02040503050406030204" pitchFamily="18" charset="0"/>
                                </a:rPr>
                                <m:t>−</m:t>
                              </m:r>
                              <m:r>
                                <a:rPr lang="en-US" sz="2400" b="0" i="1" smtClean="0">
                                  <a:solidFill>
                                    <a:schemeClr val="accent4"/>
                                  </a:solidFill>
                                  <a:latin typeface="Cambria Math" panose="02040503050406030204" pitchFamily="18" charset="0"/>
                                </a:rPr>
                                <m:t>𝑝</m:t>
                              </m:r>
                            </m:e>
                          </m:d>
                          <m:r>
                            <a:rPr lang="en-US" sz="2400" b="0" i="1" smtClean="0">
                              <a:solidFill>
                                <a:schemeClr val="accent4"/>
                              </a:solidFill>
                              <a:latin typeface="Cambria Math" panose="02040503050406030204" pitchFamily="18" charset="0"/>
                            </a:rPr>
                            <m:t>≥</m:t>
                          </m:r>
                          <m:r>
                            <a:rPr lang="en-US" sz="2400" b="0" i="1" smtClean="0">
                              <a:solidFill>
                                <a:schemeClr val="accent4"/>
                              </a:solidFill>
                              <a:latin typeface="Cambria Math" panose="02040503050406030204" pitchFamily="18" charset="0"/>
                            </a:rPr>
                            <m:t>𝜖</m:t>
                          </m:r>
                        </m:e>
                      </m:d>
                    </m:oMath>
                  </m:oMathPara>
                </a14:m>
                <a:endParaRPr lang="en-US" sz="2400">
                  <a:solidFill>
                    <a:schemeClr val="accent4"/>
                  </a:solidFill>
                </a:endParaRPr>
              </a:p>
            </p:txBody>
          </p:sp>
        </mc:Choice>
        <mc:Fallback>
          <p:sp>
            <p:nvSpPr>
              <p:cNvPr id="7" name="TextBox 6">
                <a:extLst>
                  <a:ext uri="{FF2B5EF4-FFF2-40B4-BE49-F238E27FC236}">
                    <a16:creationId xmlns:a16="http://schemas.microsoft.com/office/drawing/2014/main" id="{A853FB84-24A6-AAF4-A419-7A4D2122E8E6}"/>
                  </a:ext>
                </a:extLst>
              </p:cNvPr>
              <p:cNvSpPr txBox="1">
                <a:spLocks noRot="1" noChangeAspect="1" noMove="1" noResize="1" noEditPoints="1" noAdjustHandles="1" noChangeArrowheads="1" noChangeShapeType="1" noTextEdit="1"/>
              </p:cNvSpPr>
              <p:nvPr/>
            </p:nvSpPr>
            <p:spPr>
              <a:xfrm>
                <a:off x="4505626" y="3102272"/>
                <a:ext cx="2143484" cy="461665"/>
              </a:xfrm>
              <a:prstGeom prst="rect">
                <a:avLst/>
              </a:prstGeom>
              <a:blipFill>
                <a:blip r:embed="rId7"/>
                <a:stretch>
                  <a:fillRect t="-3947" b="-9211"/>
                </a:stretch>
              </a:blipFill>
            </p:spPr>
            <p:txBody>
              <a:bodyPr/>
              <a:lstStyle/>
              <a:p>
                <a:r>
                  <a:rPr lang="en-US">
                    <a:noFill/>
                  </a:rPr>
                  <a:t> </a:t>
                </a:r>
              </a:p>
            </p:txBody>
          </p:sp>
        </mc:Fallback>
      </mc:AlternateContent>
    </p:spTree>
    <p:extLst>
      <p:ext uri="{BB962C8B-B14F-4D97-AF65-F5344CB8AC3E}">
        <p14:creationId xmlns:p14="http://schemas.microsoft.com/office/powerpoint/2010/main" val="284990972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8FC14-8E6D-AA7A-D15C-63801DE46692}"/>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2D6B609E-7261-3FB3-6F66-8967ABF84292}"/>
                  </a:ext>
                </a:extLst>
              </p:cNvPr>
              <p:cNvSpPr>
                <a:spLocks noGrp="1"/>
              </p:cNvSpPr>
              <p:nvPr>
                <p:ph type="title"/>
              </p:nvPr>
            </p:nvSpPr>
            <p:spPr/>
            <p:txBody>
              <a:bodyPr/>
              <a:lstStyle/>
              <a:p>
                <a:r>
                  <a:rPr lang="en-US"/>
                  <a:t>Back to Estimating </a:t>
                </a:r>
                <a14:m>
                  <m:oMath xmlns:m="http://schemas.openxmlformats.org/officeDocument/2006/math">
                    <m:r>
                      <a:rPr lang="en-US" b="0" i="1" smtClean="0">
                        <a:latin typeface="Cambria Math" panose="02040503050406030204" pitchFamily="18" charset="0"/>
                      </a:rPr>
                      <m:t>𝑝</m:t>
                    </m:r>
                  </m:oMath>
                </a14:m>
                <a:r>
                  <a:rPr lang="en-US"/>
                  <a:t> for a Coin</a:t>
                </a:r>
              </a:p>
            </p:txBody>
          </p:sp>
        </mc:Choice>
        <mc:Fallback>
          <p:sp>
            <p:nvSpPr>
              <p:cNvPr id="2" name="Title 1">
                <a:extLst>
                  <a:ext uri="{FF2B5EF4-FFF2-40B4-BE49-F238E27FC236}">
                    <a16:creationId xmlns:a16="http://schemas.microsoft.com/office/drawing/2014/main" id="{2D6B609E-7261-3FB3-6F66-8967ABF84292}"/>
                  </a:ext>
                </a:extLst>
              </p:cNvPr>
              <p:cNvSpPr>
                <a:spLocks noGrp="1" noRot="1" noChangeAspect="1" noMove="1" noResize="1" noEditPoints="1" noAdjustHandles="1" noChangeArrowheads="1" noChangeShapeType="1" noTextEdit="1"/>
              </p:cNvSpPr>
              <p:nvPr>
                <p:ph type="title"/>
              </p:nvPr>
            </p:nvSpPr>
            <p:spPr>
              <a:blipFill>
                <a:blip r:embed="rId2"/>
                <a:stretch>
                  <a:fillRect l="-870" t="-14667" b="-2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0AC771F-6AE4-C82F-A1D5-DB1D77972517}"/>
                  </a:ext>
                </a:extLst>
              </p:cNvPr>
              <p:cNvSpPr>
                <a:spLocks noGrp="1"/>
              </p:cNvSpPr>
              <p:nvPr>
                <p:ph idx="1"/>
              </p:nvPr>
            </p:nvSpPr>
            <p:spPr>
              <a:xfrm>
                <a:off x="93658" y="533400"/>
                <a:ext cx="10515600" cy="5638732"/>
              </a:xfrm>
            </p:spPr>
            <p:txBody>
              <a:bodyPr/>
              <a:lstStyle/>
              <a:p>
                <a:r>
                  <a:rPr lang="en-US"/>
                  <a:t>We have a coin with unknown heads probability </a:t>
                </a:r>
                <a14:m>
                  <m:oMath xmlns:m="http://schemas.openxmlformats.org/officeDocument/2006/math">
                    <m:r>
                      <a:rPr lang="en-US" b="0" i="1" smtClean="0">
                        <a:latin typeface="Cambria Math" panose="02040503050406030204" pitchFamily="18" charset="0"/>
                      </a:rPr>
                      <m:t>𝑝</m:t>
                    </m:r>
                  </m:oMath>
                </a14:m>
                <a:r>
                  <a:rPr lang="en-US"/>
                  <a:t>. We estimate it by tossing a coin n times.</a:t>
                </a:r>
              </a:p>
              <a:p>
                <a:pPr marL="342900" indent="-34290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𝑋</m:t>
                    </m:r>
                  </m:oMath>
                </a14:m>
                <a:r>
                  <a:rPr lang="en-US"/>
                  <a:t> is the number of heads. </a:t>
                </a: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oMath>
                </a14:m>
                <a:r>
                  <a:rPr lang="en-US"/>
                  <a:t>.</a:t>
                </a:r>
              </a:p>
              <a:p>
                <a:pPr marL="342900" indent="-342900">
                  <a:lnSpc>
                    <a:spcPct val="120000"/>
                  </a:lnSpc>
                  <a:buFont typeface="Arial" panose="020B0604020202020204" pitchFamily="34" charset="0"/>
                  <a:buChar char="•"/>
                </a:pPr>
                <a:r>
                  <a:rPr lang="en-US"/>
                  <a:t>Our empirical mean is </a:t>
                </a:r>
              </a:p>
              <a:p>
                <a:pPr marL="342900" indent="-342900">
                  <a:buFont typeface="Arial" panose="020B0604020202020204" pitchFamily="34" charset="0"/>
                  <a:buChar char="•"/>
                </a:pPr>
                <a:endParaRPr lang="en-US"/>
              </a:p>
              <a:p>
                <a:r>
                  <a:rPr lang="en-US"/>
                  <a:t>Using </a:t>
                </a:r>
                <a:r>
                  <a:rPr lang="en-US" err="1"/>
                  <a:t>Chebychev’s</a:t>
                </a:r>
                <a:r>
                  <a:rPr lang="en-US"/>
                  <a:t> inequality we have shown:</a:t>
                </a:r>
              </a:p>
              <a:p>
                <a:endParaRPr lang="en-US"/>
              </a:p>
              <a:p>
                <a:r>
                  <a:rPr lang="en-US"/>
                  <a:t>We want an n such that </a:t>
                </a:r>
              </a:p>
              <a:p>
                <a:endParaRPr lang="en-US"/>
              </a:p>
              <a:p>
                <a:r>
                  <a:rPr lang="en-US"/>
                  <a:t>So, to achieve this goal, we multiply both sides by </a:t>
                </a:r>
                <a14:m>
                  <m:oMath xmlns:m="http://schemas.openxmlformats.org/officeDocument/2006/math">
                    <m:r>
                      <a:rPr lang="en-US" b="0" i="1" smtClean="0">
                        <a:latin typeface="Cambria Math" panose="02040503050406030204" pitchFamily="18" charset="0"/>
                      </a:rPr>
                      <m:t>𝑛</m:t>
                    </m:r>
                  </m:oMath>
                </a14:m>
                <a:r>
                  <a:rPr lang="en-US"/>
                  <a:t> and divide by </a:t>
                </a:r>
                <a14:m>
                  <m:oMath xmlns:m="http://schemas.openxmlformats.org/officeDocument/2006/math">
                    <m:r>
                      <a:rPr lang="en-US" b="0" i="1" smtClean="0">
                        <a:latin typeface="Cambria Math" panose="02040503050406030204" pitchFamily="18" charset="0"/>
                      </a:rPr>
                      <m:t>𝛿</m:t>
                    </m:r>
                  </m:oMath>
                </a14:m>
                <a:r>
                  <a:rPr lang="en-US"/>
                  <a:t> yielding: </a:t>
                </a:r>
              </a:p>
            </p:txBody>
          </p:sp>
        </mc:Choice>
        <mc:Fallback>
          <p:sp>
            <p:nvSpPr>
              <p:cNvPr id="3" name="Content Placeholder 2">
                <a:extLst>
                  <a:ext uri="{FF2B5EF4-FFF2-40B4-BE49-F238E27FC236}">
                    <a16:creationId xmlns:a16="http://schemas.microsoft.com/office/drawing/2014/main" id="{F0AC771F-6AE4-C82F-A1D5-DB1D77972517}"/>
                  </a:ext>
                </a:extLst>
              </p:cNvPr>
              <p:cNvSpPr>
                <a:spLocks noGrp="1" noRot="1" noChangeAspect="1" noMove="1" noResize="1" noEditPoints="1" noAdjustHandles="1" noChangeArrowheads="1" noChangeShapeType="1" noTextEdit="1"/>
              </p:cNvSpPr>
              <p:nvPr>
                <p:ph idx="1"/>
              </p:nvPr>
            </p:nvSpPr>
            <p:spPr>
              <a:xfrm>
                <a:off x="93658" y="533400"/>
                <a:ext cx="10515600" cy="5638732"/>
              </a:xfrm>
              <a:blipFill>
                <a:blip r:embed="rId3"/>
                <a:stretch>
                  <a:fillRect l="-870" t="-541" r="-40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A078F7C0-8B93-0590-548A-70372BA66500}"/>
                  </a:ext>
                </a:extLst>
              </p:cNvPr>
              <p:cNvSpPr txBox="1"/>
              <p:nvPr/>
            </p:nvSpPr>
            <p:spPr>
              <a:xfrm>
                <a:off x="2207487" y="1859450"/>
                <a:ext cx="3823855"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𝑝</m:t>
                          </m:r>
                        </m:e>
                      </m:acc>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𝑋</m:t>
                          </m:r>
                        </m:num>
                        <m:den>
                          <m:r>
                            <a:rPr lang="en-US" sz="2400" b="0" i="1" smtClean="0">
                              <a:latin typeface="Cambria Math" panose="02040503050406030204" pitchFamily="18" charset="0"/>
                            </a:rPr>
                            <m:t>𝑛</m:t>
                          </m:r>
                        </m:den>
                      </m:f>
                    </m:oMath>
                  </m:oMathPara>
                </a14:m>
                <a:endParaRPr lang="en-US" sz="2400"/>
              </a:p>
            </p:txBody>
          </p:sp>
        </mc:Choice>
        <mc:Fallback>
          <p:sp>
            <p:nvSpPr>
              <p:cNvPr id="4" name="TextBox 3">
                <a:extLst>
                  <a:ext uri="{FF2B5EF4-FFF2-40B4-BE49-F238E27FC236}">
                    <a16:creationId xmlns:a16="http://schemas.microsoft.com/office/drawing/2014/main" id="{A078F7C0-8B93-0590-548A-70372BA66500}"/>
                  </a:ext>
                </a:extLst>
              </p:cNvPr>
              <p:cNvSpPr txBox="1">
                <a:spLocks noRot="1" noChangeAspect="1" noMove="1" noResize="1" noEditPoints="1" noAdjustHandles="1" noChangeArrowheads="1" noChangeShapeType="1" noTextEdit="1"/>
              </p:cNvSpPr>
              <p:nvPr/>
            </p:nvSpPr>
            <p:spPr>
              <a:xfrm>
                <a:off x="2207487" y="1859450"/>
                <a:ext cx="3823855" cy="78380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3FEE1F5F-812C-1CC6-9009-052B98DB558A}"/>
                  </a:ext>
                </a:extLst>
              </p:cNvPr>
              <p:cNvSpPr txBox="1"/>
              <p:nvPr/>
            </p:nvSpPr>
            <p:spPr>
              <a:xfrm>
                <a:off x="5435602" y="2891778"/>
                <a:ext cx="6146800" cy="7862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solidFill>
                            <a:schemeClr val="accent4"/>
                          </a:solidFill>
                          <a:latin typeface="Cambria Math" panose="02040503050406030204" pitchFamily="18" charset="0"/>
                        </a:rPr>
                        <m:t>𝑃</m:t>
                      </m:r>
                      <m:d>
                        <m:dPr>
                          <m:ctrlPr>
                            <a:rPr lang="en-US" sz="2400" i="1">
                              <a:solidFill>
                                <a:schemeClr val="accent4"/>
                              </a:solidFill>
                              <a:latin typeface="Cambria Math" panose="02040503050406030204" pitchFamily="18" charset="0"/>
                            </a:rPr>
                          </m:ctrlPr>
                        </m:dPr>
                        <m:e>
                          <m:d>
                            <m:dPr>
                              <m:begChr m:val="|"/>
                              <m:endChr m:val="|"/>
                              <m:ctrlPr>
                                <a:rPr lang="en-US" sz="2400" i="1">
                                  <a:solidFill>
                                    <a:schemeClr val="accent4"/>
                                  </a:solidFill>
                                  <a:latin typeface="Cambria Math" panose="02040503050406030204" pitchFamily="18" charset="0"/>
                                </a:rPr>
                              </m:ctrlPr>
                            </m:dPr>
                            <m:e>
                              <m:acc>
                                <m:accPr>
                                  <m:chr m:val="̂"/>
                                  <m:ctrlPr>
                                    <a:rPr lang="en-US" sz="2400" i="1">
                                      <a:solidFill>
                                        <a:schemeClr val="accent4"/>
                                      </a:solidFill>
                                      <a:latin typeface="Cambria Math" panose="02040503050406030204" pitchFamily="18" charset="0"/>
                                    </a:rPr>
                                  </m:ctrlPr>
                                </m:accPr>
                                <m:e>
                                  <m:r>
                                    <a:rPr lang="en-US" sz="2400" i="1">
                                      <a:solidFill>
                                        <a:schemeClr val="accent4"/>
                                      </a:solidFill>
                                      <a:latin typeface="Cambria Math" panose="02040503050406030204" pitchFamily="18" charset="0"/>
                                    </a:rPr>
                                    <m:t>𝑝</m:t>
                                  </m:r>
                                </m:e>
                              </m:acc>
                              <m:r>
                                <a:rPr lang="en-US" sz="2400" i="1">
                                  <a:solidFill>
                                    <a:schemeClr val="accent4"/>
                                  </a:solidFill>
                                  <a:latin typeface="Cambria Math" panose="02040503050406030204" pitchFamily="18" charset="0"/>
                                </a:rPr>
                                <m:t>−</m:t>
                              </m:r>
                              <m:r>
                                <a:rPr lang="en-US" sz="2400" i="1">
                                  <a:solidFill>
                                    <a:schemeClr val="accent4"/>
                                  </a:solidFill>
                                  <a:latin typeface="Cambria Math" panose="02040503050406030204" pitchFamily="18" charset="0"/>
                                </a:rPr>
                                <m:t>𝑝</m:t>
                              </m:r>
                            </m:e>
                          </m:d>
                          <m:r>
                            <a:rPr lang="en-US" sz="2400" i="1">
                              <a:solidFill>
                                <a:schemeClr val="accent4"/>
                              </a:solidFill>
                              <a:latin typeface="Cambria Math" panose="02040503050406030204" pitchFamily="18" charset="0"/>
                            </a:rPr>
                            <m:t>≥</m:t>
                          </m:r>
                          <m:r>
                            <a:rPr lang="en-US" sz="2400" i="1">
                              <a:solidFill>
                                <a:schemeClr val="accent4"/>
                              </a:solidFill>
                              <a:latin typeface="Cambria Math" panose="02040503050406030204" pitchFamily="18" charset="0"/>
                            </a:rPr>
                            <m:t>𝜖</m:t>
                          </m:r>
                        </m:e>
                      </m:d>
                      <m:r>
                        <a:rPr lang="en-US" sz="2400" b="0" i="1" smtClean="0">
                          <a:solidFill>
                            <a:schemeClr val="accent4"/>
                          </a:solidFill>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4</m:t>
                              </m:r>
                              <m:r>
                                <a:rPr lang="en-US" sz="2400" b="0" i="1" smtClean="0">
                                  <a:latin typeface="Cambria Math" panose="02040503050406030204" pitchFamily="18" charset="0"/>
                                </a:rPr>
                                <m:t>𝑛</m:t>
                              </m:r>
                              <m:r>
                                <a:rPr lang="en-US" sz="2400" b="0" i="1" smtClean="0">
                                  <a:latin typeface="Cambria Math" panose="02040503050406030204" pitchFamily="18" charset="0"/>
                                </a:rPr>
                                <m:t>𝜖</m:t>
                              </m:r>
                            </m:e>
                            <m:sup>
                              <m:r>
                                <a:rPr lang="en-US" sz="2400" b="0" i="1" smtClean="0">
                                  <a:latin typeface="Cambria Math" panose="02040503050406030204" pitchFamily="18" charset="0"/>
                                </a:rPr>
                                <m:t>2</m:t>
                              </m:r>
                            </m:sup>
                          </m:sSup>
                        </m:den>
                      </m:f>
                    </m:oMath>
                  </m:oMathPara>
                </a14:m>
                <a:endParaRPr lang="en-US" sz="2400"/>
              </a:p>
            </p:txBody>
          </p:sp>
        </mc:Choice>
        <mc:Fallback>
          <p:sp>
            <p:nvSpPr>
              <p:cNvPr id="8" name="TextBox 7">
                <a:extLst>
                  <a:ext uri="{FF2B5EF4-FFF2-40B4-BE49-F238E27FC236}">
                    <a16:creationId xmlns:a16="http://schemas.microsoft.com/office/drawing/2014/main" id="{3FEE1F5F-812C-1CC6-9009-052B98DB558A}"/>
                  </a:ext>
                </a:extLst>
              </p:cNvPr>
              <p:cNvSpPr txBox="1">
                <a:spLocks noRot="1" noChangeAspect="1" noMove="1" noResize="1" noEditPoints="1" noAdjustHandles="1" noChangeArrowheads="1" noChangeShapeType="1" noTextEdit="1"/>
              </p:cNvSpPr>
              <p:nvPr/>
            </p:nvSpPr>
            <p:spPr>
              <a:xfrm>
                <a:off x="5435602" y="2891778"/>
                <a:ext cx="6146800" cy="78624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7D3E7754-7C4E-8425-4D9C-ECC67AE33C41}"/>
                  </a:ext>
                </a:extLst>
              </p:cNvPr>
              <p:cNvSpPr txBox="1"/>
              <p:nvPr/>
            </p:nvSpPr>
            <p:spPr>
              <a:xfrm>
                <a:off x="1323110" y="4056820"/>
                <a:ext cx="6146800" cy="7862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sSup>
                            <m:sSupPr>
                              <m:ctrlPr>
                                <a:rPr lang="en-US" sz="2400" i="1">
                                  <a:latin typeface="Cambria Math" panose="02040503050406030204" pitchFamily="18" charset="0"/>
                                </a:rPr>
                              </m:ctrlPr>
                            </m:sSupPr>
                            <m:e>
                              <m:r>
                                <a:rPr lang="en-US" sz="2400" i="1">
                                  <a:latin typeface="Cambria Math" panose="02040503050406030204" pitchFamily="18" charset="0"/>
                                </a:rPr>
                                <m:t>4</m:t>
                              </m:r>
                              <m:r>
                                <a:rPr lang="en-US" sz="2400" i="1">
                                  <a:latin typeface="Cambria Math" panose="02040503050406030204" pitchFamily="18" charset="0"/>
                                </a:rPr>
                                <m:t>𝑛</m:t>
                              </m:r>
                              <m:r>
                                <a:rPr lang="en-US" sz="2400" i="1">
                                  <a:latin typeface="Cambria Math" panose="02040503050406030204" pitchFamily="18" charset="0"/>
                                </a:rPr>
                                <m:t>𝜖</m:t>
                              </m:r>
                            </m:e>
                            <m:sup>
                              <m:r>
                                <a:rPr lang="en-US" sz="2400" i="1">
                                  <a:latin typeface="Cambria Math" panose="02040503050406030204" pitchFamily="18" charset="0"/>
                                </a:rPr>
                                <m:t>2</m:t>
                              </m:r>
                            </m:sup>
                          </m:sSup>
                        </m:den>
                      </m:f>
                      <m:r>
                        <a:rPr lang="en-US" sz="2400" b="0" i="1" smtClean="0">
                          <a:latin typeface="Cambria Math" panose="02040503050406030204" pitchFamily="18" charset="0"/>
                        </a:rPr>
                        <m:t>≤</m:t>
                      </m:r>
                      <m:r>
                        <a:rPr lang="en-US" sz="2400" b="0" i="1" smtClean="0">
                          <a:latin typeface="Cambria Math" panose="02040503050406030204" pitchFamily="18" charset="0"/>
                        </a:rPr>
                        <m:t>𝛿</m:t>
                      </m:r>
                    </m:oMath>
                  </m:oMathPara>
                </a14:m>
                <a:endParaRPr lang="en-US" sz="2400"/>
              </a:p>
            </p:txBody>
          </p:sp>
        </mc:Choice>
        <mc:Fallback>
          <p:sp>
            <p:nvSpPr>
              <p:cNvPr id="7" name="TextBox 6">
                <a:extLst>
                  <a:ext uri="{FF2B5EF4-FFF2-40B4-BE49-F238E27FC236}">
                    <a16:creationId xmlns:a16="http://schemas.microsoft.com/office/drawing/2014/main" id="{7D3E7754-7C4E-8425-4D9C-ECC67AE33C41}"/>
                  </a:ext>
                </a:extLst>
              </p:cNvPr>
              <p:cNvSpPr txBox="1">
                <a:spLocks noRot="1" noChangeAspect="1" noMove="1" noResize="1" noEditPoints="1" noAdjustHandles="1" noChangeArrowheads="1" noChangeShapeType="1" noTextEdit="1"/>
              </p:cNvSpPr>
              <p:nvPr/>
            </p:nvSpPr>
            <p:spPr>
              <a:xfrm>
                <a:off x="1323110" y="4056820"/>
                <a:ext cx="6146800" cy="786241"/>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687EE422-8D2A-823D-E8A6-06297EB5787F}"/>
                  </a:ext>
                </a:extLst>
              </p:cNvPr>
              <p:cNvSpPr txBox="1"/>
              <p:nvPr/>
            </p:nvSpPr>
            <p:spPr>
              <a:xfrm>
                <a:off x="2795156" y="5877826"/>
                <a:ext cx="6299200" cy="7862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4</m:t>
                              </m:r>
                              <m:r>
                                <a:rPr lang="en-US" sz="2400" b="0" i="1" smtClean="0">
                                  <a:latin typeface="Cambria Math" panose="02040503050406030204" pitchFamily="18" charset="0"/>
                                </a:rPr>
                                <m:t>𝛿𝜖</m:t>
                              </m:r>
                            </m:e>
                            <m:sup>
                              <m:r>
                                <a:rPr lang="en-US" sz="2400" b="0" i="1" smtClean="0">
                                  <a:latin typeface="Cambria Math" panose="02040503050406030204" pitchFamily="18" charset="0"/>
                                </a:rPr>
                                <m:t>2</m:t>
                              </m:r>
                            </m:sup>
                          </m:sSup>
                        </m:den>
                      </m:f>
                      <m:r>
                        <a:rPr lang="en-US" sz="2400" b="0" i="1" smtClean="0">
                          <a:latin typeface="Cambria Math" panose="02040503050406030204" pitchFamily="18" charset="0"/>
                        </a:rPr>
                        <m:t>≤</m:t>
                      </m:r>
                      <m:r>
                        <a:rPr lang="en-US" sz="2400" b="0" i="1" smtClean="0">
                          <a:latin typeface="Cambria Math" panose="02040503050406030204" pitchFamily="18" charset="0"/>
                        </a:rPr>
                        <m:t>𝑛</m:t>
                      </m:r>
                    </m:oMath>
                  </m:oMathPara>
                </a14:m>
                <a:endParaRPr lang="en-US" sz="2400"/>
              </a:p>
            </p:txBody>
          </p:sp>
        </mc:Choice>
        <mc:Fallback>
          <p:sp>
            <p:nvSpPr>
              <p:cNvPr id="10" name="TextBox 9">
                <a:extLst>
                  <a:ext uri="{FF2B5EF4-FFF2-40B4-BE49-F238E27FC236}">
                    <a16:creationId xmlns:a16="http://schemas.microsoft.com/office/drawing/2014/main" id="{687EE422-8D2A-823D-E8A6-06297EB5787F}"/>
                  </a:ext>
                </a:extLst>
              </p:cNvPr>
              <p:cNvSpPr txBox="1">
                <a:spLocks noRot="1" noChangeAspect="1" noMove="1" noResize="1" noEditPoints="1" noAdjustHandles="1" noChangeArrowheads="1" noChangeShapeType="1" noTextEdit="1"/>
              </p:cNvSpPr>
              <p:nvPr/>
            </p:nvSpPr>
            <p:spPr>
              <a:xfrm>
                <a:off x="2795156" y="5877826"/>
                <a:ext cx="6299200" cy="786241"/>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40390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662A7-47AB-A19A-036A-7E8D3A806D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1A2171-5980-F91F-14BB-5DF54B5BB7EC}"/>
              </a:ext>
            </a:extLst>
          </p:cNvPr>
          <p:cNvSpPr>
            <a:spLocks noGrp="1"/>
          </p:cNvSpPr>
          <p:nvPr>
            <p:ph type="ctrTitle"/>
          </p:nvPr>
        </p:nvSpPr>
        <p:spPr/>
        <p:txBody>
          <a:bodyPr>
            <a:normAutofit/>
          </a:bodyPr>
          <a:lstStyle/>
          <a:p>
            <a:r>
              <a:rPr lang="en-US"/>
              <a:t>Weak Law of Large Numbers</a:t>
            </a:r>
          </a:p>
        </p:txBody>
      </p:sp>
      <p:sp>
        <p:nvSpPr>
          <p:cNvPr id="3" name="Subtitle 2">
            <a:extLst>
              <a:ext uri="{FF2B5EF4-FFF2-40B4-BE49-F238E27FC236}">
                <a16:creationId xmlns:a16="http://schemas.microsoft.com/office/drawing/2014/main" id="{F8571B81-75F3-CE78-7BC7-F272C049AC53}"/>
              </a:ext>
            </a:extLst>
          </p:cNvPr>
          <p:cNvSpPr>
            <a:spLocks noGrp="1"/>
          </p:cNvSpPr>
          <p:nvPr>
            <p:ph type="subTitle" idx="1"/>
          </p:nvPr>
        </p:nvSpPr>
        <p:spPr/>
        <p:txBody>
          <a:bodyPr/>
          <a:lstStyle/>
          <a:p>
            <a:r>
              <a:rPr lang="en-US"/>
              <a:t>Lecture 22, CS70 Fall 2025</a:t>
            </a:r>
          </a:p>
        </p:txBody>
      </p:sp>
      <p:sp>
        <p:nvSpPr>
          <p:cNvPr id="6" name="Content Placeholder 5">
            <a:extLst>
              <a:ext uri="{FF2B5EF4-FFF2-40B4-BE49-F238E27FC236}">
                <a16:creationId xmlns:a16="http://schemas.microsoft.com/office/drawing/2014/main" id="{452DE48A-8358-7BC1-C1B2-9167FC3F86F3}"/>
              </a:ext>
            </a:extLst>
          </p:cNvPr>
          <p:cNvSpPr>
            <a:spLocks noGrp="1"/>
          </p:cNvSpPr>
          <p:nvPr>
            <p:ph sz="quarter" idx="10"/>
          </p:nvPr>
        </p:nvSpPr>
        <p:spPr/>
        <p:txBody>
          <a:bodyPr/>
          <a:lstStyle/>
          <a:p>
            <a:endParaRPr lang="en-US">
              <a:solidFill>
                <a:schemeClr val="bg1">
                  <a:lumMod val="65000"/>
                </a:schemeClr>
              </a:solidFill>
            </a:endParaRPr>
          </a:p>
          <a:p>
            <a:endParaRPr lang="en-US" b="1">
              <a:solidFill>
                <a:schemeClr val="accent3"/>
              </a:solidFill>
              <a:latin typeface="Inter" panose="02000503000000020004" pitchFamily="2" charset="0"/>
              <a:ea typeface="Inter" panose="02000503000000020004" pitchFamily="2" charset="0"/>
              <a:cs typeface="Inter" panose="02000503000000020004" pitchFamily="2" charset="0"/>
            </a:endParaRPr>
          </a:p>
        </p:txBody>
      </p:sp>
      <p:sp>
        <p:nvSpPr>
          <p:cNvPr id="4" name="Content Placeholder 5">
            <a:extLst>
              <a:ext uri="{FF2B5EF4-FFF2-40B4-BE49-F238E27FC236}">
                <a16:creationId xmlns:a16="http://schemas.microsoft.com/office/drawing/2014/main" id="{7458CB04-8628-D23E-2A63-940C6035AC67}"/>
              </a:ext>
            </a:extLst>
          </p:cNvPr>
          <p:cNvSpPr txBox="1">
            <a:spLocks/>
          </p:cNvSpPr>
          <p:nvPr/>
        </p:nvSpPr>
        <p:spPr>
          <a:xfrm>
            <a:off x="6248400" y="217487"/>
            <a:ext cx="6096000" cy="6716713"/>
          </a:xfrm>
          <a:prstGeom prst="rect">
            <a:avLst/>
          </a:prstGeom>
        </p:spPr>
        <p:txBody>
          <a:bodyPr anchor="ctr">
            <a:normAutofit/>
          </a:bodyPr>
          <a:lstStyle>
            <a:lvl1pPr marL="0" indent="0" algn="l" defTabSz="914377" rtl="0" eaLnBrk="1" latinLnBrk="0" hangingPunct="1">
              <a:lnSpc>
                <a:spcPct val="110000"/>
              </a:lnSpc>
              <a:spcBef>
                <a:spcPts val="1000"/>
              </a:spcBef>
              <a:buFont typeface="Arial" panose="020B0604020202020204" pitchFamily="34" charset="0"/>
              <a:buNone/>
              <a:defRPr sz="2400" b="0" i="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1pPr>
            <a:lvl2pPr marL="685783" indent="-228594" algn="l" defTabSz="914377" rtl="0" eaLnBrk="1" latinLnBrk="0" hangingPunct="1">
              <a:lnSpc>
                <a:spcPct val="90000"/>
              </a:lnSpc>
              <a:spcBef>
                <a:spcPts val="500"/>
              </a:spcBef>
              <a:buSzPct val="125000"/>
              <a:buFont typeface="Arial" panose="020B0604020202020204" pitchFamily="34" charset="0"/>
              <a:buChar char="•"/>
              <a:defRPr sz="2400" b="0" i="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2pPr>
            <a:lvl3pPr marL="1142971" indent="-228594" algn="l" defTabSz="914377" rtl="0" eaLnBrk="1" latinLnBrk="0" hangingPunct="1">
              <a:lnSpc>
                <a:spcPct val="90000"/>
              </a:lnSpc>
              <a:spcBef>
                <a:spcPts val="500"/>
              </a:spcBef>
              <a:buFont typeface="Courier New" panose="02070309020205020404" pitchFamily="49" charset="0"/>
              <a:buChar char="o"/>
              <a:defRPr sz="2400" b="0" i="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3pPr>
            <a:lvl4pPr marL="1600160" indent="-228594" algn="l" defTabSz="914377" rtl="0" eaLnBrk="1" latinLnBrk="0" hangingPunct="1">
              <a:lnSpc>
                <a:spcPct val="90000"/>
              </a:lnSpc>
              <a:spcBef>
                <a:spcPts val="500"/>
              </a:spcBef>
              <a:buFont typeface="Wingdings" pitchFamily="2" charset="2"/>
              <a:buChar char="§"/>
              <a:defRPr sz="2400" b="0" i="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4pPr>
            <a:lvl5pPr marL="2057349" indent="-228594" algn="l" defTabSz="914377" rtl="0" eaLnBrk="1" latinLnBrk="0" hangingPunct="1">
              <a:lnSpc>
                <a:spcPct val="90000"/>
              </a:lnSpc>
              <a:spcBef>
                <a:spcPts val="500"/>
              </a:spcBef>
              <a:buFont typeface="Arial" panose="020B0604020202020204" pitchFamily="34" charset="0"/>
              <a:buChar char="•"/>
              <a:defRPr sz="2400" b="0" i="0" kern="1200">
                <a:solidFill>
                  <a:schemeClr val="tx1"/>
                </a:solidFill>
                <a:latin typeface="Inter Light" panose="02000403000000020004" pitchFamily="2" charset="0"/>
                <a:ea typeface="Inter Light" panose="02000403000000020004" pitchFamily="2" charset="0"/>
                <a:cs typeface="Inter Light" panose="02000403000000020004" pitchFamily="2"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chemeClr val="bg1">
                    <a:lumMod val="65000"/>
                  </a:schemeClr>
                </a:solidFill>
              </a:rPr>
              <a:t>Estimating p for </a:t>
            </a:r>
            <a:r>
              <a:rPr lang="en-US" err="1">
                <a:solidFill>
                  <a:schemeClr val="bg1">
                    <a:lumMod val="65000"/>
                  </a:schemeClr>
                </a:solidFill>
              </a:rPr>
              <a:t>X~Bernoulli</a:t>
            </a:r>
            <a:r>
              <a:rPr lang="en-US">
                <a:solidFill>
                  <a:schemeClr val="bg1">
                    <a:lumMod val="65000"/>
                  </a:schemeClr>
                </a:solidFill>
              </a:rPr>
              <a:t>(p)</a:t>
            </a:r>
          </a:p>
          <a:p>
            <a:r>
              <a:rPr lang="en-US">
                <a:solidFill>
                  <a:schemeClr val="bg1">
                    <a:lumMod val="65000"/>
                  </a:schemeClr>
                </a:solidFill>
              </a:rPr>
              <a:t>Markov’s Inequality</a:t>
            </a:r>
          </a:p>
          <a:p>
            <a:r>
              <a:rPr lang="en-US">
                <a:solidFill>
                  <a:schemeClr val="bg1">
                    <a:lumMod val="65000"/>
                  </a:schemeClr>
                </a:solidFill>
              </a:rPr>
              <a:t>Chebyshev’s Inequality</a:t>
            </a:r>
          </a:p>
          <a:p>
            <a:r>
              <a:rPr lang="en-US">
                <a:solidFill>
                  <a:schemeClr val="bg1">
                    <a:lumMod val="65000"/>
                  </a:schemeClr>
                </a:solidFill>
              </a:rPr>
              <a:t>The Chebyshev Bound for Number of Heads</a:t>
            </a:r>
          </a:p>
          <a:p>
            <a:r>
              <a:rPr lang="en-US">
                <a:solidFill>
                  <a:schemeClr val="tx2"/>
                </a:solidFill>
              </a:rPr>
              <a:t>The Chebyshev Bound for Estimating the Fairness of a Coin</a:t>
            </a:r>
            <a:endParaRPr lang="en-US">
              <a:solidFill>
                <a:schemeClr val="bg1">
                  <a:lumMod val="65000"/>
                </a:schemeClr>
              </a:solidFill>
            </a:endParaRPr>
          </a:p>
          <a:p>
            <a:r>
              <a:rPr lang="en-US" b="1">
                <a:solidFill>
                  <a:schemeClr val="accent3"/>
                </a:solidFill>
                <a:latin typeface="Inter" panose="02000503000000020004" pitchFamily="2" charset="0"/>
                <a:ea typeface="Inter" panose="02000503000000020004" pitchFamily="2" charset="0"/>
                <a:cs typeface="Inter" panose="02000503000000020004" pitchFamily="2" charset="0"/>
              </a:rPr>
              <a:t>Weak Law of Large Numbers</a:t>
            </a:r>
          </a:p>
          <a:p>
            <a:r>
              <a:rPr lang="en-US">
                <a:solidFill>
                  <a:schemeClr val="bg1">
                    <a:lumMod val="65000"/>
                  </a:schemeClr>
                </a:solidFill>
              </a:rPr>
              <a:t>Bounds Beyond CS70</a:t>
            </a:r>
          </a:p>
        </p:txBody>
      </p:sp>
    </p:spTree>
    <p:extLst>
      <p:ext uri="{BB962C8B-B14F-4D97-AF65-F5344CB8AC3E}">
        <p14:creationId xmlns:p14="http://schemas.microsoft.com/office/powerpoint/2010/main" val="314087445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90261-B1ED-94FA-F123-D1124C320D00}"/>
              </a:ext>
            </a:extLst>
          </p:cNvPr>
          <p:cNvSpPr>
            <a:spLocks noGrp="1"/>
          </p:cNvSpPr>
          <p:nvPr>
            <p:ph type="title"/>
          </p:nvPr>
        </p:nvSpPr>
        <p:spPr/>
        <p:txBody>
          <a:bodyPr/>
          <a:lstStyle/>
          <a:p>
            <a:r>
              <a:rPr lang="en-US"/>
              <a:t>Weak Law of Large Numbers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3485C55-2E85-3E01-37EE-B71C0952A433}"/>
                  </a:ext>
                </a:extLst>
              </p:cNvPr>
              <p:cNvSpPr>
                <a:spLocks noGrp="1"/>
              </p:cNvSpPr>
              <p:nvPr>
                <p:ph idx="1"/>
              </p:nvPr>
            </p:nvSpPr>
            <p:spPr>
              <a:xfrm>
                <a:off x="93657" y="533400"/>
                <a:ext cx="11618052" cy="5638732"/>
              </a:xfrm>
            </p:spPr>
            <p:txBody>
              <a:bodyPr/>
              <a:lstStyle/>
              <a:p>
                <a:r>
                  <a:rPr lang="en-US"/>
                  <a:t>As a quick detour before wrapping up today, let’s talk about the </a:t>
                </a:r>
                <a:r>
                  <a:rPr lang="en-US" b="1">
                    <a:solidFill>
                      <a:schemeClr val="accent3"/>
                    </a:solidFill>
                    <a:latin typeface="Inter" panose="02000503000000020004" pitchFamily="2" charset="0"/>
                    <a:ea typeface="Inter" panose="02000503000000020004" pitchFamily="2" charset="0"/>
                    <a:cs typeface="Inter" panose="02000503000000020004" pitchFamily="2" charset="0"/>
                  </a:rPr>
                  <a:t>Weak Law of Large Numbers</a:t>
                </a:r>
                <a:r>
                  <a:rPr lang="en-US"/>
                  <a:t>.</a:t>
                </a:r>
              </a:p>
              <a:p>
                <a:endParaRPr lang="en-US"/>
              </a:p>
              <a:p>
                <a:r>
                  <a:rPr lang="en-US"/>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3</m:t>
                        </m:r>
                      </m:sub>
                    </m:sSub>
                    <m:r>
                      <a:rPr lang="en-US" b="0" i="1" smtClean="0">
                        <a:latin typeface="Cambria Math" panose="02040503050406030204" pitchFamily="18" charset="0"/>
                      </a:rPr>
                      <m:t>,…</m:t>
                    </m:r>
                  </m:oMath>
                </a14:m>
                <a:r>
                  <a:rPr lang="en-US"/>
                  <a:t> are independent and identically distributed (</a:t>
                </a:r>
                <a:r>
                  <a:rPr lang="en-US" err="1"/>
                  <a:t>i.i.d.</a:t>
                </a:r>
                <a:r>
                  <a:rPr lang="en-US"/>
                  <a:t>) random variables with </a:t>
                </a:r>
                <a14:m>
                  <m:oMath xmlns:m="http://schemas.openxmlformats.org/officeDocument/2006/math">
                    <m:r>
                      <a:rPr lang="en-US" i="1">
                        <a:latin typeface="Cambria Math" panose="02040503050406030204" pitchFamily="18" charset="0"/>
                      </a:rPr>
                      <m:t>𝔼</m:t>
                    </m:r>
                    <m:d>
                      <m:dPr>
                        <m:begChr m:val="["/>
                        <m:endChr m:val="]"/>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r>
                      <a:rPr lang="en-US" b="0" i="1" smtClean="0">
                        <a:latin typeface="Cambria Math" panose="02040503050406030204" pitchFamily="18" charset="0"/>
                      </a:rPr>
                      <m:t>𝜇</m:t>
                    </m:r>
                  </m:oMath>
                </a14:m>
                <a:r>
                  <a:rPr lang="en-US"/>
                  <a:t>, and </a:t>
                </a:r>
                <a14:m>
                  <m:oMath xmlns:m="http://schemas.openxmlformats.org/officeDocument/2006/math">
                    <m:r>
                      <m:rPr>
                        <m:sty m:val="p"/>
                      </m:rPr>
                      <a:rPr lang="en-US" b="0" i="0" smtClean="0">
                        <a:latin typeface="Cambria Math" panose="02040503050406030204" pitchFamily="18" charset="0"/>
                      </a:rPr>
                      <m:t>var</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r>
                      <a:rPr lang="en-US" b="0" i="1" smtClean="0">
                        <a:latin typeface="Cambria Math" panose="02040503050406030204" pitchFamily="18" charset="0"/>
                      </a:rPr>
                      <m:t>&lt;∞</m:t>
                    </m:r>
                  </m:oMath>
                </a14:m>
                <a:r>
                  <a:rPr lang="en-US"/>
                  <a:t>, then for every </a:t>
                </a:r>
                <a14:m>
                  <m:oMath xmlns:m="http://schemas.openxmlformats.org/officeDocument/2006/math">
                    <m:r>
                      <a:rPr lang="en-US" b="0" i="1" smtClean="0">
                        <a:latin typeface="Cambria Math" panose="02040503050406030204" pitchFamily="18" charset="0"/>
                      </a:rPr>
                      <m:t>𝜖</m:t>
                    </m:r>
                    <m:r>
                      <a:rPr lang="en-US" b="0" i="1" smtClean="0">
                        <a:latin typeface="Cambria Math" panose="02040503050406030204" pitchFamily="18" charset="0"/>
                      </a:rPr>
                      <m:t>&gt;0</m:t>
                    </m:r>
                  </m:oMath>
                </a14:m>
                <a:r>
                  <a:rPr lang="en-US"/>
                  <a:t>, we have that:</a:t>
                </a:r>
              </a:p>
              <a:p>
                <a:endParaRPr lang="en-US"/>
              </a:p>
              <a:p>
                <a:pPr/>
                <a14:m>
                  <m:oMathPara xmlns:m="http://schemas.openxmlformats.org/officeDocument/2006/math">
                    <m:oMathParaPr>
                      <m:jc m:val="centerGroup"/>
                    </m:oMathParaPr>
                    <m:oMath xmlns:m="http://schemas.openxmlformats.org/officeDocument/2006/math">
                      <m:func>
                        <m:funcPr>
                          <m:ctrlPr>
                            <a:rPr lang="en-US" i="1" smtClean="0">
                              <a:latin typeface="Cambria Math" panose="02040503050406030204" pitchFamily="18" charset="0"/>
                            </a:rPr>
                          </m:ctrlPr>
                        </m:funcPr>
                        <m:fName>
                          <m:limLow>
                            <m:limLowPr>
                              <m:ctrlPr>
                                <a:rPr lang="en-US" i="1" smtClean="0">
                                  <a:latin typeface="Cambria Math" panose="02040503050406030204" pitchFamily="18" charset="0"/>
                                </a:rPr>
                              </m:ctrlPr>
                            </m:limLowPr>
                            <m:e>
                              <m:r>
                                <m:rPr>
                                  <m:sty m:val="p"/>
                                </m:rPr>
                                <a:rPr lang="en-US" i="0" smtClean="0">
                                  <a:latin typeface="Cambria Math" panose="02040503050406030204" pitchFamily="18" charset="0"/>
                                </a:rPr>
                                <m:t>lim</m:t>
                              </m:r>
                            </m:e>
                            <m:lim>
                              <m:r>
                                <a:rPr lang="en-US" b="0" i="1" smtClean="0">
                                  <a:latin typeface="Cambria Math" panose="02040503050406030204" pitchFamily="18" charset="0"/>
                                </a:rPr>
                                <m:t>𝑛</m:t>
                              </m:r>
                              <m:r>
                                <a:rPr lang="en-US" b="0" i="1" smtClean="0">
                                  <a:latin typeface="Cambria Math" panose="02040503050406030204" pitchFamily="18" charset="0"/>
                                </a:rPr>
                                <m:t>→∞</m:t>
                              </m:r>
                            </m:lim>
                          </m:limLow>
                        </m:fName>
                        <m:e>
                          <m:r>
                            <a:rPr lang="en-US" i="1">
                              <a:latin typeface="Cambria Math" panose="02040503050406030204" pitchFamily="18" charset="0"/>
                            </a:rPr>
                            <m:t>𝑃</m:t>
                          </m:r>
                          <m:d>
                            <m:dPr>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b="0" i="1" smtClean="0">
                                              <a:latin typeface="Cambria Math" panose="02040503050406030204" pitchFamily="18" charset="0"/>
                                            </a:rPr>
                                            <m:t>𝑋</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𝑋</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𝑋</m:t>
                                          </m:r>
                                        </m:e>
                                        <m:sub>
                                          <m:r>
                                            <a:rPr lang="en-US" i="1">
                                              <a:latin typeface="Cambria Math" panose="02040503050406030204" pitchFamily="18" charset="0"/>
                                            </a:rPr>
                                            <m:t>𝑛</m:t>
                                          </m:r>
                                        </m:sub>
                                      </m:sSub>
                                      <m:r>
                                        <a:rPr lang="en-US" i="1">
                                          <a:latin typeface="Cambria Math" panose="02040503050406030204" pitchFamily="18" charset="0"/>
                                        </a:rPr>
                                        <m:t> </m:t>
                                      </m:r>
                                    </m:num>
                                    <m:den>
                                      <m:r>
                                        <a:rPr lang="en-US" i="1">
                                          <a:latin typeface="Cambria Math" panose="02040503050406030204" pitchFamily="18" charset="0"/>
                                        </a:rPr>
                                        <m:t>𝑛</m:t>
                                      </m:r>
                                    </m:den>
                                  </m:f>
                                  <m:r>
                                    <a:rPr lang="en-US" i="1">
                                      <a:latin typeface="Cambria Math" panose="02040503050406030204" pitchFamily="18" charset="0"/>
                                    </a:rPr>
                                    <m:t>−</m:t>
                                  </m:r>
                                  <m:r>
                                    <a:rPr lang="en-US" i="1">
                                      <a:latin typeface="Cambria Math" panose="02040503050406030204" pitchFamily="18" charset="0"/>
                                    </a:rPr>
                                    <m:t>𝜇</m:t>
                                  </m:r>
                                </m:e>
                              </m:d>
                              <m:r>
                                <a:rPr lang="en-US" i="1">
                                  <a:latin typeface="Cambria Math" panose="02040503050406030204" pitchFamily="18" charset="0"/>
                                </a:rPr>
                                <m:t>≥</m:t>
                              </m:r>
                              <m:r>
                                <a:rPr lang="en-US" i="1">
                                  <a:latin typeface="Cambria Math" panose="02040503050406030204" pitchFamily="18" charset="0"/>
                                </a:rPr>
                                <m:t>𝜖</m:t>
                              </m:r>
                            </m:e>
                          </m:d>
                          <m:r>
                            <a:rPr lang="en-US" b="0" i="1" smtClean="0">
                              <a:latin typeface="Cambria Math" panose="02040503050406030204" pitchFamily="18" charset="0"/>
                            </a:rPr>
                            <m:t>=0</m:t>
                          </m:r>
                        </m:e>
                      </m:func>
                    </m:oMath>
                  </m:oMathPara>
                </a14:m>
                <a:endParaRPr lang="en-US"/>
              </a:p>
              <a:p>
                <a:endParaRPr lang="en-US"/>
              </a:p>
              <a:p>
                <a:r>
                  <a:rPr lang="en-US"/>
                  <a:t>Informal interpretation: As we run the same experiment over and over, the difference between the empirical average and the expectation converges to zero.</a:t>
                </a:r>
              </a:p>
              <a:p>
                <a:endParaRPr lang="en-US"/>
              </a:p>
            </p:txBody>
          </p:sp>
        </mc:Choice>
        <mc:Fallback>
          <p:sp>
            <p:nvSpPr>
              <p:cNvPr id="3" name="Content Placeholder 2">
                <a:extLst>
                  <a:ext uri="{FF2B5EF4-FFF2-40B4-BE49-F238E27FC236}">
                    <a16:creationId xmlns:a16="http://schemas.microsoft.com/office/drawing/2014/main" id="{43485C55-2E85-3E01-37EE-B71C0952A433}"/>
                  </a:ext>
                </a:extLst>
              </p:cNvPr>
              <p:cNvSpPr>
                <a:spLocks noGrp="1" noRot="1" noChangeAspect="1" noMove="1" noResize="1" noEditPoints="1" noAdjustHandles="1" noChangeArrowheads="1" noChangeShapeType="1" noTextEdit="1"/>
              </p:cNvSpPr>
              <p:nvPr>
                <p:ph idx="1"/>
              </p:nvPr>
            </p:nvSpPr>
            <p:spPr>
              <a:xfrm>
                <a:off x="93657" y="533400"/>
                <a:ext cx="11618052" cy="5638732"/>
              </a:xfrm>
              <a:blipFill>
                <a:blip r:embed="rId2"/>
                <a:stretch>
                  <a:fillRect l="-787" t="-541"/>
                </a:stretch>
              </a:blipFill>
            </p:spPr>
            <p:txBody>
              <a:bodyPr/>
              <a:lstStyle/>
              <a:p>
                <a:r>
                  <a:rPr lang="en-US">
                    <a:noFill/>
                  </a:rPr>
                  <a:t> </a:t>
                </a:r>
              </a:p>
            </p:txBody>
          </p:sp>
        </mc:Fallback>
      </mc:AlternateContent>
    </p:spTree>
    <p:extLst>
      <p:ext uri="{BB962C8B-B14F-4D97-AF65-F5344CB8AC3E}">
        <p14:creationId xmlns:p14="http://schemas.microsoft.com/office/powerpoint/2010/main" val="373406058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FCF61-FCF5-3DD7-326F-A7ABA8095F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FF6D00-FD8C-CEFD-14EC-9AC9C47E8751}"/>
              </a:ext>
            </a:extLst>
          </p:cNvPr>
          <p:cNvSpPr>
            <a:spLocks noGrp="1"/>
          </p:cNvSpPr>
          <p:nvPr>
            <p:ph type="title"/>
          </p:nvPr>
        </p:nvSpPr>
        <p:spPr/>
        <p:txBody>
          <a:bodyPr/>
          <a:lstStyle/>
          <a:p>
            <a:r>
              <a:rPr lang="en-US"/>
              <a:t>Weak Law of Large Numbers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D2A1AAA-B9FF-8128-477E-427052B91D80}"/>
                  </a:ext>
                </a:extLst>
              </p:cNvPr>
              <p:cNvSpPr>
                <a:spLocks noGrp="1"/>
              </p:cNvSpPr>
              <p:nvPr>
                <p:ph idx="1"/>
              </p:nvPr>
            </p:nvSpPr>
            <p:spPr>
              <a:xfrm>
                <a:off x="93657" y="533400"/>
                <a:ext cx="11858198" cy="5638732"/>
              </a:xfrm>
            </p:spPr>
            <p:txBody>
              <a:bodyPr/>
              <a:lstStyle/>
              <a:p>
                <a:r>
                  <a:rPr lang="en-US"/>
                  <a:t>If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3</m:t>
                        </m:r>
                      </m:sub>
                    </m:sSub>
                    <m:r>
                      <a:rPr lang="en-US" i="1">
                        <a:latin typeface="Cambria Math" panose="02040503050406030204" pitchFamily="18" charset="0"/>
                      </a:rPr>
                      <m:t>,…</m:t>
                    </m:r>
                  </m:oMath>
                </a14:m>
                <a:r>
                  <a:rPr lang="en-US"/>
                  <a:t> are independent and identically distributed (</a:t>
                </a:r>
                <a:r>
                  <a:rPr lang="en-US" err="1"/>
                  <a:t>i.i.d.</a:t>
                </a:r>
                <a:r>
                  <a:rPr lang="en-US"/>
                  <a:t>) random variables with </a:t>
                </a:r>
                <a14:m>
                  <m:oMath xmlns:m="http://schemas.openxmlformats.org/officeDocument/2006/math">
                    <m:r>
                      <a:rPr lang="en-US" i="1">
                        <a:latin typeface="Cambria Math" panose="02040503050406030204" pitchFamily="18" charset="0"/>
                      </a:rPr>
                      <m:t>𝔼</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r>
                      <a:rPr lang="en-US" i="1">
                        <a:latin typeface="Cambria Math" panose="02040503050406030204" pitchFamily="18" charset="0"/>
                      </a:rPr>
                      <m:t>=</m:t>
                    </m:r>
                    <m:r>
                      <a:rPr lang="en-US" i="1">
                        <a:latin typeface="Cambria Math" panose="02040503050406030204" pitchFamily="18" charset="0"/>
                      </a:rPr>
                      <m:t>𝜇</m:t>
                    </m:r>
                  </m:oMath>
                </a14:m>
                <a:r>
                  <a:rPr lang="en-US"/>
                  <a:t>, and </a:t>
                </a:r>
                <a14:m>
                  <m:oMath xmlns:m="http://schemas.openxmlformats.org/officeDocument/2006/math">
                    <m:r>
                      <m:rPr>
                        <m:sty m:val="p"/>
                      </m:rPr>
                      <a:rPr lang="en-US">
                        <a:latin typeface="Cambria Math" panose="02040503050406030204" pitchFamily="18" charset="0"/>
                      </a:rPr>
                      <m:t>var</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r>
                      <a:rPr lang="en-US" i="1">
                        <a:latin typeface="Cambria Math" panose="02040503050406030204" pitchFamily="18" charset="0"/>
                      </a:rPr>
                      <m:t>&lt;∞</m:t>
                    </m:r>
                  </m:oMath>
                </a14:m>
                <a:r>
                  <a:rPr lang="en-US"/>
                  <a:t>, then for every </a:t>
                </a:r>
                <a14:m>
                  <m:oMath xmlns:m="http://schemas.openxmlformats.org/officeDocument/2006/math">
                    <m:r>
                      <a:rPr lang="en-US" i="1">
                        <a:latin typeface="Cambria Math" panose="02040503050406030204" pitchFamily="18" charset="0"/>
                      </a:rPr>
                      <m:t>𝜖</m:t>
                    </m:r>
                    <m:r>
                      <a:rPr lang="en-US" i="1">
                        <a:latin typeface="Cambria Math" panose="02040503050406030204" pitchFamily="18" charset="0"/>
                      </a:rPr>
                      <m:t>&gt;0</m:t>
                    </m:r>
                  </m:oMath>
                </a14:m>
                <a:r>
                  <a:rPr lang="en-US"/>
                  <a:t>, we have that:</a:t>
                </a:r>
              </a:p>
              <a:p>
                <a:endParaRPr lang="en-US" sz="200"/>
              </a:p>
              <a:p>
                <a:pPr/>
                <a14:m>
                  <m:oMathPara xmlns:m="http://schemas.openxmlformats.org/officeDocument/2006/math">
                    <m:oMathParaPr>
                      <m:jc m:val="centerGroup"/>
                    </m:oMathParaPr>
                    <m:oMath xmlns:m="http://schemas.openxmlformats.org/officeDocument/2006/math">
                      <m:func>
                        <m:funcPr>
                          <m:ctrlPr>
                            <a:rPr lang="en-US" i="1" smtClean="0">
                              <a:latin typeface="Cambria Math" panose="02040503050406030204" pitchFamily="18" charset="0"/>
                            </a:rPr>
                          </m:ctrlPr>
                        </m:funcPr>
                        <m:fName>
                          <m:limLow>
                            <m:limLowPr>
                              <m:ctrlPr>
                                <a:rPr lang="en-US" i="1" smtClean="0">
                                  <a:latin typeface="Cambria Math" panose="02040503050406030204" pitchFamily="18" charset="0"/>
                                </a:rPr>
                              </m:ctrlPr>
                            </m:limLowPr>
                            <m:e>
                              <m:r>
                                <m:rPr>
                                  <m:sty m:val="p"/>
                                </m:rPr>
                                <a:rPr lang="en-US" i="0" smtClean="0">
                                  <a:latin typeface="Cambria Math" panose="02040503050406030204" pitchFamily="18" charset="0"/>
                                </a:rPr>
                                <m:t>lim</m:t>
                              </m:r>
                            </m:e>
                            <m:lim>
                              <m:r>
                                <a:rPr lang="en-US" b="0" i="1" smtClean="0">
                                  <a:latin typeface="Cambria Math" panose="02040503050406030204" pitchFamily="18" charset="0"/>
                                </a:rPr>
                                <m:t>𝑛</m:t>
                              </m:r>
                              <m:r>
                                <a:rPr lang="en-US" b="0" i="1" smtClean="0">
                                  <a:latin typeface="Cambria Math" panose="02040503050406030204" pitchFamily="18" charset="0"/>
                                </a:rPr>
                                <m:t>→∞</m:t>
                              </m:r>
                            </m:lim>
                          </m:limLow>
                        </m:fName>
                        <m:e>
                          <m:r>
                            <a:rPr lang="en-US" i="1">
                              <a:latin typeface="Cambria Math" panose="02040503050406030204" pitchFamily="18" charset="0"/>
                            </a:rPr>
                            <m:t>𝑃</m:t>
                          </m:r>
                          <m:d>
                            <m:dPr>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𝑋</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𝑋</m:t>
                                          </m:r>
                                        </m:e>
                                        <m:sub>
                                          <m:r>
                                            <a:rPr lang="en-US" i="1">
                                              <a:latin typeface="Cambria Math" panose="02040503050406030204" pitchFamily="18" charset="0"/>
                                            </a:rPr>
                                            <m:t>𝑛</m:t>
                                          </m:r>
                                        </m:sub>
                                      </m:sSub>
                                      <m:r>
                                        <a:rPr lang="en-US" i="1">
                                          <a:latin typeface="Cambria Math" panose="02040503050406030204" pitchFamily="18" charset="0"/>
                                        </a:rPr>
                                        <m:t> </m:t>
                                      </m:r>
                                    </m:num>
                                    <m:den>
                                      <m:r>
                                        <a:rPr lang="en-US" i="1">
                                          <a:latin typeface="Cambria Math" panose="02040503050406030204" pitchFamily="18" charset="0"/>
                                        </a:rPr>
                                        <m:t>𝑛</m:t>
                                      </m:r>
                                    </m:den>
                                  </m:f>
                                  <m:r>
                                    <a:rPr lang="en-US" i="1">
                                      <a:latin typeface="Cambria Math" panose="02040503050406030204" pitchFamily="18" charset="0"/>
                                    </a:rPr>
                                    <m:t>−</m:t>
                                  </m:r>
                                  <m:r>
                                    <a:rPr lang="en-US" i="1">
                                      <a:latin typeface="Cambria Math" panose="02040503050406030204" pitchFamily="18" charset="0"/>
                                    </a:rPr>
                                    <m:t>𝜇</m:t>
                                  </m:r>
                                </m:e>
                              </m:d>
                              <m:r>
                                <a:rPr lang="en-US" i="1">
                                  <a:latin typeface="Cambria Math" panose="02040503050406030204" pitchFamily="18" charset="0"/>
                                </a:rPr>
                                <m:t>≥</m:t>
                              </m:r>
                              <m:r>
                                <a:rPr lang="en-US" i="1">
                                  <a:latin typeface="Cambria Math" panose="02040503050406030204" pitchFamily="18" charset="0"/>
                                </a:rPr>
                                <m:t>𝜖</m:t>
                              </m:r>
                            </m:e>
                          </m:d>
                          <m:r>
                            <a:rPr lang="en-US" b="0" i="1" smtClean="0">
                              <a:latin typeface="Cambria Math" panose="02040503050406030204" pitchFamily="18" charset="0"/>
                            </a:rPr>
                            <m:t>=0</m:t>
                          </m:r>
                        </m:e>
                      </m:func>
                    </m:oMath>
                  </m:oMathPara>
                </a14:m>
                <a:endParaRPr lang="en-US"/>
              </a:p>
              <a:p>
                <a:endParaRPr lang="en-US" sz="200"/>
              </a:p>
              <a:p>
                <a:r>
                  <a:rPr lang="en-US"/>
                  <a:t>Proof: Let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r>
                      <a:rPr lang="en-US" b="0" i="1" smtClean="0">
                        <a:latin typeface="Cambria Math" panose="02040503050406030204" pitchFamily="18" charset="0"/>
                      </a:rPr>
                      <m:t>=</m:t>
                    </m:r>
                    <m:r>
                      <m:rPr>
                        <m:sty m:val="p"/>
                      </m:rPr>
                      <a:rPr lang="en-US" b="0" i="0" smtClean="0">
                        <a:latin typeface="Cambria Math" panose="02040503050406030204" pitchFamily="18" charset="0"/>
                      </a:rPr>
                      <m:t>var</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e>
                    </m:d>
                  </m:oMath>
                </a14:m>
                <a:r>
                  <a:rPr lang="en-US"/>
                  <a:t>. 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oMath>
                </a14:m>
                <a:r>
                  <a:rPr lang="en-US"/>
                  <a:t>. 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𝑛</m:t>
                        </m:r>
                      </m:sub>
                    </m:sSub>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en-US"/>
              </a:p>
              <a:p>
                <a:br>
                  <a:rPr lang="en-US"/>
                </a:br>
                <a:r>
                  <a:rPr lang="en-US"/>
                  <a:t>Questions:</a:t>
                </a:r>
              </a:p>
              <a:p>
                <a:pPr marL="342900" indent="-342900">
                  <a:buFont typeface="Arial" panose="020B0604020202020204" pitchFamily="34" charset="0"/>
                  <a:buChar char="•"/>
                </a:pPr>
                <a:r>
                  <a:rPr lang="en-US"/>
                  <a:t>What is </a:t>
                </a:r>
                <a14:m>
                  <m:oMath xmlns:m="http://schemas.openxmlformats.org/officeDocument/2006/math">
                    <m:r>
                      <a:rPr lang="en-US" i="1" smtClean="0">
                        <a:latin typeface="Cambria Math" panose="02040503050406030204" pitchFamily="18" charset="0"/>
                      </a:rPr>
                      <m:t>𝔼</m:t>
                    </m:r>
                    <m:d>
                      <m:dPr>
                        <m:begChr m:val="["/>
                        <m:endChr m:val="]"/>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𝑛</m:t>
                            </m:r>
                          </m:sub>
                        </m:sSub>
                      </m:e>
                    </m:d>
                  </m:oMath>
                </a14:m>
                <a:r>
                  <a:rPr lang="en-US"/>
                  <a:t>?</a:t>
                </a:r>
              </a:p>
              <a:p>
                <a:pPr marL="342900" indent="-342900">
                  <a:buFont typeface="Arial" panose="020B0604020202020204" pitchFamily="34" charset="0"/>
                  <a:buChar char="•"/>
                </a:pPr>
                <a:r>
                  <a:rPr lang="en-US"/>
                  <a:t>What is </a:t>
                </a:r>
                <a14:m>
                  <m:oMath xmlns:m="http://schemas.openxmlformats.org/officeDocument/2006/math">
                    <m:r>
                      <m:rPr>
                        <m:sty m:val="p"/>
                      </m:rPr>
                      <a:rPr lang="en-US" b="0" i="0" smtClean="0">
                        <a:latin typeface="Cambria Math" panose="02040503050406030204" pitchFamily="18" charset="0"/>
                      </a:rPr>
                      <m:t>var</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𝑛</m:t>
                            </m:r>
                          </m:sub>
                        </m:sSub>
                      </m:e>
                    </m:d>
                  </m:oMath>
                </a14:m>
                <a:r>
                  <a:rPr lang="en-US"/>
                  <a:t>?</a:t>
                </a:r>
              </a:p>
              <a:p>
                <a:pPr marL="342900" indent="-342900">
                  <a:buFont typeface="Arial" panose="020B0604020202020204" pitchFamily="34" charset="0"/>
                  <a:buChar char="•"/>
                </a:pPr>
                <a:r>
                  <a:rPr lang="en-US"/>
                  <a:t>Consider doing these as an exercise rather than just watching / reading.</a:t>
                </a:r>
              </a:p>
            </p:txBody>
          </p:sp>
        </mc:Choice>
        <mc:Fallback>
          <p:sp>
            <p:nvSpPr>
              <p:cNvPr id="3" name="Content Placeholder 2">
                <a:extLst>
                  <a:ext uri="{FF2B5EF4-FFF2-40B4-BE49-F238E27FC236}">
                    <a16:creationId xmlns:a16="http://schemas.microsoft.com/office/drawing/2014/main" id="{8D2A1AAA-B9FF-8128-477E-427052B91D80}"/>
                  </a:ext>
                </a:extLst>
              </p:cNvPr>
              <p:cNvSpPr>
                <a:spLocks noGrp="1" noRot="1" noChangeAspect="1" noMove="1" noResize="1" noEditPoints="1" noAdjustHandles="1" noChangeArrowheads="1" noChangeShapeType="1" noTextEdit="1"/>
              </p:cNvSpPr>
              <p:nvPr>
                <p:ph idx="1"/>
              </p:nvPr>
            </p:nvSpPr>
            <p:spPr>
              <a:xfrm>
                <a:off x="93657" y="533400"/>
                <a:ext cx="11858198" cy="5638732"/>
              </a:xfrm>
              <a:blipFill>
                <a:blip r:embed="rId2"/>
                <a:stretch>
                  <a:fillRect l="-771" t="-541"/>
                </a:stretch>
              </a:blipFill>
            </p:spPr>
            <p:txBody>
              <a:bodyPr/>
              <a:lstStyle/>
              <a:p>
                <a:r>
                  <a:rPr lang="en-US">
                    <a:noFill/>
                  </a:rPr>
                  <a:t> </a:t>
                </a:r>
              </a:p>
            </p:txBody>
          </p:sp>
        </mc:Fallback>
      </mc:AlternateContent>
    </p:spTree>
    <p:extLst>
      <p:ext uri="{BB962C8B-B14F-4D97-AF65-F5344CB8AC3E}">
        <p14:creationId xmlns:p14="http://schemas.microsoft.com/office/powerpoint/2010/main" val="219879592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4D0DD-7017-3578-2E87-9CD24C9AB0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C89D85-807F-DCA3-7C79-02ADC81B907F}"/>
              </a:ext>
            </a:extLst>
          </p:cNvPr>
          <p:cNvSpPr>
            <a:spLocks noGrp="1"/>
          </p:cNvSpPr>
          <p:nvPr>
            <p:ph type="title"/>
          </p:nvPr>
        </p:nvSpPr>
        <p:spPr/>
        <p:txBody>
          <a:bodyPr/>
          <a:lstStyle/>
          <a:p>
            <a:r>
              <a:rPr lang="en-US"/>
              <a:t>Weak Law of Large Numbers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471F055-31FB-215E-811C-7C269DEAA09B}"/>
                  </a:ext>
                </a:extLst>
              </p:cNvPr>
              <p:cNvSpPr>
                <a:spLocks noGrp="1"/>
              </p:cNvSpPr>
              <p:nvPr>
                <p:ph idx="1"/>
              </p:nvPr>
            </p:nvSpPr>
            <p:spPr>
              <a:xfrm>
                <a:off x="93657" y="533400"/>
                <a:ext cx="11777380" cy="5638732"/>
              </a:xfrm>
            </p:spPr>
            <p:txBody>
              <a:bodyPr/>
              <a:lstStyle/>
              <a:p>
                <a:r>
                  <a:rPr lang="en-US"/>
                  <a:t>If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3</m:t>
                        </m:r>
                      </m:sub>
                    </m:sSub>
                    <m:r>
                      <a:rPr lang="en-US" i="1">
                        <a:latin typeface="Cambria Math" panose="02040503050406030204" pitchFamily="18" charset="0"/>
                      </a:rPr>
                      <m:t>,…</m:t>
                    </m:r>
                  </m:oMath>
                </a14:m>
                <a:r>
                  <a:rPr lang="en-US"/>
                  <a:t> are independent and identically distributed (</a:t>
                </a:r>
                <a:r>
                  <a:rPr lang="en-US" err="1"/>
                  <a:t>i.i.d.</a:t>
                </a:r>
                <a:r>
                  <a:rPr lang="en-US"/>
                  <a:t>) random variables with </a:t>
                </a:r>
                <a14:m>
                  <m:oMath xmlns:m="http://schemas.openxmlformats.org/officeDocument/2006/math">
                    <m:r>
                      <a:rPr lang="en-US" i="1">
                        <a:latin typeface="Cambria Math" panose="02040503050406030204" pitchFamily="18" charset="0"/>
                      </a:rPr>
                      <m:t>𝔼</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r>
                      <a:rPr lang="en-US" i="1">
                        <a:latin typeface="Cambria Math" panose="02040503050406030204" pitchFamily="18" charset="0"/>
                      </a:rPr>
                      <m:t>=</m:t>
                    </m:r>
                    <m:r>
                      <a:rPr lang="en-US" i="1">
                        <a:latin typeface="Cambria Math" panose="02040503050406030204" pitchFamily="18" charset="0"/>
                      </a:rPr>
                      <m:t>𝜇</m:t>
                    </m:r>
                  </m:oMath>
                </a14:m>
                <a:r>
                  <a:rPr lang="en-US"/>
                  <a:t>, and </a:t>
                </a:r>
                <a14:m>
                  <m:oMath xmlns:m="http://schemas.openxmlformats.org/officeDocument/2006/math">
                    <m:r>
                      <m:rPr>
                        <m:sty m:val="p"/>
                      </m:rPr>
                      <a:rPr lang="en-US">
                        <a:latin typeface="Cambria Math" panose="02040503050406030204" pitchFamily="18" charset="0"/>
                      </a:rPr>
                      <m:t>var</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r>
                      <a:rPr lang="en-US" i="1">
                        <a:latin typeface="Cambria Math" panose="02040503050406030204" pitchFamily="18" charset="0"/>
                      </a:rPr>
                      <m:t>&lt;∞</m:t>
                    </m:r>
                  </m:oMath>
                </a14:m>
                <a:r>
                  <a:rPr lang="en-US"/>
                  <a:t>, then for every </a:t>
                </a:r>
                <a14:m>
                  <m:oMath xmlns:m="http://schemas.openxmlformats.org/officeDocument/2006/math">
                    <m:r>
                      <a:rPr lang="en-US" i="1">
                        <a:latin typeface="Cambria Math" panose="02040503050406030204" pitchFamily="18" charset="0"/>
                      </a:rPr>
                      <m:t>𝜖</m:t>
                    </m:r>
                    <m:r>
                      <a:rPr lang="en-US" i="1">
                        <a:latin typeface="Cambria Math" panose="02040503050406030204" pitchFamily="18" charset="0"/>
                      </a:rPr>
                      <m:t>&gt;0</m:t>
                    </m:r>
                  </m:oMath>
                </a14:m>
                <a:r>
                  <a:rPr lang="en-US"/>
                  <a:t>, we have that:</a:t>
                </a:r>
              </a:p>
              <a:p>
                <a:endParaRPr lang="en-US" sz="200"/>
              </a:p>
              <a:p>
                <a:pPr/>
                <a14:m>
                  <m:oMathPara xmlns:m="http://schemas.openxmlformats.org/officeDocument/2006/math">
                    <m:oMathParaPr>
                      <m:jc m:val="centerGroup"/>
                    </m:oMathParaPr>
                    <m:oMath xmlns:m="http://schemas.openxmlformats.org/officeDocument/2006/math">
                      <m:func>
                        <m:funcPr>
                          <m:ctrlPr>
                            <a:rPr lang="en-US" i="1" smtClean="0">
                              <a:latin typeface="Cambria Math" panose="02040503050406030204" pitchFamily="18" charset="0"/>
                            </a:rPr>
                          </m:ctrlPr>
                        </m:funcPr>
                        <m:fName>
                          <m:limLow>
                            <m:limLowPr>
                              <m:ctrlPr>
                                <a:rPr lang="en-US" i="1" smtClean="0">
                                  <a:latin typeface="Cambria Math" panose="02040503050406030204" pitchFamily="18" charset="0"/>
                                </a:rPr>
                              </m:ctrlPr>
                            </m:limLowPr>
                            <m:e>
                              <m:r>
                                <m:rPr>
                                  <m:sty m:val="p"/>
                                </m:rPr>
                                <a:rPr lang="en-US" i="0" smtClean="0">
                                  <a:latin typeface="Cambria Math" panose="02040503050406030204" pitchFamily="18" charset="0"/>
                                </a:rPr>
                                <m:t>lim</m:t>
                              </m:r>
                            </m:e>
                            <m:lim>
                              <m:r>
                                <a:rPr lang="en-US" b="0" i="1" smtClean="0">
                                  <a:latin typeface="Cambria Math" panose="02040503050406030204" pitchFamily="18" charset="0"/>
                                </a:rPr>
                                <m:t>𝑛</m:t>
                              </m:r>
                              <m:r>
                                <a:rPr lang="en-US" b="0" i="1" smtClean="0">
                                  <a:latin typeface="Cambria Math" panose="02040503050406030204" pitchFamily="18" charset="0"/>
                                </a:rPr>
                                <m:t>→∞</m:t>
                              </m:r>
                            </m:lim>
                          </m:limLow>
                        </m:fName>
                        <m:e>
                          <m:r>
                            <a:rPr lang="en-US" i="1">
                              <a:latin typeface="Cambria Math" panose="02040503050406030204" pitchFamily="18" charset="0"/>
                            </a:rPr>
                            <m:t>𝑃</m:t>
                          </m:r>
                          <m:d>
                            <m:dPr>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𝑛</m:t>
                                          </m:r>
                                        </m:sub>
                                      </m:sSub>
                                    </m:num>
                                    <m:den>
                                      <m:r>
                                        <a:rPr lang="en-US" i="1">
                                          <a:latin typeface="Cambria Math" panose="02040503050406030204" pitchFamily="18" charset="0"/>
                                        </a:rPr>
                                        <m:t>𝑛</m:t>
                                      </m:r>
                                    </m:den>
                                  </m:f>
                                  <m:r>
                                    <a:rPr lang="en-US" i="1">
                                      <a:latin typeface="Cambria Math" panose="02040503050406030204" pitchFamily="18" charset="0"/>
                                    </a:rPr>
                                    <m:t>−</m:t>
                                  </m:r>
                                  <m:r>
                                    <a:rPr lang="en-US" i="1">
                                      <a:latin typeface="Cambria Math" panose="02040503050406030204" pitchFamily="18" charset="0"/>
                                    </a:rPr>
                                    <m:t>𝜇</m:t>
                                  </m:r>
                                </m:e>
                              </m:d>
                              <m:r>
                                <a:rPr lang="en-US" i="1">
                                  <a:latin typeface="Cambria Math" panose="02040503050406030204" pitchFamily="18" charset="0"/>
                                </a:rPr>
                                <m:t>≥</m:t>
                              </m:r>
                              <m:r>
                                <a:rPr lang="en-US" i="1">
                                  <a:latin typeface="Cambria Math" panose="02040503050406030204" pitchFamily="18" charset="0"/>
                                </a:rPr>
                                <m:t>𝜖</m:t>
                              </m:r>
                            </m:e>
                          </m:d>
                          <m:r>
                            <a:rPr lang="en-US" b="0" i="1" smtClean="0">
                              <a:latin typeface="Cambria Math" panose="02040503050406030204" pitchFamily="18" charset="0"/>
                            </a:rPr>
                            <m:t>=0</m:t>
                          </m:r>
                        </m:e>
                      </m:func>
                    </m:oMath>
                  </m:oMathPara>
                </a14:m>
                <a:endParaRPr lang="en-US"/>
              </a:p>
              <a:p>
                <a:endParaRPr lang="en-US" sz="200"/>
              </a:p>
              <a:p>
                <a:r>
                  <a:rPr lang="en-US"/>
                  <a:t>Proof: Let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r>
                      <a:rPr lang="en-US" b="0" i="1" smtClean="0">
                        <a:latin typeface="Cambria Math" panose="02040503050406030204" pitchFamily="18" charset="0"/>
                      </a:rPr>
                      <m:t>=</m:t>
                    </m:r>
                    <m:r>
                      <m:rPr>
                        <m:sty m:val="p"/>
                      </m:rPr>
                      <a:rPr lang="en-US" b="0" i="0" smtClean="0">
                        <a:latin typeface="Cambria Math" panose="02040503050406030204" pitchFamily="18" charset="0"/>
                      </a:rPr>
                      <m:t>var</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e>
                    </m:d>
                  </m:oMath>
                </a14:m>
                <a:r>
                  <a:rPr lang="en-US"/>
                  <a:t>. 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oMath>
                </a14:m>
                <a:r>
                  <a:rPr lang="en-US"/>
                  <a:t>. 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𝑛</m:t>
                        </m:r>
                      </m:sub>
                    </m:sSub>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en-US"/>
              </a:p>
              <a:p>
                <a:br>
                  <a:rPr lang="en-US"/>
                </a:br>
                <a:r>
                  <a:rPr lang="en-US"/>
                  <a:t>Questions:</a:t>
                </a:r>
              </a:p>
              <a:p>
                <a:pPr marL="342900" indent="-342900">
                  <a:buFont typeface="Arial" panose="020B0604020202020204" pitchFamily="34" charset="0"/>
                  <a:buChar char="•"/>
                </a:pPr>
                <a:r>
                  <a:rPr lang="en-US"/>
                  <a:t>What is </a:t>
                </a:r>
                <a14:m>
                  <m:oMath xmlns:m="http://schemas.openxmlformats.org/officeDocument/2006/math">
                    <m:r>
                      <a:rPr lang="en-US" i="1" smtClean="0">
                        <a:latin typeface="Cambria Math" panose="02040503050406030204" pitchFamily="18" charset="0"/>
                      </a:rPr>
                      <m:t>𝔼</m:t>
                    </m:r>
                    <m:d>
                      <m:dPr>
                        <m:begChr m:val="["/>
                        <m:endChr m:val="]"/>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𝑛</m:t>
                            </m:r>
                          </m:sub>
                        </m:sSub>
                      </m:e>
                    </m:d>
                  </m:oMath>
                </a14:m>
                <a:r>
                  <a:rPr lang="en-US"/>
                  <a:t>? </a:t>
                </a:r>
                <a14:m>
                  <m:oMath xmlns:m="http://schemas.openxmlformats.org/officeDocument/2006/math">
                    <m:r>
                      <a:rPr lang="en-US" i="1">
                        <a:latin typeface="Cambria Math" panose="02040503050406030204" pitchFamily="18" charset="0"/>
                      </a:rPr>
                      <m:t>𝔼</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𝑛</m:t>
                            </m:r>
                          </m:sub>
                        </m:sSub>
                      </m:e>
                    </m:d>
                    <m:r>
                      <a:rPr lang="en-US" b="0" i="1" smtClean="0">
                        <a:latin typeface="Cambria Math" panose="02040503050406030204" pitchFamily="18" charset="0"/>
                      </a:rPr>
                      <m:t>=</m:t>
                    </m:r>
                    <m:r>
                      <a:rPr lang="en-US" i="1">
                        <a:latin typeface="Cambria Math" panose="02040503050406030204" pitchFamily="18" charset="0"/>
                      </a:rPr>
                      <m:t>𝔼</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r>
                          <a:rPr lang="en-US" b="0" i="1" smtClean="0">
                            <a:latin typeface="Cambria Math" panose="02040503050406030204" pitchFamily="18" charset="0"/>
                          </a:rPr>
                          <m:t>)/</m:t>
                        </m:r>
                        <m:r>
                          <a:rPr lang="en-US" b="0" i="1" smtClean="0">
                            <a:latin typeface="Cambria Math" panose="02040503050406030204" pitchFamily="18" charset="0"/>
                          </a:rPr>
                          <m:t>𝑛</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i="1">
                            <a:latin typeface="Cambria Math" panose="02040503050406030204" pitchFamily="18" charset="0"/>
                          </a:rPr>
                          <m:t>𝔼</m:t>
                        </m:r>
                        <m:d>
                          <m:dPr>
                            <m:begChr m:val="["/>
                            <m:endChr m:val="]"/>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r>
                          <a:rPr lang="en-US" i="1">
                            <a:latin typeface="Cambria Math" panose="02040503050406030204" pitchFamily="18" charset="0"/>
                          </a:rPr>
                          <m:t>𝔼</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0" i="1" smtClean="0">
                                    <a:latin typeface="Cambria Math" panose="02040503050406030204" pitchFamily="18" charset="0"/>
                                  </a:rPr>
                                  <m:t>𝑋</m:t>
                                </m:r>
                              </m:e>
                              <m:sub>
                                <m:r>
                                  <a:rPr lang="en-US" i="1">
                                    <a:latin typeface="Cambria Math" panose="02040503050406030204" pitchFamily="18" charset="0"/>
                                  </a:rPr>
                                  <m:t>𝑛</m:t>
                                </m:r>
                              </m:sub>
                            </m:sSub>
                          </m:e>
                        </m:d>
                      </m:e>
                    </m:d>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𝜇</m:t>
                    </m:r>
                  </m:oMath>
                </a14:m>
                <a:endParaRPr lang="en-US"/>
              </a:p>
              <a:p>
                <a:pPr marL="342900" indent="-342900">
                  <a:buFont typeface="Arial" panose="020B0604020202020204" pitchFamily="34" charset="0"/>
                  <a:buChar char="•"/>
                </a:pPr>
                <a:r>
                  <a:rPr lang="en-US"/>
                  <a:t>What is </a:t>
                </a:r>
                <a14:m>
                  <m:oMath xmlns:m="http://schemas.openxmlformats.org/officeDocument/2006/math">
                    <m:r>
                      <m:rPr>
                        <m:sty m:val="p"/>
                      </m:rPr>
                      <a:rPr lang="en-US" b="0" i="0" smtClean="0">
                        <a:latin typeface="Cambria Math" panose="02040503050406030204" pitchFamily="18" charset="0"/>
                      </a:rPr>
                      <m:t>var</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𝑛</m:t>
                            </m:r>
                          </m:sub>
                        </m:sSub>
                      </m:e>
                    </m:d>
                  </m:oMath>
                </a14:m>
                <a:r>
                  <a:rPr lang="en-US"/>
                  <a:t>?</a:t>
                </a:r>
              </a:p>
            </p:txBody>
          </p:sp>
        </mc:Choice>
        <mc:Fallback>
          <p:sp>
            <p:nvSpPr>
              <p:cNvPr id="3" name="Content Placeholder 2">
                <a:extLst>
                  <a:ext uri="{FF2B5EF4-FFF2-40B4-BE49-F238E27FC236}">
                    <a16:creationId xmlns:a16="http://schemas.microsoft.com/office/drawing/2014/main" id="{8471F055-31FB-215E-811C-7C269DEAA09B}"/>
                  </a:ext>
                </a:extLst>
              </p:cNvPr>
              <p:cNvSpPr>
                <a:spLocks noGrp="1" noRot="1" noChangeAspect="1" noMove="1" noResize="1" noEditPoints="1" noAdjustHandles="1" noChangeArrowheads="1" noChangeShapeType="1" noTextEdit="1"/>
              </p:cNvSpPr>
              <p:nvPr>
                <p:ph idx="1"/>
              </p:nvPr>
            </p:nvSpPr>
            <p:spPr>
              <a:xfrm>
                <a:off x="93657" y="533400"/>
                <a:ext cx="11777380" cy="5638732"/>
              </a:xfrm>
              <a:blipFill>
                <a:blip r:embed="rId2"/>
                <a:stretch>
                  <a:fillRect l="-776" t="-54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6BA49054-163E-F0B8-14E8-7B9DE1D974C7}"/>
                  </a:ext>
                </a:extLst>
              </p:cNvPr>
              <p:cNvSpPr txBox="1"/>
              <p:nvPr/>
            </p:nvSpPr>
            <p:spPr>
              <a:xfrm>
                <a:off x="320963" y="5249956"/>
                <a:ext cx="4075546" cy="9221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latin typeface="Cambria Math" panose="02040503050406030204" pitchFamily="18" charset="0"/>
                        </a:rPr>
                        <m:t>var</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𝑌</m:t>
                              </m:r>
                            </m:e>
                            <m:sub>
                              <m:r>
                                <a:rPr lang="en-US" sz="2400" b="0" i="1" smtClean="0">
                                  <a:latin typeface="Cambria Math" panose="02040503050406030204" pitchFamily="18" charset="0"/>
                                </a:rPr>
                                <m:t>𝑛</m:t>
                              </m:r>
                            </m:sub>
                          </m:sSub>
                        </m:e>
                      </m:d>
                      <m:r>
                        <a:rPr lang="en-US" sz="2400" b="0" i="1" smtClean="0">
                          <a:latin typeface="Cambria Math" panose="02040503050406030204" pitchFamily="18" charset="0"/>
                        </a:rPr>
                        <m:t>=</m:t>
                      </m:r>
                      <m:r>
                        <m:rPr>
                          <m:sty m:val="p"/>
                        </m:rPr>
                        <a:rPr lang="en-US" sz="2400">
                          <a:latin typeface="Cambria Math" panose="02040503050406030204" pitchFamily="18" charset="0"/>
                        </a:rPr>
                        <m:t>var</m:t>
                      </m:r>
                      <m:d>
                        <m:dPr>
                          <m:ctrlPr>
                            <a:rPr lang="en-US" sz="2400" i="1">
                              <a:latin typeface="Cambria Math" panose="02040503050406030204" pitchFamily="18" charset="0"/>
                            </a:rPr>
                          </m:ctrlPr>
                        </m:dPr>
                        <m:e>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𝑛</m:t>
                                  </m:r>
                                </m:sub>
                              </m:sSub>
                            </m:num>
                            <m:den>
                              <m:r>
                                <a:rPr lang="en-US" sz="2400" b="0" i="1" smtClean="0">
                                  <a:latin typeface="Cambria Math" panose="02040503050406030204" pitchFamily="18" charset="0"/>
                                </a:rPr>
                                <m:t>𝑛</m:t>
                              </m:r>
                            </m:den>
                          </m:f>
                        </m:e>
                      </m:d>
                    </m:oMath>
                  </m:oMathPara>
                </a14:m>
                <a:endParaRPr lang="en-US" sz="2400"/>
              </a:p>
            </p:txBody>
          </p:sp>
        </mc:Choice>
        <mc:Fallback>
          <p:sp>
            <p:nvSpPr>
              <p:cNvPr id="5" name="TextBox 4">
                <a:extLst>
                  <a:ext uri="{FF2B5EF4-FFF2-40B4-BE49-F238E27FC236}">
                    <a16:creationId xmlns:a16="http://schemas.microsoft.com/office/drawing/2014/main" id="{6BA49054-163E-F0B8-14E8-7B9DE1D974C7}"/>
                  </a:ext>
                </a:extLst>
              </p:cNvPr>
              <p:cNvSpPr txBox="1">
                <a:spLocks noRot="1" noChangeAspect="1" noMove="1" noResize="1" noEditPoints="1" noAdjustHandles="1" noChangeArrowheads="1" noChangeShapeType="1" noTextEdit="1"/>
              </p:cNvSpPr>
              <p:nvPr/>
            </p:nvSpPr>
            <p:spPr>
              <a:xfrm>
                <a:off x="320963" y="5249956"/>
                <a:ext cx="4075546" cy="92217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AAFFECC0-1330-192E-C4DB-6356CA734C67}"/>
                  </a:ext>
                </a:extLst>
              </p:cNvPr>
              <p:cNvSpPr txBox="1"/>
              <p:nvPr/>
            </p:nvSpPr>
            <p:spPr>
              <a:xfrm>
                <a:off x="3719947" y="5303207"/>
                <a:ext cx="4075546" cy="81567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0" smtClean="0">
                          <a:latin typeface="Cambria Math" panose="02040503050406030204" pitchFamily="18" charset="0"/>
                        </a:rPr>
                        <m:t>=</m:t>
                      </m:r>
                      <m:f>
                        <m:fPr>
                          <m:ctrlPr>
                            <a:rPr lang="en-US" sz="2400" b="0" i="1" smtClean="0">
                              <a:latin typeface="Cambria Math" panose="02040503050406030204" pitchFamily="18" charset="0"/>
                            </a:rPr>
                          </m:ctrlPr>
                        </m:fPr>
                        <m:num>
                          <m:r>
                            <m:rPr>
                              <m:sty m:val="p"/>
                            </m:rPr>
                            <a:rPr lang="en-US" sz="2400">
                              <a:latin typeface="Cambria Math" panose="02040503050406030204" pitchFamily="18" charset="0"/>
                            </a:rPr>
                            <m:t>var</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𝑛</m:t>
                                  </m:r>
                                </m:sub>
                              </m:sSub>
                            </m:e>
                          </m:d>
                          <m:r>
                            <m:rPr>
                              <m:nor/>
                            </m:rPr>
                            <a:rPr lang="en-US" sz="2400" dirty="0"/>
                            <m:t> </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e>
                            <m:sup>
                              <m:r>
                                <a:rPr lang="en-US" sz="2400" b="0" i="0" smtClean="0">
                                  <a:latin typeface="Cambria Math" panose="02040503050406030204" pitchFamily="18" charset="0"/>
                                </a:rPr>
                                <m:t>2</m:t>
                              </m:r>
                            </m:sup>
                          </m:sSup>
                        </m:den>
                      </m:f>
                    </m:oMath>
                  </m:oMathPara>
                </a14:m>
                <a:endParaRPr lang="en-US" sz="2400"/>
              </a:p>
            </p:txBody>
          </p:sp>
        </mc:Choice>
        <mc:Fallback>
          <p:sp>
            <p:nvSpPr>
              <p:cNvPr id="6" name="TextBox 5">
                <a:extLst>
                  <a:ext uri="{FF2B5EF4-FFF2-40B4-BE49-F238E27FC236}">
                    <a16:creationId xmlns:a16="http://schemas.microsoft.com/office/drawing/2014/main" id="{AAFFECC0-1330-192E-C4DB-6356CA734C67}"/>
                  </a:ext>
                </a:extLst>
              </p:cNvPr>
              <p:cNvSpPr txBox="1">
                <a:spLocks noRot="1" noChangeAspect="1" noMove="1" noResize="1" noEditPoints="1" noAdjustHandles="1" noChangeArrowheads="1" noChangeShapeType="1" noTextEdit="1"/>
              </p:cNvSpPr>
              <p:nvPr/>
            </p:nvSpPr>
            <p:spPr>
              <a:xfrm>
                <a:off x="3719947" y="5303207"/>
                <a:ext cx="4075546" cy="81567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1262CD7C-732F-F148-9335-F4F9E79AB1B4}"/>
                  </a:ext>
                </a:extLst>
              </p:cNvPr>
              <p:cNvSpPr txBox="1"/>
              <p:nvPr/>
            </p:nvSpPr>
            <p:spPr>
              <a:xfrm>
                <a:off x="5951682" y="5303207"/>
                <a:ext cx="4075546" cy="8066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0"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r>
                            <a:rPr lang="en-US" sz="2400" b="0" i="1" smtClean="0">
                              <a:latin typeface="Cambria Math" panose="02040503050406030204" pitchFamily="18" charset="0"/>
                            </a:rPr>
                            <m:t> </m:t>
                          </m:r>
                          <m:r>
                            <m:rPr>
                              <m:sty m:val="p"/>
                            </m:rPr>
                            <a:rPr lang="en-US" sz="2400" b="0" i="0" smtClean="0">
                              <a:latin typeface="Cambria Math" panose="02040503050406030204" pitchFamily="18" charset="0"/>
                            </a:rPr>
                            <m:t>var</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𝑖</m:t>
                                  </m:r>
                                </m:sub>
                              </m:sSub>
                            </m:e>
                          </m:d>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e>
                            <m:sup>
                              <m:r>
                                <a:rPr lang="en-US" sz="2400" b="0" i="0" smtClean="0">
                                  <a:latin typeface="Cambria Math" panose="02040503050406030204" pitchFamily="18" charset="0"/>
                                </a:rPr>
                                <m:t>2</m:t>
                              </m:r>
                            </m:sup>
                          </m:sSup>
                        </m:den>
                      </m:f>
                    </m:oMath>
                  </m:oMathPara>
                </a14:m>
                <a:endParaRPr lang="en-US" sz="2400"/>
              </a:p>
            </p:txBody>
          </p:sp>
        </mc:Choice>
        <mc:Fallback>
          <p:sp>
            <p:nvSpPr>
              <p:cNvPr id="7" name="TextBox 6">
                <a:extLst>
                  <a:ext uri="{FF2B5EF4-FFF2-40B4-BE49-F238E27FC236}">
                    <a16:creationId xmlns:a16="http://schemas.microsoft.com/office/drawing/2014/main" id="{1262CD7C-732F-F148-9335-F4F9E79AB1B4}"/>
                  </a:ext>
                </a:extLst>
              </p:cNvPr>
              <p:cNvSpPr txBox="1">
                <a:spLocks noRot="1" noChangeAspect="1" noMove="1" noResize="1" noEditPoints="1" noAdjustHandles="1" noChangeArrowheads="1" noChangeShapeType="1" noTextEdit="1"/>
              </p:cNvSpPr>
              <p:nvPr/>
            </p:nvSpPr>
            <p:spPr>
              <a:xfrm>
                <a:off x="5951682" y="5303207"/>
                <a:ext cx="4075546" cy="80669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8CADBDA0-F2C2-92C9-A52C-CB66F0EC0C71}"/>
                  </a:ext>
                </a:extLst>
              </p:cNvPr>
              <p:cNvSpPr txBox="1"/>
              <p:nvPr/>
            </p:nvSpPr>
            <p:spPr>
              <a:xfrm>
                <a:off x="7118931" y="5267796"/>
                <a:ext cx="4075546" cy="8334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0" smtClean="0">
                          <a:latin typeface="Cambria Math" panose="02040503050406030204" pitchFamily="18" charset="0"/>
                        </a:rPr>
                        <m:t>=</m:t>
                      </m:r>
                      <m:f>
                        <m:fPr>
                          <m:ctrlPr>
                            <a:rPr lang="en-US" sz="2400" b="0" i="1" smtClean="0">
                              <a:latin typeface="Cambria Math" panose="02040503050406030204" pitchFamily="18" charset="0"/>
                            </a:rPr>
                          </m:ctrlPr>
                        </m:fPr>
                        <m:num>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𝜎</m:t>
                              </m:r>
                            </m:e>
                            <m:sup>
                              <m:r>
                                <a:rPr lang="en-US" sz="2400" b="0" i="1" smtClean="0">
                                  <a:latin typeface="Cambria Math" panose="02040503050406030204" pitchFamily="18" charset="0"/>
                                </a:rPr>
                                <m:t>2</m:t>
                              </m:r>
                            </m:sup>
                          </m:sSup>
                        </m:num>
                        <m:den>
                          <m:r>
                            <a:rPr lang="en-US" sz="2400" b="0" i="1" smtClean="0">
                              <a:latin typeface="Cambria Math" panose="02040503050406030204" pitchFamily="18" charset="0"/>
                            </a:rPr>
                            <m:t>𝑛</m:t>
                          </m:r>
                        </m:den>
                      </m:f>
                    </m:oMath>
                  </m:oMathPara>
                </a14:m>
                <a:endParaRPr lang="en-US" sz="2400"/>
              </a:p>
            </p:txBody>
          </p:sp>
        </mc:Choice>
        <mc:Fallback>
          <p:sp>
            <p:nvSpPr>
              <p:cNvPr id="8" name="TextBox 7">
                <a:extLst>
                  <a:ext uri="{FF2B5EF4-FFF2-40B4-BE49-F238E27FC236}">
                    <a16:creationId xmlns:a16="http://schemas.microsoft.com/office/drawing/2014/main" id="{8CADBDA0-F2C2-92C9-A52C-CB66F0EC0C71}"/>
                  </a:ext>
                </a:extLst>
              </p:cNvPr>
              <p:cNvSpPr txBox="1">
                <a:spLocks noRot="1" noChangeAspect="1" noMove="1" noResize="1" noEditPoints="1" noAdjustHandles="1" noChangeArrowheads="1" noChangeShapeType="1" noTextEdit="1"/>
              </p:cNvSpPr>
              <p:nvPr/>
            </p:nvSpPr>
            <p:spPr>
              <a:xfrm>
                <a:off x="7118931" y="5267796"/>
                <a:ext cx="4075546" cy="833498"/>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84751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25E47-E0EE-B5DE-1534-F4D26F7BE3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387EAC-13A0-5325-BDB2-EFBC048B750A}"/>
              </a:ext>
            </a:extLst>
          </p:cNvPr>
          <p:cNvSpPr>
            <a:spLocks noGrp="1"/>
          </p:cNvSpPr>
          <p:nvPr>
            <p:ph type="title"/>
          </p:nvPr>
        </p:nvSpPr>
        <p:spPr/>
        <p:txBody>
          <a:bodyPr/>
          <a:lstStyle/>
          <a:p>
            <a:r>
              <a:rPr lang="en-US"/>
              <a:t>Weak Law of Large Numbers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298D259-37BA-9FBE-C86E-560A85FD46BF}"/>
                  </a:ext>
                </a:extLst>
              </p:cNvPr>
              <p:cNvSpPr>
                <a:spLocks noGrp="1"/>
              </p:cNvSpPr>
              <p:nvPr>
                <p:ph idx="1"/>
              </p:nvPr>
            </p:nvSpPr>
            <p:spPr>
              <a:xfrm>
                <a:off x="93657" y="533400"/>
                <a:ext cx="11682707" cy="5638732"/>
              </a:xfrm>
            </p:spPr>
            <p:txBody>
              <a:bodyPr/>
              <a:lstStyle/>
              <a:p>
                <a:r>
                  <a:rPr lang="en-US"/>
                  <a:t>If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3</m:t>
                        </m:r>
                      </m:sub>
                    </m:sSub>
                    <m:r>
                      <a:rPr lang="en-US" i="1">
                        <a:latin typeface="Cambria Math" panose="02040503050406030204" pitchFamily="18" charset="0"/>
                      </a:rPr>
                      <m:t>,…</m:t>
                    </m:r>
                  </m:oMath>
                </a14:m>
                <a:r>
                  <a:rPr lang="en-US"/>
                  <a:t> are independent and identically distributed (</a:t>
                </a:r>
                <a:r>
                  <a:rPr lang="en-US" err="1"/>
                  <a:t>i.i.d.</a:t>
                </a:r>
                <a:r>
                  <a:rPr lang="en-US"/>
                  <a:t>) random variables with </a:t>
                </a:r>
                <a14:m>
                  <m:oMath xmlns:m="http://schemas.openxmlformats.org/officeDocument/2006/math">
                    <m:r>
                      <a:rPr lang="en-US" i="1">
                        <a:latin typeface="Cambria Math" panose="02040503050406030204" pitchFamily="18" charset="0"/>
                      </a:rPr>
                      <m:t>𝔼</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r>
                      <a:rPr lang="en-US" i="1">
                        <a:latin typeface="Cambria Math" panose="02040503050406030204" pitchFamily="18" charset="0"/>
                      </a:rPr>
                      <m:t>=</m:t>
                    </m:r>
                    <m:r>
                      <a:rPr lang="en-US" i="1">
                        <a:latin typeface="Cambria Math" panose="02040503050406030204" pitchFamily="18" charset="0"/>
                      </a:rPr>
                      <m:t>𝜇</m:t>
                    </m:r>
                  </m:oMath>
                </a14:m>
                <a:r>
                  <a:rPr lang="en-US"/>
                  <a:t>, and </a:t>
                </a:r>
                <a14:m>
                  <m:oMath xmlns:m="http://schemas.openxmlformats.org/officeDocument/2006/math">
                    <m:r>
                      <m:rPr>
                        <m:sty m:val="p"/>
                      </m:rPr>
                      <a:rPr lang="en-US">
                        <a:latin typeface="Cambria Math" panose="02040503050406030204" pitchFamily="18" charset="0"/>
                      </a:rPr>
                      <m:t>var</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r>
                      <a:rPr lang="en-US" i="1">
                        <a:latin typeface="Cambria Math" panose="02040503050406030204" pitchFamily="18" charset="0"/>
                      </a:rPr>
                      <m:t>&lt;∞</m:t>
                    </m:r>
                  </m:oMath>
                </a14:m>
                <a:r>
                  <a:rPr lang="en-US"/>
                  <a:t>, then for every </a:t>
                </a:r>
                <a14:m>
                  <m:oMath xmlns:m="http://schemas.openxmlformats.org/officeDocument/2006/math">
                    <m:r>
                      <a:rPr lang="en-US" i="1">
                        <a:latin typeface="Cambria Math" panose="02040503050406030204" pitchFamily="18" charset="0"/>
                      </a:rPr>
                      <m:t>𝜖</m:t>
                    </m:r>
                    <m:r>
                      <a:rPr lang="en-US" i="1">
                        <a:latin typeface="Cambria Math" panose="02040503050406030204" pitchFamily="18" charset="0"/>
                      </a:rPr>
                      <m:t>&gt;0</m:t>
                    </m:r>
                  </m:oMath>
                </a14:m>
                <a:r>
                  <a:rPr lang="en-US"/>
                  <a:t>, we have that:</a:t>
                </a:r>
                <a:endParaRPr lang="en-US" sz="200"/>
              </a:p>
              <a:p>
                <a:pPr/>
                <a14:m>
                  <m:oMathPara xmlns:m="http://schemas.openxmlformats.org/officeDocument/2006/math">
                    <m:oMathParaPr>
                      <m:jc m:val="centerGroup"/>
                    </m:oMathParaPr>
                    <m:oMath xmlns:m="http://schemas.openxmlformats.org/officeDocument/2006/math">
                      <m:func>
                        <m:funcPr>
                          <m:ctrlPr>
                            <a:rPr lang="en-US" i="1" smtClean="0">
                              <a:latin typeface="Cambria Math" panose="02040503050406030204" pitchFamily="18" charset="0"/>
                            </a:rPr>
                          </m:ctrlPr>
                        </m:funcPr>
                        <m:fName>
                          <m:limLow>
                            <m:limLowPr>
                              <m:ctrlPr>
                                <a:rPr lang="en-US" i="1" smtClean="0">
                                  <a:latin typeface="Cambria Math" panose="02040503050406030204" pitchFamily="18" charset="0"/>
                                </a:rPr>
                              </m:ctrlPr>
                            </m:limLowPr>
                            <m:e>
                              <m:r>
                                <m:rPr>
                                  <m:sty m:val="p"/>
                                </m:rPr>
                                <a:rPr lang="en-US" i="0" smtClean="0">
                                  <a:latin typeface="Cambria Math" panose="02040503050406030204" pitchFamily="18" charset="0"/>
                                </a:rPr>
                                <m:t>lim</m:t>
                              </m:r>
                            </m:e>
                            <m:lim>
                              <m:r>
                                <a:rPr lang="en-US" b="0" i="1" smtClean="0">
                                  <a:latin typeface="Cambria Math" panose="02040503050406030204" pitchFamily="18" charset="0"/>
                                </a:rPr>
                                <m:t>𝑛</m:t>
                              </m:r>
                              <m:r>
                                <a:rPr lang="en-US" b="0" i="1" smtClean="0">
                                  <a:latin typeface="Cambria Math" panose="02040503050406030204" pitchFamily="18" charset="0"/>
                                </a:rPr>
                                <m:t>→∞</m:t>
                              </m:r>
                            </m:lim>
                          </m:limLow>
                        </m:fName>
                        <m:e>
                          <m:r>
                            <a:rPr lang="en-US" i="1">
                              <a:latin typeface="Cambria Math" panose="02040503050406030204" pitchFamily="18" charset="0"/>
                            </a:rPr>
                            <m:t>𝑃</m:t>
                          </m:r>
                          <m:d>
                            <m:dPr>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𝑛</m:t>
                                          </m:r>
                                        </m:sub>
                                      </m:sSub>
                                    </m:num>
                                    <m:den>
                                      <m:r>
                                        <a:rPr lang="en-US" i="1">
                                          <a:latin typeface="Cambria Math" panose="02040503050406030204" pitchFamily="18" charset="0"/>
                                        </a:rPr>
                                        <m:t>𝑛</m:t>
                                      </m:r>
                                    </m:den>
                                  </m:f>
                                  <m:r>
                                    <a:rPr lang="en-US" i="1">
                                      <a:latin typeface="Cambria Math" panose="02040503050406030204" pitchFamily="18" charset="0"/>
                                    </a:rPr>
                                    <m:t>−</m:t>
                                  </m:r>
                                  <m:r>
                                    <a:rPr lang="en-US" i="1">
                                      <a:latin typeface="Cambria Math" panose="02040503050406030204" pitchFamily="18" charset="0"/>
                                    </a:rPr>
                                    <m:t>𝜇</m:t>
                                  </m:r>
                                </m:e>
                              </m:d>
                              <m:r>
                                <a:rPr lang="en-US" i="1">
                                  <a:latin typeface="Cambria Math" panose="02040503050406030204" pitchFamily="18" charset="0"/>
                                </a:rPr>
                                <m:t>≥</m:t>
                              </m:r>
                              <m:r>
                                <a:rPr lang="en-US" i="1">
                                  <a:latin typeface="Cambria Math" panose="02040503050406030204" pitchFamily="18" charset="0"/>
                                </a:rPr>
                                <m:t>𝜖</m:t>
                              </m:r>
                            </m:e>
                          </m:d>
                          <m:r>
                            <a:rPr lang="en-US" b="0" i="1" smtClean="0">
                              <a:latin typeface="Cambria Math" panose="02040503050406030204" pitchFamily="18" charset="0"/>
                            </a:rPr>
                            <m:t>=0</m:t>
                          </m:r>
                        </m:e>
                      </m:func>
                    </m:oMath>
                  </m:oMathPara>
                </a14:m>
                <a:endParaRPr lang="en-US"/>
              </a:p>
              <a:p>
                <a:endParaRPr lang="en-US" sz="200"/>
              </a:p>
              <a:p>
                <a:r>
                  <a:rPr lang="en-US"/>
                  <a:t>Proof: Let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r>
                      <a:rPr lang="en-US" b="0" i="1" smtClean="0">
                        <a:latin typeface="Cambria Math" panose="02040503050406030204" pitchFamily="18" charset="0"/>
                      </a:rPr>
                      <m:t>=</m:t>
                    </m:r>
                    <m:r>
                      <m:rPr>
                        <m:sty m:val="p"/>
                      </m:rPr>
                      <a:rPr lang="en-US" b="0" i="0" smtClean="0">
                        <a:latin typeface="Cambria Math" panose="02040503050406030204" pitchFamily="18" charset="0"/>
                      </a:rPr>
                      <m:t>var</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e>
                    </m:d>
                  </m:oMath>
                </a14:m>
                <a:r>
                  <a:rPr lang="en-US"/>
                  <a:t>. 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oMath>
                </a14:m>
                <a:r>
                  <a:rPr lang="en-US"/>
                  <a:t>. 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𝑛</m:t>
                        </m:r>
                      </m:sub>
                    </m:sSub>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en-US"/>
              </a:p>
              <a:p>
                <a:pPr marL="342900" indent="-342900">
                  <a:buFont typeface="Arial" panose="020B0604020202020204" pitchFamily="34" charset="0"/>
                  <a:buChar char="•"/>
                </a:pPr>
                <a14:m>
                  <m:oMath xmlns:m="http://schemas.openxmlformats.org/officeDocument/2006/math">
                    <m:r>
                      <a:rPr lang="en-US" i="1" smtClean="0">
                        <a:latin typeface="Cambria Math" panose="02040503050406030204" pitchFamily="18" charset="0"/>
                      </a:rPr>
                      <m:t>𝔼</m:t>
                    </m:r>
                    <m:d>
                      <m:dPr>
                        <m:begChr m:val="["/>
                        <m:endChr m:val="]"/>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𝑛</m:t>
                            </m:r>
                          </m:sub>
                        </m:sSub>
                      </m:e>
                    </m:d>
                    <m:r>
                      <a:rPr lang="en-US" b="0" i="1" smtClean="0">
                        <a:latin typeface="Cambria Math" panose="02040503050406030204" pitchFamily="18" charset="0"/>
                      </a:rPr>
                      <m:t>=</m:t>
                    </m:r>
                    <m:r>
                      <a:rPr lang="en-US" b="0" i="1" smtClean="0">
                        <a:latin typeface="Cambria Math" panose="02040503050406030204" pitchFamily="18" charset="0"/>
                      </a:rPr>
                      <m:t>𝜇</m:t>
                    </m:r>
                  </m:oMath>
                </a14:m>
                <a:endParaRPr lang="en-US"/>
              </a:p>
              <a:p>
                <a:pPr marL="342900" indent="-342900">
                  <a:buFont typeface="Arial" panose="020B0604020202020204" pitchFamily="34" charset="0"/>
                  <a:buChar char="•"/>
                </a:pPr>
                <a14:m>
                  <m:oMath xmlns:m="http://schemas.openxmlformats.org/officeDocument/2006/math">
                    <m:r>
                      <m:rPr>
                        <m:sty m:val="p"/>
                      </m:rPr>
                      <a:rPr lang="en-US" b="0" i="0" smtClean="0">
                        <a:latin typeface="Cambria Math" panose="02040503050406030204" pitchFamily="18" charset="0"/>
                      </a:rPr>
                      <m:t>var</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𝑛</m:t>
                            </m:r>
                          </m:sub>
                        </m:sSub>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en-US"/>
              </a:p>
              <a:p>
                <a:endParaRPr lang="en-US"/>
              </a:p>
              <a:p>
                <a:r>
                  <a:rPr lang="en-US"/>
                  <a:t>Chebyshev’s inequality tells us: </a:t>
                </a:r>
              </a:p>
            </p:txBody>
          </p:sp>
        </mc:Choice>
        <mc:Fallback>
          <p:sp>
            <p:nvSpPr>
              <p:cNvPr id="3" name="Content Placeholder 2">
                <a:extLst>
                  <a:ext uri="{FF2B5EF4-FFF2-40B4-BE49-F238E27FC236}">
                    <a16:creationId xmlns:a16="http://schemas.microsoft.com/office/drawing/2014/main" id="{F298D259-37BA-9FBE-C86E-560A85FD46BF}"/>
                  </a:ext>
                </a:extLst>
              </p:cNvPr>
              <p:cNvSpPr>
                <a:spLocks noGrp="1" noRot="1" noChangeAspect="1" noMove="1" noResize="1" noEditPoints="1" noAdjustHandles="1" noChangeArrowheads="1" noChangeShapeType="1" noTextEdit="1"/>
              </p:cNvSpPr>
              <p:nvPr>
                <p:ph idx="1"/>
              </p:nvPr>
            </p:nvSpPr>
            <p:spPr>
              <a:xfrm>
                <a:off x="93657" y="533400"/>
                <a:ext cx="11682707" cy="5638732"/>
              </a:xfrm>
              <a:blipFill>
                <a:blip r:embed="rId2"/>
                <a:stretch>
                  <a:fillRect l="-782" t="-54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719DE4E3-CC81-F796-EC60-AE94FAAE96DB}"/>
                  </a:ext>
                </a:extLst>
              </p:cNvPr>
              <p:cNvSpPr txBox="1"/>
              <p:nvPr/>
            </p:nvSpPr>
            <p:spPr>
              <a:xfrm>
                <a:off x="1237673" y="5227781"/>
                <a:ext cx="3736536" cy="8091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d>
                            <m:dPr>
                              <m:begChr m:val="|"/>
                              <m:endChr m:val="|"/>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𝑌</m:t>
                                  </m:r>
                                </m:e>
                                <m:sub>
                                  <m:r>
                                    <a:rPr lang="en-US" sz="2400" b="0" i="1" smtClean="0">
                                      <a:latin typeface="Cambria Math" panose="02040503050406030204" pitchFamily="18" charset="0"/>
                                    </a:rPr>
                                    <m:t>𝑛</m:t>
                                  </m:r>
                                </m:sub>
                              </m:sSub>
                              <m:r>
                                <a:rPr lang="en-US" sz="2400" b="0" i="1" smtClean="0">
                                  <a:latin typeface="Cambria Math" panose="02040503050406030204" pitchFamily="18" charset="0"/>
                                </a:rPr>
                                <m:t>−</m:t>
                              </m:r>
                              <m:r>
                                <a:rPr lang="en-US" sz="2400" b="0" i="1" smtClean="0">
                                  <a:latin typeface="Cambria Math" panose="02040503050406030204" pitchFamily="18" charset="0"/>
                                </a:rPr>
                                <m:t>𝜇</m:t>
                              </m:r>
                            </m:e>
                          </m:d>
                          <m:r>
                            <a:rPr lang="en-US" sz="2400" b="0" i="1" smtClean="0">
                              <a:latin typeface="Cambria Math" panose="02040503050406030204" pitchFamily="18" charset="0"/>
                            </a:rPr>
                            <m:t>≥</m:t>
                          </m:r>
                          <m:r>
                            <a:rPr lang="en-US" sz="2400" b="0" i="1" smtClean="0">
                              <a:latin typeface="Cambria Math" panose="02040503050406030204" pitchFamily="18" charset="0"/>
                            </a:rPr>
                            <m:t>𝜖</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m:rPr>
                              <m:sty m:val="p"/>
                            </m:rPr>
                            <a:rPr lang="en-US" sz="2400" b="0" i="0" smtClean="0">
                              <a:latin typeface="Cambria Math" panose="02040503050406030204" pitchFamily="18" charset="0"/>
                            </a:rPr>
                            <m:t>var</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𝑌</m:t>
                                  </m:r>
                                </m:e>
                                <m:sub>
                                  <m:r>
                                    <a:rPr lang="en-US" sz="2400" b="0" i="1" smtClean="0">
                                      <a:latin typeface="Cambria Math" panose="02040503050406030204" pitchFamily="18" charset="0"/>
                                    </a:rPr>
                                    <m:t>𝑛</m:t>
                                  </m:r>
                                </m:sub>
                              </m:sSub>
                            </m:e>
                          </m:d>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𝜖</m:t>
                              </m:r>
                            </m:e>
                            <m:sup>
                              <m:r>
                                <a:rPr lang="en-US" sz="2400" b="0" i="1" smtClean="0">
                                  <a:latin typeface="Cambria Math" panose="02040503050406030204" pitchFamily="18" charset="0"/>
                                </a:rPr>
                                <m:t>2</m:t>
                              </m:r>
                            </m:sup>
                          </m:sSup>
                        </m:den>
                      </m:f>
                    </m:oMath>
                  </m:oMathPara>
                </a14:m>
                <a:endParaRPr lang="en-US" sz="2400"/>
              </a:p>
            </p:txBody>
          </p:sp>
        </mc:Choice>
        <mc:Fallback>
          <p:sp>
            <p:nvSpPr>
              <p:cNvPr id="4" name="TextBox 3">
                <a:extLst>
                  <a:ext uri="{FF2B5EF4-FFF2-40B4-BE49-F238E27FC236}">
                    <a16:creationId xmlns:a16="http://schemas.microsoft.com/office/drawing/2014/main" id="{719DE4E3-CC81-F796-EC60-AE94FAAE96DB}"/>
                  </a:ext>
                </a:extLst>
              </p:cNvPr>
              <p:cNvSpPr txBox="1">
                <a:spLocks noRot="1" noChangeAspect="1" noMove="1" noResize="1" noEditPoints="1" noAdjustHandles="1" noChangeArrowheads="1" noChangeShapeType="1" noTextEdit="1"/>
              </p:cNvSpPr>
              <p:nvPr/>
            </p:nvSpPr>
            <p:spPr>
              <a:xfrm>
                <a:off x="1237673" y="5227781"/>
                <a:ext cx="3736536" cy="8091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FCA2B02B-8D19-0649-8867-418B964E66B7}"/>
                  </a:ext>
                </a:extLst>
              </p:cNvPr>
              <p:cNvSpPr txBox="1"/>
              <p:nvPr/>
            </p:nvSpPr>
            <p:spPr>
              <a:xfrm>
                <a:off x="4477328" y="5203415"/>
                <a:ext cx="1812636" cy="8334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𝜎</m:t>
                              </m:r>
                            </m:e>
                            <m:sup>
                              <m:r>
                                <a:rPr lang="en-US" sz="2400" b="0" i="1" smtClean="0">
                                  <a:latin typeface="Cambria Math" panose="02040503050406030204" pitchFamily="18" charset="0"/>
                                </a:rPr>
                                <m:t>2</m:t>
                              </m:r>
                            </m:sup>
                          </m:sSup>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r>
                                <a:rPr lang="en-US" sz="2400" b="0" i="1" smtClean="0">
                                  <a:latin typeface="Cambria Math" panose="02040503050406030204" pitchFamily="18" charset="0"/>
                                </a:rPr>
                                <m:t>𝜖</m:t>
                              </m:r>
                            </m:e>
                            <m:sup>
                              <m:r>
                                <a:rPr lang="en-US" sz="2400" b="0" i="1" smtClean="0">
                                  <a:latin typeface="Cambria Math" panose="02040503050406030204" pitchFamily="18" charset="0"/>
                                </a:rPr>
                                <m:t>2</m:t>
                              </m:r>
                            </m:sup>
                          </m:sSup>
                        </m:den>
                      </m:f>
                    </m:oMath>
                  </m:oMathPara>
                </a14:m>
                <a:endParaRPr lang="en-US" sz="2400"/>
              </a:p>
            </p:txBody>
          </p:sp>
        </mc:Choice>
        <mc:Fallback>
          <p:sp>
            <p:nvSpPr>
              <p:cNvPr id="10" name="TextBox 9">
                <a:extLst>
                  <a:ext uri="{FF2B5EF4-FFF2-40B4-BE49-F238E27FC236}">
                    <a16:creationId xmlns:a16="http://schemas.microsoft.com/office/drawing/2014/main" id="{FCA2B02B-8D19-0649-8867-418B964E66B7}"/>
                  </a:ext>
                </a:extLst>
              </p:cNvPr>
              <p:cNvSpPr txBox="1">
                <a:spLocks noRot="1" noChangeAspect="1" noMove="1" noResize="1" noEditPoints="1" noAdjustHandles="1" noChangeArrowheads="1" noChangeShapeType="1" noTextEdit="1"/>
              </p:cNvSpPr>
              <p:nvPr/>
            </p:nvSpPr>
            <p:spPr>
              <a:xfrm>
                <a:off x="4477328" y="5203415"/>
                <a:ext cx="1812636" cy="83349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A47C5726-8F52-A718-E2C2-3416F63AA5F8}"/>
                  </a:ext>
                </a:extLst>
              </p:cNvPr>
              <p:cNvSpPr txBox="1"/>
              <p:nvPr/>
            </p:nvSpPr>
            <p:spPr>
              <a:xfrm>
                <a:off x="7656945" y="5151584"/>
                <a:ext cx="2207063" cy="8334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US" sz="2400" i="1">
                              <a:latin typeface="Cambria Math" panose="02040503050406030204" pitchFamily="18" charset="0"/>
                            </a:rPr>
                          </m:ctrlPr>
                        </m:funcPr>
                        <m:fName>
                          <m:limLow>
                            <m:limLowPr>
                              <m:ctrlPr>
                                <a:rPr lang="en-US" sz="2400" i="1">
                                  <a:latin typeface="Cambria Math" panose="02040503050406030204" pitchFamily="18" charset="0"/>
                                </a:rPr>
                              </m:ctrlPr>
                            </m:limLowPr>
                            <m:e>
                              <m:r>
                                <m:rPr>
                                  <m:sty m:val="p"/>
                                </m:rPr>
                                <a:rPr lang="en-US" sz="2400">
                                  <a:latin typeface="Cambria Math" panose="02040503050406030204" pitchFamily="18" charset="0"/>
                                </a:rPr>
                                <m:t>lim</m:t>
                              </m:r>
                            </m:e>
                            <m:lim>
                              <m:r>
                                <a:rPr lang="en-US" sz="2400" i="1">
                                  <a:latin typeface="Cambria Math" panose="02040503050406030204" pitchFamily="18" charset="0"/>
                                </a:rPr>
                                <m:t>𝑛</m:t>
                              </m:r>
                              <m:r>
                                <a:rPr lang="en-US" sz="2400" i="1">
                                  <a:latin typeface="Cambria Math" panose="02040503050406030204" pitchFamily="18" charset="0"/>
                                </a:rPr>
                                <m:t>→∞</m:t>
                              </m:r>
                            </m:lim>
                          </m:limLow>
                        </m:fName>
                        <m:e>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i="1">
                                      <a:latin typeface="Cambria Math" panose="02040503050406030204" pitchFamily="18" charset="0"/>
                                    </a:rPr>
                                    <m:t>𝜎</m:t>
                                  </m:r>
                                </m:e>
                                <m:sup>
                                  <m:r>
                                    <a:rPr lang="en-US" sz="2400" i="1">
                                      <a:latin typeface="Cambria Math" panose="02040503050406030204" pitchFamily="18" charset="0"/>
                                    </a:rPr>
                                    <m:t>2</m:t>
                                  </m:r>
                                </m:sup>
                              </m:sSup>
                            </m:num>
                            <m:den>
                              <m:sSup>
                                <m:sSupPr>
                                  <m:ctrlPr>
                                    <a:rPr lang="en-US" sz="2400" i="1">
                                      <a:latin typeface="Cambria Math" panose="02040503050406030204" pitchFamily="18" charset="0"/>
                                    </a:rPr>
                                  </m:ctrlPr>
                                </m:sSupPr>
                                <m:e>
                                  <m:r>
                                    <a:rPr lang="en-US" sz="2400" i="1">
                                      <a:latin typeface="Cambria Math" panose="02040503050406030204" pitchFamily="18" charset="0"/>
                                    </a:rPr>
                                    <m:t>𝑛</m:t>
                                  </m:r>
                                  <m:r>
                                    <a:rPr lang="en-US" sz="2400" i="1">
                                      <a:latin typeface="Cambria Math" panose="02040503050406030204" pitchFamily="18" charset="0"/>
                                    </a:rPr>
                                    <m:t>𝜖</m:t>
                                  </m:r>
                                </m:e>
                                <m:sup>
                                  <m:r>
                                    <a:rPr lang="en-US" sz="2400" i="1">
                                      <a:latin typeface="Cambria Math" panose="02040503050406030204" pitchFamily="18" charset="0"/>
                                    </a:rPr>
                                    <m:t>2</m:t>
                                  </m:r>
                                </m:sup>
                              </m:sSup>
                            </m:den>
                          </m:f>
                          <m:r>
                            <a:rPr lang="en-US" sz="2400" i="1">
                              <a:latin typeface="Cambria Math" panose="02040503050406030204" pitchFamily="18" charset="0"/>
                            </a:rPr>
                            <m:t>=0</m:t>
                          </m:r>
                        </m:e>
                      </m:func>
                    </m:oMath>
                  </m:oMathPara>
                </a14:m>
                <a:endParaRPr lang="en-US" sz="2400"/>
              </a:p>
            </p:txBody>
          </p:sp>
        </mc:Choice>
        <mc:Fallback>
          <p:sp>
            <p:nvSpPr>
              <p:cNvPr id="11" name="TextBox 10">
                <a:extLst>
                  <a:ext uri="{FF2B5EF4-FFF2-40B4-BE49-F238E27FC236}">
                    <a16:creationId xmlns:a16="http://schemas.microsoft.com/office/drawing/2014/main" id="{A47C5726-8F52-A718-E2C2-3416F63AA5F8}"/>
                  </a:ext>
                </a:extLst>
              </p:cNvPr>
              <p:cNvSpPr txBox="1">
                <a:spLocks noRot="1" noChangeAspect="1" noMove="1" noResize="1" noEditPoints="1" noAdjustHandles="1" noChangeArrowheads="1" noChangeShapeType="1" noTextEdit="1"/>
              </p:cNvSpPr>
              <p:nvPr/>
            </p:nvSpPr>
            <p:spPr>
              <a:xfrm>
                <a:off x="7656945" y="5151584"/>
                <a:ext cx="2207063" cy="833498"/>
              </a:xfrm>
              <a:prstGeom prst="rect">
                <a:avLst/>
              </a:prstGeom>
              <a:blipFill>
                <a:blip r:embed="rId5"/>
                <a:stretch>
                  <a:fillRect/>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5C20A629-9E33-FFDA-84B0-B7E048D24059}"/>
              </a:ext>
            </a:extLst>
          </p:cNvPr>
          <p:cNvSpPr txBox="1"/>
          <p:nvPr/>
        </p:nvSpPr>
        <p:spPr>
          <a:xfrm>
            <a:off x="6788728" y="5386110"/>
            <a:ext cx="1237672" cy="461665"/>
          </a:xfrm>
          <a:prstGeom prst="rect">
            <a:avLst/>
          </a:prstGeom>
          <a:noFill/>
        </p:spPr>
        <p:txBody>
          <a:bodyPr wrap="square" rtlCol="0">
            <a:spAutoFit/>
          </a:bodyPr>
          <a:lstStyle/>
          <a:p>
            <a:r>
              <a:rPr lang="en-US" sz="2400">
                <a:latin typeface="Inter Light" panose="02000403000000020004" pitchFamily="2" charset="0"/>
                <a:ea typeface="Inter Light" panose="02000403000000020004" pitchFamily="2" charset="0"/>
                <a:cs typeface="Inter Light" panose="02000403000000020004" pitchFamily="2" charset="0"/>
              </a:rPr>
              <a:t>So:</a:t>
            </a:r>
          </a:p>
        </p:txBody>
      </p:sp>
    </p:spTree>
    <p:extLst>
      <p:ext uri="{BB962C8B-B14F-4D97-AF65-F5344CB8AC3E}">
        <p14:creationId xmlns:p14="http://schemas.microsoft.com/office/powerpoint/2010/main" val="841684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P spid="11" grpId="0"/>
      <p:bldP spid="12"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EBF86-4ACA-318C-639A-CFC6D0EE88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036417-0E25-BE61-55E0-EFC56C73657C}"/>
              </a:ext>
            </a:extLst>
          </p:cNvPr>
          <p:cNvSpPr>
            <a:spLocks noGrp="1"/>
          </p:cNvSpPr>
          <p:nvPr>
            <p:ph type="ctrTitle"/>
          </p:nvPr>
        </p:nvSpPr>
        <p:spPr/>
        <p:txBody>
          <a:bodyPr>
            <a:normAutofit/>
          </a:bodyPr>
          <a:lstStyle/>
          <a:p>
            <a:r>
              <a:rPr lang="en-US"/>
              <a:t>Bounds Beyond CS70</a:t>
            </a:r>
          </a:p>
        </p:txBody>
      </p:sp>
      <p:sp>
        <p:nvSpPr>
          <p:cNvPr id="3" name="Subtitle 2">
            <a:extLst>
              <a:ext uri="{FF2B5EF4-FFF2-40B4-BE49-F238E27FC236}">
                <a16:creationId xmlns:a16="http://schemas.microsoft.com/office/drawing/2014/main" id="{DFC6D4FC-2651-7DB9-94A7-67808E86FF05}"/>
              </a:ext>
            </a:extLst>
          </p:cNvPr>
          <p:cNvSpPr>
            <a:spLocks noGrp="1"/>
          </p:cNvSpPr>
          <p:nvPr>
            <p:ph type="subTitle" idx="1"/>
          </p:nvPr>
        </p:nvSpPr>
        <p:spPr/>
        <p:txBody>
          <a:bodyPr/>
          <a:lstStyle/>
          <a:p>
            <a:r>
              <a:rPr lang="en-US"/>
              <a:t>Lecture 22, CS70 Fall 2025</a:t>
            </a:r>
          </a:p>
        </p:txBody>
      </p:sp>
      <p:sp>
        <p:nvSpPr>
          <p:cNvPr id="6" name="Content Placeholder 5">
            <a:extLst>
              <a:ext uri="{FF2B5EF4-FFF2-40B4-BE49-F238E27FC236}">
                <a16:creationId xmlns:a16="http://schemas.microsoft.com/office/drawing/2014/main" id="{A3AD828F-DA45-5679-3719-81D921C1BCF8}"/>
              </a:ext>
            </a:extLst>
          </p:cNvPr>
          <p:cNvSpPr>
            <a:spLocks noGrp="1"/>
          </p:cNvSpPr>
          <p:nvPr>
            <p:ph sz="quarter" idx="10"/>
          </p:nvPr>
        </p:nvSpPr>
        <p:spPr/>
        <p:txBody>
          <a:bodyPr/>
          <a:lstStyle/>
          <a:p>
            <a:r>
              <a:rPr lang="en-US">
                <a:solidFill>
                  <a:schemeClr val="bg1">
                    <a:lumMod val="65000"/>
                  </a:schemeClr>
                </a:solidFill>
              </a:rPr>
              <a:t>Estimating p for </a:t>
            </a:r>
            <a:r>
              <a:rPr lang="en-US" err="1">
                <a:solidFill>
                  <a:schemeClr val="bg1">
                    <a:lumMod val="65000"/>
                  </a:schemeClr>
                </a:solidFill>
              </a:rPr>
              <a:t>X~Bernoulli</a:t>
            </a:r>
            <a:r>
              <a:rPr lang="en-US">
                <a:solidFill>
                  <a:schemeClr val="bg1">
                    <a:lumMod val="65000"/>
                  </a:schemeClr>
                </a:solidFill>
              </a:rPr>
              <a:t>(p)</a:t>
            </a:r>
          </a:p>
          <a:p>
            <a:r>
              <a:rPr lang="en-US">
                <a:solidFill>
                  <a:schemeClr val="bg1">
                    <a:lumMod val="65000"/>
                  </a:schemeClr>
                </a:solidFill>
              </a:rPr>
              <a:t>Markov’s Inequality</a:t>
            </a:r>
          </a:p>
          <a:p>
            <a:r>
              <a:rPr lang="en-US">
                <a:solidFill>
                  <a:schemeClr val="bg1">
                    <a:lumMod val="65000"/>
                  </a:schemeClr>
                </a:solidFill>
              </a:rPr>
              <a:t>Chebyshev’s Inequality</a:t>
            </a:r>
          </a:p>
          <a:p>
            <a:r>
              <a:rPr lang="en-US">
                <a:solidFill>
                  <a:schemeClr val="bg1">
                    <a:lumMod val="65000"/>
                  </a:schemeClr>
                </a:solidFill>
              </a:rPr>
              <a:t>The Chebyshev Bound for Number of Heads</a:t>
            </a:r>
          </a:p>
          <a:p>
            <a:r>
              <a:rPr lang="en-US">
                <a:solidFill>
                  <a:schemeClr val="tx2"/>
                </a:solidFill>
              </a:rPr>
              <a:t>The Chebyshev Bound for Estimating the Fairness of a Coin</a:t>
            </a:r>
            <a:endParaRPr lang="en-US">
              <a:solidFill>
                <a:schemeClr val="bg1">
                  <a:lumMod val="65000"/>
                </a:schemeClr>
              </a:solidFill>
            </a:endParaRPr>
          </a:p>
          <a:p>
            <a:r>
              <a:rPr lang="en-US">
                <a:solidFill>
                  <a:schemeClr val="bg1">
                    <a:lumMod val="65000"/>
                  </a:schemeClr>
                </a:solidFill>
              </a:rPr>
              <a:t>Weak Law of Large Numbers</a:t>
            </a:r>
          </a:p>
          <a:p>
            <a:r>
              <a:rPr lang="en-US" b="1">
                <a:solidFill>
                  <a:schemeClr val="accent3"/>
                </a:solidFill>
                <a:latin typeface="Inter" panose="02000503000000020004" pitchFamily="2" charset="0"/>
                <a:ea typeface="Inter" panose="02000503000000020004" pitchFamily="2" charset="0"/>
                <a:cs typeface="Inter" panose="02000503000000020004" pitchFamily="2" charset="0"/>
              </a:rPr>
              <a:t>Bounds Beyond CS70</a:t>
            </a:r>
          </a:p>
        </p:txBody>
      </p:sp>
    </p:spTree>
    <p:extLst>
      <p:ext uri="{BB962C8B-B14F-4D97-AF65-F5344CB8AC3E}">
        <p14:creationId xmlns:p14="http://schemas.microsoft.com/office/powerpoint/2010/main" val="166216624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1B539-8664-6751-3528-C55A413DC431}"/>
              </a:ext>
            </a:extLst>
          </p:cNvPr>
          <p:cNvSpPr>
            <a:spLocks noGrp="1"/>
          </p:cNvSpPr>
          <p:nvPr>
            <p:ph type="title"/>
          </p:nvPr>
        </p:nvSpPr>
        <p:spPr/>
        <p:txBody>
          <a:bodyPr/>
          <a:lstStyle/>
          <a:p>
            <a:r>
              <a:rPr lang="en-US"/>
              <a:t>Bounds Beyond 70</a:t>
            </a:r>
          </a:p>
        </p:txBody>
      </p:sp>
      <p:sp>
        <p:nvSpPr>
          <p:cNvPr id="3" name="Content Placeholder 2">
            <a:extLst>
              <a:ext uri="{FF2B5EF4-FFF2-40B4-BE49-F238E27FC236}">
                <a16:creationId xmlns:a16="http://schemas.microsoft.com/office/drawing/2014/main" id="{3F8258AC-D29B-3821-73A6-A3814BE89B3C}"/>
              </a:ext>
            </a:extLst>
          </p:cNvPr>
          <p:cNvSpPr>
            <a:spLocks noGrp="1"/>
          </p:cNvSpPr>
          <p:nvPr>
            <p:ph idx="1"/>
          </p:nvPr>
        </p:nvSpPr>
        <p:spPr/>
        <p:txBody>
          <a:bodyPr/>
          <a:lstStyle/>
          <a:p>
            <a:r>
              <a:rPr lang="en-US"/>
              <a:t>Wrapping up, let’s consider a few extra ideas that are a bit outside of the main scope of CS70:</a:t>
            </a:r>
          </a:p>
          <a:p>
            <a:pPr marL="342900" indent="-342900">
              <a:buFont typeface="Arial" panose="020B0604020202020204" pitchFamily="34" charset="0"/>
              <a:buChar char="•"/>
            </a:pPr>
            <a:r>
              <a:rPr lang="en-US"/>
              <a:t>Confidence Intervals.</a:t>
            </a:r>
          </a:p>
          <a:p>
            <a:pPr marL="342900" indent="-342900">
              <a:buFont typeface="Arial" panose="020B0604020202020204" pitchFamily="34" charset="0"/>
              <a:buChar char="•"/>
            </a:pPr>
            <a:r>
              <a:rPr lang="en-US"/>
              <a:t>Chernoff Bounds and the Cost of Accuracy vs. Confidence.</a:t>
            </a:r>
          </a:p>
          <a:p>
            <a:pPr marL="342900" indent="-342900">
              <a:buFont typeface="Arial" panose="020B0604020202020204" pitchFamily="34" charset="0"/>
              <a:buChar char="•"/>
            </a:pPr>
            <a:r>
              <a:rPr lang="en-US"/>
              <a:t>Why Polling is Hard</a:t>
            </a:r>
          </a:p>
        </p:txBody>
      </p:sp>
    </p:spTree>
    <p:extLst>
      <p:ext uri="{BB962C8B-B14F-4D97-AF65-F5344CB8AC3E}">
        <p14:creationId xmlns:p14="http://schemas.microsoft.com/office/powerpoint/2010/main" val="118789929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7941E-6334-64AA-E04F-87AC01AE7FA5}"/>
              </a:ext>
            </a:extLst>
          </p:cNvPr>
          <p:cNvSpPr>
            <a:spLocks noGrp="1"/>
          </p:cNvSpPr>
          <p:nvPr>
            <p:ph type="title"/>
          </p:nvPr>
        </p:nvSpPr>
        <p:spPr/>
        <p:txBody>
          <a:bodyPr/>
          <a:lstStyle/>
          <a:p>
            <a:r>
              <a:rPr lang="en-US"/>
              <a:t>Confidence Intervals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C274DAF-4805-FBBB-4FE4-C09794842FED}"/>
                  </a:ext>
                </a:extLst>
              </p:cNvPr>
              <p:cNvSpPr>
                <a:spLocks noGrp="1"/>
              </p:cNvSpPr>
              <p:nvPr>
                <p:ph idx="1"/>
              </p:nvPr>
            </p:nvSpPr>
            <p:spPr/>
            <p:txBody>
              <a:bodyPr/>
              <a:lstStyle/>
              <a:p>
                <a:r>
                  <a:rPr lang="en-US"/>
                  <a:t>Suppose we’re trying to find the probability </a:t>
                </a:r>
                <a14:m>
                  <m:oMath xmlns:m="http://schemas.openxmlformats.org/officeDocument/2006/math">
                    <m:r>
                      <a:rPr lang="en-US" b="0" i="1" smtClean="0">
                        <a:latin typeface="Cambria Math" panose="02040503050406030204" pitchFamily="18" charset="0"/>
                      </a:rPr>
                      <m:t>𝑝</m:t>
                    </m:r>
                  </m:oMath>
                </a14:m>
                <a:r>
                  <a:rPr lang="en-US"/>
                  <a:t> that a coin comes up heads.</a:t>
                </a:r>
              </a:p>
              <a:p>
                <a:pPr marL="342900" indent="-342900">
                  <a:buFont typeface="Arial" panose="020B0604020202020204" pitchFamily="34" charset="0"/>
                  <a:buChar char="•"/>
                </a:pPr>
                <a:r>
                  <a:rPr lang="en-US"/>
                  <a:t>You tossed it 1,000,000 times and you get heads 35% of the time.</a:t>
                </a:r>
              </a:p>
              <a:p>
                <a:pPr marL="342900" indent="-342900">
                  <a:buFont typeface="Arial" panose="020B0604020202020204" pitchFamily="34" charset="0"/>
                  <a:buChar char="•"/>
                </a:pPr>
                <a:r>
                  <a:rPr lang="en-US"/>
                  <a:t>How confident are you that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=0.35</m:t>
                    </m:r>
                  </m:oMath>
                </a14:m>
                <a:r>
                  <a:rPr lang="en-US"/>
                  <a:t> exactly?</a:t>
                </a:r>
              </a:p>
              <a:p>
                <a:pPr marL="342900" indent="-342900">
                  <a:buFont typeface="Arial" panose="020B0604020202020204" pitchFamily="34" charset="0"/>
                  <a:buChar char="•"/>
                </a:pPr>
                <a:r>
                  <a:rPr lang="en-US"/>
                  <a:t>How confident are you that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∈[0.3, 0.4]</m:t>
                    </m:r>
                  </m:oMath>
                </a14:m>
                <a:r>
                  <a:rPr lang="en-US"/>
                  <a:t>?</a:t>
                </a:r>
              </a:p>
            </p:txBody>
          </p:sp>
        </mc:Choice>
        <mc:Fallback>
          <p:sp>
            <p:nvSpPr>
              <p:cNvPr id="3" name="Content Placeholder 2">
                <a:extLst>
                  <a:ext uri="{FF2B5EF4-FFF2-40B4-BE49-F238E27FC236}">
                    <a16:creationId xmlns:a16="http://schemas.microsoft.com/office/drawing/2014/main" id="{3C274DAF-4805-FBBB-4FE4-C09794842FED}"/>
                  </a:ext>
                </a:extLst>
              </p:cNvPr>
              <p:cNvSpPr>
                <a:spLocks noGrp="1" noRot="1" noChangeAspect="1" noMove="1" noResize="1" noEditPoints="1" noAdjustHandles="1" noChangeArrowheads="1" noChangeShapeType="1" noTextEdit="1"/>
              </p:cNvSpPr>
              <p:nvPr>
                <p:ph idx="1"/>
              </p:nvPr>
            </p:nvSpPr>
            <p:spPr>
              <a:blipFill>
                <a:blip r:embed="rId2"/>
                <a:stretch>
                  <a:fillRect l="-796" t="-541"/>
                </a:stretch>
              </a:blipFill>
            </p:spPr>
            <p:txBody>
              <a:bodyPr/>
              <a:lstStyle/>
              <a:p>
                <a:r>
                  <a:rPr lang="en-US">
                    <a:noFill/>
                  </a:rPr>
                  <a:t> </a:t>
                </a:r>
              </a:p>
            </p:txBody>
          </p:sp>
        </mc:Fallback>
      </mc:AlternateContent>
    </p:spTree>
    <p:extLst>
      <p:ext uri="{BB962C8B-B14F-4D97-AF65-F5344CB8AC3E}">
        <p14:creationId xmlns:p14="http://schemas.microsoft.com/office/powerpoint/2010/main" val="75076082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21278-28DF-3915-F5AB-597A777488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72DBC9-291A-F4B4-C016-7462890268A1}"/>
              </a:ext>
            </a:extLst>
          </p:cNvPr>
          <p:cNvSpPr>
            <a:spLocks noGrp="1"/>
          </p:cNvSpPr>
          <p:nvPr>
            <p:ph type="title"/>
          </p:nvPr>
        </p:nvSpPr>
        <p:spPr/>
        <p:txBody>
          <a:bodyPr/>
          <a:lstStyle/>
          <a:p>
            <a:r>
              <a:rPr lang="en-US"/>
              <a:t>Confidence Intervals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3701D12-6FF0-236B-2957-EE8404C3DD2C}"/>
                  </a:ext>
                </a:extLst>
              </p:cNvPr>
              <p:cNvSpPr>
                <a:spLocks noGrp="1"/>
              </p:cNvSpPr>
              <p:nvPr>
                <p:ph idx="1"/>
              </p:nvPr>
            </p:nvSpPr>
            <p:spPr/>
            <p:txBody>
              <a:bodyPr/>
              <a:lstStyle/>
              <a:p>
                <a:r>
                  <a:rPr lang="en-US"/>
                  <a:t>Suppose we’re trying to find the probability </a:t>
                </a:r>
                <a14:m>
                  <m:oMath xmlns:m="http://schemas.openxmlformats.org/officeDocument/2006/math">
                    <m:r>
                      <a:rPr lang="en-US" b="0" i="1" smtClean="0">
                        <a:latin typeface="Cambria Math" panose="02040503050406030204" pitchFamily="18" charset="0"/>
                      </a:rPr>
                      <m:t>𝑝</m:t>
                    </m:r>
                  </m:oMath>
                </a14:m>
                <a:r>
                  <a:rPr lang="en-US"/>
                  <a:t> that a coin comes up heads.</a:t>
                </a:r>
              </a:p>
              <a:p>
                <a:pPr marL="342900" indent="-342900">
                  <a:buFont typeface="Arial" panose="020B0604020202020204" pitchFamily="34" charset="0"/>
                  <a:buChar char="•"/>
                </a:pPr>
                <a:r>
                  <a:rPr lang="en-US"/>
                  <a:t>You tossed it 1,000,000 times and you get heads 35% of the time.</a:t>
                </a:r>
              </a:p>
              <a:p>
                <a:pPr marL="342900" indent="-342900">
                  <a:buFont typeface="Arial" panose="020B0604020202020204" pitchFamily="34" charset="0"/>
                  <a:buChar char="•"/>
                </a:pPr>
                <a:r>
                  <a:rPr lang="en-US"/>
                  <a:t>How confident are you that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=0.35</m:t>
                    </m:r>
                  </m:oMath>
                </a14:m>
                <a:r>
                  <a:rPr lang="en-US"/>
                  <a:t> exactly? It’s definitely not.</a:t>
                </a:r>
              </a:p>
              <a:p>
                <a:pPr marL="342900" indent="-342900">
                  <a:buFont typeface="Arial" panose="020B0604020202020204" pitchFamily="34" charset="0"/>
                  <a:buChar char="•"/>
                </a:pPr>
                <a:r>
                  <a:rPr lang="en-US"/>
                  <a:t>How confident are you that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∈[0.3, 0.4]</m:t>
                    </m:r>
                  </m:oMath>
                </a14:m>
                <a:r>
                  <a:rPr lang="en-US"/>
                  <a:t>? Use </a:t>
                </a:r>
                <a14:m>
                  <m:oMath xmlns:m="http://schemas.openxmlformats.org/officeDocument/2006/math">
                    <m:r>
                      <a:rPr lang="en-US" b="0" i="1" smtClean="0">
                        <a:latin typeface="Cambria Math" panose="02040503050406030204" pitchFamily="18" charset="0"/>
                      </a:rPr>
                      <m:t>𝛿</m:t>
                    </m:r>
                    <m:r>
                      <a:rPr lang="en-US" b="0" i="1" smtClean="0">
                        <a:latin typeface="Cambria Math" panose="02040503050406030204" pitchFamily="18" charset="0"/>
                      </a:rPr>
                      <m:t>=1/4</m:t>
                    </m:r>
                    <m:r>
                      <a:rPr lang="en-US" b="0" i="1" smtClean="0">
                        <a:latin typeface="Cambria Math" panose="02040503050406030204" pitchFamily="18" charset="0"/>
                      </a:rPr>
                      <m:t>𝑛</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𝜖</m:t>
                        </m:r>
                      </m:e>
                      <m:sup>
                        <m:r>
                          <a:rPr lang="en-US" b="0" i="1" smtClean="0">
                            <a:latin typeface="Cambria Math" panose="02040503050406030204" pitchFamily="18" charset="0"/>
                          </a:rPr>
                          <m:t>2</m:t>
                        </m:r>
                      </m:sup>
                    </m:sSup>
                  </m:oMath>
                </a14:m>
                <a:r>
                  <a:rPr lang="en-US"/>
                  <a:t>, where </a:t>
                </a:r>
                <a14:m>
                  <m:oMath xmlns:m="http://schemas.openxmlformats.org/officeDocument/2006/math">
                    <m:r>
                      <a:rPr lang="en-US" b="0" i="1" smtClean="0">
                        <a:latin typeface="Cambria Math" panose="02040503050406030204" pitchFamily="18" charset="0"/>
                      </a:rPr>
                      <m:t>𝜖</m:t>
                    </m:r>
                    <m:r>
                      <a:rPr lang="en-US" b="0" i="1" smtClean="0">
                        <a:latin typeface="Cambria Math" panose="02040503050406030204" pitchFamily="18" charset="0"/>
                      </a:rPr>
                      <m:t>=0.05</m:t>
                    </m:r>
                  </m:oMath>
                </a14:m>
                <a:r>
                  <a:rPr lang="en-US"/>
                  <a:t> and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=1,000,000</m:t>
                    </m:r>
                  </m:oMath>
                </a14:m>
                <a:r>
                  <a:rPr lang="en-US"/>
                  <a:t>.</a:t>
                </a:r>
              </a:p>
            </p:txBody>
          </p:sp>
        </mc:Choice>
        <mc:Fallback>
          <p:sp>
            <p:nvSpPr>
              <p:cNvPr id="3" name="Content Placeholder 2">
                <a:extLst>
                  <a:ext uri="{FF2B5EF4-FFF2-40B4-BE49-F238E27FC236}">
                    <a16:creationId xmlns:a16="http://schemas.microsoft.com/office/drawing/2014/main" id="{D3701D12-6FF0-236B-2957-EE8404C3DD2C}"/>
                  </a:ext>
                </a:extLst>
              </p:cNvPr>
              <p:cNvSpPr>
                <a:spLocks noGrp="1" noRot="1" noChangeAspect="1" noMove="1" noResize="1" noEditPoints="1" noAdjustHandles="1" noChangeArrowheads="1" noChangeShapeType="1" noTextEdit="1"/>
              </p:cNvSpPr>
              <p:nvPr>
                <p:ph idx="1"/>
              </p:nvPr>
            </p:nvSpPr>
            <p:spPr>
              <a:blipFill>
                <a:blip r:embed="rId2"/>
                <a:stretch>
                  <a:fillRect l="-796" t="-541"/>
                </a:stretch>
              </a:blipFill>
            </p:spPr>
            <p:txBody>
              <a:bodyPr/>
              <a:lstStyle/>
              <a:p>
                <a:r>
                  <a:rPr lang="en-US">
                    <a:noFill/>
                  </a:rPr>
                  <a:t> </a:t>
                </a:r>
              </a:p>
            </p:txBody>
          </p:sp>
        </mc:Fallback>
      </mc:AlternateContent>
    </p:spTree>
    <p:extLst>
      <p:ext uri="{BB962C8B-B14F-4D97-AF65-F5344CB8AC3E}">
        <p14:creationId xmlns:p14="http://schemas.microsoft.com/office/powerpoint/2010/main" val="402462525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67B0A-D35D-1D00-C697-4130965CFC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10A6D0-B762-157A-191D-6383BAD9E787}"/>
              </a:ext>
            </a:extLst>
          </p:cNvPr>
          <p:cNvSpPr>
            <a:spLocks noGrp="1"/>
          </p:cNvSpPr>
          <p:nvPr>
            <p:ph type="title"/>
          </p:nvPr>
        </p:nvSpPr>
        <p:spPr/>
        <p:txBody>
          <a:bodyPr/>
          <a:lstStyle/>
          <a:p>
            <a:r>
              <a:rPr lang="en-US"/>
              <a:t>Confidence Intervals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C921360-A11A-5BE6-346F-014ACEBD76B2}"/>
                  </a:ext>
                </a:extLst>
              </p:cNvPr>
              <p:cNvSpPr>
                <a:spLocks noGrp="1"/>
              </p:cNvSpPr>
              <p:nvPr>
                <p:ph idx="1"/>
              </p:nvPr>
            </p:nvSpPr>
            <p:spPr/>
            <p:txBody>
              <a:bodyPr/>
              <a:lstStyle/>
              <a:p>
                <a:r>
                  <a:rPr lang="en-US"/>
                  <a:t>Suppose we’re trying to find the probability </a:t>
                </a:r>
                <a14:m>
                  <m:oMath xmlns:m="http://schemas.openxmlformats.org/officeDocument/2006/math">
                    <m:r>
                      <a:rPr lang="en-US" b="0" i="1" smtClean="0">
                        <a:latin typeface="Cambria Math" panose="02040503050406030204" pitchFamily="18" charset="0"/>
                      </a:rPr>
                      <m:t>𝑝</m:t>
                    </m:r>
                  </m:oMath>
                </a14:m>
                <a:r>
                  <a:rPr lang="en-US"/>
                  <a:t> that a coin comes up heads.</a:t>
                </a:r>
              </a:p>
              <a:p>
                <a:pPr marL="342900" indent="-342900">
                  <a:buFont typeface="Arial" panose="020B0604020202020204" pitchFamily="34" charset="0"/>
                  <a:buChar char="•"/>
                </a:pPr>
                <a:r>
                  <a:rPr lang="en-US"/>
                  <a:t>You tossed it 1,000,000 times and you get heads 35% of the time.</a:t>
                </a:r>
              </a:p>
              <a:p>
                <a:pPr marL="342900" indent="-342900">
                  <a:buFont typeface="Arial" panose="020B0604020202020204" pitchFamily="34" charset="0"/>
                  <a:buChar char="•"/>
                </a:pPr>
                <a:r>
                  <a:rPr lang="en-US"/>
                  <a:t>How confident are you that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∈[0.3, 0.4]</m:t>
                    </m:r>
                  </m:oMath>
                </a14:m>
                <a:r>
                  <a:rPr lang="en-US"/>
                  <a:t>? Use </a:t>
                </a:r>
                <a14:m>
                  <m:oMath xmlns:m="http://schemas.openxmlformats.org/officeDocument/2006/math">
                    <m:r>
                      <a:rPr lang="en-US" b="0" i="1" smtClean="0">
                        <a:latin typeface="Cambria Math" panose="02040503050406030204" pitchFamily="18" charset="0"/>
                      </a:rPr>
                      <m:t>𝛿</m:t>
                    </m:r>
                    <m:r>
                      <a:rPr lang="en-US" b="0" i="1" smtClean="0">
                        <a:latin typeface="Cambria Math" panose="02040503050406030204" pitchFamily="18" charset="0"/>
                      </a:rPr>
                      <m:t>=1/4</m:t>
                    </m:r>
                    <m:r>
                      <a:rPr lang="en-US" b="0" i="1" smtClean="0">
                        <a:latin typeface="Cambria Math" panose="02040503050406030204" pitchFamily="18" charset="0"/>
                      </a:rPr>
                      <m:t>𝑛</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𝜖</m:t>
                        </m:r>
                      </m:e>
                      <m:sup>
                        <m:r>
                          <a:rPr lang="en-US" b="0" i="1" smtClean="0">
                            <a:latin typeface="Cambria Math" panose="02040503050406030204" pitchFamily="18" charset="0"/>
                          </a:rPr>
                          <m:t>2</m:t>
                        </m:r>
                      </m:sup>
                    </m:sSup>
                  </m:oMath>
                </a14:m>
                <a:r>
                  <a:rPr lang="en-US"/>
                  <a:t>, where </a:t>
                </a:r>
                <a14:m>
                  <m:oMath xmlns:m="http://schemas.openxmlformats.org/officeDocument/2006/math">
                    <m:r>
                      <a:rPr lang="en-US" b="0" i="1" smtClean="0">
                        <a:latin typeface="Cambria Math" panose="02040503050406030204" pitchFamily="18" charset="0"/>
                      </a:rPr>
                      <m:t>𝜖</m:t>
                    </m:r>
                    <m:r>
                      <a:rPr lang="en-US" b="0" i="1" smtClean="0">
                        <a:latin typeface="Cambria Math" panose="02040503050406030204" pitchFamily="18" charset="0"/>
                      </a:rPr>
                      <m:t>=0.05</m:t>
                    </m:r>
                  </m:oMath>
                </a14:m>
                <a:r>
                  <a:rPr lang="en-US"/>
                  <a:t> and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=1,000,000</m:t>
                    </m:r>
                  </m:oMath>
                </a14:m>
                <a:r>
                  <a:rPr lang="en-US"/>
                  <a:t>.</a:t>
                </a:r>
              </a:p>
              <a:p>
                <a:pPr marL="342900" indent="-342900">
                  <a:buFont typeface="Arial" panose="020B0604020202020204" pitchFamily="34" charset="0"/>
                  <a:buChar char="•"/>
                </a:pPr>
                <a:endParaRPr lang="en-US"/>
              </a:p>
              <a:p>
                <a:r>
                  <a:rPr lang="en-US"/>
                  <a:t>This is what is called a “confidence interval”. Common in experimental science.</a:t>
                </a:r>
              </a:p>
              <a:p>
                <a:pPr marL="342900" indent="-342900">
                  <a:buFont typeface="Arial" panose="020B0604020202020204" pitchFamily="34" charset="0"/>
                  <a:buChar char="•"/>
                </a:pPr>
                <a:r>
                  <a:rPr lang="en-US"/>
                  <a:t>Definition: An interval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 </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a:t> is a </a:t>
                </a:r>
                <a:r>
                  <a:rPr lang="en-US" b="1">
                    <a:solidFill>
                      <a:schemeClr val="accent3"/>
                    </a:solidFill>
                    <a:latin typeface="Inter" panose="02000503000000020004" pitchFamily="2" charset="0"/>
                    <a:ea typeface="Inter" panose="02000503000000020004" pitchFamily="2" charset="0"/>
                    <a:cs typeface="Inter" panose="02000503000000020004" pitchFamily="2" charset="0"/>
                  </a:rPr>
                  <a:t>95% confidence interval </a:t>
                </a:r>
                <a:r>
                  <a:rPr lang="en-US"/>
                  <a:t>for an unknown quantity p if:</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𝑝</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 </m:t>
                              </m:r>
                              <m:r>
                                <a:rPr lang="en-US" b="0" i="1" smtClean="0">
                                  <a:latin typeface="Cambria Math" panose="02040503050406030204" pitchFamily="18" charset="0"/>
                                </a:rPr>
                                <m:t>𝑏</m:t>
                              </m:r>
                            </m:e>
                          </m:d>
                        </m:e>
                      </m:d>
                      <m:r>
                        <a:rPr lang="en-US" b="0" i="1" smtClean="0">
                          <a:latin typeface="Cambria Math" panose="02040503050406030204" pitchFamily="18" charset="0"/>
                        </a:rPr>
                        <m:t>≥0.95 </m:t>
                      </m:r>
                    </m:oMath>
                  </m:oMathPara>
                </a14:m>
                <a:endParaRPr lang="en-US"/>
              </a:p>
              <a:p>
                <a:endParaRPr lang="en-US"/>
              </a:p>
              <a:p>
                <a:r>
                  <a:rPr lang="en-US"/>
                  <a:t>This interval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e>
                    </m:d>
                  </m:oMath>
                </a14:m>
                <a:r>
                  <a:rPr lang="en-US"/>
                  <a:t> is calculated based on an experiment.</a:t>
                </a:r>
              </a:p>
              <a:p>
                <a:pPr marL="342900" indent="-342900">
                  <a:buFont typeface="Arial" panose="020B0604020202020204" pitchFamily="34" charset="0"/>
                  <a:buChar char="•"/>
                </a:pPr>
                <a:r>
                  <a:rPr lang="en-US"/>
                  <a:t>Note: In this definition, </a:t>
                </a:r>
                <a14:m>
                  <m:oMath xmlns:m="http://schemas.openxmlformats.org/officeDocument/2006/math">
                    <m:r>
                      <a:rPr lang="en-US" b="0" i="1" smtClean="0">
                        <a:latin typeface="Cambria Math" panose="02040503050406030204" pitchFamily="18" charset="0"/>
                      </a:rPr>
                      <m:t>𝑎</m:t>
                    </m:r>
                  </m:oMath>
                </a14:m>
                <a:r>
                  <a:rPr lang="en-US"/>
                  <a:t> and </a:t>
                </a:r>
                <a14:m>
                  <m:oMath xmlns:m="http://schemas.openxmlformats.org/officeDocument/2006/math">
                    <m:r>
                      <a:rPr lang="en-US" b="0" i="1" smtClean="0">
                        <a:latin typeface="Cambria Math" panose="02040503050406030204" pitchFamily="18" charset="0"/>
                      </a:rPr>
                      <m:t>𝑏</m:t>
                    </m:r>
                  </m:oMath>
                </a14:m>
                <a:r>
                  <a:rPr lang="en-US"/>
                  <a:t> are random variables, and </a:t>
                </a:r>
                <a14:m>
                  <m:oMath xmlns:m="http://schemas.openxmlformats.org/officeDocument/2006/math">
                    <m:r>
                      <a:rPr lang="en-US" b="0" i="1" smtClean="0">
                        <a:latin typeface="Cambria Math" panose="02040503050406030204" pitchFamily="18" charset="0"/>
                      </a:rPr>
                      <m:t>𝑝</m:t>
                    </m:r>
                  </m:oMath>
                </a14:m>
                <a:r>
                  <a:rPr lang="en-US"/>
                  <a:t> is some constant.</a:t>
                </a:r>
              </a:p>
            </p:txBody>
          </p:sp>
        </mc:Choice>
        <mc:Fallback>
          <p:sp>
            <p:nvSpPr>
              <p:cNvPr id="3" name="Content Placeholder 2">
                <a:extLst>
                  <a:ext uri="{FF2B5EF4-FFF2-40B4-BE49-F238E27FC236}">
                    <a16:creationId xmlns:a16="http://schemas.microsoft.com/office/drawing/2014/main" id="{6C921360-A11A-5BE6-346F-014ACEBD76B2}"/>
                  </a:ext>
                </a:extLst>
              </p:cNvPr>
              <p:cNvSpPr>
                <a:spLocks noGrp="1" noRot="1" noChangeAspect="1" noMove="1" noResize="1" noEditPoints="1" noAdjustHandles="1" noChangeArrowheads="1" noChangeShapeType="1" noTextEdit="1"/>
              </p:cNvSpPr>
              <p:nvPr>
                <p:ph idx="1"/>
              </p:nvPr>
            </p:nvSpPr>
            <p:spPr>
              <a:blipFill>
                <a:blip r:embed="rId2"/>
                <a:stretch>
                  <a:fillRect l="-796" t="-541" b="-216"/>
                </a:stretch>
              </a:blipFill>
            </p:spPr>
            <p:txBody>
              <a:bodyPr/>
              <a:lstStyle/>
              <a:p>
                <a:r>
                  <a:rPr lang="en-US">
                    <a:noFill/>
                  </a:rPr>
                  <a:t> </a:t>
                </a:r>
              </a:p>
            </p:txBody>
          </p:sp>
        </mc:Fallback>
      </mc:AlternateContent>
    </p:spTree>
    <p:extLst>
      <p:ext uri="{BB962C8B-B14F-4D97-AF65-F5344CB8AC3E}">
        <p14:creationId xmlns:p14="http://schemas.microsoft.com/office/powerpoint/2010/main" val="337752836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28770-3D9E-D174-A4B4-8BEBC3E9DA1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4F4537C-9D83-C1FA-88E5-2BF95ADF67B6}"/>
              </a:ext>
            </a:extLst>
          </p:cNvPr>
          <p:cNvSpPr>
            <a:spLocks noGrp="1"/>
          </p:cNvSpPr>
          <p:nvPr>
            <p:ph idx="1"/>
          </p:nvPr>
        </p:nvSpPr>
        <p:spPr/>
        <p:txBody>
          <a:bodyPr/>
          <a:lstStyle/>
          <a:p>
            <a:r>
              <a:rPr lang="en-US"/>
              <a:t>Note to self: Hide this extra Chernoff info. It’s hard for students to digest and not super interesting other than saying “hey there’s some stuff we haven’t learned yet”. Cleaner narrative goes straight back to votes with Chebyshev and why polling is difficult in real life </a:t>
            </a:r>
          </a:p>
        </p:txBody>
      </p:sp>
    </p:spTree>
    <p:extLst>
      <p:ext uri="{BB962C8B-B14F-4D97-AF65-F5344CB8AC3E}">
        <p14:creationId xmlns:p14="http://schemas.microsoft.com/office/powerpoint/2010/main" val="355058658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A5614-4665-C18A-4E45-359CB33AC6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DC1540-4A68-E81A-DFA0-B0BEA944F110}"/>
              </a:ext>
            </a:extLst>
          </p:cNvPr>
          <p:cNvSpPr>
            <a:spLocks noGrp="1"/>
          </p:cNvSpPr>
          <p:nvPr>
            <p:ph type="title"/>
          </p:nvPr>
        </p:nvSpPr>
        <p:spPr/>
        <p:txBody>
          <a:bodyPr/>
          <a:lstStyle/>
          <a:p>
            <a:r>
              <a:rPr lang="en-US"/>
              <a:t>Coin Flip Bound Tightness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1A4B3D1-2EBE-8995-1A0C-3DD2C24ABA8E}"/>
                  </a:ext>
                </a:extLst>
              </p:cNvPr>
              <p:cNvSpPr>
                <a:spLocks noGrp="1"/>
              </p:cNvSpPr>
              <p:nvPr>
                <p:ph idx="1"/>
              </p:nvPr>
            </p:nvSpPr>
            <p:spPr>
              <a:xfrm>
                <a:off x="93657" y="533400"/>
                <a:ext cx="11806362" cy="5638732"/>
              </a:xfrm>
            </p:spPr>
            <p:txBody>
              <a:bodyPr/>
              <a:lstStyle/>
              <a:p>
                <a:r>
                  <a:rPr lang="en-US"/>
                  <a:t>We can do better than </a:t>
                </a:r>
                <a14:m>
                  <m:oMath xmlns:m="http://schemas.openxmlformats.org/officeDocument/2006/math">
                    <m:r>
                      <a:rPr lang="en-US" sz="3200" b="0" i="1" smtClean="0">
                        <a:latin typeface="Cambria Math" panose="02040503050406030204" pitchFamily="18" charset="0"/>
                      </a:rPr>
                      <m:t>𝑛</m:t>
                    </m:r>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1</m:t>
                        </m:r>
                      </m:num>
                      <m:den>
                        <m:r>
                          <a:rPr lang="en-US" sz="3200" b="0" i="1" smtClean="0">
                            <a:latin typeface="Cambria Math" panose="02040503050406030204" pitchFamily="18" charset="0"/>
                          </a:rPr>
                          <m:t>4</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𝜖</m:t>
                            </m:r>
                          </m:e>
                          <m:sup>
                            <m:r>
                              <a:rPr lang="en-US" sz="3200" b="0" i="1" smtClean="0">
                                <a:latin typeface="Cambria Math" panose="02040503050406030204" pitchFamily="18" charset="0"/>
                              </a:rPr>
                              <m:t>2</m:t>
                            </m:r>
                          </m:sup>
                        </m:sSup>
                        <m:r>
                          <a:rPr lang="en-US" sz="3200" b="0" i="1" smtClean="0">
                            <a:latin typeface="Cambria Math" panose="02040503050406030204" pitchFamily="18" charset="0"/>
                          </a:rPr>
                          <m:t>𝛿</m:t>
                        </m:r>
                      </m:den>
                    </m:f>
                  </m:oMath>
                </a14:m>
                <a:endParaRPr lang="en-US" sz="3200"/>
              </a:p>
              <a:p>
                <a:endParaRPr lang="en-US"/>
              </a:p>
              <a:p>
                <a:r>
                  <a:rPr lang="en-US"/>
                  <a:t>Turns out we can get a tighter bound using something called a </a:t>
                </a:r>
                <a:r>
                  <a:rPr lang="en-US">
                    <a:hlinkClick r:id="rId2"/>
                  </a:rPr>
                  <a:t>Chernoff bound</a:t>
                </a:r>
                <a:r>
                  <a:rPr lang="en-US"/>
                  <a:t>.</a:t>
                </a:r>
              </a:p>
              <a:p>
                <a:endParaRPr lang="en-US"/>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𝜖</m:t>
                              </m:r>
                            </m:e>
                            <m:sup>
                              <m:r>
                                <a:rPr lang="en-US" b="0" i="1" smtClean="0">
                                  <a:latin typeface="Cambria Math" panose="02040503050406030204" pitchFamily="18" charset="0"/>
                                </a:rPr>
                                <m:t>2</m:t>
                              </m:r>
                            </m:sup>
                          </m:sSup>
                        </m:den>
                      </m:f>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ln</m:t>
                          </m:r>
                        </m:fName>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𝛿</m:t>
                                  </m:r>
                                </m:den>
                              </m:f>
                            </m:e>
                          </m:d>
                        </m:e>
                      </m:func>
                    </m:oMath>
                  </m:oMathPara>
                </a14:m>
                <a:endParaRPr lang="en-US"/>
              </a:p>
              <a:p>
                <a:r>
                  <a:rPr lang="en-US"/>
                  <a:t>Observations:</a:t>
                </a:r>
              </a:p>
              <a:p>
                <a:pPr marL="342900" indent="-342900">
                  <a:buFont typeface="Arial" panose="020B0604020202020204" pitchFamily="34" charset="0"/>
                  <a:buChar char="•"/>
                </a:pPr>
                <a:r>
                  <a:rPr lang="en-US"/>
                  <a:t>Confidence is cheap. Example:</a:t>
                </a:r>
              </a:p>
              <a:p>
                <a:pPr marL="1028683" lvl="1" indent="-34290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𝜖</m:t>
                    </m:r>
                    <m:r>
                      <a:rPr lang="en-US" b="0" i="1" smtClean="0">
                        <a:latin typeface="Cambria Math" panose="02040503050406030204" pitchFamily="18" charset="0"/>
                      </a:rPr>
                      <m:t>=0.01</m:t>
                    </m:r>
                  </m:oMath>
                </a14:m>
                <a:r>
                  <a:rPr lang="en-US"/>
                  <a:t>, </a:t>
                </a:r>
                <a14:m>
                  <m:oMath xmlns:m="http://schemas.openxmlformats.org/officeDocument/2006/math">
                    <m:r>
                      <a:rPr lang="en-US" b="0" i="1" smtClean="0">
                        <a:latin typeface="Cambria Math" panose="02040503050406030204" pitchFamily="18" charset="0"/>
                      </a:rPr>
                      <m:t>𝛿</m:t>
                    </m:r>
                    <m:r>
                      <a:rPr lang="en-US" b="0" i="1" smtClean="0">
                        <a:latin typeface="Cambria Math" panose="02040503050406030204" pitchFamily="18" charset="0"/>
                      </a:rPr>
                      <m:t>=10%</m:t>
                    </m:r>
                  </m:oMath>
                </a14:m>
                <a:r>
                  <a:rPr lang="en-US"/>
                  <a:t> requires ~15,000 flips. </a:t>
                </a:r>
                <a14:m>
                  <m:oMath xmlns:m="http://schemas.openxmlformats.org/officeDocument/2006/math">
                    <m:r>
                      <a:rPr lang="en-US" i="1">
                        <a:latin typeface="Cambria Math" panose="02040503050406030204" pitchFamily="18" charset="0"/>
                      </a:rPr>
                      <m:t>𝜖</m:t>
                    </m:r>
                    <m:r>
                      <a:rPr lang="en-US" i="1">
                        <a:latin typeface="Cambria Math" panose="02040503050406030204" pitchFamily="18" charset="0"/>
                      </a:rPr>
                      <m:t>=0.01</m:t>
                    </m:r>
                  </m:oMath>
                </a14:m>
                <a:r>
                  <a:rPr lang="en-US"/>
                  <a:t>, </a:t>
                </a:r>
                <a14:m>
                  <m:oMath xmlns:m="http://schemas.openxmlformats.org/officeDocument/2006/math">
                    <m:r>
                      <a:rPr lang="en-US" i="1">
                        <a:latin typeface="Cambria Math" panose="02040503050406030204" pitchFamily="18" charset="0"/>
                      </a:rPr>
                      <m:t>𝛿</m:t>
                    </m:r>
                    <m:r>
                      <a:rPr lang="en-US" i="1">
                        <a:latin typeface="Cambria Math" panose="02040503050406030204" pitchFamily="18" charset="0"/>
                      </a:rPr>
                      <m:t>=1%</m:t>
                    </m:r>
                  </m:oMath>
                </a14:m>
                <a:r>
                  <a:rPr lang="en-US"/>
                  <a:t> requires 26,000. </a:t>
                </a:r>
              </a:p>
              <a:p>
                <a:pPr marL="342900" indent="-342900">
                  <a:buFont typeface="Arial" panose="020B0604020202020204" pitchFamily="34" charset="0"/>
                  <a:buChar char="•"/>
                </a:pPr>
                <a:r>
                  <a:rPr lang="en-US"/>
                  <a:t>Accuracy is expensive.</a:t>
                </a:r>
              </a:p>
              <a:p>
                <a:pPr marL="1028683" lvl="1" indent="-34290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𝜖</m:t>
                    </m:r>
                    <m:r>
                      <a:rPr lang="en-US" b="0" i="1" smtClean="0">
                        <a:latin typeface="Cambria Math" panose="02040503050406030204" pitchFamily="18" charset="0"/>
                      </a:rPr>
                      <m:t>=0.01</m:t>
                    </m:r>
                  </m:oMath>
                </a14:m>
                <a:r>
                  <a:rPr lang="en-US"/>
                  <a:t>, </a:t>
                </a:r>
                <a14:m>
                  <m:oMath xmlns:m="http://schemas.openxmlformats.org/officeDocument/2006/math">
                    <m:r>
                      <a:rPr lang="en-US" b="0" i="1" smtClean="0">
                        <a:latin typeface="Cambria Math" panose="02040503050406030204" pitchFamily="18" charset="0"/>
                      </a:rPr>
                      <m:t>𝛿</m:t>
                    </m:r>
                    <m:r>
                      <a:rPr lang="en-US" b="0" i="1" smtClean="0">
                        <a:latin typeface="Cambria Math" panose="02040503050406030204" pitchFamily="18" charset="0"/>
                      </a:rPr>
                      <m:t>=10%</m:t>
                    </m:r>
                  </m:oMath>
                </a14:m>
                <a:r>
                  <a:rPr lang="en-US"/>
                  <a:t> requires ~15,000 flips. </a:t>
                </a:r>
                <a14:m>
                  <m:oMath xmlns:m="http://schemas.openxmlformats.org/officeDocument/2006/math">
                    <m:r>
                      <a:rPr lang="en-US" i="1">
                        <a:latin typeface="Cambria Math" panose="02040503050406030204" pitchFamily="18" charset="0"/>
                      </a:rPr>
                      <m:t>𝜖</m:t>
                    </m:r>
                    <m:r>
                      <a:rPr lang="en-US" i="1">
                        <a:latin typeface="Cambria Math" panose="02040503050406030204" pitchFamily="18" charset="0"/>
                      </a:rPr>
                      <m:t>=0.001</m:t>
                    </m:r>
                  </m:oMath>
                </a14:m>
                <a:r>
                  <a:rPr lang="en-US"/>
                  <a:t>, </a:t>
                </a:r>
                <a14:m>
                  <m:oMath xmlns:m="http://schemas.openxmlformats.org/officeDocument/2006/math">
                    <m:r>
                      <a:rPr lang="en-US" i="1">
                        <a:latin typeface="Cambria Math" panose="02040503050406030204" pitchFamily="18" charset="0"/>
                      </a:rPr>
                      <m:t>𝛿</m:t>
                    </m:r>
                    <m:r>
                      <a:rPr lang="en-US" i="1">
                        <a:latin typeface="Cambria Math" panose="02040503050406030204" pitchFamily="18" charset="0"/>
                      </a:rPr>
                      <m:t>=10%</m:t>
                    </m:r>
                  </m:oMath>
                </a14:m>
                <a:r>
                  <a:rPr lang="en-US"/>
                  <a:t> requires 1,500,000 flips.</a:t>
                </a:r>
              </a:p>
            </p:txBody>
          </p:sp>
        </mc:Choice>
        <mc:Fallback>
          <p:sp>
            <p:nvSpPr>
              <p:cNvPr id="3" name="Content Placeholder 2">
                <a:extLst>
                  <a:ext uri="{FF2B5EF4-FFF2-40B4-BE49-F238E27FC236}">
                    <a16:creationId xmlns:a16="http://schemas.microsoft.com/office/drawing/2014/main" id="{41A4B3D1-2EBE-8995-1A0C-3DD2C24ABA8E}"/>
                  </a:ext>
                </a:extLst>
              </p:cNvPr>
              <p:cNvSpPr>
                <a:spLocks noGrp="1" noRot="1" noChangeAspect="1" noMove="1" noResize="1" noEditPoints="1" noAdjustHandles="1" noChangeArrowheads="1" noChangeShapeType="1" noTextEdit="1"/>
              </p:cNvSpPr>
              <p:nvPr>
                <p:ph idx="1"/>
              </p:nvPr>
            </p:nvSpPr>
            <p:spPr>
              <a:xfrm>
                <a:off x="93657" y="533400"/>
                <a:ext cx="11806362" cy="5638732"/>
              </a:xfrm>
              <a:blipFill>
                <a:blip r:embed="rId3"/>
                <a:stretch>
                  <a:fillRect l="-774" b="-9740"/>
                </a:stretch>
              </a:blipFill>
            </p:spPr>
            <p:txBody>
              <a:bodyPr/>
              <a:lstStyle/>
              <a:p>
                <a:r>
                  <a:rPr lang="en-US">
                    <a:noFill/>
                  </a:rPr>
                  <a:t> </a:t>
                </a:r>
              </a:p>
            </p:txBody>
          </p:sp>
        </mc:Fallback>
      </mc:AlternateContent>
    </p:spTree>
    <p:extLst>
      <p:ext uri="{BB962C8B-B14F-4D97-AF65-F5344CB8AC3E}">
        <p14:creationId xmlns:p14="http://schemas.microsoft.com/office/powerpoint/2010/main" val="326747115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F0A76-D74D-93B1-46D3-87B1A46851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9E8920-FA02-5735-3498-AA117F2E1E19}"/>
              </a:ext>
            </a:extLst>
          </p:cNvPr>
          <p:cNvSpPr>
            <a:spLocks noGrp="1"/>
          </p:cNvSpPr>
          <p:nvPr>
            <p:ph type="title"/>
          </p:nvPr>
        </p:nvSpPr>
        <p:spPr/>
        <p:txBody>
          <a:bodyPr/>
          <a:lstStyle/>
          <a:p>
            <a:r>
              <a:rPr lang="en-US"/>
              <a:t>Polling in the Real World</a:t>
            </a:r>
          </a:p>
        </p:txBody>
      </p:sp>
      <p:sp>
        <p:nvSpPr>
          <p:cNvPr id="3" name="Content Placeholder 2">
            <a:extLst>
              <a:ext uri="{FF2B5EF4-FFF2-40B4-BE49-F238E27FC236}">
                <a16:creationId xmlns:a16="http://schemas.microsoft.com/office/drawing/2014/main" id="{03CA368D-B74D-8EA8-40FC-01F435177EAE}"/>
              </a:ext>
            </a:extLst>
          </p:cNvPr>
          <p:cNvSpPr>
            <a:spLocks noGrp="1"/>
          </p:cNvSpPr>
          <p:nvPr>
            <p:ph idx="1"/>
          </p:nvPr>
        </p:nvSpPr>
        <p:spPr/>
        <p:txBody>
          <a:bodyPr/>
          <a:lstStyle/>
          <a:p>
            <a:r>
              <a:rPr lang="en-US"/>
              <a:t>The Chernoff bound tells us that if we want to know the election results to within 1% with 99% certainty, we just need to poll 26,000 people.</a:t>
            </a:r>
          </a:p>
          <a:p>
            <a:endParaRPr lang="en-US"/>
          </a:p>
          <a:p>
            <a:r>
              <a:rPr lang="en-US"/>
              <a:t>Why is this hard in reality?</a:t>
            </a:r>
          </a:p>
          <a:p>
            <a:pPr marL="342900" indent="-342900">
              <a:buFont typeface="Arial" panose="020B0604020202020204" pitchFamily="34" charset="0"/>
              <a:buChar char="•"/>
            </a:pPr>
            <a:r>
              <a:rPr lang="en-US"/>
              <a:t>You need to get 26,000 people to respond.</a:t>
            </a:r>
          </a:p>
          <a:p>
            <a:pPr marL="342900" indent="-342900">
              <a:buFont typeface="Arial" panose="020B0604020202020204" pitchFamily="34" charset="0"/>
              <a:buChar char="•"/>
            </a:pPr>
            <a:r>
              <a:rPr lang="en-US"/>
              <a:t>Then you need to ensure that “person responds” and “person votes for Donald Trump” are independent.</a:t>
            </a:r>
          </a:p>
          <a:p>
            <a:endParaRPr lang="en-US"/>
          </a:p>
          <a:p>
            <a:r>
              <a:rPr lang="en-US"/>
              <a:t>Note: It’s possible to make an even tighter bound that the Chernoff bound, but to do that, we’ll need to consider continuous rather than discrete random variables.</a:t>
            </a:r>
          </a:p>
          <a:p>
            <a:pPr marL="342900" indent="-342900">
              <a:buFont typeface="Arial" panose="020B0604020202020204" pitchFamily="34" charset="0"/>
              <a:buChar char="•"/>
            </a:pPr>
            <a:r>
              <a:rPr lang="en-US"/>
              <a:t>Discrete random variables have a countable domain.</a:t>
            </a:r>
          </a:p>
          <a:p>
            <a:pPr marL="342900" indent="-342900">
              <a:buFont typeface="Arial" panose="020B0604020202020204" pitchFamily="34" charset="0"/>
              <a:buChar char="•"/>
            </a:pPr>
            <a:r>
              <a:rPr lang="en-US"/>
              <a:t>Continuous random variables have an uncountable domain. More next time!</a:t>
            </a:r>
          </a:p>
        </p:txBody>
      </p:sp>
    </p:spTree>
    <p:extLst>
      <p:ext uri="{BB962C8B-B14F-4D97-AF65-F5344CB8AC3E}">
        <p14:creationId xmlns:p14="http://schemas.microsoft.com/office/powerpoint/2010/main" val="3045584558"/>
      </p:ext>
    </p:extLst>
  </p:cSld>
  <p:clrMapOvr>
    <a:masterClrMapping/>
  </p:clrMapOvr>
</p:sld>
</file>

<file path=ppt/theme/theme1.xml><?xml version="1.0" encoding="utf-8"?>
<a:theme xmlns:a="http://schemas.openxmlformats.org/drawingml/2006/main" name="Office Theme">
  <a:themeElements>
    <a:clrScheme name="LisaAndJoshColorScheme">
      <a:dk1>
        <a:srgbClr val="000000"/>
      </a:dk1>
      <a:lt1>
        <a:srgbClr val="FFFFFF"/>
      </a:lt1>
      <a:dk2>
        <a:srgbClr val="B7B7B7"/>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85</Slides>
  <Notes>0</Notes>
  <HiddenSlides>4</HiddenSlides>
  <ScaleCrop>false</ScaleCrop>
  <HeadingPairs>
    <vt:vector size="4" baseType="variant">
      <vt:variant>
        <vt:lpstr>Theme</vt:lpstr>
      </vt:variant>
      <vt:variant>
        <vt:i4>1</vt:i4>
      </vt:variant>
      <vt:variant>
        <vt:lpstr>Slide Titles</vt:lpstr>
      </vt:variant>
      <vt:variant>
        <vt:i4>85</vt:i4>
      </vt:variant>
    </vt:vector>
  </HeadingPairs>
  <TitlesOfParts>
    <vt:vector size="86" baseType="lpstr">
      <vt:lpstr>Office Theme</vt:lpstr>
      <vt:lpstr>Estimating p for X~Bernoulli(p)</vt:lpstr>
      <vt:lpstr>Motivating Problem of the Day</vt:lpstr>
      <vt:lpstr>Motivating Problem of the Day: Coin Version</vt:lpstr>
      <vt:lpstr>Experiment</vt:lpstr>
      <vt:lpstr>Experiment</vt:lpstr>
      <vt:lpstr>Experiment</vt:lpstr>
      <vt:lpstr>Experiment</vt:lpstr>
      <vt:lpstr>Other Framing</vt:lpstr>
      <vt:lpstr>Today’s Answer (Spoiler)</vt:lpstr>
      <vt:lpstr>Today’s Answer (Alternate Form)</vt:lpstr>
      <vt:lpstr>Experimental Procedure for Determining p</vt:lpstr>
      <vt:lpstr>Today’s Answer (Spoiler)</vt:lpstr>
      <vt:lpstr>Today’s Answer (Spoiler)</vt:lpstr>
      <vt:lpstr>Understanding this Bound</vt:lpstr>
      <vt:lpstr>In Terms of Election Polling</vt:lpstr>
      <vt:lpstr>Deriving this Expression and Concentration Inequalities</vt:lpstr>
      <vt:lpstr>Markov’s Inequality</vt:lpstr>
      <vt:lpstr>Thought Experiment 1</vt:lpstr>
      <vt:lpstr>Thought Experiment 1</vt:lpstr>
      <vt:lpstr>Thought Experiment 2</vt:lpstr>
      <vt:lpstr>Thought Experiment 2</vt:lpstr>
      <vt:lpstr>Thought Experiment 3</vt:lpstr>
      <vt:lpstr>Thought Experiment 3</vt:lpstr>
      <vt:lpstr>Thought Experiment 4</vt:lpstr>
      <vt:lpstr>Thought Experiment 4</vt:lpstr>
      <vt:lpstr>Thought Experiment 4</vt:lpstr>
      <vt:lpstr>Markov’s Inequality</vt:lpstr>
      <vt:lpstr>Example Using Markov’s Inequality: Coin Toss</vt:lpstr>
      <vt:lpstr>Example Using Markov’s Inequality: Coin Toss</vt:lpstr>
      <vt:lpstr>Example Using Markov’s Inequality: Coin Toss</vt:lpstr>
      <vt:lpstr>Example Using Markov’s Inequality: Coin Toss</vt:lpstr>
      <vt:lpstr>Concentration Inequalities and Bound Tightness</vt:lpstr>
      <vt:lpstr>Markov’s Inequality</vt:lpstr>
      <vt:lpstr>Chebyshev’s Inequality</vt:lpstr>
      <vt:lpstr>Expectations and Distributions (Visually)</vt:lpstr>
      <vt:lpstr>Markov’s Inequality Visually</vt:lpstr>
      <vt:lpstr>Chebyshev’s Inequality Visually</vt:lpstr>
      <vt:lpstr>Chebyshev’s Inequality</vt:lpstr>
      <vt:lpstr>Chebyshev’s Inequality: Intution 1, the Alternate Form</vt:lpstr>
      <vt:lpstr>Chebyshev’s Inequality</vt:lpstr>
      <vt:lpstr>Chebyshev’s Inequality</vt:lpstr>
      <vt:lpstr>Chebyshev’s Inequality</vt:lpstr>
      <vt:lpstr>Chebyshev’s Inequality</vt:lpstr>
      <vt:lpstr>Chebyshev’s is Still a Loose Bound: Normal Distribution Example</vt:lpstr>
      <vt:lpstr>Chebyshev Proof</vt:lpstr>
      <vt:lpstr>Chebyshev Proof</vt:lpstr>
      <vt:lpstr>Chebyshev Proof</vt:lpstr>
      <vt:lpstr>Chebyshev Proof</vt:lpstr>
      <vt:lpstr>Chebyshev’s Inequality and Markov’s Inequality</vt:lpstr>
      <vt:lpstr>Chebyshev’s Inequality and Markov’s Inequality</vt:lpstr>
      <vt:lpstr>The Chebyshev Bound for Estimating Probability of a Coin Flip Event</vt:lpstr>
      <vt:lpstr>Application: Probability of Coin Toss Outcomes</vt:lpstr>
      <vt:lpstr>Application: Probability of Coin Toss Outcomes</vt:lpstr>
      <vt:lpstr>Application: Probability of Coin Toss Outcomes</vt:lpstr>
      <vt:lpstr>Application: Probability of Coin Toss Outcomes</vt:lpstr>
      <vt:lpstr>Application: Probability of Coin Toss Outcomes</vt:lpstr>
      <vt:lpstr>Interpretation in Terms of Voting</vt:lpstr>
      <vt:lpstr>Back to Estimating p for a Coin</vt:lpstr>
      <vt:lpstr>The Chebyshev Bound for Estimating the Fairness of a Coin</vt:lpstr>
      <vt:lpstr>Back to Estimating p for a Coin</vt:lpstr>
      <vt:lpstr>Back to Where We Started: Estimating p for a Coin</vt:lpstr>
      <vt:lpstr>Back to Where We Started: Estimating p for a Coin</vt:lpstr>
      <vt:lpstr>Back to Estimating p for a Coin</vt:lpstr>
      <vt:lpstr>Back to Estimating p for a Coin</vt:lpstr>
      <vt:lpstr>Back to Estimating p for a Coin</vt:lpstr>
      <vt:lpstr>Back to Estimating p for a Coin</vt:lpstr>
      <vt:lpstr>Back to Estimating p for a Coin</vt:lpstr>
      <vt:lpstr>Back to Estimating p for a Coin</vt:lpstr>
      <vt:lpstr>Back to Estimating p for a Coin</vt:lpstr>
      <vt:lpstr>Back to Estimating p for a Coin</vt:lpstr>
      <vt:lpstr>Back to Estimating p for a Coin</vt:lpstr>
      <vt:lpstr>Back to Estimating p for a Coin</vt:lpstr>
      <vt:lpstr>Weak Law of Large Numbers</vt:lpstr>
      <vt:lpstr>Weak Law of Large Numbers</vt:lpstr>
      <vt:lpstr>Weak Law of Large Numbers</vt:lpstr>
      <vt:lpstr>Weak Law of Large Numbers</vt:lpstr>
      <vt:lpstr>Weak Law of Large Numbers</vt:lpstr>
      <vt:lpstr>Bounds Beyond CS70</vt:lpstr>
      <vt:lpstr>Bounds Beyond 70</vt:lpstr>
      <vt:lpstr>Confidence Intervals</vt:lpstr>
      <vt:lpstr>Confidence Intervals</vt:lpstr>
      <vt:lpstr>Confidence Intervals</vt:lpstr>
      <vt:lpstr>PowerPoint Presentation</vt:lpstr>
      <vt:lpstr>Coin Flip Bound Tightness</vt:lpstr>
      <vt:lpstr>Polling in the Real World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Joshua Hug</dc:creator>
  <cp:revision>1</cp:revision>
  <cp:lastPrinted>2024-11-15T01:08:20Z</cp:lastPrinted>
  <dcterms:created xsi:type="dcterms:W3CDTF">2024-10-03T17:23:53Z</dcterms:created>
  <dcterms:modified xsi:type="dcterms:W3CDTF">2025-11-23T16:39:21Z</dcterms:modified>
</cp:coreProperties>
</file>